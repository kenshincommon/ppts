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507" r:id="rId5"/>
    <p:sldId id="508" r:id="rId6"/>
    <p:sldId id="445" r:id="rId7"/>
    <p:sldId id="496" r:id="rId8"/>
    <p:sldId id="497" r:id="rId9"/>
    <p:sldId id="447" r:id="rId10"/>
    <p:sldId id="493" r:id="rId11"/>
    <p:sldId id="448" r:id="rId12"/>
    <p:sldId id="498" r:id="rId13"/>
    <p:sldId id="454" r:id="rId14"/>
    <p:sldId id="481" r:id="rId15"/>
    <p:sldId id="479" r:id="rId16"/>
    <p:sldId id="499" r:id="rId17"/>
    <p:sldId id="502" r:id="rId18"/>
    <p:sldId id="503" r:id="rId19"/>
    <p:sldId id="500" r:id="rId20"/>
    <p:sldId id="501" r:id="rId21"/>
    <p:sldId id="504" r:id="rId22"/>
    <p:sldId id="505" r:id="rId23"/>
    <p:sldId id="506" r:id="rId24"/>
    <p:sldId id="509" r:id="rId25"/>
    <p:sldId id="510" r:id="rId26"/>
    <p:sldId id="511" r:id="rId27"/>
    <p:sldId id="512" r:id="rId28"/>
    <p:sldId id="513" r:id="rId29"/>
    <p:sldId id="514" r:id="rId30"/>
    <p:sldId id="515" r:id="rId31"/>
    <p:sldId id="458" r:id="rId32"/>
    <p:sldId id="446" r:id="rId33"/>
    <p:sldId id="259" r:id="rId34"/>
  </p:sldIdLst>
  <p:sldSz cx="9144000" cy="6858000" type="screen4x3"/>
  <p:notesSz cx="6858000" cy="9144000"/>
  <p:defaultTextStyle>
    <a:defPPr>
      <a:defRPr lang="fr-FR"/>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C579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152" autoAdjust="0"/>
    <p:restoredTop sz="91768" autoAdjust="0"/>
  </p:normalViewPr>
  <p:slideViewPr>
    <p:cSldViewPr>
      <p:cViewPr>
        <p:scale>
          <a:sx n="75" d="100"/>
          <a:sy n="75" d="100"/>
        </p:scale>
        <p:origin x="1036" y="-12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en-US"/>
              <a:t>Click to edit Master title style</a:t>
            </a:r>
            <a:endParaRPr lang="fr-CA"/>
          </a:p>
        </p:txBody>
      </p:sp>
      <p:sp>
        <p:nvSpPr>
          <p:cNvPr id="3" name="Sous-titr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fr-CA"/>
          </a:p>
        </p:txBody>
      </p:sp>
      <p:sp>
        <p:nvSpPr>
          <p:cNvPr id="4" name="Espace réservé de la date 3"/>
          <p:cNvSpPr>
            <a:spLocks noGrp="1"/>
          </p:cNvSpPr>
          <p:nvPr>
            <p:ph type="dt" sz="half" idx="10"/>
          </p:nvPr>
        </p:nvSpPr>
        <p:spPr/>
        <p:txBody>
          <a:bodyPr/>
          <a:lstStyle>
            <a:lvl1pPr>
              <a:defRPr/>
            </a:lvl1pPr>
          </a:lstStyle>
          <a:p>
            <a:pPr>
              <a:defRPr/>
            </a:pPr>
            <a:fld id="{22807098-A8DF-4714-B43F-DC882CB72C38}" type="datetimeFigureOut">
              <a:rPr lang="fr-FR"/>
              <a:pPr>
                <a:defRPr/>
              </a:pPr>
              <a:t>07/07/2026</a:t>
            </a:fld>
            <a:endParaRPr lang="fr-CA"/>
          </a:p>
        </p:txBody>
      </p:sp>
      <p:sp>
        <p:nvSpPr>
          <p:cNvPr id="5" name="Espace réservé du pied de page 4"/>
          <p:cNvSpPr>
            <a:spLocks noGrp="1"/>
          </p:cNvSpPr>
          <p:nvPr>
            <p:ph type="ftr" sz="quarter" idx="11"/>
          </p:nvPr>
        </p:nvSpPr>
        <p:spPr/>
        <p:txBody>
          <a:bodyPr/>
          <a:lstStyle>
            <a:lvl1pPr>
              <a:defRPr/>
            </a:lvl1pPr>
          </a:lstStyle>
          <a:p>
            <a:pPr>
              <a:defRPr/>
            </a:pPr>
            <a:endParaRPr lang="fr-CA"/>
          </a:p>
        </p:txBody>
      </p:sp>
      <p:sp>
        <p:nvSpPr>
          <p:cNvPr id="6" name="Espace réservé du numéro de diapositive 5"/>
          <p:cNvSpPr>
            <a:spLocks noGrp="1"/>
          </p:cNvSpPr>
          <p:nvPr>
            <p:ph type="sldNum" sz="quarter" idx="12"/>
          </p:nvPr>
        </p:nvSpPr>
        <p:spPr/>
        <p:txBody>
          <a:bodyPr/>
          <a:lstStyle>
            <a:lvl1pPr>
              <a:defRPr/>
            </a:lvl1pPr>
          </a:lstStyle>
          <a:p>
            <a:pPr>
              <a:defRPr/>
            </a:pPr>
            <a:fld id="{4CF57D0A-305D-4A35-A608-B814A0BEDBC9}" type="slidenum">
              <a:rPr lang="fr-CA"/>
              <a:pPr>
                <a:defRPr/>
              </a:pPr>
              <a:t>‹#›</a:t>
            </a:fld>
            <a:endParaRPr lang="fr-CA"/>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a:t>Click to edit Master title style</a:t>
            </a:r>
            <a:endParaRPr lang="fr-CA"/>
          </a:p>
        </p:txBody>
      </p:sp>
      <p:sp>
        <p:nvSpPr>
          <p:cNvPr id="3" name="Espace réservé du contenu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CA"/>
          </a:p>
        </p:txBody>
      </p:sp>
      <p:sp>
        <p:nvSpPr>
          <p:cNvPr id="4" name="Espace réservé de la date 3"/>
          <p:cNvSpPr>
            <a:spLocks noGrp="1"/>
          </p:cNvSpPr>
          <p:nvPr>
            <p:ph type="dt" sz="half" idx="10"/>
          </p:nvPr>
        </p:nvSpPr>
        <p:spPr/>
        <p:txBody>
          <a:bodyPr/>
          <a:lstStyle>
            <a:lvl1pPr>
              <a:defRPr/>
            </a:lvl1pPr>
          </a:lstStyle>
          <a:p>
            <a:pPr>
              <a:defRPr/>
            </a:pPr>
            <a:fld id="{C580763A-51CB-4C09-97C6-6FDA1E354680}" type="datetimeFigureOut">
              <a:rPr lang="fr-FR"/>
              <a:pPr>
                <a:defRPr/>
              </a:pPr>
              <a:t>07/07/2026</a:t>
            </a:fld>
            <a:endParaRPr lang="fr-CA"/>
          </a:p>
        </p:txBody>
      </p:sp>
      <p:sp>
        <p:nvSpPr>
          <p:cNvPr id="5" name="Espace réservé du pied de page 4"/>
          <p:cNvSpPr>
            <a:spLocks noGrp="1"/>
          </p:cNvSpPr>
          <p:nvPr>
            <p:ph type="ftr" sz="quarter" idx="11"/>
          </p:nvPr>
        </p:nvSpPr>
        <p:spPr/>
        <p:txBody>
          <a:bodyPr/>
          <a:lstStyle>
            <a:lvl1pPr>
              <a:defRPr/>
            </a:lvl1pPr>
          </a:lstStyle>
          <a:p>
            <a:pPr>
              <a:defRPr/>
            </a:pPr>
            <a:endParaRPr lang="fr-CA"/>
          </a:p>
        </p:txBody>
      </p:sp>
      <p:sp>
        <p:nvSpPr>
          <p:cNvPr id="6" name="Espace réservé du numéro de diapositive 5"/>
          <p:cNvSpPr>
            <a:spLocks noGrp="1"/>
          </p:cNvSpPr>
          <p:nvPr>
            <p:ph type="sldNum" sz="quarter" idx="12"/>
          </p:nvPr>
        </p:nvSpPr>
        <p:spPr/>
        <p:txBody>
          <a:bodyPr/>
          <a:lstStyle>
            <a:lvl1pPr>
              <a:defRPr/>
            </a:lvl1pPr>
          </a:lstStyle>
          <a:p>
            <a:pPr>
              <a:defRPr/>
            </a:pPr>
            <a:fld id="{F192BCFE-7F07-4DEB-84D0-B6E069D09AB4}" type="slidenum">
              <a:rPr lang="fr-CA"/>
              <a:pPr>
                <a:defRPr/>
              </a:pPr>
              <a:t>‹#›</a:t>
            </a:fld>
            <a:endParaRPr lang="fr-CA"/>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fr-CA"/>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Espace réservé de la date 3"/>
          <p:cNvSpPr>
            <a:spLocks noGrp="1"/>
          </p:cNvSpPr>
          <p:nvPr>
            <p:ph type="dt" sz="half" idx="10"/>
          </p:nvPr>
        </p:nvSpPr>
        <p:spPr/>
        <p:txBody>
          <a:bodyPr/>
          <a:lstStyle>
            <a:lvl1pPr>
              <a:defRPr/>
            </a:lvl1pPr>
          </a:lstStyle>
          <a:p>
            <a:pPr>
              <a:defRPr/>
            </a:pPr>
            <a:fld id="{64034F85-C7AC-44D9-8041-DCE5F1910771}" type="datetimeFigureOut">
              <a:rPr lang="fr-FR"/>
              <a:pPr>
                <a:defRPr/>
              </a:pPr>
              <a:t>07/07/2026</a:t>
            </a:fld>
            <a:endParaRPr lang="fr-CA"/>
          </a:p>
        </p:txBody>
      </p:sp>
      <p:sp>
        <p:nvSpPr>
          <p:cNvPr id="5" name="Espace réservé du pied de page 4"/>
          <p:cNvSpPr>
            <a:spLocks noGrp="1"/>
          </p:cNvSpPr>
          <p:nvPr>
            <p:ph type="ftr" sz="quarter" idx="11"/>
          </p:nvPr>
        </p:nvSpPr>
        <p:spPr/>
        <p:txBody>
          <a:bodyPr/>
          <a:lstStyle>
            <a:lvl1pPr>
              <a:defRPr/>
            </a:lvl1pPr>
          </a:lstStyle>
          <a:p>
            <a:pPr>
              <a:defRPr/>
            </a:pPr>
            <a:endParaRPr lang="fr-CA"/>
          </a:p>
        </p:txBody>
      </p:sp>
      <p:sp>
        <p:nvSpPr>
          <p:cNvPr id="6" name="Espace réservé du numéro de diapositive 5"/>
          <p:cNvSpPr>
            <a:spLocks noGrp="1"/>
          </p:cNvSpPr>
          <p:nvPr>
            <p:ph type="sldNum" sz="quarter" idx="12"/>
          </p:nvPr>
        </p:nvSpPr>
        <p:spPr/>
        <p:txBody>
          <a:bodyPr/>
          <a:lstStyle>
            <a:lvl1pPr>
              <a:defRPr/>
            </a:lvl1pPr>
          </a:lstStyle>
          <a:p>
            <a:pPr>
              <a:defRPr/>
            </a:pPr>
            <a:fld id="{B539C1E6-5858-412D-B164-0E5729C1B013}" type="slidenum">
              <a:rPr lang="fr-CA"/>
              <a:pPr>
                <a:defRPr/>
              </a:pPr>
              <a:t>‹#›</a:t>
            </a:fld>
            <a:endParaRPr lang="fr-CA"/>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a:t>Click to edit Master title style</a:t>
            </a:r>
            <a:endParaRPr lang="fr-CA"/>
          </a:p>
        </p:txBody>
      </p:sp>
      <p:sp>
        <p:nvSpPr>
          <p:cNvPr id="3" name="Espace réservé du conten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CA"/>
          </a:p>
        </p:txBody>
      </p:sp>
      <p:sp>
        <p:nvSpPr>
          <p:cNvPr id="4" name="Espace réservé du conten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CA"/>
          </a:p>
        </p:txBody>
      </p:sp>
      <p:sp>
        <p:nvSpPr>
          <p:cNvPr id="5" name="Espace réservé de la date 3"/>
          <p:cNvSpPr>
            <a:spLocks noGrp="1"/>
          </p:cNvSpPr>
          <p:nvPr>
            <p:ph type="dt" sz="half" idx="10"/>
          </p:nvPr>
        </p:nvSpPr>
        <p:spPr/>
        <p:txBody>
          <a:bodyPr/>
          <a:lstStyle>
            <a:lvl1pPr>
              <a:defRPr/>
            </a:lvl1pPr>
          </a:lstStyle>
          <a:p>
            <a:pPr>
              <a:defRPr/>
            </a:pPr>
            <a:fld id="{5F45984F-4687-4822-B90B-D2F0C053EC34}" type="datetimeFigureOut">
              <a:rPr lang="fr-FR"/>
              <a:pPr>
                <a:defRPr/>
              </a:pPr>
              <a:t>07/07/2026</a:t>
            </a:fld>
            <a:endParaRPr lang="fr-CA"/>
          </a:p>
        </p:txBody>
      </p:sp>
      <p:sp>
        <p:nvSpPr>
          <p:cNvPr id="6" name="Espace réservé du pied de page 4"/>
          <p:cNvSpPr>
            <a:spLocks noGrp="1"/>
          </p:cNvSpPr>
          <p:nvPr>
            <p:ph type="ftr" sz="quarter" idx="11"/>
          </p:nvPr>
        </p:nvSpPr>
        <p:spPr/>
        <p:txBody>
          <a:bodyPr/>
          <a:lstStyle>
            <a:lvl1pPr>
              <a:defRPr/>
            </a:lvl1pPr>
          </a:lstStyle>
          <a:p>
            <a:pPr>
              <a:defRPr/>
            </a:pPr>
            <a:endParaRPr lang="fr-CA"/>
          </a:p>
        </p:txBody>
      </p:sp>
      <p:sp>
        <p:nvSpPr>
          <p:cNvPr id="7" name="Espace réservé du numéro de diapositive 5"/>
          <p:cNvSpPr>
            <a:spLocks noGrp="1"/>
          </p:cNvSpPr>
          <p:nvPr>
            <p:ph type="sldNum" sz="quarter" idx="12"/>
          </p:nvPr>
        </p:nvSpPr>
        <p:spPr/>
        <p:txBody>
          <a:bodyPr/>
          <a:lstStyle>
            <a:lvl1pPr>
              <a:defRPr/>
            </a:lvl1pPr>
          </a:lstStyle>
          <a:p>
            <a:pPr>
              <a:defRPr/>
            </a:pPr>
            <a:fld id="{F9F1BFA6-010D-431C-B551-A9D369DB37A1}" type="slidenum">
              <a:rPr lang="fr-CA"/>
              <a:pPr>
                <a:defRPr/>
              </a:pPr>
              <a:t>‹#›</a:t>
            </a:fld>
            <a:endParaRPr lang="fr-CA"/>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en-US"/>
              <a:t>Click to edit Master title style</a:t>
            </a:r>
            <a:endParaRPr lang="fr-CA"/>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CA"/>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CA"/>
          </a:p>
        </p:txBody>
      </p:sp>
      <p:sp>
        <p:nvSpPr>
          <p:cNvPr id="7" name="Espace réservé de la date 3"/>
          <p:cNvSpPr>
            <a:spLocks noGrp="1"/>
          </p:cNvSpPr>
          <p:nvPr>
            <p:ph type="dt" sz="half" idx="10"/>
          </p:nvPr>
        </p:nvSpPr>
        <p:spPr/>
        <p:txBody>
          <a:bodyPr/>
          <a:lstStyle>
            <a:lvl1pPr>
              <a:defRPr/>
            </a:lvl1pPr>
          </a:lstStyle>
          <a:p>
            <a:pPr>
              <a:defRPr/>
            </a:pPr>
            <a:fld id="{1AAEB407-0560-4B40-983D-A7D236E18EC5}" type="datetimeFigureOut">
              <a:rPr lang="fr-FR"/>
              <a:pPr>
                <a:defRPr/>
              </a:pPr>
              <a:t>07/07/2026</a:t>
            </a:fld>
            <a:endParaRPr lang="fr-CA"/>
          </a:p>
        </p:txBody>
      </p:sp>
      <p:sp>
        <p:nvSpPr>
          <p:cNvPr id="8" name="Espace réservé du pied de page 4"/>
          <p:cNvSpPr>
            <a:spLocks noGrp="1"/>
          </p:cNvSpPr>
          <p:nvPr>
            <p:ph type="ftr" sz="quarter" idx="11"/>
          </p:nvPr>
        </p:nvSpPr>
        <p:spPr/>
        <p:txBody>
          <a:bodyPr/>
          <a:lstStyle>
            <a:lvl1pPr>
              <a:defRPr/>
            </a:lvl1pPr>
          </a:lstStyle>
          <a:p>
            <a:pPr>
              <a:defRPr/>
            </a:pPr>
            <a:endParaRPr lang="fr-CA"/>
          </a:p>
        </p:txBody>
      </p:sp>
      <p:sp>
        <p:nvSpPr>
          <p:cNvPr id="9" name="Espace réservé du numéro de diapositive 5"/>
          <p:cNvSpPr>
            <a:spLocks noGrp="1"/>
          </p:cNvSpPr>
          <p:nvPr>
            <p:ph type="sldNum" sz="quarter" idx="12"/>
          </p:nvPr>
        </p:nvSpPr>
        <p:spPr/>
        <p:txBody>
          <a:bodyPr/>
          <a:lstStyle>
            <a:lvl1pPr>
              <a:defRPr/>
            </a:lvl1pPr>
          </a:lstStyle>
          <a:p>
            <a:pPr>
              <a:defRPr/>
            </a:pPr>
            <a:fld id="{E3D0B0A2-27E0-4485-9168-8AA570A8DAFC}" type="slidenum">
              <a:rPr lang="fr-CA"/>
              <a:pPr>
                <a:defRPr/>
              </a:pPr>
              <a:t>‹#›</a:t>
            </a:fld>
            <a:endParaRPr lang="fr-CA"/>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a:t>Click to edit Master title style</a:t>
            </a:r>
            <a:endParaRPr lang="fr-CA"/>
          </a:p>
        </p:txBody>
      </p:sp>
      <p:sp>
        <p:nvSpPr>
          <p:cNvPr id="3" name="Espace réservé de la date 3"/>
          <p:cNvSpPr>
            <a:spLocks noGrp="1"/>
          </p:cNvSpPr>
          <p:nvPr>
            <p:ph type="dt" sz="half" idx="10"/>
          </p:nvPr>
        </p:nvSpPr>
        <p:spPr/>
        <p:txBody>
          <a:bodyPr/>
          <a:lstStyle>
            <a:lvl1pPr>
              <a:defRPr/>
            </a:lvl1pPr>
          </a:lstStyle>
          <a:p>
            <a:pPr>
              <a:defRPr/>
            </a:pPr>
            <a:fld id="{31E07EA0-14F2-420C-A475-0D18AFDA93B1}" type="datetimeFigureOut">
              <a:rPr lang="fr-FR"/>
              <a:pPr>
                <a:defRPr/>
              </a:pPr>
              <a:t>07/07/2026</a:t>
            </a:fld>
            <a:endParaRPr lang="fr-CA"/>
          </a:p>
        </p:txBody>
      </p:sp>
      <p:sp>
        <p:nvSpPr>
          <p:cNvPr id="4" name="Espace réservé du pied de page 4"/>
          <p:cNvSpPr>
            <a:spLocks noGrp="1"/>
          </p:cNvSpPr>
          <p:nvPr>
            <p:ph type="ftr" sz="quarter" idx="11"/>
          </p:nvPr>
        </p:nvSpPr>
        <p:spPr/>
        <p:txBody>
          <a:bodyPr/>
          <a:lstStyle>
            <a:lvl1pPr>
              <a:defRPr/>
            </a:lvl1pPr>
          </a:lstStyle>
          <a:p>
            <a:pPr>
              <a:defRPr/>
            </a:pPr>
            <a:endParaRPr lang="fr-CA"/>
          </a:p>
        </p:txBody>
      </p:sp>
      <p:sp>
        <p:nvSpPr>
          <p:cNvPr id="5" name="Espace réservé du numéro de diapositive 5"/>
          <p:cNvSpPr>
            <a:spLocks noGrp="1"/>
          </p:cNvSpPr>
          <p:nvPr>
            <p:ph type="sldNum" sz="quarter" idx="12"/>
          </p:nvPr>
        </p:nvSpPr>
        <p:spPr/>
        <p:txBody>
          <a:bodyPr/>
          <a:lstStyle>
            <a:lvl1pPr>
              <a:defRPr/>
            </a:lvl1pPr>
          </a:lstStyle>
          <a:p>
            <a:pPr>
              <a:defRPr/>
            </a:pPr>
            <a:fld id="{F0B3AE74-2F99-4987-987A-6C3EA8F2668B}" type="slidenum">
              <a:rPr lang="fr-CA"/>
              <a:pPr>
                <a:defRPr/>
              </a:pPr>
              <a:t>‹#›</a:t>
            </a:fld>
            <a:endParaRPr lang="fr-CA"/>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3"/>
          <p:cNvSpPr>
            <a:spLocks noGrp="1"/>
          </p:cNvSpPr>
          <p:nvPr>
            <p:ph type="dt" sz="half" idx="10"/>
          </p:nvPr>
        </p:nvSpPr>
        <p:spPr/>
        <p:txBody>
          <a:bodyPr/>
          <a:lstStyle>
            <a:lvl1pPr>
              <a:defRPr/>
            </a:lvl1pPr>
          </a:lstStyle>
          <a:p>
            <a:pPr>
              <a:defRPr/>
            </a:pPr>
            <a:fld id="{5DDA1DD5-A17C-48EA-9412-EA98D6409207}" type="datetimeFigureOut">
              <a:rPr lang="fr-FR"/>
              <a:pPr>
                <a:defRPr/>
              </a:pPr>
              <a:t>07/07/2026</a:t>
            </a:fld>
            <a:endParaRPr lang="fr-CA"/>
          </a:p>
        </p:txBody>
      </p:sp>
      <p:sp>
        <p:nvSpPr>
          <p:cNvPr id="3" name="Espace réservé du pied de page 4"/>
          <p:cNvSpPr>
            <a:spLocks noGrp="1"/>
          </p:cNvSpPr>
          <p:nvPr>
            <p:ph type="ftr" sz="quarter" idx="11"/>
          </p:nvPr>
        </p:nvSpPr>
        <p:spPr/>
        <p:txBody>
          <a:bodyPr/>
          <a:lstStyle>
            <a:lvl1pPr>
              <a:defRPr/>
            </a:lvl1pPr>
          </a:lstStyle>
          <a:p>
            <a:pPr>
              <a:defRPr/>
            </a:pPr>
            <a:endParaRPr lang="fr-CA"/>
          </a:p>
        </p:txBody>
      </p:sp>
      <p:sp>
        <p:nvSpPr>
          <p:cNvPr id="4" name="Espace réservé du numéro de diapositive 5"/>
          <p:cNvSpPr>
            <a:spLocks noGrp="1"/>
          </p:cNvSpPr>
          <p:nvPr>
            <p:ph type="sldNum" sz="quarter" idx="12"/>
          </p:nvPr>
        </p:nvSpPr>
        <p:spPr/>
        <p:txBody>
          <a:bodyPr/>
          <a:lstStyle>
            <a:lvl1pPr>
              <a:defRPr/>
            </a:lvl1pPr>
          </a:lstStyle>
          <a:p>
            <a:pPr>
              <a:defRPr/>
            </a:pPr>
            <a:fld id="{880E848E-D45A-49C9-AF07-E8D1D5BE3B06}" type="slidenum">
              <a:rPr lang="fr-CA"/>
              <a:pPr>
                <a:defRPr/>
              </a:pPr>
              <a:t>‹#›</a:t>
            </a:fld>
            <a:endParaRPr lang="fr-CA"/>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fr-CA"/>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CA"/>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Espace réservé de la date 3"/>
          <p:cNvSpPr>
            <a:spLocks noGrp="1"/>
          </p:cNvSpPr>
          <p:nvPr>
            <p:ph type="dt" sz="half" idx="10"/>
          </p:nvPr>
        </p:nvSpPr>
        <p:spPr/>
        <p:txBody>
          <a:bodyPr/>
          <a:lstStyle>
            <a:lvl1pPr>
              <a:defRPr/>
            </a:lvl1pPr>
          </a:lstStyle>
          <a:p>
            <a:pPr>
              <a:defRPr/>
            </a:pPr>
            <a:fld id="{00002456-19D9-42BE-A6A4-31B0B2C0CD52}" type="datetimeFigureOut">
              <a:rPr lang="fr-FR"/>
              <a:pPr>
                <a:defRPr/>
              </a:pPr>
              <a:t>07/07/2026</a:t>
            </a:fld>
            <a:endParaRPr lang="fr-CA"/>
          </a:p>
        </p:txBody>
      </p:sp>
      <p:sp>
        <p:nvSpPr>
          <p:cNvPr id="6" name="Espace réservé du pied de page 4"/>
          <p:cNvSpPr>
            <a:spLocks noGrp="1"/>
          </p:cNvSpPr>
          <p:nvPr>
            <p:ph type="ftr" sz="quarter" idx="11"/>
          </p:nvPr>
        </p:nvSpPr>
        <p:spPr/>
        <p:txBody>
          <a:bodyPr/>
          <a:lstStyle>
            <a:lvl1pPr>
              <a:defRPr/>
            </a:lvl1pPr>
          </a:lstStyle>
          <a:p>
            <a:pPr>
              <a:defRPr/>
            </a:pPr>
            <a:endParaRPr lang="fr-CA"/>
          </a:p>
        </p:txBody>
      </p:sp>
      <p:sp>
        <p:nvSpPr>
          <p:cNvPr id="7" name="Espace réservé du numéro de diapositive 5"/>
          <p:cNvSpPr>
            <a:spLocks noGrp="1"/>
          </p:cNvSpPr>
          <p:nvPr>
            <p:ph type="sldNum" sz="quarter" idx="12"/>
          </p:nvPr>
        </p:nvSpPr>
        <p:spPr/>
        <p:txBody>
          <a:bodyPr/>
          <a:lstStyle>
            <a:lvl1pPr>
              <a:defRPr/>
            </a:lvl1pPr>
          </a:lstStyle>
          <a:p>
            <a:pPr>
              <a:defRPr/>
            </a:pPr>
            <a:fld id="{44AFF93D-3571-4F94-83EE-E5D41E95C87B}" type="slidenum">
              <a:rPr lang="fr-CA"/>
              <a:pPr>
                <a:defRPr/>
              </a:pPr>
              <a:t>‹#›</a:t>
            </a:fld>
            <a:endParaRPr lang="fr-CA"/>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fr-CA"/>
          </a:p>
        </p:txBody>
      </p:sp>
      <p:sp>
        <p:nvSpPr>
          <p:cNvPr id="3" name="Espace réservé pour une image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fr-CA" noProof="0"/>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Espace réservé de la date 3"/>
          <p:cNvSpPr>
            <a:spLocks noGrp="1"/>
          </p:cNvSpPr>
          <p:nvPr>
            <p:ph type="dt" sz="half" idx="10"/>
          </p:nvPr>
        </p:nvSpPr>
        <p:spPr/>
        <p:txBody>
          <a:bodyPr/>
          <a:lstStyle>
            <a:lvl1pPr>
              <a:defRPr/>
            </a:lvl1pPr>
          </a:lstStyle>
          <a:p>
            <a:pPr>
              <a:defRPr/>
            </a:pPr>
            <a:fld id="{1AFF835A-66CB-4758-9200-7B9C84F9639E}" type="datetimeFigureOut">
              <a:rPr lang="fr-FR"/>
              <a:pPr>
                <a:defRPr/>
              </a:pPr>
              <a:t>07/07/2026</a:t>
            </a:fld>
            <a:endParaRPr lang="fr-CA"/>
          </a:p>
        </p:txBody>
      </p:sp>
      <p:sp>
        <p:nvSpPr>
          <p:cNvPr id="6" name="Espace réservé du pied de page 4"/>
          <p:cNvSpPr>
            <a:spLocks noGrp="1"/>
          </p:cNvSpPr>
          <p:nvPr>
            <p:ph type="ftr" sz="quarter" idx="11"/>
          </p:nvPr>
        </p:nvSpPr>
        <p:spPr/>
        <p:txBody>
          <a:bodyPr/>
          <a:lstStyle>
            <a:lvl1pPr>
              <a:defRPr/>
            </a:lvl1pPr>
          </a:lstStyle>
          <a:p>
            <a:pPr>
              <a:defRPr/>
            </a:pPr>
            <a:endParaRPr lang="fr-CA"/>
          </a:p>
        </p:txBody>
      </p:sp>
      <p:sp>
        <p:nvSpPr>
          <p:cNvPr id="7" name="Espace réservé du numéro de diapositive 5"/>
          <p:cNvSpPr>
            <a:spLocks noGrp="1"/>
          </p:cNvSpPr>
          <p:nvPr>
            <p:ph type="sldNum" sz="quarter" idx="12"/>
          </p:nvPr>
        </p:nvSpPr>
        <p:spPr/>
        <p:txBody>
          <a:bodyPr/>
          <a:lstStyle>
            <a:lvl1pPr>
              <a:defRPr/>
            </a:lvl1pPr>
          </a:lstStyle>
          <a:p>
            <a:pPr>
              <a:defRPr/>
            </a:pPr>
            <a:fld id="{457E2403-F942-4042-B87D-191FA9AEC4FC}" type="slidenum">
              <a:rPr lang="fr-CA"/>
              <a:pPr>
                <a:defRPr/>
              </a:pPr>
              <a:t>‹#›</a:t>
            </a:fld>
            <a:endParaRPr lang="fr-CA"/>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a:t>Click to edit Master title style</a:t>
            </a:r>
            <a:endParaRPr lang="fr-CA"/>
          </a:p>
        </p:txBody>
      </p:sp>
      <p:sp>
        <p:nvSpPr>
          <p:cNvPr id="3" name="Espace réservé du texte vertical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CA"/>
          </a:p>
        </p:txBody>
      </p:sp>
      <p:sp>
        <p:nvSpPr>
          <p:cNvPr id="4" name="Espace réservé de la date 3"/>
          <p:cNvSpPr>
            <a:spLocks noGrp="1"/>
          </p:cNvSpPr>
          <p:nvPr>
            <p:ph type="dt" sz="half" idx="10"/>
          </p:nvPr>
        </p:nvSpPr>
        <p:spPr/>
        <p:txBody>
          <a:bodyPr/>
          <a:lstStyle>
            <a:lvl1pPr>
              <a:defRPr/>
            </a:lvl1pPr>
          </a:lstStyle>
          <a:p>
            <a:pPr>
              <a:defRPr/>
            </a:pPr>
            <a:fld id="{890CA72D-36E4-4393-9507-9CBDA1AC8F50}" type="datetimeFigureOut">
              <a:rPr lang="fr-FR"/>
              <a:pPr>
                <a:defRPr/>
              </a:pPr>
              <a:t>07/07/2026</a:t>
            </a:fld>
            <a:endParaRPr lang="fr-CA"/>
          </a:p>
        </p:txBody>
      </p:sp>
      <p:sp>
        <p:nvSpPr>
          <p:cNvPr id="5" name="Espace réservé du pied de page 4"/>
          <p:cNvSpPr>
            <a:spLocks noGrp="1"/>
          </p:cNvSpPr>
          <p:nvPr>
            <p:ph type="ftr" sz="quarter" idx="11"/>
          </p:nvPr>
        </p:nvSpPr>
        <p:spPr/>
        <p:txBody>
          <a:bodyPr/>
          <a:lstStyle>
            <a:lvl1pPr>
              <a:defRPr/>
            </a:lvl1pPr>
          </a:lstStyle>
          <a:p>
            <a:pPr>
              <a:defRPr/>
            </a:pPr>
            <a:endParaRPr lang="fr-CA"/>
          </a:p>
        </p:txBody>
      </p:sp>
      <p:sp>
        <p:nvSpPr>
          <p:cNvPr id="6" name="Espace réservé du numéro de diapositive 5"/>
          <p:cNvSpPr>
            <a:spLocks noGrp="1"/>
          </p:cNvSpPr>
          <p:nvPr>
            <p:ph type="sldNum" sz="quarter" idx="12"/>
          </p:nvPr>
        </p:nvSpPr>
        <p:spPr/>
        <p:txBody>
          <a:bodyPr/>
          <a:lstStyle>
            <a:lvl1pPr>
              <a:defRPr/>
            </a:lvl1pPr>
          </a:lstStyle>
          <a:p>
            <a:pPr>
              <a:defRPr/>
            </a:pPr>
            <a:fld id="{3F488108-AC2B-469D-8E1A-8A1FC91F787D}" type="slidenum">
              <a:rPr lang="fr-CA"/>
              <a:pPr>
                <a:defRPr/>
              </a:pPr>
              <a:t>‹#›</a:t>
            </a:fld>
            <a:endParaRPr lang="fr-CA"/>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lang="en-US"/>
              <a:t>Click to edit Master title style</a:t>
            </a:r>
            <a:endParaRPr lang="fr-CA"/>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CA"/>
          </a:p>
        </p:txBody>
      </p:sp>
      <p:sp>
        <p:nvSpPr>
          <p:cNvPr id="4" name="Espace réservé de la date 3"/>
          <p:cNvSpPr>
            <a:spLocks noGrp="1"/>
          </p:cNvSpPr>
          <p:nvPr>
            <p:ph type="dt" sz="half" idx="10"/>
          </p:nvPr>
        </p:nvSpPr>
        <p:spPr/>
        <p:txBody>
          <a:bodyPr/>
          <a:lstStyle>
            <a:lvl1pPr>
              <a:defRPr/>
            </a:lvl1pPr>
          </a:lstStyle>
          <a:p>
            <a:pPr>
              <a:defRPr/>
            </a:pPr>
            <a:fld id="{343A0D9B-B10A-4C2F-90C1-683BF0DFEB41}" type="datetimeFigureOut">
              <a:rPr lang="fr-FR"/>
              <a:pPr>
                <a:defRPr/>
              </a:pPr>
              <a:t>07/07/2026</a:t>
            </a:fld>
            <a:endParaRPr lang="fr-CA"/>
          </a:p>
        </p:txBody>
      </p:sp>
      <p:sp>
        <p:nvSpPr>
          <p:cNvPr id="5" name="Espace réservé du pied de page 4"/>
          <p:cNvSpPr>
            <a:spLocks noGrp="1"/>
          </p:cNvSpPr>
          <p:nvPr>
            <p:ph type="ftr" sz="quarter" idx="11"/>
          </p:nvPr>
        </p:nvSpPr>
        <p:spPr/>
        <p:txBody>
          <a:bodyPr/>
          <a:lstStyle>
            <a:lvl1pPr>
              <a:defRPr/>
            </a:lvl1pPr>
          </a:lstStyle>
          <a:p>
            <a:pPr>
              <a:defRPr/>
            </a:pPr>
            <a:endParaRPr lang="fr-CA"/>
          </a:p>
        </p:txBody>
      </p:sp>
      <p:sp>
        <p:nvSpPr>
          <p:cNvPr id="6" name="Espace réservé du numéro de diapositive 5"/>
          <p:cNvSpPr>
            <a:spLocks noGrp="1"/>
          </p:cNvSpPr>
          <p:nvPr>
            <p:ph type="sldNum" sz="quarter" idx="12"/>
          </p:nvPr>
        </p:nvSpPr>
        <p:spPr/>
        <p:txBody>
          <a:bodyPr/>
          <a:lstStyle>
            <a:lvl1pPr>
              <a:defRPr/>
            </a:lvl1pPr>
          </a:lstStyle>
          <a:p>
            <a:pPr>
              <a:defRPr/>
            </a:pPr>
            <a:fld id="{C044A544-6A6F-467F-AC6F-55FD44753437}" type="slidenum">
              <a:rPr lang="fr-CA"/>
              <a:pPr>
                <a:defRPr/>
              </a:pPr>
              <a:t>‹#›</a:t>
            </a:fld>
            <a:endParaRPr lang="fr-CA"/>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cstate="print"/>
          <a:srcRect/>
          <a:stretch>
            <a:fillRect/>
          </a:stretch>
        </a:blipFill>
        <a:effectLst/>
      </p:bgPr>
    </p:bg>
    <p:spTree>
      <p:nvGrpSpPr>
        <p:cNvPr id="1" name=""/>
        <p:cNvGrpSpPr/>
        <p:nvPr/>
      </p:nvGrpSpPr>
      <p:grpSpPr>
        <a:xfrm>
          <a:off x="0" y="0"/>
          <a:ext cx="0" cy="0"/>
          <a:chOff x="0" y="0"/>
          <a:chExt cx="0" cy="0"/>
        </a:xfrm>
      </p:grpSpPr>
      <p:sp>
        <p:nvSpPr>
          <p:cNvPr id="1026" name="Espace réservé du titre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fr-FR"/>
              <a:t>Cliquez pour modifier le style du titre</a:t>
            </a:r>
            <a:endParaRPr lang="fr-CA"/>
          </a:p>
        </p:txBody>
      </p:sp>
      <p:sp>
        <p:nvSpPr>
          <p:cNvPr id="1027" name="Espace réservé du texte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mn-lt"/>
              </a:defRPr>
            </a:lvl1pPr>
          </a:lstStyle>
          <a:p>
            <a:pPr>
              <a:defRPr/>
            </a:pPr>
            <a:fld id="{22E20E43-3D58-4660-B8C5-0C3B8220668E}" type="datetimeFigureOut">
              <a:rPr lang="fr-FR"/>
              <a:pPr>
                <a:defRPr/>
              </a:pPr>
              <a:t>07/07/2026</a:t>
            </a:fld>
            <a:endParaRPr lang="fr-CA"/>
          </a:p>
        </p:txBody>
      </p:sp>
      <p:sp>
        <p:nvSpPr>
          <p:cNvPr id="5" name="Espace réservé du pied de page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smtClean="0">
                <a:solidFill>
                  <a:schemeClr val="tx1">
                    <a:tint val="75000"/>
                  </a:schemeClr>
                </a:solidFill>
                <a:latin typeface="+mn-lt"/>
              </a:defRPr>
            </a:lvl1pPr>
          </a:lstStyle>
          <a:p>
            <a:pPr>
              <a:defRPr/>
            </a:pPr>
            <a:endParaRPr lang="fr-CA"/>
          </a:p>
        </p:txBody>
      </p:sp>
      <p:sp>
        <p:nvSpPr>
          <p:cNvPr id="6" name="Espace réservé du numéro de diapositiv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smtClean="0">
                <a:solidFill>
                  <a:schemeClr val="tx1">
                    <a:tint val="75000"/>
                  </a:schemeClr>
                </a:solidFill>
                <a:latin typeface="+mn-lt"/>
              </a:defRPr>
            </a:lvl1pPr>
          </a:lstStyle>
          <a:p>
            <a:pPr>
              <a:defRPr/>
            </a:pPr>
            <a:fld id="{019B76BF-C9E2-4657-92CA-F0808A608D01}" type="slidenum">
              <a:rPr lang="fr-CA"/>
              <a:pPr>
                <a:defRPr/>
              </a:pPr>
              <a:t>‹#›</a:t>
            </a:fld>
            <a:endParaRPr lang="fr-CA"/>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1" fontAlgn="base" hangingPunct="1">
        <a:spcBef>
          <a:spcPct val="0"/>
        </a:spcBef>
        <a:spcAft>
          <a:spcPct val="0"/>
        </a:spcAft>
        <a:defRPr sz="4400" kern="1200">
          <a:solidFill>
            <a:schemeClr val="tx1"/>
          </a:solidFill>
          <a:latin typeface="+mj-lt"/>
          <a:ea typeface="+mj-ea"/>
          <a:cs typeface="+mj-cs"/>
        </a:defRPr>
      </a:lvl1pPr>
      <a:lvl2pPr algn="ctr" rtl="0" eaLnBrk="1" fontAlgn="base" hangingPunct="1">
        <a:spcBef>
          <a:spcPct val="0"/>
        </a:spcBef>
        <a:spcAft>
          <a:spcPct val="0"/>
        </a:spcAft>
        <a:defRPr sz="4400">
          <a:solidFill>
            <a:schemeClr val="tx1"/>
          </a:solidFill>
          <a:latin typeface="Calibri" pitchFamily="34" charset="0"/>
        </a:defRPr>
      </a:lvl2pPr>
      <a:lvl3pPr algn="ctr" rtl="0" eaLnBrk="1" fontAlgn="base" hangingPunct="1">
        <a:spcBef>
          <a:spcPct val="0"/>
        </a:spcBef>
        <a:spcAft>
          <a:spcPct val="0"/>
        </a:spcAft>
        <a:defRPr sz="4400">
          <a:solidFill>
            <a:schemeClr val="tx1"/>
          </a:solidFill>
          <a:latin typeface="Calibri" pitchFamily="34" charset="0"/>
        </a:defRPr>
      </a:lvl3pPr>
      <a:lvl4pPr algn="ctr" rtl="0" eaLnBrk="1" fontAlgn="base" hangingPunct="1">
        <a:spcBef>
          <a:spcPct val="0"/>
        </a:spcBef>
        <a:spcAft>
          <a:spcPct val="0"/>
        </a:spcAft>
        <a:defRPr sz="4400">
          <a:solidFill>
            <a:schemeClr val="tx1"/>
          </a:solidFill>
          <a:latin typeface="Calibri" pitchFamily="34" charset="0"/>
        </a:defRPr>
      </a:lvl4pPr>
      <a:lvl5pPr algn="ctr" rtl="0" eaLnBrk="1" fontAlgn="base" hangingPunct="1">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p:titleStyle>
    <p:body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2050" name="Titre 1"/>
          <p:cNvSpPr>
            <a:spLocks noGrp="1"/>
          </p:cNvSpPr>
          <p:nvPr>
            <p:ph type="ctrTitle"/>
          </p:nvPr>
        </p:nvSpPr>
        <p:spPr>
          <a:xfrm>
            <a:off x="685800" y="3373438"/>
            <a:ext cx="7772400" cy="1012825"/>
          </a:xfrm>
        </p:spPr>
        <p:txBody>
          <a:bodyPr/>
          <a:lstStyle/>
          <a:p>
            <a:r>
              <a:rPr lang="fr-CA" sz="4000" dirty="0">
                <a:solidFill>
                  <a:schemeClr val="bg1"/>
                </a:solidFill>
              </a:rPr>
              <a:t>A2A</a:t>
            </a:r>
            <a:endParaRPr lang="fr-CA" sz="3800" dirty="0">
              <a:solidFill>
                <a:schemeClr val="bg1"/>
              </a:solidFill>
            </a:endParaRPr>
          </a:p>
        </p:txBody>
      </p:sp>
      <p:sp>
        <p:nvSpPr>
          <p:cNvPr id="2051" name="Sous-titre 2"/>
          <p:cNvSpPr>
            <a:spLocks noGrp="1"/>
          </p:cNvSpPr>
          <p:nvPr>
            <p:ph type="subTitle" idx="1"/>
          </p:nvPr>
        </p:nvSpPr>
        <p:spPr>
          <a:xfrm>
            <a:off x="5715000" y="6091237"/>
            <a:ext cx="3124200" cy="614363"/>
          </a:xfrm>
        </p:spPr>
        <p:txBody>
          <a:bodyPr/>
          <a:lstStyle/>
          <a:p>
            <a:r>
              <a:rPr lang="fr-CA" sz="2600" dirty="0">
                <a:solidFill>
                  <a:schemeClr val="bg1"/>
                </a:solidFill>
              </a:rPr>
              <a:t>Dima Ionut Daniel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re 1"/>
          <p:cNvSpPr>
            <a:spLocks noGrp="1"/>
          </p:cNvSpPr>
          <p:nvPr>
            <p:ph type="title"/>
          </p:nvPr>
        </p:nvSpPr>
        <p:spPr>
          <a:xfrm>
            <a:off x="2071688" y="274638"/>
            <a:ext cx="6615112" cy="1143000"/>
          </a:xfrm>
        </p:spPr>
        <p:txBody>
          <a:bodyPr/>
          <a:lstStyle/>
          <a:p>
            <a:pPr algn="l"/>
            <a:r>
              <a:rPr lang="fr-CA" sz="4000" dirty="0">
                <a:solidFill>
                  <a:srgbClr val="3C5790"/>
                </a:solidFill>
              </a:rPr>
              <a:t>Contents</a:t>
            </a:r>
          </a:p>
        </p:txBody>
      </p:sp>
      <p:sp>
        <p:nvSpPr>
          <p:cNvPr id="3075" name="Espace réservé du contenu 2"/>
          <p:cNvSpPr>
            <a:spLocks noGrp="1"/>
          </p:cNvSpPr>
          <p:nvPr>
            <p:ph idx="1"/>
          </p:nvPr>
        </p:nvSpPr>
        <p:spPr>
          <a:xfrm>
            <a:off x="2224088" y="1600200"/>
            <a:ext cx="6615112" cy="5029200"/>
          </a:xfrm>
        </p:spPr>
        <p:txBody>
          <a:bodyPr/>
          <a:lstStyle/>
          <a:p>
            <a:r>
              <a:rPr lang="fr-CA" sz="1600" dirty="0" err="1">
                <a:solidFill>
                  <a:srgbClr val="3C5790"/>
                </a:solidFill>
              </a:rPr>
              <a:t>What</a:t>
            </a:r>
            <a:r>
              <a:rPr lang="fr-CA" sz="1600" dirty="0">
                <a:solidFill>
                  <a:srgbClr val="3C5790"/>
                </a:solidFill>
              </a:rPr>
              <a:t> </a:t>
            </a:r>
            <a:r>
              <a:rPr lang="fr-CA" sz="1600" dirty="0" err="1">
                <a:solidFill>
                  <a:srgbClr val="3C5790"/>
                </a:solidFill>
              </a:rPr>
              <a:t>is</a:t>
            </a:r>
            <a:r>
              <a:rPr lang="fr-CA" sz="1600" dirty="0">
                <a:solidFill>
                  <a:srgbClr val="3C5790"/>
                </a:solidFill>
              </a:rPr>
              <a:t> A2A?</a:t>
            </a:r>
          </a:p>
          <a:p>
            <a:r>
              <a:rPr lang="fr-CA" sz="1600" dirty="0">
                <a:solidFill>
                  <a:srgbClr val="3C5790"/>
                </a:solidFill>
              </a:rPr>
              <a:t>Goals</a:t>
            </a:r>
          </a:p>
          <a:p>
            <a:r>
              <a:rPr lang="fr-CA" sz="1600" dirty="0" err="1">
                <a:solidFill>
                  <a:srgbClr val="3C5790"/>
                </a:solidFill>
              </a:rPr>
              <a:t>Features</a:t>
            </a:r>
            <a:endParaRPr lang="fr-CA" sz="1600" dirty="0">
              <a:solidFill>
                <a:srgbClr val="3C5790"/>
              </a:solidFill>
            </a:endParaRPr>
          </a:p>
          <a:p>
            <a:r>
              <a:rPr lang="fr-CA" sz="1600" dirty="0">
                <a:solidFill>
                  <a:srgbClr val="3C5790"/>
                </a:solidFill>
              </a:rPr>
              <a:t>Use Cases</a:t>
            </a:r>
          </a:p>
          <a:p>
            <a:r>
              <a:rPr lang="fr-CA" sz="1600" dirty="0" err="1">
                <a:solidFill>
                  <a:srgbClr val="3C5790"/>
                </a:solidFill>
              </a:rPr>
              <a:t>Arhitecture</a:t>
            </a:r>
            <a:endParaRPr lang="fr-CA" sz="1600" dirty="0">
              <a:solidFill>
                <a:srgbClr val="3C5790"/>
              </a:solidFill>
            </a:endParaRPr>
          </a:p>
          <a:p>
            <a:r>
              <a:rPr lang="fr-CA" sz="1600" dirty="0">
                <a:solidFill>
                  <a:srgbClr val="3C5790"/>
                </a:solidFill>
              </a:rPr>
              <a:t>Concepts</a:t>
            </a:r>
          </a:p>
          <a:p>
            <a:r>
              <a:rPr lang="fr-CA" sz="1600" dirty="0" err="1">
                <a:solidFill>
                  <a:srgbClr val="3C5790"/>
                </a:solidFill>
              </a:rPr>
              <a:t>Core</a:t>
            </a:r>
            <a:endParaRPr lang="fr-CA" sz="1600" dirty="0">
              <a:solidFill>
                <a:srgbClr val="3C5790"/>
              </a:solidFill>
            </a:endParaRPr>
          </a:p>
          <a:p>
            <a:r>
              <a:rPr lang="fr-CA" sz="1600" dirty="0">
                <a:solidFill>
                  <a:srgbClr val="3C5790"/>
                </a:solidFill>
              </a:rPr>
              <a:t>A2A vs MCP</a:t>
            </a:r>
          </a:p>
          <a:p>
            <a:r>
              <a:rPr lang="en-US" sz="1600" dirty="0">
                <a:solidFill>
                  <a:srgbClr val="3C5790"/>
                </a:solidFill>
              </a:rPr>
              <a:t>Conclusion</a:t>
            </a:r>
          </a:p>
          <a:p>
            <a:r>
              <a:rPr lang="fr-CA" sz="1600" dirty="0">
                <a:solidFill>
                  <a:srgbClr val="3C5790"/>
                </a:solidFill>
              </a:rPr>
              <a:t>Bibliography</a:t>
            </a:r>
          </a:p>
          <a:p>
            <a:pPr>
              <a:buNone/>
            </a:pPr>
            <a:br>
              <a:rPr lang="fr-CA" sz="1600" dirty="0">
                <a:solidFill>
                  <a:srgbClr val="3C5790"/>
                </a:solidFill>
              </a:rPr>
            </a:br>
            <a:endParaRPr lang="fr-CA" sz="1600" dirty="0">
              <a:solidFill>
                <a:srgbClr val="3C579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err="1">
                <a:solidFill>
                  <a:schemeClr val="bg1"/>
                </a:solidFill>
              </a:rPr>
              <a:t>What</a:t>
            </a:r>
            <a:r>
              <a:rPr lang="fr-CA" dirty="0">
                <a:solidFill>
                  <a:schemeClr val="bg1"/>
                </a:solidFill>
              </a:rPr>
              <a:t> </a:t>
            </a:r>
            <a:r>
              <a:rPr lang="fr-CA" dirty="0" err="1">
                <a:solidFill>
                  <a:schemeClr val="bg1"/>
                </a:solidFill>
              </a:rPr>
              <a:t>is</a:t>
            </a:r>
            <a:r>
              <a:rPr lang="fr-CA" dirty="0">
                <a:solidFill>
                  <a:schemeClr val="bg1"/>
                </a:solidFill>
              </a:rPr>
              <a:t> A2A?</a:t>
            </a:r>
          </a:p>
        </p:txBody>
      </p:sp>
      <p:sp>
        <p:nvSpPr>
          <p:cNvPr id="4099" name="Espace réservé du contenu 4"/>
          <p:cNvSpPr>
            <a:spLocks noGrp="1"/>
          </p:cNvSpPr>
          <p:nvPr>
            <p:ph idx="1"/>
          </p:nvPr>
        </p:nvSpPr>
        <p:spPr>
          <a:xfrm>
            <a:off x="228600" y="2133600"/>
            <a:ext cx="8686800" cy="4419600"/>
          </a:xfrm>
        </p:spPr>
        <p:txBody>
          <a:bodyPr/>
          <a:lstStyle/>
          <a:p>
            <a:r>
              <a:rPr lang="en-US" sz="1500" dirty="0">
                <a:solidFill>
                  <a:srgbClr val="3C5790"/>
                </a:solidFill>
              </a:rPr>
              <a:t>The </a:t>
            </a:r>
            <a:r>
              <a:rPr lang="en-US" sz="1500" b="1" dirty="0">
                <a:solidFill>
                  <a:srgbClr val="3C5790"/>
                </a:solidFill>
              </a:rPr>
              <a:t>A2A (Agent-to-Agent)</a:t>
            </a:r>
            <a:r>
              <a:rPr lang="en-US" sz="1500" dirty="0">
                <a:solidFill>
                  <a:srgbClr val="3C5790"/>
                </a:solidFill>
              </a:rPr>
              <a:t> protocol is an open standard that lets AI agents from different frameworks, vendors, and organizations communicate and collaborate seamlessly. </a:t>
            </a:r>
          </a:p>
          <a:p>
            <a:r>
              <a:rPr lang="en-US" sz="1500" dirty="0">
                <a:solidFill>
                  <a:srgbClr val="3C5790"/>
                </a:solidFill>
              </a:rPr>
              <a:t>It creates a shared language for interoperability, enabling autonomous agents—independent problem-solvers—to team up and break down silos.</a:t>
            </a:r>
          </a:p>
          <a:p>
            <a:r>
              <a:rPr lang="en-US" sz="1500" dirty="0">
                <a:solidFill>
                  <a:srgbClr val="3C5790"/>
                </a:solidFill>
              </a:rPr>
              <a:t>Originally developed by Google; now hosted by the Linux Foundation.</a:t>
            </a:r>
          </a:p>
          <a:p>
            <a:r>
              <a:rPr lang="en-US" sz="1500" dirty="0">
                <a:solidFill>
                  <a:srgbClr val="3C5790"/>
                </a:solidFill>
              </a:rPr>
              <a:t>Latest stable specification: v1.0.0 (2026).</a:t>
            </a:r>
          </a:p>
          <a:p>
            <a:r>
              <a:rPr lang="en-US" sz="1500" dirty="0">
                <a:solidFill>
                  <a:srgbClr val="3C5790"/>
                </a:solidFill>
              </a:rPr>
              <a:t>Enables agents built with different frameworks, languages, and vendors to discover each other, delegate tasks, and exchange results.</a:t>
            </a:r>
          </a:p>
          <a:p>
            <a:r>
              <a:rPr lang="en-US" sz="1500" dirty="0">
                <a:solidFill>
                  <a:srgbClr val="3C5790"/>
                </a:solidFill>
              </a:rPr>
              <a:t>Agents collaborate as opaque (black-box) peers — internal memory, tools, and reasoning are not exposed.</a:t>
            </a:r>
          </a:p>
          <a:p>
            <a:r>
              <a:rPr lang="en-US" sz="1500" dirty="0">
                <a:solidFill>
                  <a:srgbClr val="3C5790"/>
                </a:solidFill>
              </a:rPr>
              <a:t>Complements MCP (Model Context Protocol): MCP connects agents to tools; A2A connects agents to agents.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a:extLst>
            <a:ext uri="{FF2B5EF4-FFF2-40B4-BE49-F238E27FC236}">
              <a16:creationId xmlns:a16="http://schemas.microsoft.com/office/drawing/2014/main" id="{25873E49-6408-4F3F-5772-C9499ACAB01D}"/>
            </a:ext>
          </a:extLst>
        </p:cNvPr>
        <p:cNvGrpSpPr/>
        <p:nvPr/>
      </p:nvGrpSpPr>
      <p:grpSpPr>
        <a:xfrm>
          <a:off x="0" y="0"/>
          <a:ext cx="0" cy="0"/>
          <a:chOff x="0" y="0"/>
          <a:chExt cx="0" cy="0"/>
        </a:xfrm>
      </p:grpSpPr>
      <p:sp>
        <p:nvSpPr>
          <p:cNvPr id="4098" name="Titre 3">
            <a:extLst>
              <a:ext uri="{FF2B5EF4-FFF2-40B4-BE49-F238E27FC236}">
                <a16:creationId xmlns:a16="http://schemas.microsoft.com/office/drawing/2014/main" id="{6498F963-030D-BA52-3694-7D427C9FEF44}"/>
              </a:ext>
            </a:extLst>
          </p:cNvPr>
          <p:cNvSpPr>
            <a:spLocks noGrp="1"/>
          </p:cNvSpPr>
          <p:nvPr>
            <p:ph type="title"/>
          </p:nvPr>
        </p:nvSpPr>
        <p:spPr/>
        <p:txBody>
          <a:bodyPr/>
          <a:lstStyle/>
          <a:p>
            <a:r>
              <a:rPr lang="fr-CA" dirty="0">
                <a:solidFill>
                  <a:schemeClr val="bg1"/>
                </a:solidFill>
              </a:rPr>
              <a:t>Goals</a:t>
            </a:r>
          </a:p>
        </p:txBody>
      </p:sp>
      <p:sp>
        <p:nvSpPr>
          <p:cNvPr id="4099" name="Espace réservé du contenu 4">
            <a:extLst>
              <a:ext uri="{FF2B5EF4-FFF2-40B4-BE49-F238E27FC236}">
                <a16:creationId xmlns:a16="http://schemas.microsoft.com/office/drawing/2014/main" id="{71D55FFE-027F-BEFA-F6AD-FA105AE1197F}"/>
              </a:ext>
            </a:extLst>
          </p:cNvPr>
          <p:cNvSpPr>
            <a:spLocks noGrp="1"/>
          </p:cNvSpPr>
          <p:nvPr>
            <p:ph idx="1"/>
          </p:nvPr>
        </p:nvSpPr>
        <p:spPr>
          <a:xfrm>
            <a:off x="228600" y="2133600"/>
            <a:ext cx="8686800" cy="4419600"/>
          </a:xfrm>
        </p:spPr>
        <p:txBody>
          <a:bodyPr/>
          <a:lstStyle/>
          <a:p>
            <a:r>
              <a:rPr lang="en-US" sz="1500" b="1" dirty="0">
                <a:solidFill>
                  <a:srgbClr val="3C5790"/>
                </a:solidFill>
              </a:rPr>
              <a:t>Interoperability</a:t>
            </a:r>
            <a:r>
              <a:rPr lang="en-US" sz="1500" dirty="0">
                <a:solidFill>
                  <a:srgbClr val="3C5790"/>
                </a:solidFill>
              </a:rPr>
              <a:t> - bridge communication between disparate agentic systems.</a:t>
            </a:r>
          </a:p>
          <a:p>
            <a:r>
              <a:rPr lang="en-US" sz="1500" b="1" dirty="0">
                <a:solidFill>
                  <a:srgbClr val="3C5790"/>
                </a:solidFill>
              </a:rPr>
              <a:t>Collaboration</a:t>
            </a:r>
            <a:r>
              <a:rPr lang="en-US" sz="1500" dirty="0">
                <a:solidFill>
                  <a:srgbClr val="3C5790"/>
                </a:solidFill>
              </a:rPr>
              <a:t> - delegate tasks, exchange context, work on complex requests.</a:t>
            </a:r>
          </a:p>
          <a:p>
            <a:r>
              <a:rPr lang="en-US" sz="1500" b="1" dirty="0">
                <a:solidFill>
                  <a:srgbClr val="3C5790"/>
                </a:solidFill>
              </a:rPr>
              <a:t>Discovery</a:t>
            </a:r>
            <a:r>
              <a:rPr lang="en-US" sz="1500" dirty="0">
                <a:solidFill>
                  <a:srgbClr val="3C5790"/>
                </a:solidFill>
              </a:rPr>
              <a:t> - dynamically find and understand other agents' capabilities.</a:t>
            </a:r>
          </a:p>
          <a:p>
            <a:r>
              <a:rPr lang="en-US" sz="1500" b="1" dirty="0">
                <a:solidFill>
                  <a:srgbClr val="3C5790"/>
                </a:solidFill>
              </a:rPr>
              <a:t>Flexibility</a:t>
            </a:r>
            <a:r>
              <a:rPr lang="en-US" sz="1500" dirty="0">
                <a:solidFill>
                  <a:srgbClr val="3C5790"/>
                </a:solidFill>
              </a:rPr>
              <a:t> - sync request/response, SSE streaming, async push notifications.</a:t>
            </a:r>
          </a:p>
          <a:p>
            <a:r>
              <a:rPr lang="en-US" sz="1500" b="1" dirty="0">
                <a:solidFill>
                  <a:srgbClr val="3C5790"/>
                </a:solidFill>
              </a:rPr>
              <a:t>Security</a:t>
            </a:r>
            <a:r>
              <a:rPr lang="en-US" sz="1500" dirty="0">
                <a:solidFill>
                  <a:srgbClr val="3C5790"/>
                </a:solidFill>
              </a:rPr>
              <a:t> - enterprise-grade patterns (TLS, OAuth 2.0, API keys, signed Agent Cards).</a:t>
            </a:r>
          </a:p>
          <a:p>
            <a:r>
              <a:rPr lang="en-US" sz="1500" b="1" dirty="0" err="1">
                <a:solidFill>
                  <a:srgbClr val="3C5790"/>
                </a:solidFill>
              </a:rPr>
              <a:t>Asynchronicity</a:t>
            </a:r>
            <a:r>
              <a:rPr lang="en-US" sz="1500" dirty="0">
                <a:solidFill>
                  <a:srgbClr val="3C5790"/>
                </a:solidFill>
              </a:rPr>
              <a:t> - native support for long-running and human-in-the-loop tasks</a:t>
            </a:r>
          </a:p>
        </p:txBody>
      </p:sp>
    </p:spTree>
    <p:extLst>
      <p:ext uri="{BB962C8B-B14F-4D97-AF65-F5344CB8AC3E}">
        <p14:creationId xmlns:p14="http://schemas.microsoft.com/office/powerpoint/2010/main" val="38357370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a:extLst>
            <a:ext uri="{FF2B5EF4-FFF2-40B4-BE49-F238E27FC236}">
              <a16:creationId xmlns:a16="http://schemas.microsoft.com/office/drawing/2014/main" id="{1040295C-0FD9-BA27-D977-CC86C0A4A1D8}"/>
            </a:ext>
          </a:extLst>
        </p:cNvPr>
        <p:cNvGrpSpPr/>
        <p:nvPr/>
      </p:nvGrpSpPr>
      <p:grpSpPr>
        <a:xfrm>
          <a:off x="0" y="0"/>
          <a:ext cx="0" cy="0"/>
          <a:chOff x="0" y="0"/>
          <a:chExt cx="0" cy="0"/>
        </a:xfrm>
      </p:grpSpPr>
      <p:sp>
        <p:nvSpPr>
          <p:cNvPr id="4098" name="Titre 3">
            <a:extLst>
              <a:ext uri="{FF2B5EF4-FFF2-40B4-BE49-F238E27FC236}">
                <a16:creationId xmlns:a16="http://schemas.microsoft.com/office/drawing/2014/main" id="{E0706E40-A97F-57FE-DC87-5AA6F70F4E64}"/>
              </a:ext>
            </a:extLst>
          </p:cNvPr>
          <p:cNvSpPr>
            <a:spLocks noGrp="1"/>
          </p:cNvSpPr>
          <p:nvPr>
            <p:ph type="title"/>
          </p:nvPr>
        </p:nvSpPr>
        <p:spPr/>
        <p:txBody>
          <a:bodyPr/>
          <a:lstStyle/>
          <a:p>
            <a:r>
              <a:rPr lang="fr-CA" dirty="0">
                <a:solidFill>
                  <a:schemeClr val="bg1"/>
                </a:solidFill>
              </a:rPr>
              <a:t>Goals (</a:t>
            </a:r>
            <a:r>
              <a:rPr lang="fr-CA" dirty="0" err="1">
                <a:solidFill>
                  <a:schemeClr val="bg1"/>
                </a:solidFill>
              </a:rPr>
              <a:t>cont</a:t>
            </a:r>
            <a:r>
              <a:rPr lang="fr-CA" dirty="0">
                <a:solidFill>
                  <a:schemeClr val="bg1"/>
                </a:solidFill>
              </a:rPr>
              <a:t>.)</a:t>
            </a:r>
          </a:p>
        </p:txBody>
      </p:sp>
      <p:sp>
        <p:nvSpPr>
          <p:cNvPr id="4099" name="Espace réservé du contenu 4">
            <a:extLst>
              <a:ext uri="{FF2B5EF4-FFF2-40B4-BE49-F238E27FC236}">
                <a16:creationId xmlns:a16="http://schemas.microsoft.com/office/drawing/2014/main" id="{5039EE4C-28B9-2097-09DE-440DCB040E7C}"/>
              </a:ext>
            </a:extLst>
          </p:cNvPr>
          <p:cNvSpPr>
            <a:spLocks noGrp="1"/>
          </p:cNvSpPr>
          <p:nvPr>
            <p:ph idx="1"/>
          </p:nvPr>
        </p:nvSpPr>
        <p:spPr>
          <a:xfrm>
            <a:off x="228600" y="2133600"/>
            <a:ext cx="8686800" cy="4419600"/>
          </a:xfrm>
        </p:spPr>
        <p:txBody>
          <a:bodyPr/>
          <a:lstStyle/>
          <a:p>
            <a:r>
              <a:rPr lang="en-US" sz="1500" dirty="0">
                <a:solidFill>
                  <a:srgbClr val="3C5790"/>
                </a:solidFill>
              </a:rPr>
              <a:t>Design principles that shape the protocol:</a:t>
            </a:r>
          </a:p>
          <a:p>
            <a:r>
              <a:rPr lang="en-US" sz="1500" b="1" dirty="0">
                <a:solidFill>
                  <a:srgbClr val="3C5790"/>
                </a:solidFill>
              </a:rPr>
              <a:t>Simple</a:t>
            </a:r>
            <a:r>
              <a:rPr lang="en-US" sz="1500" dirty="0">
                <a:solidFill>
                  <a:srgbClr val="3C5790"/>
                </a:solidFill>
              </a:rPr>
              <a:t> - reuses HTTP, JSON-RPC 2.0, and Server-Sent Events (SSE)</a:t>
            </a:r>
          </a:p>
          <a:p>
            <a:r>
              <a:rPr lang="en-US" sz="1500" b="1" dirty="0">
                <a:solidFill>
                  <a:srgbClr val="3C5790"/>
                </a:solidFill>
              </a:rPr>
              <a:t>Enterprise Ready </a:t>
            </a:r>
            <a:r>
              <a:rPr lang="en-US" sz="1500" dirty="0">
                <a:solidFill>
                  <a:srgbClr val="3C5790"/>
                </a:solidFill>
              </a:rPr>
              <a:t>- authentication, authorization, tracing, monitoring</a:t>
            </a:r>
          </a:p>
          <a:p>
            <a:r>
              <a:rPr lang="en-US" sz="1500" b="1" dirty="0">
                <a:solidFill>
                  <a:srgbClr val="3C5790"/>
                </a:solidFill>
              </a:rPr>
              <a:t>Async First </a:t>
            </a:r>
            <a:r>
              <a:rPr lang="en-US" sz="1500" dirty="0">
                <a:solidFill>
                  <a:srgbClr val="3C5790"/>
                </a:solidFill>
              </a:rPr>
              <a:t>- designed for long-running tasks and human-in-the-loop flows</a:t>
            </a:r>
          </a:p>
          <a:p>
            <a:r>
              <a:rPr lang="en-US" sz="1500" b="1" dirty="0">
                <a:solidFill>
                  <a:srgbClr val="3C5790"/>
                </a:solidFill>
              </a:rPr>
              <a:t>Modality Agnostic </a:t>
            </a:r>
            <a:r>
              <a:rPr lang="en-US" sz="1500" dirty="0">
                <a:solidFill>
                  <a:srgbClr val="3C5790"/>
                </a:solidFill>
              </a:rPr>
              <a:t>- text, files, structured JSON/data, UI references via Parts</a:t>
            </a:r>
          </a:p>
          <a:p>
            <a:r>
              <a:rPr lang="en-US" sz="1500" b="1" dirty="0">
                <a:solidFill>
                  <a:srgbClr val="3C5790"/>
                </a:solidFill>
              </a:rPr>
              <a:t>Opaque Execution </a:t>
            </a:r>
            <a:r>
              <a:rPr lang="en-US" sz="1500" dirty="0">
                <a:solidFill>
                  <a:srgbClr val="3C5790"/>
                </a:solidFill>
              </a:rPr>
              <a:t>- collaboration based on declared capabilities, not internal state</a:t>
            </a:r>
          </a:p>
        </p:txBody>
      </p:sp>
    </p:spTree>
    <p:extLst>
      <p:ext uri="{BB962C8B-B14F-4D97-AF65-F5344CB8AC3E}">
        <p14:creationId xmlns:p14="http://schemas.microsoft.com/office/powerpoint/2010/main" val="3658980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err="1">
                <a:solidFill>
                  <a:schemeClr val="bg1"/>
                </a:solidFill>
              </a:rPr>
              <a:t>Features</a:t>
            </a:r>
            <a:endParaRPr lang="fr-CA" dirty="0">
              <a:solidFill>
                <a:schemeClr val="bg1"/>
              </a:solidFill>
            </a:endParaRPr>
          </a:p>
        </p:txBody>
      </p:sp>
      <p:sp>
        <p:nvSpPr>
          <p:cNvPr id="4099" name="Espace réservé du contenu 4"/>
          <p:cNvSpPr>
            <a:spLocks noGrp="1"/>
          </p:cNvSpPr>
          <p:nvPr>
            <p:ph idx="1"/>
          </p:nvPr>
        </p:nvSpPr>
        <p:spPr>
          <a:xfrm>
            <a:off x="228600" y="2133600"/>
            <a:ext cx="8686800" cy="3657600"/>
          </a:xfrm>
        </p:spPr>
        <p:txBody>
          <a:bodyPr/>
          <a:lstStyle/>
          <a:p>
            <a:r>
              <a:rPr lang="en-US" sz="1400" b="1" dirty="0">
                <a:solidFill>
                  <a:srgbClr val="3C5790"/>
                </a:solidFill>
              </a:rPr>
              <a:t>Standardized Messaging &amp; Communication</a:t>
            </a:r>
          </a:p>
          <a:p>
            <a:pPr lvl="1"/>
            <a:r>
              <a:rPr lang="en-US" sz="1400" dirty="0">
                <a:solidFill>
                  <a:srgbClr val="3C5790"/>
                </a:solidFill>
              </a:rPr>
              <a:t>Structured message formats (often JSON, XML, or domain-specific schemas)</a:t>
            </a:r>
          </a:p>
          <a:p>
            <a:pPr lvl="1"/>
            <a:r>
              <a:rPr lang="en-US" sz="1400" dirty="0">
                <a:solidFill>
                  <a:srgbClr val="3C5790"/>
                </a:solidFill>
              </a:rPr>
              <a:t>Defined performatives (e.g., request, inform, propose, accept, reject)</a:t>
            </a:r>
          </a:p>
          <a:p>
            <a:pPr lvl="1"/>
            <a:r>
              <a:rPr lang="en-US" sz="1400" dirty="0">
                <a:solidFill>
                  <a:srgbClr val="3C5790"/>
                </a:solidFill>
              </a:rPr>
              <a:t>Asynchronous communication support</a:t>
            </a:r>
          </a:p>
          <a:p>
            <a:pPr lvl="1"/>
            <a:r>
              <a:rPr lang="en-US" sz="1400" dirty="0">
                <a:solidFill>
                  <a:srgbClr val="3C5790"/>
                </a:solidFill>
              </a:rPr>
              <a:t>Message routing and delivery guarantees</a:t>
            </a:r>
          </a:p>
          <a:p>
            <a:r>
              <a:rPr lang="en-US" sz="1400" b="1" dirty="0">
                <a:solidFill>
                  <a:srgbClr val="3C5790"/>
                </a:solidFill>
              </a:rPr>
              <a:t>Agent Identity &amp; Addressability</a:t>
            </a:r>
          </a:p>
          <a:p>
            <a:pPr lvl="1"/>
            <a:r>
              <a:rPr lang="en-US" sz="1400" dirty="0">
                <a:solidFill>
                  <a:srgbClr val="3C5790"/>
                </a:solidFill>
              </a:rPr>
              <a:t>Unique agent identifiers (Agent IDs)</a:t>
            </a:r>
          </a:p>
          <a:p>
            <a:pPr lvl="1"/>
            <a:r>
              <a:rPr lang="en-US" sz="1400" dirty="0">
                <a:solidFill>
                  <a:srgbClr val="3C5790"/>
                </a:solidFill>
              </a:rPr>
              <a:t>Discovery mechanisms (directory services or registries)</a:t>
            </a:r>
          </a:p>
          <a:p>
            <a:pPr lvl="1"/>
            <a:r>
              <a:rPr lang="en-US" sz="1400" dirty="0">
                <a:solidFill>
                  <a:srgbClr val="3C5790"/>
                </a:solidFill>
              </a:rPr>
              <a:t>Capability advertisement (agents declare what they can do)</a:t>
            </a:r>
          </a:p>
          <a:p>
            <a:r>
              <a:rPr lang="en-US" sz="1400" b="1" dirty="0">
                <a:solidFill>
                  <a:srgbClr val="3C5790"/>
                </a:solidFill>
              </a:rPr>
              <a:t>Autonomy &amp; Local Decision-Making</a:t>
            </a:r>
          </a:p>
          <a:p>
            <a:pPr lvl="1"/>
            <a:r>
              <a:rPr lang="en-US" sz="1400" dirty="0">
                <a:solidFill>
                  <a:srgbClr val="3C5790"/>
                </a:solidFill>
              </a:rPr>
              <a:t>Each agent controls its own state and goals</a:t>
            </a:r>
          </a:p>
          <a:p>
            <a:pPr lvl="1"/>
            <a:r>
              <a:rPr lang="en-US" sz="1400" dirty="0">
                <a:solidFill>
                  <a:srgbClr val="3C5790"/>
                </a:solidFill>
              </a:rPr>
              <a:t>No mandatory central controller</a:t>
            </a:r>
          </a:p>
          <a:p>
            <a:pPr lvl="1"/>
            <a:r>
              <a:rPr lang="en-US" sz="1400" dirty="0">
                <a:solidFill>
                  <a:srgbClr val="3C5790"/>
                </a:solidFill>
              </a:rPr>
              <a:t>Agents decide when/how to respond</a:t>
            </a:r>
          </a:p>
        </p:txBody>
      </p:sp>
    </p:spTree>
    <p:extLst>
      <p:ext uri="{BB962C8B-B14F-4D97-AF65-F5344CB8AC3E}">
        <p14:creationId xmlns:p14="http://schemas.microsoft.com/office/powerpoint/2010/main" val="27089433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err="1">
                <a:solidFill>
                  <a:schemeClr val="bg1"/>
                </a:solidFill>
              </a:rPr>
              <a:t>Features</a:t>
            </a:r>
            <a:r>
              <a:rPr lang="fr-CA" dirty="0">
                <a:solidFill>
                  <a:schemeClr val="bg1"/>
                </a:solidFill>
              </a:rPr>
              <a:t> (</a:t>
            </a:r>
            <a:r>
              <a:rPr lang="fr-CA" dirty="0" err="1">
                <a:solidFill>
                  <a:schemeClr val="bg1"/>
                </a:solidFill>
              </a:rPr>
              <a:t>cont</a:t>
            </a:r>
            <a:r>
              <a:rPr lang="fr-CA" dirty="0">
                <a:solidFill>
                  <a:schemeClr val="bg1"/>
                </a:solidFill>
              </a:rPr>
              <a:t>.)</a:t>
            </a:r>
          </a:p>
        </p:txBody>
      </p:sp>
      <p:sp>
        <p:nvSpPr>
          <p:cNvPr id="4099" name="Espace réservé du contenu 4"/>
          <p:cNvSpPr>
            <a:spLocks noGrp="1"/>
          </p:cNvSpPr>
          <p:nvPr>
            <p:ph idx="1"/>
          </p:nvPr>
        </p:nvSpPr>
        <p:spPr>
          <a:xfrm>
            <a:off x="228600" y="2133600"/>
            <a:ext cx="8686800" cy="3657600"/>
          </a:xfrm>
        </p:spPr>
        <p:txBody>
          <a:bodyPr/>
          <a:lstStyle/>
          <a:p>
            <a:r>
              <a:rPr lang="en-US" sz="1400" b="1" dirty="0">
                <a:solidFill>
                  <a:srgbClr val="3C5790"/>
                </a:solidFill>
              </a:rPr>
              <a:t>Negotiation &amp; Coordination Mechanisms</a:t>
            </a:r>
          </a:p>
          <a:p>
            <a:pPr lvl="1"/>
            <a:r>
              <a:rPr lang="en-US" sz="1400" dirty="0">
                <a:solidFill>
                  <a:srgbClr val="3C5790"/>
                </a:solidFill>
              </a:rPr>
              <a:t>Contract Net Protocol-style task bidding</a:t>
            </a:r>
          </a:p>
          <a:p>
            <a:pPr lvl="1"/>
            <a:r>
              <a:rPr lang="en-US" sz="1400" dirty="0">
                <a:solidFill>
                  <a:srgbClr val="3C5790"/>
                </a:solidFill>
              </a:rPr>
              <a:t>Auctions and market-based coordination</a:t>
            </a:r>
          </a:p>
          <a:p>
            <a:pPr lvl="1"/>
            <a:r>
              <a:rPr lang="en-US" sz="1400" dirty="0">
                <a:solidFill>
                  <a:srgbClr val="3C5790"/>
                </a:solidFill>
              </a:rPr>
              <a:t>Consensus or voting mechanisms</a:t>
            </a:r>
          </a:p>
          <a:p>
            <a:pPr lvl="1"/>
            <a:r>
              <a:rPr lang="en-US" sz="1400" dirty="0">
                <a:solidFill>
                  <a:srgbClr val="3C5790"/>
                </a:solidFill>
              </a:rPr>
              <a:t>Multi-step dialogue flows</a:t>
            </a:r>
          </a:p>
          <a:p>
            <a:r>
              <a:rPr lang="en-US" sz="1400" b="1" dirty="0">
                <a:solidFill>
                  <a:srgbClr val="3C5790"/>
                </a:solidFill>
              </a:rPr>
              <a:t>Shared Ontology &amp; Semantics</a:t>
            </a:r>
          </a:p>
          <a:p>
            <a:pPr lvl="1"/>
            <a:r>
              <a:rPr lang="en-US" sz="1400" dirty="0">
                <a:solidFill>
                  <a:srgbClr val="3C5790"/>
                </a:solidFill>
              </a:rPr>
              <a:t>Common vocabulary or schema definitions</a:t>
            </a:r>
          </a:p>
          <a:p>
            <a:pPr lvl="1"/>
            <a:r>
              <a:rPr lang="en-US" sz="1400" dirty="0">
                <a:solidFill>
                  <a:srgbClr val="3C5790"/>
                </a:solidFill>
              </a:rPr>
              <a:t>Domain models to ensure semantic interoperability</a:t>
            </a:r>
          </a:p>
          <a:p>
            <a:pPr lvl="1"/>
            <a:r>
              <a:rPr lang="en-US" sz="1400" dirty="0">
                <a:solidFill>
                  <a:srgbClr val="3C5790"/>
                </a:solidFill>
              </a:rPr>
              <a:t>Explicit meaning of message types and actions</a:t>
            </a:r>
          </a:p>
          <a:p>
            <a:r>
              <a:rPr lang="en-US" sz="1400" b="1" dirty="0">
                <a:solidFill>
                  <a:srgbClr val="3C5790"/>
                </a:solidFill>
              </a:rPr>
              <a:t>Trust, Security &amp; Authentication</a:t>
            </a:r>
          </a:p>
          <a:p>
            <a:pPr lvl="1"/>
            <a:r>
              <a:rPr lang="en-US" sz="1400" dirty="0">
                <a:solidFill>
                  <a:srgbClr val="3C5790"/>
                </a:solidFill>
              </a:rPr>
              <a:t>Agent authentication (keys, tokens, certificates)</a:t>
            </a:r>
          </a:p>
          <a:p>
            <a:pPr lvl="1"/>
            <a:r>
              <a:rPr lang="en-US" sz="1400" dirty="0">
                <a:solidFill>
                  <a:srgbClr val="3C5790"/>
                </a:solidFill>
              </a:rPr>
              <a:t>Secure transport (TLS, encrypted messaging)</a:t>
            </a:r>
          </a:p>
          <a:p>
            <a:pPr lvl="1"/>
            <a:r>
              <a:rPr lang="en-US" sz="1400" dirty="0">
                <a:solidFill>
                  <a:srgbClr val="3C5790"/>
                </a:solidFill>
              </a:rPr>
              <a:t>Access control and permissions</a:t>
            </a:r>
          </a:p>
          <a:p>
            <a:pPr lvl="1"/>
            <a:r>
              <a:rPr lang="en-US" sz="1400" dirty="0">
                <a:solidFill>
                  <a:srgbClr val="3C5790"/>
                </a:solidFill>
              </a:rPr>
              <a:t>Reputation or trust scoring mechanisms</a:t>
            </a:r>
          </a:p>
        </p:txBody>
      </p:sp>
    </p:spTree>
    <p:extLst>
      <p:ext uri="{BB962C8B-B14F-4D97-AF65-F5344CB8AC3E}">
        <p14:creationId xmlns:p14="http://schemas.microsoft.com/office/powerpoint/2010/main" val="39996941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err="1">
                <a:solidFill>
                  <a:schemeClr val="bg1"/>
                </a:solidFill>
              </a:rPr>
              <a:t>Features</a:t>
            </a:r>
            <a:r>
              <a:rPr lang="fr-CA" dirty="0">
                <a:solidFill>
                  <a:schemeClr val="bg1"/>
                </a:solidFill>
              </a:rPr>
              <a:t> (</a:t>
            </a:r>
            <a:r>
              <a:rPr lang="fr-CA" dirty="0" err="1">
                <a:solidFill>
                  <a:schemeClr val="bg1"/>
                </a:solidFill>
              </a:rPr>
              <a:t>cont</a:t>
            </a:r>
            <a:r>
              <a:rPr lang="fr-CA" dirty="0">
                <a:solidFill>
                  <a:schemeClr val="bg1"/>
                </a:solidFill>
              </a:rPr>
              <a:t>.)</a:t>
            </a:r>
          </a:p>
        </p:txBody>
      </p:sp>
      <p:sp>
        <p:nvSpPr>
          <p:cNvPr id="4099" name="Espace réservé du contenu 4"/>
          <p:cNvSpPr>
            <a:spLocks noGrp="1"/>
          </p:cNvSpPr>
          <p:nvPr>
            <p:ph idx="1"/>
          </p:nvPr>
        </p:nvSpPr>
        <p:spPr>
          <a:xfrm>
            <a:off x="228600" y="2133600"/>
            <a:ext cx="8686800" cy="4267200"/>
          </a:xfrm>
        </p:spPr>
        <p:txBody>
          <a:bodyPr/>
          <a:lstStyle/>
          <a:p>
            <a:r>
              <a:rPr lang="en-US" sz="1400" b="1" dirty="0">
                <a:solidFill>
                  <a:srgbClr val="3C5790"/>
                </a:solidFill>
              </a:rPr>
              <a:t>State &amp; Context Management</a:t>
            </a:r>
          </a:p>
          <a:p>
            <a:pPr lvl="1"/>
            <a:r>
              <a:rPr lang="en-US" sz="1400" dirty="0">
                <a:solidFill>
                  <a:srgbClr val="3C5790"/>
                </a:solidFill>
              </a:rPr>
              <a:t>Conversation tracking (session IDs, correlation IDs)</a:t>
            </a:r>
          </a:p>
          <a:p>
            <a:pPr lvl="1"/>
            <a:r>
              <a:rPr lang="en-US" sz="1400" dirty="0">
                <a:solidFill>
                  <a:srgbClr val="3C5790"/>
                </a:solidFill>
              </a:rPr>
              <a:t>Memory of past interactions</a:t>
            </a:r>
          </a:p>
          <a:p>
            <a:pPr lvl="1"/>
            <a:r>
              <a:rPr lang="en-US" sz="1400" dirty="0">
                <a:solidFill>
                  <a:srgbClr val="3C5790"/>
                </a:solidFill>
              </a:rPr>
              <a:t>Context propagation across workflows</a:t>
            </a:r>
          </a:p>
          <a:p>
            <a:r>
              <a:rPr lang="en-US" sz="1400" b="1" dirty="0">
                <a:solidFill>
                  <a:srgbClr val="3C5790"/>
                </a:solidFill>
              </a:rPr>
              <a:t>Scalability &amp; Distributed Architecture</a:t>
            </a:r>
          </a:p>
          <a:p>
            <a:pPr lvl="1"/>
            <a:r>
              <a:rPr lang="en-US" sz="1400" dirty="0">
                <a:solidFill>
                  <a:srgbClr val="3C5790"/>
                </a:solidFill>
              </a:rPr>
              <a:t>Peer-to-peer or federated communication</a:t>
            </a:r>
          </a:p>
          <a:p>
            <a:pPr lvl="1"/>
            <a:r>
              <a:rPr lang="en-US" sz="1400" dirty="0">
                <a:solidFill>
                  <a:srgbClr val="3C5790"/>
                </a:solidFill>
              </a:rPr>
              <a:t>Horizontal scaling across nodes</a:t>
            </a:r>
          </a:p>
          <a:p>
            <a:pPr lvl="1"/>
            <a:r>
              <a:rPr lang="en-US" sz="1400" dirty="0">
                <a:solidFill>
                  <a:srgbClr val="3C5790"/>
                </a:solidFill>
              </a:rPr>
              <a:t>Fault tolerance and graceful degradation</a:t>
            </a:r>
          </a:p>
          <a:p>
            <a:r>
              <a:rPr lang="en-US" sz="1400" b="1" dirty="0">
                <a:solidFill>
                  <a:srgbClr val="3C5790"/>
                </a:solidFill>
              </a:rPr>
              <a:t>Extensibility &amp; Interoperability</a:t>
            </a:r>
          </a:p>
          <a:p>
            <a:pPr lvl="1"/>
            <a:r>
              <a:rPr lang="en-US" sz="1400" dirty="0">
                <a:solidFill>
                  <a:srgbClr val="3C5790"/>
                </a:solidFill>
              </a:rPr>
              <a:t>Pluggable behaviors or skill modules</a:t>
            </a:r>
          </a:p>
          <a:p>
            <a:pPr lvl="1"/>
            <a:r>
              <a:rPr lang="en-US" sz="1400" dirty="0">
                <a:solidFill>
                  <a:srgbClr val="3C5790"/>
                </a:solidFill>
              </a:rPr>
              <a:t>Versioned protocol definitions</a:t>
            </a:r>
          </a:p>
          <a:p>
            <a:pPr lvl="1"/>
            <a:r>
              <a:rPr lang="en-US" sz="1400" dirty="0">
                <a:solidFill>
                  <a:srgbClr val="3C5790"/>
                </a:solidFill>
              </a:rPr>
              <a:t>Compatibility across different agent frameworks</a:t>
            </a:r>
          </a:p>
          <a:p>
            <a:r>
              <a:rPr lang="en-US" sz="1400" b="1" dirty="0">
                <a:solidFill>
                  <a:srgbClr val="3C5790"/>
                </a:solidFill>
              </a:rPr>
              <a:t>Observability &amp; Monitoring</a:t>
            </a:r>
          </a:p>
          <a:p>
            <a:pPr lvl="1"/>
            <a:r>
              <a:rPr lang="en-US" sz="1400" dirty="0">
                <a:solidFill>
                  <a:srgbClr val="3C5790"/>
                </a:solidFill>
              </a:rPr>
              <a:t>Logging of agent interactions</a:t>
            </a:r>
          </a:p>
          <a:p>
            <a:pPr lvl="1"/>
            <a:r>
              <a:rPr lang="en-US" sz="1400" dirty="0">
                <a:solidFill>
                  <a:srgbClr val="3C5790"/>
                </a:solidFill>
              </a:rPr>
              <a:t>Audit trails</a:t>
            </a:r>
          </a:p>
          <a:p>
            <a:pPr lvl="1"/>
            <a:r>
              <a:rPr lang="en-US" sz="1400" dirty="0" err="1">
                <a:solidFill>
                  <a:srgbClr val="3C5790"/>
                </a:solidFill>
              </a:rPr>
              <a:t>Explainability</a:t>
            </a:r>
            <a:r>
              <a:rPr lang="en-US" sz="1400" dirty="0">
                <a:solidFill>
                  <a:srgbClr val="3C5790"/>
                </a:solidFill>
              </a:rPr>
              <a:t> mechanisms (why an agent made a decision)</a:t>
            </a:r>
          </a:p>
        </p:txBody>
      </p:sp>
    </p:spTree>
    <p:extLst>
      <p:ext uri="{BB962C8B-B14F-4D97-AF65-F5344CB8AC3E}">
        <p14:creationId xmlns:p14="http://schemas.microsoft.com/office/powerpoint/2010/main" val="40514129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a:solidFill>
                  <a:schemeClr val="bg1"/>
                </a:solidFill>
              </a:rPr>
              <a:t>Use Cases</a:t>
            </a:r>
          </a:p>
        </p:txBody>
      </p:sp>
      <p:sp>
        <p:nvSpPr>
          <p:cNvPr id="4099" name="Espace réservé du contenu 4"/>
          <p:cNvSpPr>
            <a:spLocks noGrp="1"/>
          </p:cNvSpPr>
          <p:nvPr>
            <p:ph idx="1"/>
          </p:nvPr>
        </p:nvSpPr>
        <p:spPr>
          <a:xfrm>
            <a:off x="228600" y="2133600"/>
            <a:ext cx="8686800" cy="3352800"/>
          </a:xfrm>
        </p:spPr>
        <p:txBody>
          <a:bodyPr/>
          <a:lstStyle/>
          <a:p>
            <a:r>
              <a:rPr lang="en-US" sz="1400" dirty="0">
                <a:solidFill>
                  <a:srgbClr val="3C5790"/>
                </a:solidFill>
              </a:rPr>
              <a:t>Multi-Agent AI Systems (LLM &amp; Autonomous Agents)</a:t>
            </a:r>
          </a:p>
          <a:p>
            <a:r>
              <a:rPr lang="en-US" sz="1400" dirty="0">
                <a:solidFill>
                  <a:srgbClr val="3C5790"/>
                </a:solidFill>
              </a:rPr>
              <a:t>Smart Grids &amp; Energy Management</a:t>
            </a:r>
          </a:p>
          <a:p>
            <a:r>
              <a:rPr lang="en-US" sz="1400" dirty="0">
                <a:solidFill>
                  <a:srgbClr val="3C5790"/>
                </a:solidFill>
              </a:rPr>
              <a:t>Supply Chain &amp; Logistics Optimization</a:t>
            </a:r>
          </a:p>
          <a:p>
            <a:r>
              <a:rPr lang="en-US" sz="1400" dirty="0">
                <a:solidFill>
                  <a:srgbClr val="3C5790"/>
                </a:solidFill>
              </a:rPr>
              <a:t>IoT &amp; Smart Environments</a:t>
            </a:r>
          </a:p>
          <a:p>
            <a:r>
              <a:rPr lang="en-US" sz="1400" dirty="0">
                <a:solidFill>
                  <a:srgbClr val="3C5790"/>
                </a:solidFill>
              </a:rPr>
              <a:t>Autonomous Vehicles &amp; Traffic Systems</a:t>
            </a:r>
          </a:p>
          <a:p>
            <a:r>
              <a:rPr lang="en-US" sz="1400" dirty="0">
                <a:solidFill>
                  <a:srgbClr val="3C5790"/>
                </a:solidFill>
              </a:rPr>
              <a:t>Financial Trading &amp; Market Simulation</a:t>
            </a:r>
          </a:p>
          <a:p>
            <a:r>
              <a:rPr lang="en-US" sz="1400" dirty="0">
                <a:solidFill>
                  <a:srgbClr val="3C5790"/>
                </a:solidFill>
              </a:rPr>
              <a:t>Robotics &amp; Swarm Systems</a:t>
            </a:r>
          </a:p>
          <a:p>
            <a:r>
              <a:rPr lang="en-US" sz="1400" dirty="0">
                <a:solidFill>
                  <a:srgbClr val="3C5790"/>
                </a:solidFill>
              </a:rPr>
              <a:t>Healthcare Coordination Systems</a:t>
            </a:r>
          </a:p>
          <a:p>
            <a:r>
              <a:rPr lang="en-US" sz="1400" dirty="0">
                <a:solidFill>
                  <a:srgbClr val="3C5790"/>
                </a:solidFill>
              </a:rPr>
              <a:t>Enterprise Workflow Automation</a:t>
            </a:r>
            <a:endParaRPr lang="fr-CA" sz="1400" dirty="0">
              <a:solidFill>
                <a:srgbClr val="3C5790"/>
              </a:solidFill>
            </a:endParaRPr>
          </a:p>
        </p:txBody>
      </p:sp>
    </p:spTree>
    <p:extLst>
      <p:ext uri="{BB962C8B-B14F-4D97-AF65-F5344CB8AC3E}">
        <p14:creationId xmlns:p14="http://schemas.microsoft.com/office/powerpoint/2010/main" val="27144349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err="1">
                <a:solidFill>
                  <a:schemeClr val="bg1"/>
                </a:solidFill>
              </a:rPr>
              <a:t>Arhitecture</a:t>
            </a:r>
            <a:endParaRPr lang="fr-CA" dirty="0">
              <a:solidFill>
                <a:schemeClr val="bg1"/>
              </a:solidFill>
            </a:endParaRPr>
          </a:p>
        </p:txBody>
      </p:sp>
      <p:pic>
        <p:nvPicPr>
          <p:cNvPr id="3" name="Picture 2">
            <a:extLst>
              <a:ext uri="{FF2B5EF4-FFF2-40B4-BE49-F238E27FC236}">
                <a16:creationId xmlns:a16="http://schemas.microsoft.com/office/drawing/2014/main" id="{9E4DD495-1E87-429A-9BC0-B7216D2B3DFC}"/>
              </a:ext>
            </a:extLst>
          </p:cNvPr>
          <p:cNvPicPr>
            <a:picLocks noChangeAspect="1"/>
          </p:cNvPicPr>
          <p:nvPr/>
        </p:nvPicPr>
        <p:blipFill>
          <a:blip r:embed="rId3"/>
          <a:stretch>
            <a:fillRect/>
          </a:stretch>
        </p:blipFill>
        <p:spPr>
          <a:xfrm>
            <a:off x="1417253" y="1981200"/>
            <a:ext cx="6309493" cy="4314825"/>
          </a:xfrm>
          <a:prstGeom prst="rect">
            <a:avLst/>
          </a:prstGeom>
        </p:spPr>
      </p:pic>
    </p:spTree>
    <p:extLst>
      <p:ext uri="{BB962C8B-B14F-4D97-AF65-F5344CB8AC3E}">
        <p14:creationId xmlns:p14="http://schemas.microsoft.com/office/powerpoint/2010/main" val="41298847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a:solidFill>
                  <a:schemeClr val="bg1"/>
                </a:solidFill>
              </a:rPr>
              <a:t>Concepts</a:t>
            </a:r>
          </a:p>
        </p:txBody>
      </p:sp>
      <p:sp>
        <p:nvSpPr>
          <p:cNvPr id="4099" name="Espace réservé du contenu 4"/>
          <p:cNvSpPr>
            <a:spLocks noGrp="1"/>
          </p:cNvSpPr>
          <p:nvPr>
            <p:ph idx="1"/>
          </p:nvPr>
        </p:nvSpPr>
        <p:spPr>
          <a:xfrm>
            <a:off x="228600" y="2133600"/>
            <a:ext cx="8686800" cy="3581400"/>
          </a:xfrm>
        </p:spPr>
        <p:txBody>
          <a:bodyPr/>
          <a:lstStyle/>
          <a:p>
            <a:r>
              <a:rPr lang="en-US" sz="1400" b="1" dirty="0">
                <a:solidFill>
                  <a:srgbClr val="3C5790"/>
                </a:solidFill>
              </a:rPr>
              <a:t>Agent</a:t>
            </a:r>
            <a:r>
              <a:rPr lang="en-US" sz="1400" dirty="0">
                <a:solidFill>
                  <a:srgbClr val="3C5790"/>
                </a:solidFill>
              </a:rPr>
              <a:t> – Autonomous entity with its own goals, state, and decision-making capability</a:t>
            </a:r>
          </a:p>
          <a:p>
            <a:r>
              <a:rPr lang="en-US" sz="1400" b="1" dirty="0">
                <a:solidFill>
                  <a:srgbClr val="3C5790"/>
                </a:solidFill>
              </a:rPr>
              <a:t>Autonomy</a:t>
            </a:r>
            <a:r>
              <a:rPr lang="en-US" sz="1400" dirty="0">
                <a:solidFill>
                  <a:srgbClr val="3C5790"/>
                </a:solidFill>
              </a:rPr>
              <a:t> – Agents control their own actions and can accept, reject, or delegate tasks</a:t>
            </a:r>
          </a:p>
          <a:p>
            <a:r>
              <a:rPr lang="en-US" sz="1400" b="1" dirty="0">
                <a:solidFill>
                  <a:srgbClr val="3C5790"/>
                </a:solidFill>
              </a:rPr>
              <a:t>Message Passing </a:t>
            </a:r>
            <a:r>
              <a:rPr lang="en-US" sz="1400" dirty="0">
                <a:solidFill>
                  <a:srgbClr val="3C5790"/>
                </a:solidFill>
              </a:rPr>
              <a:t>– Structured communication between agents (sender, receiver, content, context)</a:t>
            </a:r>
          </a:p>
          <a:p>
            <a:r>
              <a:rPr lang="en-US" sz="1400" b="1" dirty="0">
                <a:solidFill>
                  <a:srgbClr val="3C5790"/>
                </a:solidFill>
              </a:rPr>
              <a:t>Performatives</a:t>
            </a:r>
            <a:r>
              <a:rPr lang="en-US" sz="1400" dirty="0">
                <a:solidFill>
                  <a:srgbClr val="3C5790"/>
                </a:solidFill>
              </a:rPr>
              <a:t> (Speech Acts) – Intent types such as request, inform, propose, accept, reject</a:t>
            </a:r>
          </a:p>
          <a:p>
            <a:r>
              <a:rPr lang="en-US" sz="1400" b="1" dirty="0">
                <a:solidFill>
                  <a:srgbClr val="3C5790"/>
                </a:solidFill>
              </a:rPr>
              <a:t>Interaction Protocols </a:t>
            </a:r>
            <a:r>
              <a:rPr lang="en-US" sz="1400" dirty="0">
                <a:solidFill>
                  <a:srgbClr val="3C5790"/>
                </a:solidFill>
              </a:rPr>
              <a:t>– Defined conversation patterns (e.g., negotiation, bidding, consensus)</a:t>
            </a:r>
          </a:p>
          <a:p>
            <a:r>
              <a:rPr lang="en-US" sz="1400" b="1" dirty="0">
                <a:solidFill>
                  <a:srgbClr val="3C5790"/>
                </a:solidFill>
              </a:rPr>
              <a:t>Goals &amp; Intent </a:t>
            </a:r>
            <a:r>
              <a:rPr lang="en-US" sz="1400" dirty="0">
                <a:solidFill>
                  <a:srgbClr val="3C5790"/>
                </a:solidFill>
              </a:rPr>
              <a:t>– Agents act based on internal objectives or utility functions</a:t>
            </a:r>
          </a:p>
        </p:txBody>
      </p:sp>
    </p:spTree>
    <p:extLst>
      <p:ext uri="{BB962C8B-B14F-4D97-AF65-F5344CB8AC3E}">
        <p14:creationId xmlns:p14="http://schemas.microsoft.com/office/powerpoint/2010/main" val="29812225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a:solidFill>
                  <a:schemeClr val="bg1"/>
                </a:solidFill>
              </a:rPr>
              <a:t>Concepts (</a:t>
            </a:r>
            <a:r>
              <a:rPr lang="fr-CA" dirty="0" err="1">
                <a:solidFill>
                  <a:schemeClr val="bg1"/>
                </a:solidFill>
              </a:rPr>
              <a:t>cont</a:t>
            </a:r>
            <a:r>
              <a:rPr lang="fr-CA" dirty="0">
                <a:solidFill>
                  <a:schemeClr val="bg1"/>
                </a:solidFill>
              </a:rPr>
              <a:t>.)</a:t>
            </a:r>
          </a:p>
        </p:txBody>
      </p:sp>
      <p:sp>
        <p:nvSpPr>
          <p:cNvPr id="4099" name="Espace réservé du contenu 4"/>
          <p:cNvSpPr>
            <a:spLocks noGrp="1"/>
          </p:cNvSpPr>
          <p:nvPr>
            <p:ph idx="1"/>
          </p:nvPr>
        </p:nvSpPr>
        <p:spPr>
          <a:xfrm>
            <a:off x="228600" y="2133600"/>
            <a:ext cx="8686800" cy="3581400"/>
          </a:xfrm>
        </p:spPr>
        <p:txBody>
          <a:bodyPr/>
          <a:lstStyle/>
          <a:p>
            <a:r>
              <a:rPr lang="en-US" sz="1400" b="1" dirty="0">
                <a:solidFill>
                  <a:srgbClr val="3C5790"/>
                </a:solidFill>
              </a:rPr>
              <a:t>Environment</a:t>
            </a:r>
            <a:r>
              <a:rPr lang="en-US" sz="1400" dirty="0">
                <a:solidFill>
                  <a:srgbClr val="3C5790"/>
                </a:solidFill>
              </a:rPr>
              <a:t> – The shared physical, digital, or simulated space agents operate in</a:t>
            </a:r>
          </a:p>
          <a:p>
            <a:r>
              <a:rPr lang="en-US" sz="1400" b="1" dirty="0">
                <a:solidFill>
                  <a:srgbClr val="3C5790"/>
                </a:solidFill>
              </a:rPr>
              <a:t>Shared Ontology </a:t>
            </a:r>
            <a:r>
              <a:rPr lang="en-US" sz="1400" dirty="0">
                <a:solidFill>
                  <a:srgbClr val="3C5790"/>
                </a:solidFill>
              </a:rPr>
              <a:t>– Common vocabulary and semantic understanding between agents</a:t>
            </a:r>
          </a:p>
          <a:p>
            <a:r>
              <a:rPr lang="en-US" sz="1400" b="1" dirty="0">
                <a:solidFill>
                  <a:srgbClr val="3C5790"/>
                </a:solidFill>
              </a:rPr>
              <a:t>Trust &amp; Security </a:t>
            </a:r>
            <a:r>
              <a:rPr lang="en-US" sz="1400" dirty="0">
                <a:solidFill>
                  <a:srgbClr val="3C5790"/>
                </a:solidFill>
              </a:rPr>
              <a:t>– Authentication, authorization, encryption, and reputation mechanisms</a:t>
            </a:r>
          </a:p>
          <a:p>
            <a:r>
              <a:rPr lang="en-US" sz="1400" b="1" dirty="0">
                <a:solidFill>
                  <a:srgbClr val="3C5790"/>
                </a:solidFill>
              </a:rPr>
              <a:t>Coordination &amp; Negotiation </a:t>
            </a:r>
            <a:r>
              <a:rPr lang="en-US" sz="1400" dirty="0">
                <a:solidFill>
                  <a:srgbClr val="3C5790"/>
                </a:solidFill>
              </a:rPr>
              <a:t>– Task allocation, conflict resolution, and collaboration strategies</a:t>
            </a:r>
          </a:p>
          <a:p>
            <a:r>
              <a:rPr lang="en-US" sz="1400" b="1" dirty="0">
                <a:solidFill>
                  <a:srgbClr val="3C5790"/>
                </a:solidFill>
              </a:rPr>
              <a:t>Decentralization</a:t>
            </a:r>
            <a:r>
              <a:rPr lang="en-US" sz="1400" dirty="0">
                <a:solidFill>
                  <a:srgbClr val="3C5790"/>
                </a:solidFill>
              </a:rPr>
              <a:t> – Peer-to-peer structure with no mandatory central controller</a:t>
            </a:r>
          </a:p>
          <a:p>
            <a:r>
              <a:rPr lang="en-US" sz="1400" b="1" dirty="0">
                <a:solidFill>
                  <a:srgbClr val="3C5790"/>
                </a:solidFill>
              </a:rPr>
              <a:t>State &amp; Context Management </a:t>
            </a:r>
            <a:r>
              <a:rPr lang="en-US" sz="1400" dirty="0">
                <a:solidFill>
                  <a:srgbClr val="3C5790"/>
                </a:solidFill>
              </a:rPr>
              <a:t>– Conversation tracking, memory, and multi-step workflow handling</a:t>
            </a:r>
          </a:p>
        </p:txBody>
      </p:sp>
    </p:spTree>
    <p:extLst>
      <p:ext uri="{BB962C8B-B14F-4D97-AF65-F5344CB8AC3E}">
        <p14:creationId xmlns:p14="http://schemas.microsoft.com/office/powerpoint/2010/main" val="38817657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err="1">
                <a:solidFill>
                  <a:schemeClr val="bg1"/>
                </a:solidFill>
              </a:rPr>
              <a:t>Core</a:t>
            </a:r>
            <a:endParaRPr lang="fr-CA" dirty="0">
              <a:solidFill>
                <a:schemeClr val="bg1"/>
              </a:solidFill>
            </a:endParaRPr>
          </a:p>
        </p:txBody>
      </p:sp>
      <p:sp>
        <p:nvSpPr>
          <p:cNvPr id="4099" name="Espace réservé du contenu 4"/>
          <p:cNvSpPr>
            <a:spLocks noGrp="1"/>
          </p:cNvSpPr>
          <p:nvPr>
            <p:ph idx="1"/>
          </p:nvPr>
        </p:nvSpPr>
        <p:spPr>
          <a:xfrm>
            <a:off x="228600" y="2133600"/>
            <a:ext cx="8686800" cy="2362200"/>
          </a:xfrm>
        </p:spPr>
        <p:txBody>
          <a:bodyPr/>
          <a:lstStyle/>
          <a:p>
            <a:r>
              <a:rPr lang="en-US" sz="1400" dirty="0">
                <a:solidFill>
                  <a:srgbClr val="3C5790"/>
                </a:solidFill>
              </a:rPr>
              <a:t>Core Actors in A2A Interactions:</a:t>
            </a:r>
          </a:p>
          <a:p>
            <a:r>
              <a:rPr lang="en-US" sz="1400" b="1" dirty="0">
                <a:solidFill>
                  <a:srgbClr val="3C5790"/>
                </a:solidFill>
              </a:rPr>
              <a:t>User</a:t>
            </a:r>
            <a:r>
              <a:rPr lang="en-US" sz="1400" dirty="0">
                <a:solidFill>
                  <a:srgbClr val="3C5790"/>
                </a:solidFill>
              </a:rPr>
              <a:t>: The end user, which can be a human operator or an automated service. The user initiates a request or defines a goal that requires assistance from one or more AI agents.</a:t>
            </a:r>
          </a:p>
          <a:p>
            <a:r>
              <a:rPr lang="en-US" sz="1400" b="1" dirty="0">
                <a:solidFill>
                  <a:srgbClr val="3C5790"/>
                </a:solidFill>
              </a:rPr>
              <a:t>A2A Client (Client Agent): </a:t>
            </a:r>
            <a:r>
              <a:rPr lang="en-US" sz="1400" dirty="0">
                <a:solidFill>
                  <a:srgbClr val="3C5790"/>
                </a:solidFill>
              </a:rPr>
              <a:t>An application, service, or another AI agent that acts on behalf of the user. The client initiates communication using the A2A protocol.</a:t>
            </a:r>
          </a:p>
          <a:p>
            <a:r>
              <a:rPr lang="en-US" sz="1400" b="1" dirty="0">
                <a:solidFill>
                  <a:srgbClr val="3C5790"/>
                </a:solidFill>
              </a:rPr>
              <a:t>A2A Server (Remote Agent): </a:t>
            </a:r>
            <a:r>
              <a:rPr lang="en-US" sz="1400" dirty="0">
                <a:solidFill>
                  <a:srgbClr val="3C5790"/>
                </a:solidFill>
              </a:rPr>
              <a:t>An AI agent or an agentic system that exposes an HTTP endpoint implementing the A2A protocol. It receives requests from clients, processes tasks, and returns results or status updates. From the client's perspective, the remote agent operates as an opaque (black-box) system, meaning its internal workings, memory, or tools are not exposed.</a:t>
            </a:r>
            <a:endParaRPr lang="fr-CA" sz="1400" dirty="0">
              <a:solidFill>
                <a:srgbClr val="3C5790"/>
              </a:solidFill>
            </a:endParaRPr>
          </a:p>
        </p:txBody>
      </p:sp>
      <p:pic>
        <p:nvPicPr>
          <p:cNvPr id="3" name="Picture 2">
            <a:extLst>
              <a:ext uri="{FF2B5EF4-FFF2-40B4-BE49-F238E27FC236}">
                <a16:creationId xmlns:a16="http://schemas.microsoft.com/office/drawing/2014/main" id="{DE7F4F01-C104-40E1-8944-BEEB36CEBFA1}"/>
              </a:ext>
            </a:extLst>
          </p:cNvPr>
          <p:cNvPicPr>
            <a:picLocks noChangeAspect="1"/>
          </p:cNvPicPr>
          <p:nvPr/>
        </p:nvPicPr>
        <p:blipFill>
          <a:blip r:embed="rId3"/>
          <a:stretch>
            <a:fillRect/>
          </a:stretch>
        </p:blipFill>
        <p:spPr>
          <a:xfrm>
            <a:off x="2133600" y="4343400"/>
            <a:ext cx="5167312" cy="2344353"/>
          </a:xfrm>
          <a:prstGeom prst="rect">
            <a:avLst/>
          </a:prstGeom>
        </p:spPr>
      </p:pic>
    </p:spTree>
    <p:extLst>
      <p:ext uri="{BB962C8B-B14F-4D97-AF65-F5344CB8AC3E}">
        <p14:creationId xmlns:p14="http://schemas.microsoft.com/office/powerpoint/2010/main" val="18446003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err="1">
                <a:solidFill>
                  <a:schemeClr val="bg1"/>
                </a:solidFill>
              </a:rPr>
              <a:t>Core</a:t>
            </a:r>
            <a:r>
              <a:rPr lang="fr-CA" dirty="0">
                <a:solidFill>
                  <a:schemeClr val="bg1"/>
                </a:solidFill>
              </a:rPr>
              <a:t> (</a:t>
            </a:r>
            <a:r>
              <a:rPr lang="fr-CA" dirty="0" err="1">
                <a:solidFill>
                  <a:schemeClr val="bg1"/>
                </a:solidFill>
              </a:rPr>
              <a:t>cont</a:t>
            </a:r>
            <a:r>
              <a:rPr lang="fr-CA" dirty="0">
                <a:solidFill>
                  <a:schemeClr val="bg1"/>
                </a:solidFill>
              </a:rPr>
              <a:t>.)</a:t>
            </a:r>
          </a:p>
        </p:txBody>
      </p:sp>
      <p:sp>
        <p:nvSpPr>
          <p:cNvPr id="4099" name="Espace réservé du contenu 4"/>
          <p:cNvSpPr>
            <a:spLocks noGrp="1"/>
          </p:cNvSpPr>
          <p:nvPr>
            <p:ph idx="1"/>
          </p:nvPr>
        </p:nvSpPr>
        <p:spPr>
          <a:xfrm>
            <a:off x="228600" y="1981200"/>
            <a:ext cx="8686800" cy="457200"/>
          </a:xfrm>
        </p:spPr>
        <p:txBody>
          <a:bodyPr/>
          <a:lstStyle/>
          <a:p>
            <a:r>
              <a:rPr lang="en-US" sz="1400" dirty="0">
                <a:solidFill>
                  <a:srgbClr val="3C5790"/>
                </a:solidFill>
              </a:rPr>
              <a:t>Fundamental Communication Elements</a:t>
            </a:r>
            <a:endParaRPr lang="fr-CA" sz="1400" dirty="0">
              <a:solidFill>
                <a:srgbClr val="3C5790"/>
              </a:solidFill>
            </a:endParaRPr>
          </a:p>
        </p:txBody>
      </p:sp>
      <p:graphicFrame>
        <p:nvGraphicFramePr>
          <p:cNvPr id="2" name="Table 2">
            <a:extLst>
              <a:ext uri="{FF2B5EF4-FFF2-40B4-BE49-F238E27FC236}">
                <a16:creationId xmlns:a16="http://schemas.microsoft.com/office/drawing/2014/main" id="{6AA4DDE6-7F8B-4734-B044-B9CAC2A29456}"/>
              </a:ext>
            </a:extLst>
          </p:cNvPr>
          <p:cNvGraphicFramePr>
            <a:graphicFrameLocks noGrp="1"/>
          </p:cNvGraphicFramePr>
          <p:nvPr>
            <p:extLst>
              <p:ext uri="{D42A27DB-BD31-4B8C-83A1-F6EECF244321}">
                <p14:modId xmlns:p14="http://schemas.microsoft.com/office/powerpoint/2010/main" val="4000608654"/>
              </p:ext>
            </p:extLst>
          </p:nvPr>
        </p:nvGraphicFramePr>
        <p:xfrm>
          <a:off x="228600" y="2362200"/>
          <a:ext cx="8686800" cy="4239260"/>
        </p:xfrm>
        <a:graphic>
          <a:graphicData uri="http://schemas.openxmlformats.org/drawingml/2006/table">
            <a:tbl>
              <a:tblPr firstRow="1" bandRow="1">
                <a:tableStyleId>{5C22544A-7EE6-4342-B048-85BDC9FD1C3A}</a:tableStyleId>
              </a:tblPr>
              <a:tblGrid>
                <a:gridCol w="1042332">
                  <a:extLst>
                    <a:ext uri="{9D8B030D-6E8A-4147-A177-3AD203B41FA5}">
                      <a16:colId xmlns:a16="http://schemas.microsoft.com/office/drawing/2014/main" val="1517525332"/>
                    </a:ext>
                  </a:extLst>
                </a:gridCol>
                <a:gridCol w="4748868">
                  <a:extLst>
                    <a:ext uri="{9D8B030D-6E8A-4147-A177-3AD203B41FA5}">
                      <a16:colId xmlns:a16="http://schemas.microsoft.com/office/drawing/2014/main" val="3315029358"/>
                    </a:ext>
                  </a:extLst>
                </a:gridCol>
                <a:gridCol w="2895600">
                  <a:extLst>
                    <a:ext uri="{9D8B030D-6E8A-4147-A177-3AD203B41FA5}">
                      <a16:colId xmlns:a16="http://schemas.microsoft.com/office/drawing/2014/main" val="1117646939"/>
                    </a:ext>
                  </a:extLst>
                </a:gridCol>
              </a:tblGrid>
              <a:tr h="368300">
                <a:tc>
                  <a:txBody>
                    <a:bodyPr/>
                    <a:lstStyle/>
                    <a:p>
                      <a:r>
                        <a:rPr lang="en-US" dirty="0"/>
                        <a:t>Element</a:t>
                      </a:r>
                    </a:p>
                  </a:txBody>
                  <a:tcPr/>
                </a:tc>
                <a:tc>
                  <a:txBody>
                    <a:bodyPr/>
                    <a:lstStyle/>
                    <a:p>
                      <a:r>
                        <a:rPr lang="en-US" dirty="0"/>
                        <a:t>Description	</a:t>
                      </a:r>
                    </a:p>
                  </a:txBody>
                  <a:tcPr/>
                </a:tc>
                <a:tc>
                  <a:txBody>
                    <a:bodyPr/>
                    <a:lstStyle/>
                    <a:p>
                      <a:r>
                        <a:rPr lang="en-US" dirty="0"/>
                        <a:t>Purpose</a:t>
                      </a:r>
                    </a:p>
                  </a:txBody>
                  <a:tcPr/>
                </a:tc>
                <a:extLst>
                  <a:ext uri="{0D108BD9-81ED-4DB2-BD59-A6C34878D82A}">
                    <a16:rowId xmlns:a16="http://schemas.microsoft.com/office/drawing/2014/main" val="2724269057"/>
                  </a:ext>
                </a:extLst>
              </a:tr>
              <a:tr h="368300">
                <a:tc>
                  <a:txBody>
                    <a:bodyPr/>
                    <a:lstStyle/>
                    <a:p>
                      <a:r>
                        <a:rPr lang="en-US" sz="1400" dirty="0"/>
                        <a:t>Agent Card</a:t>
                      </a:r>
                    </a:p>
                  </a:txBody>
                  <a:tcPr/>
                </a:tc>
                <a:tc>
                  <a:txBody>
                    <a:bodyPr/>
                    <a:lstStyle/>
                    <a:p>
                      <a:r>
                        <a:rPr lang="en-US" sz="1400" dirty="0"/>
                        <a:t>A JSON metadata document describing an agent's identity, capabilities, endpoint, skills, and authentication requirements.</a:t>
                      </a:r>
                    </a:p>
                  </a:txBody>
                  <a:tcPr/>
                </a:tc>
                <a:tc>
                  <a:txBody>
                    <a:bodyPr/>
                    <a:lstStyle/>
                    <a:p>
                      <a:r>
                        <a:rPr lang="en-US" sz="1400" dirty="0"/>
                        <a:t>Enables clients to discover agents and understand how to interact with them securely and effectively.</a:t>
                      </a:r>
                    </a:p>
                  </a:txBody>
                  <a:tcPr/>
                </a:tc>
                <a:extLst>
                  <a:ext uri="{0D108BD9-81ED-4DB2-BD59-A6C34878D82A}">
                    <a16:rowId xmlns:a16="http://schemas.microsoft.com/office/drawing/2014/main" val="3448341611"/>
                  </a:ext>
                </a:extLst>
              </a:tr>
              <a:tr h="368300">
                <a:tc>
                  <a:txBody>
                    <a:bodyPr/>
                    <a:lstStyle/>
                    <a:p>
                      <a:r>
                        <a:rPr lang="en-US" sz="1400" dirty="0"/>
                        <a:t>Task</a:t>
                      </a:r>
                    </a:p>
                  </a:txBody>
                  <a:tcPr/>
                </a:tc>
                <a:tc>
                  <a:txBody>
                    <a:bodyPr/>
                    <a:lstStyle/>
                    <a:p>
                      <a:r>
                        <a:rPr lang="en-US" sz="1400" dirty="0"/>
                        <a:t>A stateful unit of work initiated by an agent, with a unique ID and defined lifecycle.</a:t>
                      </a:r>
                    </a:p>
                  </a:txBody>
                  <a:tcPr/>
                </a:tc>
                <a:tc>
                  <a:txBody>
                    <a:bodyPr/>
                    <a:lstStyle/>
                    <a:p>
                      <a:r>
                        <a:rPr lang="en-US" sz="1400" dirty="0"/>
                        <a:t>Facilitates tracking of long-running operations and enables multi-turn interactions and collaboration.</a:t>
                      </a:r>
                    </a:p>
                  </a:txBody>
                  <a:tcPr/>
                </a:tc>
                <a:extLst>
                  <a:ext uri="{0D108BD9-81ED-4DB2-BD59-A6C34878D82A}">
                    <a16:rowId xmlns:a16="http://schemas.microsoft.com/office/drawing/2014/main" val="2044383011"/>
                  </a:ext>
                </a:extLst>
              </a:tr>
              <a:tr h="368300">
                <a:tc>
                  <a:txBody>
                    <a:bodyPr/>
                    <a:lstStyle/>
                    <a:p>
                      <a:r>
                        <a:rPr lang="en-US" sz="1400" dirty="0"/>
                        <a:t>Message</a:t>
                      </a:r>
                    </a:p>
                  </a:txBody>
                  <a:tcPr/>
                </a:tc>
                <a:tc>
                  <a:txBody>
                    <a:bodyPr/>
                    <a:lstStyle/>
                    <a:p>
                      <a:r>
                        <a:rPr lang="en-US" sz="1400" dirty="0"/>
                        <a:t>A single turn of communication between a client and an agent, containing content and a role ("user" or "agent").</a:t>
                      </a:r>
                    </a:p>
                  </a:txBody>
                  <a:tcPr/>
                </a:tc>
                <a:tc>
                  <a:txBody>
                    <a:bodyPr/>
                    <a:lstStyle/>
                    <a:p>
                      <a:r>
                        <a:rPr lang="en-US" sz="1400" dirty="0"/>
                        <a:t>Conveys instructions, context, questions, answers, or status updates that are not necessarily formal artifacts.</a:t>
                      </a:r>
                    </a:p>
                  </a:txBody>
                  <a:tcPr/>
                </a:tc>
                <a:extLst>
                  <a:ext uri="{0D108BD9-81ED-4DB2-BD59-A6C34878D82A}">
                    <a16:rowId xmlns:a16="http://schemas.microsoft.com/office/drawing/2014/main" val="2945280562"/>
                  </a:ext>
                </a:extLst>
              </a:tr>
              <a:tr h="368300">
                <a:tc>
                  <a:txBody>
                    <a:bodyPr/>
                    <a:lstStyle/>
                    <a:p>
                      <a:r>
                        <a:rPr lang="en-US" sz="1400" dirty="0"/>
                        <a:t>Part</a:t>
                      </a:r>
                    </a:p>
                  </a:txBody>
                  <a:tcPr/>
                </a:tc>
                <a:tc>
                  <a:txBody>
                    <a:bodyPr/>
                    <a:lstStyle/>
                    <a:p>
                      <a:r>
                        <a:rPr lang="en-US" sz="1400" dirty="0"/>
                        <a:t>The fundamental content container used within Messages and Artifacts. A Part holds one of: text content, a file reference (URL or inline bytes), or structured data.</a:t>
                      </a:r>
                    </a:p>
                  </a:txBody>
                  <a:tcPr/>
                </a:tc>
                <a:tc>
                  <a:txBody>
                    <a:bodyPr/>
                    <a:lstStyle/>
                    <a:p>
                      <a:r>
                        <a:rPr lang="en-US" sz="1400" dirty="0"/>
                        <a:t>Provides flexibility for agents to exchange various content types within messages and artifacts.</a:t>
                      </a:r>
                    </a:p>
                  </a:txBody>
                  <a:tcPr/>
                </a:tc>
                <a:extLst>
                  <a:ext uri="{0D108BD9-81ED-4DB2-BD59-A6C34878D82A}">
                    <a16:rowId xmlns:a16="http://schemas.microsoft.com/office/drawing/2014/main" val="1529984283"/>
                  </a:ext>
                </a:extLst>
              </a:tr>
              <a:tr h="368300">
                <a:tc>
                  <a:txBody>
                    <a:bodyPr/>
                    <a:lstStyle/>
                    <a:p>
                      <a:r>
                        <a:rPr lang="en-US" sz="1400" dirty="0"/>
                        <a:t>Artifact</a:t>
                      </a:r>
                    </a:p>
                  </a:txBody>
                  <a:tcPr/>
                </a:tc>
                <a:tc>
                  <a:txBody>
                    <a:bodyPr/>
                    <a:lstStyle/>
                    <a:p>
                      <a:r>
                        <a:rPr lang="en-US" sz="1400" dirty="0"/>
                        <a:t>A tangible output generated by an agent during a task (for example, a document, image, or structured data).</a:t>
                      </a:r>
                    </a:p>
                  </a:txBody>
                  <a:tcPr/>
                </a:tc>
                <a:tc>
                  <a:txBody>
                    <a:bodyPr/>
                    <a:lstStyle/>
                    <a:p>
                      <a:r>
                        <a:rPr lang="en-US" sz="1400" dirty="0"/>
                        <a:t>Delivers the concrete results of an agent's work, ensuring structured and retrievable outputs.</a:t>
                      </a:r>
                    </a:p>
                  </a:txBody>
                  <a:tcPr/>
                </a:tc>
                <a:extLst>
                  <a:ext uri="{0D108BD9-81ED-4DB2-BD59-A6C34878D82A}">
                    <a16:rowId xmlns:a16="http://schemas.microsoft.com/office/drawing/2014/main" val="232223194"/>
                  </a:ext>
                </a:extLst>
              </a:tr>
            </a:tbl>
          </a:graphicData>
        </a:graphic>
      </p:graphicFrame>
    </p:spTree>
    <p:extLst>
      <p:ext uri="{BB962C8B-B14F-4D97-AF65-F5344CB8AC3E}">
        <p14:creationId xmlns:p14="http://schemas.microsoft.com/office/powerpoint/2010/main" val="4229221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err="1">
                <a:solidFill>
                  <a:schemeClr val="bg1"/>
                </a:solidFill>
              </a:rPr>
              <a:t>Core</a:t>
            </a:r>
            <a:r>
              <a:rPr lang="fr-CA" dirty="0">
                <a:solidFill>
                  <a:schemeClr val="bg1"/>
                </a:solidFill>
              </a:rPr>
              <a:t> (</a:t>
            </a:r>
            <a:r>
              <a:rPr lang="fr-CA" dirty="0" err="1">
                <a:solidFill>
                  <a:schemeClr val="bg1"/>
                </a:solidFill>
              </a:rPr>
              <a:t>cont</a:t>
            </a:r>
            <a:r>
              <a:rPr lang="fr-CA" dirty="0">
                <a:solidFill>
                  <a:schemeClr val="bg1"/>
                </a:solidFill>
              </a:rPr>
              <a:t>.)</a:t>
            </a:r>
          </a:p>
        </p:txBody>
      </p:sp>
      <p:sp>
        <p:nvSpPr>
          <p:cNvPr id="4099" name="Espace réservé du contenu 4"/>
          <p:cNvSpPr>
            <a:spLocks noGrp="1"/>
          </p:cNvSpPr>
          <p:nvPr>
            <p:ph idx="1"/>
          </p:nvPr>
        </p:nvSpPr>
        <p:spPr>
          <a:xfrm>
            <a:off x="228600" y="2133600"/>
            <a:ext cx="8686800" cy="1752600"/>
          </a:xfrm>
        </p:spPr>
        <p:txBody>
          <a:bodyPr/>
          <a:lstStyle/>
          <a:p>
            <a:r>
              <a:rPr lang="en-US" sz="1400" u="sng" dirty="0">
                <a:solidFill>
                  <a:srgbClr val="3C5790"/>
                </a:solidFill>
              </a:rPr>
              <a:t>Interaction Mechanisms</a:t>
            </a:r>
          </a:p>
          <a:p>
            <a:r>
              <a:rPr lang="en-US" sz="1400" b="1" dirty="0">
                <a:solidFill>
                  <a:srgbClr val="3C5790"/>
                </a:solidFill>
              </a:rPr>
              <a:t>Request/Response (Polling</a:t>
            </a:r>
            <a:r>
              <a:rPr lang="en-US" sz="1400" dirty="0">
                <a:solidFill>
                  <a:srgbClr val="3C5790"/>
                </a:solidFill>
              </a:rPr>
              <a:t>): Clients send a request and the server responds. For long-running tasks, the client periodically polls the server for updates.</a:t>
            </a:r>
          </a:p>
          <a:p>
            <a:r>
              <a:rPr lang="en-US" sz="1400" b="1" dirty="0">
                <a:solidFill>
                  <a:srgbClr val="3C5790"/>
                </a:solidFill>
              </a:rPr>
              <a:t>Streaming with Server-Sent Events (SSE)</a:t>
            </a:r>
            <a:r>
              <a:rPr lang="en-US" sz="1400" dirty="0">
                <a:solidFill>
                  <a:srgbClr val="3C5790"/>
                </a:solidFill>
              </a:rPr>
              <a:t>: Clients initiate a stream to receive real-time, incremental results or status updates from the server over an open HTTP connection.</a:t>
            </a:r>
          </a:p>
          <a:p>
            <a:r>
              <a:rPr lang="en-US" sz="1400" b="1" dirty="0">
                <a:solidFill>
                  <a:srgbClr val="3C5790"/>
                </a:solidFill>
              </a:rPr>
              <a:t>Push Notifications</a:t>
            </a:r>
            <a:r>
              <a:rPr lang="en-US" sz="1400" dirty="0">
                <a:solidFill>
                  <a:srgbClr val="3C5790"/>
                </a:solidFill>
              </a:rPr>
              <a:t>: For very long-running tasks or disconnected scenarios, the server can actively send asynchronous notifications to a client-provided webhook when significant task updates occur.</a:t>
            </a:r>
            <a:endParaRPr lang="fr-CA" sz="1400" dirty="0">
              <a:solidFill>
                <a:srgbClr val="3C5790"/>
              </a:solidFill>
            </a:endParaRPr>
          </a:p>
        </p:txBody>
      </p:sp>
    </p:spTree>
    <p:extLst>
      <p:ext uri="{BB962C8B-B14F-4D97-AF65-F5344CB8AC3E}">
        <p14:creationId xmlns:p14="http://schemas.microsoft.com/office/powerpoint/2010/main" val="26879539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err="1">
                <a:solidFill>
                  <a:schemeClr val="bg1"/>
                </a:solidFill>
              </a:rPr>
              <a:t>Core</a:t>
            </a:r>
            <a:r>
              <a:rPr lang="fr-CA" dirty="0">
                <a:solidFill>
                  <a:schemeClr val="bg1"/>
                </a:solidFill>
              </a:rPr>
              <a:t> (</a:t>
            </a:r>
            <a:r>
              <a:rPr lang="fr-CA" dirty="0" err="1">
                <a:solidFill>
                  <a:schemeClr val="bg1"/>
                </a:solidFill>
              </a:rPr>
              <a:t>cont</a:t>
            </a:r>
            <a:r>
              <a:rPr lang="fr-CA" dirty="0">
                <a:solidFill>
                  <a:schemeClr val="bg1"/>
                </a:solidFill>
              </a:rPr>
              <a:t>.)</a:t>
            </a:r>
          </a:p>
        </p:txBody>
      </p:sp>
      <p:sp>
        <p:nvSpPr>
          <p:cNvPr id="4099" name="Espace réservé du contenu 4"/>
          <p:cNvSpPr>
            <a:spLocks noGrp="1"/>
          </p:cNvSpPr>
          <p:nvPr>
            <p:ph idx="1"/>
          </p:nvPr>
        </p:nvSpPr>
        <p:spPr>
          <a:xfrm>
            <a:off x="228600" y="2133600"/>
            <a:ext cx="8686800" cy="1371600"/>
          </a:xfrm>
        </p:spPr>
        <p:txBody>
          <a:bodyPr/>
          <a:lstStyle/>
          <a:p>
            <a:r>
              <a:rPr lang="en-US" sz="1400" b="1" dirty="0">
                <a:solidFill>
                  <a:srgbClr val="3C5790"/>
                </a:solidFill>
              </a:rPr>
              <a:t>The Agent Card </a:t>
            </a:r>
            <a:r>
              <a:rPr lang="en-US" sz="1400" dirty="0">
                <a:solidFill>
                  <a:srgbClr val="3C5790"/>
                </a:solidFill>
              </a:rPr>
              <a:t>is a JSON document acting as a digital business card for AI agents, sharing key metadata for discovery and interaction setup. </a:t>
            </a:r>
          </a:p>
          <a:p>
            <a:r>
              <a:rPr lang="en-US" sz="1400" dirty="0">
                <a:solidFill>
                  <a:srgbClr val="3C5790"/>
                </a:solidFill>
              </a:rPr>
              <a:t>Clients use it to assess suitability for tasks, format requests, and ensure secure communication. </a:t>
            </a:r>
          </a:p>
          <a:p>
            <a:r>
              <a:rPr lang="en-US" sz="1400" dirty="0">
                <a:solidFill>
                  <a:srgbClr val="3C5790"/>
                </a:solidFill>
              </a:rPr>
              <a:t>It covers identity, service endpoint (URL), A2A capabilities, authentication needs, and available skills.</a:t>
            </a:r>
            <a:endParaRPr lang="fr-CA" sz="1400" dirty="0">
              <a:solidFill>
                <a:srgbClr val="3C5790"/>
              </a:solidFill>
            </a:endParaRPr>
          </a:p>
        </p:txBody>
      </p:sp>
    </p:spTree>
    <p:extLst>
      <p:ext uri="{BB962C8B-B14F-4D97-AF65-F5344CB8AC3E}">
        <p14:creationId xmlns:p14="http://schemas.microsoft.com/office/powerpoint/2010/main" val="42838643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err="1">
                <a:solidFill>
                  <a:schemeClr val="bg1"/>
                </a:solidFill>
              </a:rPr>
              <a:t>Core</a:t>
            </a:r>
            <a:r>
              <a:rPr lang="fr-CA" dirty="0">
                <a:solidFill>
                  <a:schemeClr val="bg1"/>
                </a:solidFill>
              </a:rPr>
              <a:t> (</a:t>
            </a:r>
            <a:r>
              <a:rPr lang="fr-CA" dirty="0" err="1">
                <a:solidFill>
                  <a:schemeClr val="bg1"/>
                </a:solidFill>
              </a:rPr>
              <a:t>cont</a:t>
            </a:r>
            <a:r>
              <a:rPr lang="fr-CA" dirty="0">
                <a:solidFill>
                  <a:schemeClr val="bg1"/>
                </a:solidFill>
              </a:rPr>
              <a:t>.)</a:t>
            </a:r>
          </a:p>
        </p:txBody>
      </p:sp>
      <p:sp>
        <p:nvSpPr>
          <p:cNvPr id="4099" name="Espace réservé du contenu 4"/>
          <p:cNvSpPr>
            <a:spLocks noGrp="1"/>
          </p:cNvSpPr>
          <p:nvPr>
            <p:ph idx="1"/>
          </p:nvPr>
        </p:nvSpPr>
        <p:spPr>
          <a:xfrm>
            <a:off x="228600" y="2133600"/>
            <a:ext cx="8686800" cy="2438400"/>
          </a:xfrm>
        </p:spPr>
        <p:txBody>
          <a:bodyPr/>
          <a:lstStyle/>
          <a:p>
            <a:r>
              <a:rPr lang="en-US" sz="1400" dirty="0">
                <a:solidFill>
                  <a:srgbClr val="3C5790"/>
                </a:solidFill>
              </a:rPr>
              <a:t>A </a:t>
            </a:r>
            <a:r>
              <a:rPr lang="en-US" sz="1400" b="1" dirty="0">
                <a:solidFill>
                  <a:srgbClr val="3C5790"/>
                </a:solidFill>
              </a:rPr>
              <a:t>task</a:t>
            </a:r>
            <a:r>
              <a:rPr lang="en-US" sz="1400" dirty="0">
                <a:solidFill>
                  <a:srgbClr val="3C5790"/>
                </a:solidFill>
              </a:rPr>
              <a:t> represents a unit of work needed to accomplish a request. It has a unique ID and progresses through a lifecycle of defined states (submitted, working, input-required, completed, failed). Tasks are useful for multi-turn processing or long-running agent-to-agent collaboration.</a:t>
            </a:r>
          </a:p>
          <a:p>
            <a:r>
              <a:rPr lang="en-US" sz="1400" b="1" dirty="0">
                <a:solidFill>
                  <a:srgbClr val="3C5790"/>
                </a:solidFill>
              </a:rPr>
              <a:t>Message</a:t>
            </a:r>
            <a:r>
              <a:rPr lang="en-US" sz="1400" dirty="0">
                <a:solidFill>
                  <a:srgbClr val="3C5790"/>
                </a:solidFill>
              </a:rPr>
              <a:t>, as a fundamental unit of communication, a message depicts a single exchange or turn in a conversation.  It contains one or more parts holding the actual content. Messages relay answers, context, instructions, prompts, questions, replies and status updates. </a:t>
            </a:r>
            <a:endParaRPr lang="fr-CA" sz="1400" dirty="0">
              <a:solidFill>
                <a:srgbClr val="3C5790"/>
              </a:solidFill>
            </a:endParaRPr>
          </a:p>
        </p:txBody>
      </p:sp>
    </p:spTree>
    <p:extLst>
      <p:ext uri="{BB962C8B-B14F-4D97-AF65-F5344CB8AC3E}">
        <p14:creationId xmlns:p14="http://schemas.microsoft.com/office/powerpoint/2010/main" val="7647915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err="1">
                <a:solidFill>
                  <a:schemeClr val="bg1"/>
                </a:solidFill>
              </a:rPr>
              <a:t>Core</a:t>
            </a:r>
            <a:r>
              <a:rPr lang="fr-CA" dirty="0">
                <a:solidFill>
                  <a:schemeClr val="bg1"/>
                </a:solidFill>
              </a:rPr>
              <a:t> (</a:t>
            </a:r>
            <a:r>
              <a:rPr lang="fr-CA" dirty="0" err="1">
                <a:solidFill>
                  <a:schemeClr val="bg1"/>
                </a:solidFill>
              </a:rPr>
              <a:t>cont</a:t>
            </a:r>
            <a:r>
              <a:rPr lang="fr-CA" dirty="0">
                <a:solidFill>
                  <a:schemeClr val="bg1"/>
                </a:solidFill>
              </a:rPr>
              <a:t>.)</a:t>
            </a:r>
          </a:p>
        </p:txBody>
      </p:sp>
      <p:sp>
        <p:nvSpPr>
          <p:cNvPr id="4099" name="Espace réservé du contenu 4"/>
          <p:cNvSpPr>
            <a:spLocks noGrp="1"/>
          </p:cNvSpPr>
          <p:nvPr>
            <p:ph idx="1"/>
          </p:nvPr>
        </p:nvSpPr>
        <p:spPr>
          <a:xfrm>
            <a:off x="228600" y="2133600"/>
            <a:ext cx="8686800" cy="2438400"/>
          </a:xfrm>
        </p:spPr>
        <p:txBody>
          <a:bodyPr/>
          <a:lstStyle/>
          <a:p>
            <a:r>
              <a:rPr lang="en-US" sz="1400" dirty="0">
                <a:solidFill>
                  <a:srgbClr val="3C5790"/>
                </a:solidFill>
              </a:rPr>
              <a:t>An </a:t>
            </a:r>
            <a:r>
              <a:rPr lang="en-US" sz="1400" b="1" dirty="0">
                <a:solidFill>
                  <a:srgbClr val="3C5790"/>
                </a:solidFill>
              </a:rPr>
              <a:t>artifact</a:t>
            </a:r>
            <a:r>
              <a:rPr lang="en-US" sz="1400" dirty="0">
                <a:solidFill>
                  <a:srgbClr val="3C5790"/>
                </a:solidFill>
              </a:rPr>
              <a:t> is a tangible product generated by the A2A server as a result of its work. It can be a document, image, spreadsheet or any other deliverable. Like messages, artifacts consist of one or more parts and can be incrementally streamed.</a:t>
            </a:r>
          </a:p>
          <a:p>
            <a:r>
              <a:rPr lang="en-US" sz="1400" dirty="0">
                <a:solidFill>
                  <a:srgbClr val="3C5790"/>
                </a:solidFill>
              </a:rPr>
              <a:t>A </a:t>
            </a:r>
            <a:r>
              <a:rPr lang="en-US" sz="1400" b="1" dirty="0">
                <a:solidFill>
                  <a:srgbClr val="3C5790"/>
                </a:solidFill>
              </a:rPr>
              <a:t>part</a:t>
            </a:r>
            <a:r>
              <a:rPr lang="en-US" sz="1400" dirty="0">
                <a:solidFill>
                  <a:srgbClr val="3C5790"/>
                </a:solidFill>
              </a:rPr>
              <a:t> is a piece of content inside a message or an artifact. Parts have various types based on the data they carry. A </a:t>
            </a:r>
            <a:r>
              <a:rPr lang="en-US" sz="1400" dirty="0" err="1">
                <a:solidFill>
                  <a:srgbClr val="3C5790"/>
                </a:solidFill>
              </a:rPr>
              <a:t>TextPart</a:t>
            </a:r>
            <a:r>
              <a:rPr lang="en-US" sz="1400" dirty="0">
                <a:solidFill>
                  <a:srgbClr val="3C5790"/>
                </a:solidFill>
              </a:rPr>
              <a:t> is a vessel for text, a </a:t>
            </a:r>
            <a:r>
              <a:rPr lang="en-US" sz="1400" dirty="0" err="1">
                <a:solidFill>
                  <a:srgbClr val="3C5790"/>
                </a:solidFill>
              </a:rPr>
              <a:t>FilePart</a:t>
            </a:r>
            <a:r>
              <a:rPr lang="en-US" sz="1400" dirty="0">
                <a:solidFill>
                  <a:srgbClr val="3C5790"/>
                </a:solidFill>
              </a:rPr>
              <a:t> represents files and a </a:t>
            </a:r>
            <a:r>
              <a:rPr lang="en-US" sz="1400" dirty="0" err="1">
                <a:solidFill>
                  <a:srgbClr val="3C5790"/>
                </a:solidFill>
              </a:rPr>
              <a:t>DataPart</a:t>
            </a:r>
            <a:r>
              <a:rPr lang="en-US" sz="1400" dirty="0">
                <a:solidFill>
                  <a:srgbClr val="3C5790"/>
                </a:solidFill>
              </a:rPr>
              <a:t> encompasses structured JSON (JavaScript Object Notation) data.</a:t>
            </a:r>
            <a:endParaRPr lang="fr-CA" sz="1400" dirty="0">
              <a:solidFill>
                <a:srgbClr val="3C5790"/>
              </a:solidFill>
            </a:endParaRPr>
          </a:p>
        </p:txBody>
      </p:sp>
    </p:spTree>
    <p:extLst>
      <p:ext uri="{BB962C8B-B14F-4D97-AF65-F5344CB8AC3E}">
        <p14:creationId xmlns:p14="http://schemas.microsoft.com/office/powerpoint/2010/main" val="24117629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err="1">
                <a:solidFill>
                  <a:schemeClr val="bg1"/>
                </a:solidFill>
              </a:rPr>
              <a:t>Core</a:t>
            </a:r>
            <a:r>
              <a:rPr lang="fr-CA" dirty="0">
                <a:solidFill>
                  <a:schemeClr val="bg1"/>
                </a:solidFill>
              </a:rPr>
              <a:t> (</a:t>
            </a:r>
            <a:r>
              <a:rPr lang="fr-CA" dirty="0" err="1">
                <a:solidFill>
                  <a:schemeClr val="bg1"/>
                </a:solidFill>
              </a:rPr>
              <a:t>cont</a:t>
            </a:r>
            <a:r>
              <a:rPr lang="fr-CA" dirty="0">
                <a:solidFill>
                  <a:schemeClr val="bg1"/>
                </a:solidFill>
              </a:rPr>
              <a:t>.)</a:t>
            </a:r>
          </a:p>
        </p:txBody>
      </p:sp>
      <p:sp>
        <p:nvSpPr>
          <p:cNvPr id="4099" name="Espace réservé du contenu 4"/>
          <p:cNvSpPr>
            <a:spLocks noGrp="1"/>
          </p:cNvSpPr>
          <p:nvPr>
            <p:ph idx="1"/>
          </p:nvPr>
        </p:nvSpPr>
        <p:spPr>
          <a:xfrm>
            <a:off x="228600" y="2133600"/>
            <a:ext cx="8686800" cy="2590800"/>
          </a:xfrm>
        </p:spPr>
        <p:txBody>
          <a:bodyPr/>
          <a:lstStyle/>
          <a:p>
            <a:r>
              <a:rPr lang="en-US" sz="1400" dirty="0">
                <a:solidFill>
                  <a:srgbClr val="3C5790"/>
                </a:solidFill>
              </a:rPr>
              <a:t>AI agents need to first find each other and understand their capabilities. </a:t>
            </a:r>
          </a:p>
          <a:p>
            <a:r>
              <a:rPr lang="en-US" sz="1400" dirty="0">
                <a:solidFill>
                  <a:srgbClr val="3C5790"/>
                </a:solidFill>
              </a:rPr>
              <a:t>A2A standardizes agent self-descriptions through the Agent Card.</a:t>
            </a:r>
          </a:p>
          <a:p>
            <a:r>
              <a:rPr lang="en-US" sz="1400" dirty="0">
                <a:solidFill>
                  <a:srgbClr val="3C5790"/>
                </a:solidFill>
              </a:rPr>
              <a:t>The key information included in an Agent Card is as follows:</a:t>
            </a:r>
          </a:p>
          <a:p>
            <a:pPr lvl="1"/>
            <a:r>
              <a:rPr lang="en-US" sz="1400" b="1" dirty="0">
                <a:solidFill>
                  <a:srgbClr val="3C5790"/>
                </a:solidFill>
              </a:rPr>
              <a:t>Identity</a:t>
            </a:r>
            <a:r>
              <a:rPr lang="en-US" sz="1400" dirty="0">
                <a:solidFill>
                  <a:srgbClr val="3C5790"/>
                </a:solidFill>
              </a:rPr>
              <a:t>: Includes name, description, and provider information.</a:t>
            </a:r>
          </a:p>
          <a:p>
            <a:pPr lvl="1"/>
            <a:r>
              <a:rPr lang="en-US" sz="1400" b="1" dirty="0">
                <a:solidFill>
                  <a:srgbClr val="3C5790"/>
                </a:solidFill>
              </a:rPr>
              <a:t>Service Endpoint</a:t>
            </a:r>
            <a:r>
              <a:rPr lang="en-US" sz="1400" dirty="0">
                <a:solidFill>
                  <a:srgbClr val="3C5790"/>
                </a:solidFill>
              </a:rPr>
              <a:t>: Specifies the </a:t>
            </a:r>
            <a:r>
              <a:rPr lang="en-US" sz="1400" dirty="0" err="1">
                <a:solidFill>
                  <a:srgbClr val="3C5790"/>
                </a:solidFill>
              </a:rPr>
              <a:t>url</a:t>
            </a:r>
            <a:r>
              <a:rPr lang="en-US" sz="1400" dirty="0">
                <a:solidFill>
                  <a:srgbClr val="3C5790"/>
                </a:solidFill>
              </a:rPr>
              <a:t> for the A2A service.</a:t>
            </a:r>
          </a:p>
          <a:p>
            <a:pPr lvl="1"/>
            <a:r>
              <a:rPr lang="en-US" sz="1400" b="1" dirty="0">
                <a:solidFill>
                  <a:srgbClr val="3C5790"/>
                </a:solidFill>
              </a:rPr>
              <a:t>A2A Capabilities</a:t>
            </a:r>
            <a:r>
              <a:rPr lang="en-US" sz="1400" dirty="0">
                <a:solidFill>
                  <a:srgbClr val="3C5790"/>
                </a:solidFill>
              </a:rPr>
              <a:t>: Lists supported features such as streaming or </a:t>
            </a:r>
            <a:r>
              <a:rPr lang="en-US" sz="1400" dirty="0" err="1">
                <a:solidFill>
                  <a:srgbClr val="3C5790"/>
                </a:solidFill>
              </a:rPr>
              <a:t>pushNotifications</a:t>
            </a:r>
            <a:r>
              <a:rPr lang="en-US" sz="1400" dirty="0">
                <a:solidFill>
                  <a:srgbClr val="3C5790"/>
                </a:solidFill>
              </a:rPr>
              <a:t>.</a:t>
            </a:r>
          </a:p>
          <a:p>
            <a:pPr lvl="1"/>
            <a:r>
              <a:rPr lang="en-US" sz="1400" b="1" dirty="0">
                <a:solidFill>
                  <a:srgbClr val="3C5790"/>
                </a:solidFill>
              </a:rPr>
              <a:t>Authentication</a:t>
            </a:r>
            <a:r>
              <a:rPr lang="en-US" sz="1400" dirty="0">
                <a:solidFill>
                  <a:srgbClr val="3C5790"/>
                </a:solidFill>
              </a:rPr>
              <a:t>: Details the required schemes (e.g., "Bearer", "OAuth2").</a:t>
            </a:r>
          </a:p>
          <a:p>
            <a:pPr lvl="1"/>
            <a:r>
              <a:rPr lang="en-US" sz="1400" b="1" dirty="0">
                <a:solidFill>
                  <a:srgbClr val="3C5790"/>
                </a:solidFill>
              </a:rPr>
              <a:t>Skills</a:t>
            </a:r>
            <a:r>
              <a:rPr lang="en-US" sz="1400" dirty="0">
                <a:solidFill>
                  <a:srgbClr val="3C5790"/>
                </a:solidFill>
              </a:rPr>
              <a:t>: Describes the agent's tasks using </a:t>
            </a:r>
            <a:r>
              <a:rPr lang="en-US" sz="1400" dirty="0" err="1">
                <a:solidFill>
                  <a:srgbClr val="3C5790"/>
                </a:solidFill>
              </a:rPr>
              <a:t>AgentSkill</a:t>
            </a:r>
            <a:r>
              <a:rPr lang="en-US" sz="1400" dirty="0">
                <a:solidFill>
                  <a:srgbClr val="3C5790"/>
                </a:solidFill>
              </a:rPr>
              <a:t> objects, including id, name, description, </a:t>
            </a:r>
            <a:r>
              <a:rPr lang="en-US" sz="1400" dirty="0" err="1">
                <a:solidFill>
                  <a:srgbClr val="3C5790"/>
                </a:solidFill>
              </a:rPr>
              <a:t>inputModes</a:t>
            </a:r>
            <a:r>
              <a:rPr lang="en-US" sz="1400" dirty="0">
                <a:solidFill>
                  <a:srgbClr val="3C5790"/>
                </a:solidFill>
              </a:rPr>
              <a:t>, </a:t>
            </a:r>
            <a:r>
              <a:rPr lang="en-US" sz="1400" dirty="0" err="1">
                <a:solidFill>
                  <a:srgbClr val="3C5790"/>
                </a:solidFill>
              </a:rPr>
              <a:t>outputModes</a:t>
            </a:r>
            <a:r>
              <a:rPr lang="en-US" sz="1400" dirty="0">
                <a:solidFill>
                  <a:srgbClr val="3C5790"/>
                </a:solidFill>
              </a:rPr>
              <a:t>, and examples.</a:t>
            </a:r>
          </a:p>
        </p:txBody>
      </p:sp>
    </p:spTree>
    <p:extLst>
      <p:ext uri="{BB962C8B-B14F-4D97-AF65-F5344CB8AC3E}">
        <p14:creationId xmlns:p14="http://schemas.microsoft.com/office/powerpoint/2010/main" val="17054295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err="1">
                <a:solidFill>
                  <a:schemeClr val="bg1"/>
                </a:solidFill>
              </a:rPr>
              <a:t>Core</a:t>
            </a:r>
            <a:r>
              <a:rPr lang="fr-CA" dirty="0">
                <a:solidFill>
                  <a:schemeClr val="bg1"/>
                </a:solidFill>
              </a:rPr>
              <a:t> (</a:t>
            </a:r>
            <a:r>
              <a:rPr lang="fr-CA" dirty="0" err="1">
                <a:solidFill>
                  <a:schemeClr val="bg1"/>
                </a:solidFill>
              </a:rPr>
              <a:t>cont</a:t>
            </a:r>
            <a:r>
              <a:rPr lang="fr-CA" dirty="0">
                <a:solidFill>
                  <a:schemeClr val="bg1"/>
                </a:solidFill>
              </a:rPr>
              <a:t>.)</a:t>
            </a:r>
          </a:p>
        </p:txBody>
      </p:sp>
      <p:sp>
        <p:nvSpPr>
          <p:cNvPr id="4099" name="Espace réservé du contenu 4"/>
          <p:cNvSpPr>
            <a:spLocks noGrp="1"/>
          </p:cNvSpPr>
          <p:nvPr>
            <p:ph idx="1"/>
          </p:nvPr>
        </p:nvSpPr>
        <p:spPr>
          <a:xfrm>
            <a:off x="228600" y="2133600"/>
            <a:ext cx="8686800" cy="4343400"/>
          </a:xfrm>
        </p:spPr>
        <p:txBody>
          <a:bodyPr/>
          <a:lstStyle/>
          <a:p>
            <a:r>
              <a:rPr lang="en-US" sz="1400" u="sng" dirty="0">
                <a:solidFill>
                  <a:srgbClr val="3C5790"/>
                </a:solidFill>
              </a:rPr>
              <a:t>Discovery Strategies</a:t>
            </a:r>
          </a:p>
          <a:p>
            <a:r>
              <a:rPr lang="en-US" sz="1400" b="1" dirty="0">
                <a:solidFill>
                  <a:srgbClr val="3C5790"/>
                </a:solidFill>
              </a:rPr>
              <a:t>1. Well-Known URI</a:t>
            </a:r>
          </a:p>
          <a:p>
            <a:pPr lvl="1"/>
            <a:r>
              <a:rPr lang="en-US" sz="1400" dirty="0">
                <a:solidFill>
                  <a:srgbClr val="3C5790"/>
                </a:solidFill>
              </a:rPr>
              <a:t>This approach is recommended for public agents or agents intended for broad discovery within a specific domain.</a:t>
            </a:r>
          </a:p>
          <a:p>
            <a:pPr lvl="1"/>
            <a:r>
              <a:rPr lang="en-US" sz="1400" dirty="0">
                <a:solidFill>
                  <a:srgbClr val="3C5790"/>
                </a:solidFill>
              </a:rPr>
              <a:t>A2A Servers make their Agent Card discoverable by hosting it at a standardized, well-known URI on their domain. The standard path is https://{agent-server-domain}/.well-known/agent-card.json, following the principles of RFC 8615.</a:t>
            </a:r>
          </a:p>
          <a:p>
            <a:r>
              <a:rPr lang="en-US" sz="1400" b="1" dirty="0">
                <a:solidFill>
                  <a:srgbClr val="3C5790"/>
                </a:solidFill>
              </a:rPr>
              <a:t>2. Curated Registries (Catalog-Based Discovery)</a:t>
            </a:r>
          </a:p>
          <a:p>
            <a:pPr lvl="1"/>
            <a:r>
              <a:rPr lang="en-US" sz="1400" dirty="0">
                <a:solidFill>
                  <a:srgbClr val="3C5790"/>
                </a:solidFill>
              </a:rPr>
              <a:t>This approach is employed in enterprise environments or public marketplaces, where Agent Cards are often managed by a central registry. </a:t>
            </a:r>
          </a:p>
          <a:p>
            <a:pPr lvl="1"/>
            <a:r>
              <a:rPr lang="en-US" sz="1400" dirty="0">
                <a:solidFill>
                  <a:srgbClr val="3C5790"/>
                </a:solidFill>
              </a:rPr>
              <a:t>The curated registry acts as a central repository, allowing clients to query and discover agents based on criteria like "skills" or "tags".</a:t>
            </a:r>
          </a:p>
          <a:p>
            <a:r>
              <a:rPr lang="en-US" sz="1400" b="1" dirty="0">
                <a:solidFill>
                  <a:srgbClr val="3C5790"/>
                </a:solidFill>
              </a:rPr>
              <a:t>3.Direct Configuration / Private Discovery</a:t>
            </a:r>
          </a:p>
          <a:p>
            <a:pPr lvl="1"/>
            <a:r>
              <a:rPr lang="en-US" sz="1400" dirty="0">
                <a:solidFill>
                  <a:srgbClr val="3C5790"/>
                </a:solidFill>
              </a:rPr>
              <a:t>This approach is used for tightly coupled systems, private agents, or development purposes, where clients are directly configured with Agent Card information or URLs.</a:t>
            </a:r>
            <a:endParaRPr lang="fr-CA" sz="1400" dirty="0">
              <a:solidFill>
                <a:srgbClr val="3C5790"/>
              </a:solidFill>
            </a:endParaRPr>
          </a:p>
        </p:txBody>
      </p:sp>
    </p:spTree>
    <p:extLst>
      <p:ext uri="{BB962C8B-B14F-4D97-AF65-F5344CB8AC3E}">
        <p14:creationId xmlns:p14="http://schemas.microsoft.com/office/powerpoint/2010/main" val="22480126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err="1">
                <a:solidFill>
                  <a:schemeClr val="bg1"/>
                </a:solidFill>
              </a:rPr>
              <a:t>Core</a:t>
            </a:r>
            <a:r>
              <a:rPr lang="fr-CA" dirty="0">
                <a:solidFill>
                  <a:schemeClr val="bg1"/>
                </a:solidFill>
              </a:rPr>
              <a:t> (</a:t>
            </a:r>
            <a:r>
              <a:rPr lang="fr-CA" dirty="0" err="1">
                <a:solidFill>
                  <a:schemeClr val="bg1"/>
                </a:solidFill>
              </a:rPr>
              <a:t>cont</a:t>
            </a:r>
            <a:r>
              <a:rPr lang="fr-CA" dirty="0">
                <a:solidFill>
                  <a:schemeClr val="bg1"/>
                </a:solidFill>
              </a:rPr>
              <a:t>.)</a:t>
            </a:r>
          </a:p>
        </p:txBody>
      </p:sp>
      <p:sp>
        <p:nvSpPr>
          <p:cNvPr id="4099" name="Espace réservé du contenu 4"/>
          <p:cNvSpPr>
            <a:spLocks noGrp="1"/>
          </p:cNvSpPr>
          <p:nvPr>
            <p:ph idx="1"/>
          </p:nvPr>
        </p:nvSpPr>
        <p:spPr>
          <a:xfrm>
            <a:off x="228600" y="2133600"/>
            <a:ext cx="8686800" cy="1143000"/>
          </a:xfrm>
        </p:spPr>
        <p:txBody>
          <a:bodyPr/>
          <a:lstStyle/>
          <a:p>
            <a:r>
              <a:rPr lang="en-US" sz="1400" dirty="0">
                <a:solidFill>
                  <a:srgbClr val="3C5790"/>
                </a:solidFill>
              </a:rPr>
              <a:t>The A2A protocol follows a client-server model setup with a three-step workflow:</a:t>
            </a:r>
          </a:p>
          <a:p>
            <a:pPr lvl="1"/>
            <a:r>
              <a:rPr lang="en-US" sz="1400" dirty="0">
                <a:solidFill>
                  <a:srgbClr val="3C5790"/>
                </a:solidFill>
              </a:rPr>
              <a:t>Discovery</a:t>
            </a:r>
          </a:p>
          <a:p>
            <a:pPr lvl="1"/>
            <a:r>
              <a:rPr lang="en-US" sz="1400" dirty="0">
                <a:solidFill>
                  <a:srgbClr val="3C5790"/>
                </a:solidFill>
              </a:rPr>
              <a:t>Authentication</a:t>
            </a:r>
          </a:p>
          <a:p>
            <a:pPr lvl="1"/>
            <a:r>
              <a:rPr lang="en-US" sz="1400" dirty="0">
                <a:solidFill>
                  <a:srgbClr val="3C5790"/>
                </a:solidFill>
              </a:rPr>
              <a:t>Communication</a:t>
            </a:r>
            <a:endParaRPr lang="fr-CA" sz="1400" dirty="0">
              <a:solidFill>
                <a:srgbClr val="3C5790"/>
              </a:solidFill>
            </a:endParaRPr>
          </a:p>
        </p:txBody>
      </p:sp>
      <p:pic>
        <p:nvPicPr>
          <p:cNvPr id="3" name="Picture 2">
            <a:extLst>
              <a:ext uri="{FF2B5EF4-FFF2-40B4-BE49-F238E27FC236}">
                <a16:creationId xmlns:a16="http://schemas.microsoft.com/office/drawing/2014/main" id="{D84B3438-F5B3-4B16-8F45-C15634D87B47}"/>
              </a:ext>
            </a:extLst>
          </p:cNvPr>
          <p:cNvPicPr>
            <a:picLocks noChangeAspect="1"/>
          </p:cNvPicPr>
          <p:nvPr/>
        </p:nvPicPr>
        <p:blipFill>
          <a:blip r:embed="rId3"/>
          <a:stretch>
            <a:fillRect/>
          </a:stretch>
        </p:blipFill>
        <p:spPr>
          <a:xfrm>
            <a:off x="1676400" y="3352800"/>
            <a:ext cx="4986337" cy="2763713"/>
          </a:xfrm>
          <a:prstGeom prst="rect">
            <a:avLst/>
          </a:prstGeom>
        </p:spPr>
      </p:pic>
    </p:spTree>
    <p:extLst>
      <p:ext uri="{BB962C8B-B14F-4D97-AF65-F5344CB8AC3E}">
        <p14:creationId xmlns:p14="http://schemas.microsoft.com/office/powerpoint/2010/main" val="19168640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err="1">
                <a:solidFill>
                  <a:schemeClr val="bg1"/>
                </a:solidFill>
              </a:rPr>
              <a:t>Core</a:t>
            </a:r>
            <a:r>
              <a:rPr lang="fr-CA" dirty="0">
                <a:solidFill>
                  <a:schemeClr val="bg1"/>
                </a:solidFill>
              </a:rPr>
              <a:t> (</a:t>
            </a:r>
            <a:r>
              <a:rPr lang="fr-CA" dirty="0" err="1">
                <a:solidFill>
                  <a:schemeClr val="bg1"/>
                </a:solidFill>
              </a:rPr>
              <a:t>cont</a:t>
            </a:r>
            <a:r>
              <a:rPr lang="fr-CA" dirty="0">
                <a:solidFill>
                  <a:schemeClr val="bg1"/>
                </a:solidFill>
              </a:rPr>
              <a:t>.)</a:t>
            </a:r>
          </a:p>
        </p:txBody>
      </p:sp>
      <p:sp>
        <p:nvSpPr>
          <p:cNvPr id="4099" name="Espace réservé du contenu 4"/>
          <p:cNvSpPr>
            <a:spLocks noGrp="1"/>
          </p:cNvSpPr>
          <p:nvPr>
            <p:ph idx="1"/>
          </p:nvPr>
        </p:nvSpPr>
        <p:spPr>
          <a:xfrm>
            <a:off x="228600" y="2133600"/>
            <a:ext cx="8686800" cy="1143000"/>
          </a:xfrm>
        </p:spPr>
        <p:txBody>
          <a:bodyPr/>
          <a:lstStyle/>
          <a:p>
            <a:r>
              <a:rPr lang="en-US" sz="1400" b="1" dirty="0">
                <a:solidFill>
                  <a:srgbClr val="3C5790"/>
                </a:solidFill>
              </a:rPr>
              <a:t>Authentication</a:t>
            </a:r>
          </a:p>
          <a:p>
            <a:pPr lvl="1"/>
            <a:r>
              <a:rPr lang="en-US" sz="1400" dirty="0">
                <a:solidFill>
                  <a:srgbClr val="3C5790"/>
                </a:solidFill>
              </a:rPr>
              <a:t>Once the client agent identifies a remote agent capable of fulfilling the designated task, it then goes through authentication according to the security scheme indicated in the agent card. A2A supports security schemes aligned with the </a:t>
            </a:r>
            <a:r>
              <a:rPr lang="en-US" sz="1400" dirty="0" err="1">
                <a:solidFill>
                  <a:srgbClr val="3C5790"/>
                </a:solidFill>
              </a:rPr>
              <a:t>OpenAPI</a:t>
            </a:r>
            <a:r>
              <a:rPr lang="en-US" sz="1400" dirty="0">
                <a:solidFill>
                  <a:srgbClr val="3C5790"/>
                </a:solidFill>
              </a:rPr>
              <a:t> specification, such as API keys, OAuth 2.0 and OpenID Connect Discovery.</a:t>
            </a:r>
            <a:endParaRPr lang="fr-CA" sz="1400" dirty="0">
              <a:solidFill>
                <a:srgbClr val="3C5790"/>
              </a:solidFill>
            </a:endParaRPr>
          </a:p>
        </p:txBody>
      </p:sp>
      <p:pic>
        <p:nvPicPr>
          <p:cNvPr id="4" name="Picture 3">
            <a:extLst>
              <a:ext uri="{FF2B5EF4-FFF2-40B4-BE49-F238E27FC236}">
                <a16:creationId xmlns:a16="http://schemas.microsoft.com/office/drawing/2014/main" id="{C2873097-57DE-4EB6-A2ED-5FBCE4B1E3EB}"/>
              </a:ext>
            </a:extLst>
          </p:cNvPr>
          <p:cNvPicPr>
            <a:picLocks noChangeAspect="1"/>
          </p:cNvPicPr>
          <p:nvPr/>
        </p:nvPicPr>
        <p:blipFill>
          <a:blip r:embed="rId3"/>
          <a:stretch>
            <a:fillRect/>
          </a:stretch>
        </p:blipFill>
        <p:spPr>
          <a:xfrm>
            <a:off x="2057400" y="3582100"/>
            <a:ext cx="5229225" cy="2649358"/>
          </a:xfrm>
          <a:prstGeom prst="rect">
            <a:avLst/>
          </a:prstGeom>
        </p:spPr>
      </p:pic>
    </p:spTree>
    <p:extLst>
      <p:ext uri="{BB962C8B-B14F-4D97-AF65-F5344CB8AC3E}">
        <p14:creationId xmlns:p14="http://schemas.microsoft.com/office/powerpoint/2010/main" val="42358521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err="1">
                <a:solidFill>
                  <a:schemeClr val="bg1"/>
                </a:solidFill>
              </a:rPr>
              <a:t>Core</a:t>
            </a:r>
            <a:r>
              <a:rPr lang="fr-CA" dirty="0">
                <a:solidFill>
                  <a:schemeClr val="bg1"/>
                </a:solidFill>
              </a:rPr>
              <a:t> (</a:t>
            </a:r>
            <a:r>
              <a:rPr lang="fr-CA" dirty="0" err="1">
                <a:solidFill>
                  <a:schemeClr val="bg1"/>
                </a:solidFill>
              </a:rPr>
              <a:t>cont</a:t>
            </a:r>
            <a:r>
              <a:rPr lang="fr-CA" dirty="0">
                <a:solidFill>
                  <a:schemeClr val="bg1"/>
                </a:solidFill>
              </a:rPr>
              <a:t>.)</a:t>
            </a:r>
          </a:p>
        </p:txBody>
      </p:sp>
      <p:sp>
        <p:nvSpPr>
          <p:cNvPr id="4099" name="Espace réservé du contenu 4"/>
          <p:cNvSpPr>
            <a:spLocks noGrp="1"/>
          </p:cNvSpPr>
          <p:nvPr>
            <p:ph idx="1"/>
          </p:nvPr>
        </p:nvSpPr>
        <p:spPr>
          <a:xfrm>
            <a:off x="228600" y="2133600"/>
            <a:ext cx="8686800" cy="1143000"/>
          </a:xfrm>
        </p:spPr>
        <p:txBody>
          <a:bodyPr/>
          <a:lstStyle/>
          <a:p>
            <a:r>
              <a:rPr lang="en-US" sz="1400" b="1" dirty="0">
                <a:solidFill>
                  <a:srgbClr val="3C5790"/>
                </a:solidFill>
              </a:rPr>
              <a:t>Communication</a:t>
            </a:r>
          </a:p>
          <a:p>
            <a:pPr lvl="1"/>
            <a:r>
              <a:rPr lang="en-US" sz="1400" dirty="0">
                <a:solidFill>
                  <a:srgbClr val="3C5790"/>
                </a:solidFill>
              </a:rPr>
              <a:t>Communication starts with a client agent sending a task to the chosen remote agent. Agent-to-agent communication occurs over HTTPS for secure transport, with JSON-RPC (Remote Procedure Call) 2.0 as the format for data exchange.</a:t>
            </a:r>
            <a:endParaRPr lang="fr-CA" sz="1400" dirty="0">
              <a:solidFill>
                <a:srgbClr val="3C5790"/>
              </a:solidFill>
            </a:endParaRPr>
          </a:p>
        </p:txBody>
      </p:sp>
      <p:pic>
        <p:nvPicPr>
          <p:cNvPr id="3" name="Picture 2">
            <a:extLst>
              <a:ext uri="{FF2B5EF4-FFF2-40B4-BE49-F238E27FC236}">
                <a16:creationId xmlns:a16="http://schemas.microsoft.com/office/drawing/2014/main" id="{D05EAAAB-FF1C-4B2B-89CC-D7236AD902A9}"/>
              </a:ext>
            </a:extLst>
          </p:cNvPr>
          <p:cNvPicPr>
            <a:picLocks noChangeAspect="1"/>
          </p:cNvPicPr>
          <p:nvPr/>
        </p:nvPicPr>
        <p:blipFill>
          <a:blip r:embed="rId3"/>
          <a:stretch>
            <a:fillRect/>
          </a:stretch>
        </p:blipFill>
        <p:spPr>
          <a:xfrm>
            <a:off x="2057400" y="3505200"/>
            <a:ext cx="5729287" cy="2503911"/>
          </a:xfrm>
          <a:prstGeom prst="rect">
            <a:avLst/>
          </a:prstGeom>
        </p:spPr>
      </p:pic>
    </p:spTree>
    <p:extLst>
      <p:ext uri="{BB962C8B-B14F-4D97-AF65-F5344CB8AC3E}">
        <p14:creationId xmlns:p14="http://schemas.microsoft.com/office/powerpoint/2010/main" val="28785734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a:extLst>
            <a:ext uri="{FF2B5EF4-FFF2-40B4-BE49-F238E27FC236}">
              <a16:creationId xmlns:a16="http://schemas.microsoft.com/office/drawing/2014/main" id="{655C2B3C-655B-CCF7-02F9-3A656B96B5B4}"/>
            </a:ext>
          </a:extLst>
        </p:cNvPr>
        <p:cNvGrpSpPr/>
        <p:nvPr/>
      </p:nvGrpSpPr>
      <p:grpSpPr>
        <a:xfrm>
          <a:off x="0" y="0"/>
          <a:ext cx="0" cy="0"/>
          <a:chOff x="0" y="0"/>
          <a:chExt cx="0" cy="0"/>
        </a:xfrm>
      </p:grpSpPr>
      <p:sp>
        <p:nvSpPr>
          <p:cNvPr id="4098" name="Titre 3">
            <a:extLst>
              <a:ext uri="{FF2B5EF4-FFF2-40B4-BE49-F238E27FC236}">
                <a16:creationId xmlns:a16="http://schemas.microsoft.com/office/drawing/2014/main" id="{5D494A9A-6980-344D-B14D-6CE50A22F020}"/>
              </a:ext>
            </a:extLst>
          </p:cNvPr>
          <p:cNvSpPr>
            <a:spLocks noGrp="1"/>
          </p:cNvSpPr>
          <p:nvPr>
            <p:ph type="title"/>
          </p:nvPr>
        </p:nvSpPr>
        <p:spPr/>
        <p:txBody>
          <a:bodyPr/>
          <a:lstStyle/>
          <a:p>
            <a:r>
              <a:rPr lang="fr-CA" dirty="0" err="1">
                <a:solidFill>
                  <a:schemeClr val="bg1"/>
                </a:solidFill>
              </a:rPr>
              <a:t>Core</a:t>
            </a:r>
            <a:r>
              <a:rPr lang="fr-CA" dirty="0">
                <a:solidFill>
                  <a:schemeClr val="bg1"/>
                </a:solidFill>
              </a:rPr>
              <a:t> (</a:t>
            </a:r>
            <a:r>
              <a:rPr lang="fr-CA" dirty="0" err="1">
                <a:solidFill>
                  <a:schemeClr val="bg1"/>
                </a:solidFill>
              </a:rPr>
              <a:t>cont</a:t>
            </a:r>
            <a:r>
              <a:rPr lang="fr-CA" dirty="0">
                <a:solidFill>
                  <a:schemeClr val="bg1"/>
                </a:solidFill>
              </a:rPr>
              <a:t>.)</a:t>
            </a:r>
          </a:p>
        </p:txBody>
      </p:sp>
      <p:sp>
        <p:nvSpPr>
          <p:cNvPr id="4099" name="Espace réservé du contenu 4">
            <a:extLst>
              <a:ext uri="{FF2B5EF4-FFF2-40B4-BE49-F238E27FC236}">
                <a16:creationId xmlns:a16="http://schemas.microsoft.com/office/drawing/2014/main" id="{08394AB2-6052-57BA-CC4E-4FA425187031}"/>
              </a:ext>
            </a:extLst>
          </p:cNvPr>
          <p:cNvSpPr>
            <a:spLocks noGrp="1"/>
          </p:cNvSpPr>
          <p:nvPr>
            <p:ph idx="1"/>
          </p:nvPr>
        </p:nvSpPr>
        <p:spPr>
          <a:xfrm>
            <a:off x="228600" y="2133600"/>
            <a:ext cx="8686800" cy="3048000"/>
          </a:xfrm>
        </p:spPr>
        <p:txBody>
          <a:bodyPr/>
          <a:lstStyle/>
          <a:p>
            <a:r>
              <a:rPr lang="en-US" sz="1200" dirty="0">
                <a:solidFill>
                  <a:srgbClr val="3C5790"/>
                </a:solidFill>
              </a:rPr>
              <a:t>Each Task progresses through defined states:</a:t>
            </a:r>
          </a:p>
          <a:p>
            <a:pPr lvl="1"/>
            <a:r>
              <a:rPr lang="en-US" sz="1200" b="1" dirty="0">
                <a:solidFill>
                  <a:srgbClr val="3C5790"/>
                </a:solidFill>
              </a:rPr>
              <a:t>submitted</a:t>
            </a:r>
            <a:r>
              <a:rPr lang="en-US" sz="1200" dirty="0">
                <a:solidFill>
                  <a:srgbClr val="3C5790"/>
                </a:solidFill>
              </a:rPr>
              <a:t> — task acknowledged by the server</a:t>
            </a:r>
          </a:p>
          <a:p>
            <a:pPr lvl="1"/>
            <a:r>
              <a:rPr lang="en-US" sz="1200" b="1" dirty="0">
                <a:solidFill>
                  <a:srgbClr val="3C5790"/>
                </a:solidFill>
              </a:rPr>
              <a:t>working</a:t>
            </a:r>
            <a:r>
              <a:rPr lang="en-US" sz="1200" dirty="0">
                <a:solidFill>
                  <a:srgbClr val="3C5790"/>
                </a:solidFill>
              </a:rPr>
              <a:t> — agent is actively processing</a:t>
            </a:r>
          </a:p>
          <a:p>
            <a:pPr lvl="1"/>
            <a:r>
              <a:rPr lang="en-US" sz="1200" b="1" dirty="0">
                <a:solidFill>
                  <a:srgbClr val="3C5790"/>
                </a:solidFill>
              </a:rPr>
              <a:t>input-required </a:t>
            </a:r>
            <a:r>
              <a:rPr lang="en-US" sz="1200" dirty="0">
                <a:solidFill>
                  <a:srgbClr val="3C5790"/>
                </a:solidFill>
              </a:rPr>
              <a:t>— agent needs more information from the client</a:t>
            </a:r>
          </a:p>
          <a:p>
            <a:pPr lvl="1"/>
            <a:r>
              <a:rPr lang="en-US" sz="1200" b="1" dirty="0">
                <a:solidFill>
                  <a:srgbClr val="3C5790"/>
                </a:solidFill>
              </a:rPr>
              <a:t>auth-required</a:t>
            </a:r>
            <a:r>
              <a:rPr lang="en-US" sz="1200" dirty="0">
                <a:solidFill>
                  <a:srgbClr val="3C5790"/>
                </a:solidFill>
              </a:rPr>
              <a:t> — client must provide credentials (v1.0)</a:t>
            </a:r>
          </a:p>
          <a:p>
            <a:pPr lvl="1"/>
            <a:r>
              <a:rPr lang="en-US" sz="1200" b="1" dirty="0">
                <a:solidFill>
                  <a:srgbClr val="3C5790"/>
                </a:solidFill>
              </a:rPr>
              <a:t>completed</a:t>
            </a:r>
            <a:r>
              <a:rPr lang="en-US" sz="1200" dirty="0">
                <a:solidFill>
                  <a:srgbClr val="3C5790"/>
                </a:solidFill>
              </a:rPr>
              <a:t> — task finished successfully</a:t>
            </a:r>
          </a:p>
          <a:p>
            <a:pPr lvl="1"/>
            <a:r>
              <a:rPr lang="en-US" sz="1200" dirty="0">
                <a:solidFill>
                  <a:srgbClr val="3C5790"/>
                </a:solidFill>
              </a:rPr>
              <a:t>failed / canceled / rejected — terminal error or cancellation states</a:t>
            </a:r>
          </a:p>
          <a:p>
            <a:endParaRPr lang="en-US" sz="1200" dirty="0">
              <a:solidFill>
                <a:srgbClr val="3C5790"/>
              </a:solidFill>
            </a:endParaRPr>
          </a:p>
          <a:p>
            <a:r>
              <a:rPr lang="en-US" sz="1200" dirty="0">
                <a:solidFill>
                  <a:srgbClr val="3C5790"/>
                </a:solidFill>
              </a:rPr>
              <a:t>Clients track tasks via Get Task (polling), SSE streaming, or push notifications. </a:t>
            </a:r>
            <a:endParaRPr lang="fr-CA" sz="1200" dirty="0">
              <a:solidFill>
                <a:srgbClr val="3C5790"/>
              </a:solidFill>
            </a:endParaRPr>
          </a:p>
        </p:txBody>
      </p:sp>
    </p:spTree>
    <p:extLst>
      <p:ext uri="{BB962C8B-B14F-4D97-AF65-F5344CB8AC3E}">
        <p14:creationId xmlns:p14="http://schemas.microsoft.com/office/powerpoint/2010/main" val="21965105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a:extLst>
            <a:ext uri="{FF2B5EF4-FFF2-40B4-BE49-F238E27FC236}">
              <a16:creationId xmlns:a16="http://schemas.microsoft.com/office/drawing/2014/main" id="{75BF7D03-A139-12DD-DB8B-E2F95FE53B4B}"/>
            </a:ext>
          </a:extLst>
        </p:cNvPr>
        <p:cNvGrpSpPr/>
        <p:nvPr/>
      </p:nvGrpSpPr>
      <p:grpSpPr>
        <a:xfrm>
          <a:off x="0" y="0"/>
          <a:ext cx="0" cy="0"/>
          <a:chOff x="0" y="0"/>
          <a:chExt cx="0" cy="0"/>
        </a:xfrm>
      </p:grpSpPr>
      <p:sp>
        <p:nvSpPr>
          <p:cNvPr id="4098" name="Titre 3">
            <a:extLst>
              <a:ext uri="{FF2B5EF4-FFF2-40B4-BE49-F238E27FC236}">
                <a16:creationId xmlns:a16="http://schemas.microsoft.com/office/drawing/2014/main" id="{BEA5E222-5A14-94A7-545A-D05D5BE0BA12}"/>
              </a:ext>
            </a:extLst>
          </p:cNvPr>
          <p:cNvSpPr>
            <a:spLocks noGrp="1"/>
          </p:cNvSpPr>
          <p:nvPr>
            <p:ph type="title"/>
          </p:nvPr>
        </p:nvSpPr>
        <p:spPr/>
        <p:txBody>
          <a:bodyPr/>
          <a:lstStyle/>
          <a:p>
            <a:r>
              <a:rPr lang="fr-CA" dirty="0" err="1">
                <a:solidFill>
                  <a:schemeClr val="bg1"/>
                </a:solidFill>
              </a:rPr>
              <a:t>Core</a:t>
            </a:r>
            <a:r>
              <a:rPr lang="fr-CA" dirty="0">
                <a:solidFill>
                  <a:schemeClr val="bg1"/>
                </a:solidFill>
              </a:rPr>
              <a:t> (</a:t>
            </a:r>
            <a:r>
              <a:rPr lang="fr-CA" dirty="0" err="1">
                <a:solidFill>
                  <a:schemeClr val="bg1"/>
                </a:solidFill>
              </a:rPr>
              <a:t>cont</a:t>
            </a:r>
            <a:r>
              <a:rPr lang="fr-CA" dirty="0">
                <a:solidFill>
                  <a:schemeClr val="bg1"/>
                </a:solidFill>
              </a:rPr>
              <a:t>.)</a:t>
            </a:r>
          </a:p>
        </p:txBody>
      </p:sp>
      <p:sp>
        <p:nvSpPr>
          <p:cNvPr id="4099" name="Espace réservé du contenu 4">
            <a:extLst>
              <a:ext uri="{FF2B5EF4-FFF2-40B4-BE49-F238E27FC236}">
                <a16:creationId xmlns:a16="http://schemas.microsoft.com/office/drawing/2014/main" id="{B4148B15-01AD-E0C2-67B4-9C58E5EDAB50}"/>
              </a:ext>
            </a:extLst>
          </p:cNvPr>
          <p:cNvSpPr>
            <a:spLocks noGrp="1"/>
          </p:cNvSpPr>
          <p:nvPr>
            <p:ph idx="1"/>
          </p:nvPr>
        </p:nvSpPr>
        <p:spPr>
          <a:xfrm>
            <a:off x="228600" y="2133600"/>
            <a:ext cx="8686800" cy="3048000"/>
          </a:xfrm>
        </p:spPr>
        <p:txBody>
          <a:bodyPr/>
          <a:lstStyle/>
          <a:p>
            <a:r>
              <a:rPr lang="en-US" sz="1200" dirty="0">
                <a:solidFill>
                  <a:srgbClr val="3C5790"/>
                </a:solidFill>
              </a:rPr>
              <a:t>Java stack for A2A (as of mid-2026):</a:t>
            </a:r>
          </a:p>
          <a:p>
            <a:pPr lvl="1"/>
            <a:r>
              <a:rPr lang="en-US" sz="1200" dirty="0">
                <a:solidFill>
                  <a:srgbClr val="3C5790"/>
                </a:solidFill>
              </a:rPr>
              <a:t>A2A Java SDK (org.a2aproject.sdk) v1.1.0.Final — official client/server library</a:t>
            </a:r>
          </a:p>
          <a:p>
            <a:pPr lvl="1"/>
            <a:r>
              <a:rPr lang="en-US" sz="1200" dirty="0">
                <a:solidFill>
                  <a:srgbClr val="3C5790"/>
                </a:solidFill>
              </a:rPr>
              <a:t>spring-ai-a2a v0.3.0 — Spring Boot auto-configuration (community project)</a:t>
            </a:r>
          </a:p>
          <a:p>
            <a:pPr lvl="1"/>
            <a:r>
              <a:rPr lang="en-US" sz="1200" dirty="0">
                <a:solidFill>
                  <a:srgbClr val="3C5790"/>
                </a:solidFill>
              </a:rPr>
              <a:t>Spring Boot 4.0+ and Spring AI 2.0.0-M2+ required</a:t>
            </a:r>
          </a:p>
          <a:p>
            <a:r>
              <a:rPr lang="en-US" sz="1200" dirty="0">
                <a:solidFill>
                  <a:srgbClr val="3C5790"/>
                </a:solidFill>
              </a:rPr>
              <a:t>You provide three beans: </a:t>
            </a:r>
            <a:r>
              <a:rPr lang="en-US" sz="1200" dirty="0" err="1">
                <a:solidFill>
                  <a:srgbClr val="3C5790"/>
                </a:solidFill>
              </a:rPr>
              <a:t>AgentCard</a:t>
            </a:r>
            <a:r>
              <a:rPr lang="en-US" sz="1200" dirty="0">
                <a:solidFill>
                  <a:srgbClr val="3C5790"/>
                </a:solidFill>
              </a:rPr>
              <a:t>, </a:t>
            </a:r>
            <a:r>
              <a:rPr lang="en-US" sz="1200" dirty="0" err="1">
                <a:solidFill>
                  <a:srgbClr val="3C5790"/>
                </a:solidFill>
              </a:rPr>
              <a:t>AgentExecutor</a:t>
            </a:r>
            <a:r>
              <a:rPr lang="en-US" sz="1200" dirty="0">
                <a:solidFill>
                  <a:srgbClr val="3C5790"/>
                </a:solidFill>
              </a:rPr>
              <a:t>, </a:t>
            </a:r>
            <a:r>
              <a:rPr lang="en-US" sz="1200" dirty="0" err="1">
                <a:solidFill>
                  <a:srgbClr val="3C5790"/>
                </a:solidFill>
              </a:rPr>
              <a:t>ChatClient</a:t>
            </a:r>
            <a:endParaRPr lang="en-US" sz="1200" dirty="0">
              <a:solidFill>
                <a:srgbClr val="3C5790"/>
              </a:solidFill>
            </a:endParaRPr>
          </a:p>
          <a:p>
            <a:r>
              <a:rPr lang="en-US" sz="1200" dirty="0">
                <a:solidFill>
                  <a:srgbClr val="3C5790"/>
                </a:solidFill>
              </a:rPr>
              <a:t>Framework auto-configures: JSON-RPC endpoints, task lifecycle, Agent Card publishing</a:t>
            </a:r>
          </a:p>
          <a:p>
            <a:r>
              <a:rPr lang="en-US" sz="1200" dirty="0">
                <a:solidFill>
                  <a:srgbClr val="3C5790"/>
                </a:solidFill>
              </a:rPr>
              <a:t>Endpoints (with context-path /a2a):</a:t>
            </a:r>
          </a:p>
          <a:p>
            <a:pPr lvl="1"/>
            <a:r>
              <a:rPr lang="en-US" sz="1200" dirty="0">
                <a:solidFill>
                  <a:srgbClr val="3C5790"/>
                </a:solidFill>
              </a:rPr>
              <a:t>POST /a2a — </a:t>
            </a:r>
            <a:r>
              <a:rPr lang="en-US" sz="1200" dirty="0" err="1">
                <a:solidFill>
                  <a:srgbClr val="3C5790"/>
                </a:solidFill>
              </a:rPr>
              <a:t>sendMessage</a:t>
            </a:r>
            <a:r>
              <a:rPr lang="en-US" sz="1200" dirty="0">
                <a:solidFill>
                  <a:srgbClr val="3C5790"/>
                </a:solidFill>
              </a:rPr>
              <a:t> (JSON-RPC)</a:t>
            </a:r>
          </a:p>
          <a:p>
            <a:pPr lvl="1"/>
            <a:r>
              <a:rPr lang="en-US" sz="1200" dirty="0">
                <a:solidFill>
                  <a:srgbClr val="3C5790"/>
                </a:solidFill>
              </a:rPr>
              <a:t>GET /a2a/card — Agent Card discovery</a:t>
            </a:r>
          </a:p>
          <a:p>
            <a:pPr lvl="1"/>
            <a:r>
              <a:rPr lang="en-US" sz="1200" dirty="0">
                <a:solidFill>
                  <a:srgbClr val="3C5790"/>
                </a:solidFill>
              </a:rPr>
              <a:t>GET /a2a/tasks/{id} — task status</a:t>
            </a:r>
            <a:endParaRPr lang="fr-CA" sz="1200" dirty="0">
              <a:solidFill>
                <a:srgbClr val="3C5790"/>
              </a:solidFill>
            </a:endParaRPr>
          </a:p>
        </p:txBody>
      </p:sp>
    </p:spTree>
    <p:extLst>
      <p:ext uri="{BB962C8B-B14F-4D97-AF65-F5344CB8AC3E}">
        <p14:creationId xmlns:p14="http://schemas.microsoft.com/office/powerpoint/2010/main" val="28792229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a:extLst>
            <a:ext uri="{FF2B5EF4-FFF2-40B4-BE49-F238E27FC236}">
              <a16:creationId xmlns:a16="http://schemas.microsoft.com/office/drawing/2014/main" id="{D3CAC4A2-4704-F085-A9BE-2DD944B24A9E}"/>
            </a:ext>
          </a:extLst>
        </p:cNvPr>
        <p:cNvGrpSpPr/>
        <p:nvPr/>
      </p:nvGrpSpPr>
      <p:grpSpPr>
        <a:xfrm>
          <a:off x="0" y="0"/>
          <a:ext cx="0" cy="0"/>
          <a:chOff x="0" y="0"/>
          <a:chExt cx="0" cy="0"/>
        </a:xfrm>
      </p:grpSpPr>
      <p:sp>
        <p:nvSpPr>
          <p:cNvPr id="4098" name="Titre 3">
            <a:extLst>
              <a:ext uri="{FF2B5EF4-FFF2-40B4-BE49-F238E27FC236}">
                <a16:creationId xmlns:a16="http://schemas.microsoft.com/office/drawing/2014/main" id="{398654CC-0944-8100-370C-E274C060E3B9}"/>
              </a:ext>
            </a:extLst>
          </p:cNvPr>
          <p:cNvSpPr>
            <a:spLocks noGrp="1"/>
          </p:cNvSpPr>
          <p:nvPr>
            <p:ph type="title"/>
          </p:nvPr>
        </p:nvSpPr>
        <p:spPr/>
        <p:txBody>
          <a:bodyPr/>
          <a:lstStyle/>
          <a:p>
            <a:r>
              <a:rPr lang="fr-CA" dirty="0" err="1">
                <a:solidFill>
                  <a:schemeClr val="bg1"/>
                </a:solidFill>
              </a:rPr>
              <a:t>Core</a:t>
            </a:r>
            <a:r>
              <a:rPr lang="fr-CA" dirty="0">
                <a:solidFill>
                  <a:schemeClr val="bg1"/>
                </a:solidFill>
              </a:rPr>
              <a:t> (</a:t>
            </a:r>
            <a:r>
              <a:rPr lang="fr-CA" dirty="0" err="1">
                <a:solidFill>
                  <a:schemeClr val="bg1"/>
                </a:solidFill>
              </a:rPr>
              <a:t>cont</a:t>
            </a:r>
            <a:r>
              <a:rPr lang="fr-CA" dirty="0">
                <a:solidFill>
                  <a:schemeClr val="bg1"/>
                </a:solidFill>
              </a:rPr>
              <a:t>.)</a:t>
            </a:r>
          </a:p>
        </p:txBody>
      </p:sp>
      <p:sp>
        <p:nvSpPr>
          <p:cNvPr id="4099" name="Espace réservé du contenu 4">
            <a:extLst>
              <a:ext uri="{FF2B5EF4-FFF2-40B4-BE49-F238E27FC236}">
                <a16:creationId xmlns:a16="http://schemas.microsoft.com/office/drawing/2014/main" id="{886963B7-4E8A-38AD-DAA3-F6B98BE4C69B}"/>
              </a:ext>
            </a:extLst>
          </p:cNvPr>
          <p:cNvSpPr>
            <a:spLocks noGrp="1"/>
          </p:cNvSpPr>
          <p:nvPr>
            <p:ph idx="1"/>
          </p:nvPr>
        </p:nvSpPr>
        <p:spPr>
          <a:xfrm>
            <a:off x="228600" y="2133600"/>
            <a:ext cx="8686800" cy="3048000"/>
          </a:xfrm>
        </p:spPr>
        <p:txBody>
          <a:bodyPr/>
          <a:lstStyle/>
          <a:p>
            <a:r>
              <a:rPr lang="en-US" sz="1200" dirty="0">
                <a:solidFill>
                  <a:srgbClr val="3C5790"/>
                </a:solidFill>
              </a:rPr>
              <a:t> &lt;dependency&gt;</a:t>
            </a:r>
          </a:p>
          <a:p>
            <a:r>
              <a:rPr lang="en-US" sz="1200" dirty="0">
                <a:solidFill>
                  <a:srgbClr val="3C5790"/>
                </a:solidFill>
              </a:rPr>
              <a:t>  &lt;</a:t>
            </a:r>
            <a:r>
              <a:rPr lang="en-US" sz="1200" dirty="0" err="1">
                <a:solidFill>
                  <a:srgbClr val="3C5790"/>
                </a:solidFill>
              </a:rPr>
              <a:t>groupId</a:t>
            </a:r>
            <a:r>
              <a:rPr lang="en-US" sz="1200" dirty="0">
                <a:solidFill>
                  <a:srgbClr val="3C5790"/>
                </a:solidFill>
              </a:rPr>
              <a:t>&gt;</a:t>
            </a:r>
            <a:r>
              <a:rPr lang="en-US" sz="1200" dirty="0" err="1">
                <a:solidFill>
                  <a:srgbClr val="3C5790"/>
                </a:solidFill>
              </a:rPr>
              <a:t>org.springaicommunity</a:t>
            </a:r>
            <a:r>
              <a:rPr lang="en-US" sz="1200" dirty="0">
                <a:solidFill>
                  <a:srgbClr val="3C5790"/>
                </a:solidFill>
              </a:rPr>
              <a:t>&lt;/</a:t>
            </a:r>
            <a:r>
              <a:rPr lang="en-US" sz="1200" dirty="0" err="1">
                <a:solidFill>
                  <a:srgbClr val="3C5790"/>
                </a:solidFill>
              </a:rPr>
              <a:t>groupId</a:t>
            </a:r>
            <a:r>
              <a:rPr lang="en-US" sz="1200" dirty="0">
                <a:solidFill>
                  <a:srgbClr val="3C5790"/>
                </a:solidFill>
              </a:rPr>
              <a:t>&gt;</a:t>
            </a:r>
          </a:p>
          <a:p>
            <a:r>
              <a:rPr lang="en-US" sz="1200" dirty="0">
                <a:solidFill>
                  <a:srgbClr val="3C5790"/>
                </a:solidFill>
              </a:rPr>
              <a:t>  &lt;</a:t>
            </a:r>
            <a:r>
              <a:rPr lang="en-US" sz="1200" dirty="0" err="1">
                <a:solidFill>
                  <a:srgbClr val="3C5790"/>
                </a:solidFill>
              </a:rPr>
              <a:t>artifactId</a:t>
            </a:r>
            <a:r>
              <a:rPr lang="en-US" sz="1200" dirty="0">
                <a:solidFill>
                  <a:srgbClr val="3C5790"/>
                </a:solidFill>
              </a:rPr>
              <a:t>&gt;spring-ai-a2a-server-autoconfigure&lt;/</a:t>
            </a:r>
            <a:r>
              <a:rPr lang="en-US" sz="1200" dirty="0" err="1">
                <a:solidFill>
                  <a:srgbClr val="3C5790"/>
                </a:solidFill>
              </a:rPr>
              <a:t>artifactId</a:t>
            </a:r>
            <a:r>
              <a:rPr lang="en-US" sz="1200" dirty="0">
                <a:solidFill>
                  <a:srgbClr val="3C5790"/>
                </a:solidFill>
              </a:rPr>
              <a:t>&gt;</a:t>
            </a:r>
          </a:p>
          <a:p>
            <a:r>
              <a:rPr lang="en-US" sz="1200" dirty="0">
                <a:solidFill>
                  <a:srgbClr val="3C5790"/>
                </a:solidFill>
              </a:rPr>
              <a:t>  &lt;version&gt;0.3.0&lt;/version&gt;</a:t>
            </a:r>
          </a:p>
          <a:p>
            <a:r>
              <a:rPr lang="en-US" sz="1200" dirty="0">
                <a:solidFill>
                  <a:srgbClr val="3C5790"/>
                </a:solidFill>
              </a:rPr>
              <a:t>&lt;/dependency&gt;</a:t>
            </a:r>
          </a:p>
          <a:p>
            <a:endParaRPr lang="en-US" sz="1200" dirty="0">
              <a:solidFill>
                <a:srgbClr val="3C5790"/>
              </a:solidFill>
            </a:endParaRPr>
          </a:p>
          <a:p>
            <a:r>
              <a:rPr lang="en-US" sz="1200" dirty="0">
                <a:solidFill>
                  <a:srgbClr val="3C5790"/>
                </a:solidFill>
              </a:rPr>
              <a:t>&lt;dependency&gt;</a:t>
            </a:r>
          </a:p>
          <a:p>
            <a:r>
              <a:rPr lang="en-US" sz="1200" dirty="0">
                <a:solidFill>
                  <a:srgbClr val="3C5790"/>
                </a:solidFill>
              </a:rPr>
              <a:t>  &lt;</a:t>
            </a:r>
            <a:r>
              <a:rPr lang="en-US" sz="1200" dirty="0" err="1">
                <a:solidFill>
                  <a:srgbClr val="3C5790"/>
                </a:solidFill>
              </a:rPr>
              <a:t>groupId</a:t>
            </a:r>
            <a:r>
              <a:rPr lang="en-US" sz="1200" dirty="0">
                <a:solidFill>
                  <a:srgbClr val="3C5790"/>
                </a:solidFill>
              </a:rPr>
              <a:t>&gt;org.springframework.ai&lt;/</a:t>
            </a:r>
            <a:r>
              <a:rPr lang="en-US" sz="1200" dirty="0" err="1">
                <a:solidFill>
                  <a:srgbClr val="3C5790"/>
                </a:solidFill>
              </a:rPr>
              <a:t>groupId</a:t>
            </a:r>
            <a:r>
              <a:rPr lang="en-US" sz="1200" dirty="0">
                <a:solidFill>
                  <a:srgbClr val="3C5790"/>
                </a:solidFill>
              </a:rPr>
              <a:t>&gt;</a:t>
            </a:r>
          </a:p>
          <a:p>
            <a:r>
              <a:rPr lang="en-US" sz="1200" dirty="0">
                <a:solidFill>
                  <a:srgbClr val="3C5790"/>
                </a:solidFill>
              </a:rPr>
              <a:t>  &lt;</a:t>
            </a:r>
            <a:r>
              <a:rPr lang="en-US" sz="1200" dirty="0" err="1">
                <a:solidFill>
                  <a:srgbClr val="3C5790"/>
                </a:solidFill>
              </a:rPr>
              <a:t>artifactId</a:t>
            </a:r>
            <a:r>
              <a:rPr lang="en-US" sz="1200" dirty="0">
                <a:solidFill>
                  <a:srgbClr val="3C5790"/>
                </a:solidFill>
              </a:rPr>
              <a:t>&gt;spring-ai-starter-model-</a:t>
            </a:r>
            <a:r>
              <a:rPr lang="en-US" sz="1200" dirty="0" err="1">
                <a:solidFill>
                  <a:srgbClr val="3C5790"/>
                </a:solidFill>
              </a:rPr>
              <a:t>openai</a:t>
            </a:r>
            <a:r>
              <a:rPr lang="en-US" sz="1200" dirty="0">
                <a:solidFill>
                  <a:srgbClr val="3C5790"/>
                </a:solidFill>
              </a:rPr>
              <a:t>&lt;/</a:t>
            </a:r>
            <a:r>
              <a:rPr lang="en-US" sz="1200" dirty="0" err="1">
                <a:solidFill>
                  <a:srgbClr val="3C5790"/>
                </a:solidFill>
              </a:rPr>
              <a:t>artifactId</a:t>
            </a:r>
            <a:r>
              <a:rPr lang="en-US" sz="1200" dirty="0">
                <a:solidFill>
                  <a:srgbClr val="3C5790"/>
                </a:solidFill>
              </a:rPr>
              <a:t>&gt;</a:t>
            </a:r>
          </a:p>
          <a:p>
            <a:r>
              <a:rPr lang="en-US" sz="1200" dirty="0">
                <a:solidFill>
                  <a:srgbClr val="3C5790"/>
                </a:solidFill>
              </a:rPr>
              <a:t>  &lt;!-- Spring AI 2.0.0-M2+ with Spring Boot 4.0 --&gt;</a:t>
            </a:r>
          </a:p>
          <a:p>
            <a:r>
              <a:rPr lang="en-US" sz="1200" dirty="0">
                <a:solidFill>
                  <a:srgbClr val="3C5790"/>
                </a:solidFill>
              </a:rPr>
              <a:t>&lt;/dependency&gt;</a:t>
            </a:r>
          </a:p>
          <a:p>
            <a:endParaRPr lang="en-US" sz="1200" dirty="0">
              <a:solidFill>
                <a:srgbClr val="3C5790"/>
              </a:solidFill>
            </a:endParaRPr>
          </a:p>
          <a:p>
            <a:r>
              <a:rPr lang="en-US" sz="1200" dirty="0">
                <a:solidFill>
                  <a:srgbClr val="3C5790"/>
                </a:solidFill>
              </a:rPr>
              <a:t>Requirements: Java 17+, Maven 3.8+, OPENAI_API_KEY (or other model provider)</a:t>
            </a:r>
            <a:endParaRPr lang="fr-CA" sz="1200" dirty="0">
              <a:solidFill>
                <a:srgbClr val="3C5790"/>
              </a:solidFill>
            </a:endParaRPr>
          </a:p>
        </p:txBody>
      </p:sp>
    </p:spTree>
    <p:extLst>
      <p:ext uri="{BB962C8B-B14F-4D97-AF65-F5344CB8AC3E}">
        <p14:creationId xmlns:p14="http://schemas.microsoft.com/office/powerpoint/2010/main" val="2716658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a:extLst>
            <a:ext uri="{FF2B5EF4-FFF2-40B4-BE49-F238E27FC236}">
              <a16:creationId xmlns:a16="http://schemas.microsoft.com/office/drawing/2014/main" id="{56694783-9B9E-6658-087A-BD80E671755A}"/>
            </a:ext>
          </a:extLst>
        </p:cNvPr>
        <p:cNvGrpSpPr/>
        <p:nvPr/>
      </p:nvGrpSpPr>
      <p:grpSpPr>
        <a:xfrm>
          <a:off x="0" y="0"/>
          <a:ext cx="0" cy="0"/>
          <a:chOff x="0" y="0"/>
          <a:chExt cx="0" cy="0"/>
        </a:xfrm>
      </p:grpSpPr>
      <p:sp>
        <p:nvSpPr>
          <p:cNvPr id="4098" name="Titre 3">
            <a:extLst>
              <a:ext uri="{FF2B5EF4-FFF2-40B4-BE49-F238E27FC236}">
                <a16:creationId xmlns:a16="http://schemas.microsoft.com/office/drawing/2014/main" id="{8741554F-06C9-5163-FD37-65A0AB28212D}"/>
              </a:ext>
            </a:extLst>
          </p:cNvPr>
          <p:cNvSpPr>
            <a:spLocks noGrp="1"/>
          </p:cNvSpPr>
          <p:nvPr>
            <p:ph type="title"/>
          </p:nvPr>
        </p:nvSpPr>
        <p:spPr/>
        <p:txBody>
          <a:bodyPr/>
          <a:lstStyle/>
          <a:p>
            <a:r>
              <a:rPr lang="fr-CA" dirty="0" err="1">
                <a:solidFill>
                  <a:schemeClr val="bg1"/>
                </a:solidFill>
              </a:rPr>
              <a:t>Core</a:t>
            </a:r>
            <a:r>
              <a:rPr lang="fr-CA" dirty="0">
                <a:solidFill>
                  <a:schemeClr val="bg1"/>
                </a:solidFill>
              </a:rPr>
              <a:t> (</a:t>
            </a:r>
            <a:r>
              <a:rPr lang="fr-CA" dirty="0" err="1">
                <a:solidFill>
                  <a:schemeClr val="bg1"/>
                </a:solidFill>
              </a:rPr>
              <a:t>cont</a:t>
            </a:r>
            <a:r>
              <a:rPr lang="fr-CA" dirty="0">
                <a:solidFill>
                  <a:schemeClr val="bg1"/>
                </a:solidFill>
              </a:rPr>
              <a:t>.)</a:t>
            </a:r>
          </a:p>
        </p:txBody>
      </p:sp>
      <p:sp>
        <p:nvSpPr>
          <p:cNvPr id="4099" name="Espace réservé du contenu 4">
            <a:extLst>
              <a:ext uri="{FF2B5EF4-FFF2-40B4-BE49-F238E27FC236}">
                <a16:creationId xmlns:a16="http://schemas.microsoft.com/office/drawing/2014/main" id="{8FCB2C66-C56A-2485-2CB7-86AAF6ACBFC9}"/>
              </a:ext>
            </a:extLst>
          </p:cNvPr>
          <p:cNvSpPr>
            <a:spLocks noGrp="1"/>
          </p:cNvSpPr>
          <p:nvPr>
            <p:ph idx="1"/>
          </p:nvPr>
        </p:nvSpPr>
        <p:spPr>
          <a:xfrm>
            <a:off x="228600" y="1905000"/>
            <a:ext cx="8686800" cy="4678362"/>
          </a:xfrm>
        </p:spPr>
        <p:txBody>
          <a:bodyPr/>
          <a:lstStyle/>
          <a:p>
            <a:r>
              <a:rPr lang="en-US" sz="1000" b="1" dirty="0" err="1">
                <a:solidFill>
                  <a:srgbClr val="3C5790"/>
                </a:solidFill>
              </a:rPr>
              <a:t>AgentCard</a:t>
            </a:r>
            <a:r>
              <a:rPr lang="en-US" sz="1000" b="1" dirty="0">
                <a:solidFill>
                  <a:srgbClr val="3C5790"/>
                </a:solidFill>
              </a:rPr>
              <a:t> + </a:t>
            </a:r>
            <a:r>
              <a:rPr lang="en-US" sz="1000" b="1" dirty="0" err="1">
                <a:solidFill>
                  <a:srgbClr val="3C5790"/>
                </a:solidFill>
              </a:rPr>
              <a:t>AgentExecutor</a:t>
            </a:r>
            <a:endParaRPr lang="en-US" sz="1000" b="1" dirty="0">
              <a:solidFill>
                <a:srgbClr val="3C5790"/>
              </a:solidFill>
            </a:endParaRPr>
          </a:p>
          <a:p>
            <a:r>
              <a:rPr lang="en-US" sz="1000" dirty="0">
                <a:solidFill>
                  <a:srgbClr val="3C5790"/>
                </a:solidFill>
              </a:rPr>
              <a:t>@Bean</a:t>
            </a:r>
          </a:p>
          <a:p>
            <a:r>
              <a:rPr lang="en-US" sz="1000" dirty="0">
                <a:solidFill>
                  <a:srgbClr val="3C5790"/>
                </a:solidFill>
              </a:rPr>
              <a:t>public </a:t>
            </a:r>
            <a:r>
              <a:rPr lang="en-US" sz="1000" dirty="0" err="1">
                <a:solidFill>
                  <a:srgbClr val="3C5790"/>
                </a:solidFill>
              </a:rPr>
              <a:t>AgentCard</a:t>
            </a:r>
            <a:r>
              <a:rPr lang="en-US" sz="1000" dirty="0">
                <a:solidFill>
                  <a:srgbClr val="3C5790"/>
                </a:solidFill>
              </a:rPr>
              <a:t> </a:t>
            </a:r>
            <a:r>
              <a:rPr lang="en-US" sz="1000" dirty="0" err="1">
                <a:solidFill>
                  <a:srgbClr val="3C5790"/>
                </a:solidFill>
              </a:rPr>
              <a:t>agentCard</a:t>
            </a:r>
            <a:r>
              <a:rPr lang="en-US" sz="1000" dirty="0">
                <a:solidFill>
                  <a:srgbClr val="3C5790"/>
                </a:solidFill>
              </a:rPr>
              <a:t>(@Value("${server.port:8080}") int port) {</a:t>
            </a:r>
          </a:p>
          <a:p>
            <a:r>
              <a:rPr lang="en-US" sz="1000" dirty="0">
                <a:solidFill>
                  <a:srgbClr val="3C5790"/>
                </a:solidFill>
              </a:rPr>
              <a:t>    return new </a:t>
            </a:r>
            <a:r>
              <a:rPr lang="en-US" sz="1000" dirty="0" err="1">
                <a:solidFill>
                  <a:srgbClr val="3C5790"/>
                </a:solidFill>
              </a:rPr>
              <a:t>AgentCard.Builder</a:t>
            </a:r>
            <a:r>
              <a:rPr lang="en-US" sz="1000" dirty="0">
                <a:solidFill>
                  <a:srgbClr val="3C5790"/>
                </a:solidFill>
              </a:rPr>
              <a:t>()</a:t>
            </a:r>
          </a:p>
          <a:p>
            <a:r>
              <a:rPr lang="en-US" sz="1000" dirty="0">
                <a:solidFill>
                  <a:srgbClr val="3C5790"/>
                </a:solidFill>
              </a:rPr>
              <a:t>        .name("Weather Agent")</a:t>
            </a:r>
          </a:p>
          <a:p>
            <a:r>
              <a:rPr lang="en-US" sz="1000" dirty="0">
                <a:solidFill>
                  <a:srgbClr val="3C5790"/>
                </a:solidFill>
              </a:rPr>
              <a:t>        .description("Provides weather forecasts")</a:t>
            </a:r>
          </a:p>
          <a:p>
            <a:r>
              <a:rPr lang="en-US" sz="1000" dirty="0">
                <a:solidFill>
                  <a:srgbClr val="3C5790"/>
                </a:solidFill>
              </a:rPr>
              <a:t>        .</a:t>
            </a:r>
            <a:r>
              <a:rPr lang="en-US" sz="1000" dirty="0" err="1">
                <a:solidFill>
                  <a:srgbClr val="3C5790"/>
                </a:solidFill>
              </a:rPr>
              <a:t>url</a:t>
            </a:r>
            <a:r>
              <a:rPr lang="en-US" sz="1000" dirty="0">
                <a:solidFill>
                  <a:srgbClr val="3C5790"/>
                </a:solidFill>
              </a:rPr>
              <a:t>("http://localhost:" + port + "/a2a/")</a:t>
            </a:r>
          </a:p>
          <a:p>
            <a:r>
              <a:rPr lang="en-US" sz="1000" dirty="0">
                <a:solidFill>
                  <a:srgbClr val="3C5790"/>
                </a:solidFill>
              </a:rPr>
              <a:t>        .</a:t>
            </a:r>
            <a:r>
              <a:rPr lang="en-US" sz="1000" dirty="0" err="1">
                <a:solidFill>
                  <a:srgbClr val="3C5790"/>
                </a:solidFill>
              </a:rPr>
              <a:t>protocolVersion</a:t>
            </a:r>
            <a:r>
              <a:rPr lang="en-US" sz="1000" dirty="0">
                <a:solidFill>
                  <a:srgbClr val="3C5790"/>
                </a:solidFill>
              </a:rPr>
              <a:t>("1.0")</a:t>
            </a:r>
          </a:p>
          <a:p>
            <a:r>
              <a:rPr lang="en-US" sz="1000" dirty="0">
                <a:solidFill>
                  <a:srgbClr val="3C5790"/>
                </a:solidFill>
              </a:rPr>
              <a:t>        .capabilities(new </a:t>
            </a:r>
            <a:r>
              <a:rPr lang="en-US" sz="1000" dirty="0" err="1">
                <a:solidFill>
                  <a:srgbClr val="3C5790"/>
                </a:solidFill>
              </a:rPr>
              <a:t>AgentCapabilities.Builder</a:t>
            </a:r>
            <a:r>
              <a:rPr lang="en-US" sz="1000" dirty="0">
                <a:solidFill>
                  <a:srgbClr val="3C5790"/>
                </a:solidFill>
              </a:rPr>
              <a:t>()</a:t>
            </a:r>
          </a:p>
          <a:p>
            <a:r>
              <a:rPr lang="en-US" sz="1000" dirty="0">
                <a:solidFill>
                  <a:srgbClr val="3C5790"/>
                </a:solidFill>
              </a:rPr>
              <a:t>            .streaming(false).build())</a:t>
            </a:r>
          </a:p>
          <a:p>
            <a:r>
              <a:rPr lang="en-US" sz="1000" dirty="0">
                <a:solidFill>
                  <a:srgbClr val="3C5790"/>
                </a:solidFill>
              </a:rPr>
              <a:t>        .skills(</a:t>
            </a:r>
            <a:r>
              <a:rPr lang="en-US" sz="1000" dirty="0" err="1">
                <a:solidFill>
                  <a:srgbClr val="3C5790"/>
                </a:solidFill>
              </a:rPr>
              <a:t>List.of</a:t>
            </a:r>
            <a:r>
              <a:rPr lang="en-US" sz="1000" dirty="0">
                <a:solidFill>
                  <a:srgbClr val="3C5790"/>
                </a:solidFill>
              </a:rPr>
              <a:t>(new </a:t>
            </a:r>
            <a:r>
              <a:rPr lang="en-US" sz="1000" dirty="0" err="1">
                <a:solidFill>
                  <a:srgbClr val="3C5790"/>
                </a:solidFill>
              </a:rPr>
              <a:t>AgentSkill.Builder</a:t>
            </a:r>
            <a:r>
              <a:rPr lang="en-US" sz="1000" dirty="0">
                <a:solidFill>
                  <a:srgbClr val="3C5790"/>
                </a:solidFill>
              </a:rPr>
              <a:t>()</a:t>
            </a:r>
          </a:p>
          <a:p>
            <a:r>
              <a:rPr lang="en-US" sz="1000" dirty="0">
                <a:solidFill>
                  <a:srgbClr val="3C5790"/>
                </a:solidFill>
              </a:rPr>
              <a:t>            .id("</a:t>
            </a:r>
            <a:r>
              <a:rPr lang="en-US" sz="1000" dirty="0" err="1">
                <a:solidFill>
                  <a:srgbClr val="3C5790"/>
                </a:solidFill>
              </a:rPr>
              <a:t>weather_search</a:t>
            </a:r>
            <a:r>
              <a:rPr lang="en-US" sz="1000" dirty="0">
                <a:solidFill>
                  <a:srgbClr val="3C5790"/>
                </a:solidFill>
              </a:rPr>
              <a:t>").name("Weather Search")</a:t>
            </a:r>
          </a:p>
          <a:p>
            <a:r>
              <a:rPr lang="en-US" sz="1000" dirty="0">
                <a:solidFill>
                  <a:srgbClr val="3C5790"/>
                </a:solidFill>
              </a:rPr>
              <a:t>            .description("Current weather and forecasts").build()))</a:t>
            </a:r>
          </a:p>
          <a:p>
            <a:r>
              <a:rPr lang="en-US" sz="1000" dirty="0">
                <a:solidFill>
                  <a:srgbClr val="3C5790"/>
                </a:solidFill>
              </a:rPr>
              <a:t>        .build();</a:t>
            </a:r>
          </a:p>
          <a:p>
            <a:r>
              <a:rPr lang="en-US" sz="1000" dirty="0">
                <a:solidFill>
                  <a:srgbClr val="3C5790"/>
                </a:solidFill>
              </a:rPr>
              <a:t>}</a:t>
            </a:r>
          </a:p>
          <a:p>
            <a:endParaRPr lang="en-US" sz="1000" dirty="0">
              <a:solidFill>
                <a:srgbClr val="3C5790"/>
              </a:solidFill>
            </a:endParaRPr>
          </a:p>
          <a:p>
            <a:r>
              <a:rPr lang="en-US" sz="1000" dirty="0">
                <a:solidFill>
                  <a:srgbClr val="3C5790"/>
                </a:solidFill>
              </a:rPr>
              <a:t>@Bean</a:t>
            </a:r>
          </a:p>
          <a:p>
            <a:r>
              <a:rPr lang="en-US" sz="1000" dirty="0">
                <a:solidFill>
                  <a:srgbClr val="3C5790"/>
                </a:solidFill>
              </a:rPr>
              <a:t>public </a:t>
            </a:r>
            <a:r>
              <a:rPr lang="en-US" sz="1000" dirty="0" err="1">
                <a:solidFill>
                  <a:srgbClr val="3C5790"/>
                </a:solidFill>
              </a:rPr>
              <a:t>AgentExecutor</a:t>
            </a:r>
            <a:r>
              <a:rPr lang="en-US" sz="1000" dirty="0">
                <a:solidFill>
                  <a:srgbClr val="3C5790"/>
                </a:solidFill>
              </a:rPr>
              <a:t> </a:t>
            </a:r>
            <a:r>
              <a:rPr lang="en-US" sz="1000" dirty="0" err="1">
                <a:solidFill>
                  <a:srgbClr val="3C5790"/>
                </a:solidFill>
              </a:rPr>
              <a:t>agentExecutor</a:t>
            </a:r>
            <a:r>
              <a:rPr lang="en-US" sz="1000" dirty="0">
                <a:solidFill>
                  <a:srgbClr val="3C5790"/>
                </a:solidFill>
              </a:rPr>
              <a:t>(</a:t>
            </a:r>
            <a:r>
              <a:rPr lang="en-US" sz="1000" dirty="0" err="1">
                <a:solidFill>
                  <a:srgbClr val="3C5790"/>
                </a:solidFill>
              </a:rPr>
              <a:t>ChatClient.Builder</a:t>
            </a:r>
            <a:r>
              <a:rPr lang="en-US" sz="1000" dirty="0">
                <a:solidFill>
                  <a:srgbClr val="3C5790"/>
                </a:solidFill>
              </a:rPr>
              <a:t> builder, </a:t>
            </a:r>
            <a:r>
              <a:rPr lang="en-US" sz="1000" dirty="0" err="1">
                <a:solidFill>
                  <a:srgbClr val="3C5790"/>
                </a:solidFill>
              </a:rPr>
              <a:t>WeatherTools</a:t>
            </a:r>
            <a:r>
              <a:rPr lang="en-US" sz="1000" dirty="0">
                <a:solidFill>
                  <a:srgbClr val="3C5790"/>
                </a:solidFill>
              </a:rPr>
              <a:t> tools) {</a:t>
            </a:r>
          </a:p>
          <a:p>
            <a:r>
              <a:rPr lang="en-US" sz="1000" dirty="0">
                <a:solidFill>
                  <a:srgbClr val="3C5790"/>
                </a:solidFill>
              </a:rPr>
              <a:t>    </a:t>
            </a:r>
            <a:r>
              <a:rPr lang="en-US" sz="1000" dirty="0" err="1">
                <a:solidFill>
                  <a:srgbClr val="3C5790"/>
                </a:solidFill>
              </a:rPr>
              <a:t>ChatClient</a:t>
            </a:r>
            <a:r>
              <a:rPr lang="en-US" sz="1000" dirty="0">
                <a:solidFill>
                  <a:srgbClr val="3C5790"/>
                </a:solidFill>
              </a:rPr>
              <a:t> chat = </a:t>
            </a:r>
            <a:r>
              <a:rPr lang="en-US" sz="1000" dirty="0" err="1">
                <a:solidFill>
                  <a:srgbClr val="3C5790"/>
                </a:solidFill>
              </a:rPr>
              <a:t>builder.clone</a:t>
            </a:r>
            <a:r>
              <a:rPr lang="en-US" sz="1000" dirty="0">
                <a:solidFill>
                  <a:srgbClr val="3C5790"/>
                </a:solidFill>
              </a:rPr>
              <a:t>()</a:t>
            </a:r>
          </a:p>
          <a:p>
            <a:r>
              <a:rPr lang="en-US" sz="1000" dirty="0">
                <a:solidFill>
                  <a:srgbClr val="3C5790"/>
                </a:solidFill>
              </a:rPr>
              <a:t>        .</a:t>
            </a:r>
            <a:r>
              <a:rPr lang="en-US" sz="1000" dirty="0" err="1">
                <a:solidFill>
                  <a:srgbClr val="3C5790"/>
                </a:solidFill>
              </a:rPr>
              <a:t>defaultSystem</a:t>
            </a:r>
            <a:r>
              <a:rPr lang="en-US" sz="1000" dirty="0">
                <a:solidFill>
                  <a:srgbClr val="3C5790"/>
                </a:solidFill>
              </a:rPr>
              <a:t>("You are a weather assistant.")</a:t>
            </a:r>
          </a:p>
          <a:p>
            <a:r>
              <a:rPr lang="en-US" sz="1000" dirty="0">
                <a:solidFill>
                  <a:srgbClr val="3C5790"/>
                </a:solidFill>
              </a:rPr>
              <a:t>        .</a:t>
            </a:r>
            <a:r>
              <a:rPr lang="en-US" sz="1000" dirty="0" err="1">
                <a:solidFill>
                  <a:srgbClr val="3C5790"/>
                </a:solidFill>
              </a:rPr>
              <a:t>defaultTools</a:t>
            </a:r>
            <a:r>
              <a:rPr lang="en-US" sz="1000" dirty="0">
                <a:solidFill>
                  <a:srgbClr val="3C5790"/>
                </a:solidFill>
              </a:rPr>
              <a:t>(tools).build();</a:t>
            </a:r>
          </a:p>
          <a:p>
            <a:r>
              <a:rPr lang="en-US" sz="1000" dirty="0">
                <a:solidFill>
                  <a:srgbClr val="3C5790"/>
                </a:solidFill>
              </a:rPr>
              <a:t>    return new </a:t>
            </a:r>
            <a:r>
              <a:rPr lang="en-US" sz="1000" dirty="0" err="1">
                <a:solidFill>
                  <a:srgbClr val="3C5790"/>
                </a:solidFill>
              </a:rPr>
              <a:t>DefaultAgentExecutor</a:t>
            </a:r>
            <a:r>
              <a:rPr lang="en-US" sz="1000" dirty="0">
                <a:solidFill>
                  <a:srgbClr val="3C5790"/>
                </a:solidFill>
              </a:rPr>
              <a:t>(chat, (c, </a:t>
            </a:r>
            <a:r>
              <a:rPr lang="en-US" sz="1000" dirty="0" err="1">
                <a:solidFill>
                  <a:srgbClr val="3C5790"/>
                </a:solidFill>
              </a:rPr>
              <a:t>ctx</a:t>
            </a:r>
            <a:r>
              <a:rPr lang="en-US" sz="1000" dirty="0">
                <a:solidFill>
                  <a:srgbClr val="3C5790"/>
                </a:solidFill>
              </a:rPr>
              <a:t>) -&gt;</a:t>
            </a:r>
          </a:p>
          <a:p>
            <a:r>
              <a:rPr lang="en-US" sz="1000" dirty="0">
                <a:solidFill>
                  <a:srgbClr val="3C5790"/>
                </a:solidFill>
              </a:rPr>
              <a:t>        </a:t>
            </a:r>
            <a:r>
              <a:rPr lang="en-US" sz="1000" dirty="0" err="1">
                <a:solidFill>
                  <a:srgbClr val="3C5790"/>
                </a:solidFill>
              </a:rPr>
              <a:t>c.prompt</a:t>
            </a:r>
            <a:r>
              <a:rPr lang="en-US" sz="1000" dirty="0">
                <a:solidFill>
                  <a:srgbClr val="3C5790"/>
                </a:solidFill>
              </a:rPr>
              <a:t>().user(</a:t>
            </a:r>
            <a:r>
              <a:rPr lang="en-US" sz="1000" dirty="0" err="1">
                <a:solidFill>
                  <a:srgbClr val="3C5790"/>
                </a:solidFill>
              </a:rPr>
              <a:t>DefaultAgentExecutor</a:t>
            </a:r>
            <a:endParaRPr lang="en-US" sz="1000" dirty="0">
              <a:solidFill>
                <a:srgbClr val="3C5790"/>
              </a:solidFill>
            </a:endParaRPr>
          </a:p>
          <a:p>
            <a:r>
              <a:rPr lang="en-US" sz="1000" dirty="0">
                <a:solidFill>
                  <a:srgbClr val="3C5790"/>
                </a:solidFill>
              </a:rPr>
              <a:t>            .</a:t>
            </a:r>
            <a:r>
              <a:rPr lang="en-US" sz="1000" dirty="0" err="1">
                <a:solidFill>
                  <a:srgbClr val="3C5790"/>
                </a:solidFill>
              </a:rPr>
              <a:t>extractTextFromMessage</a:t>
            </a:r>
            <a:r>
              <a:rPr lang="en-US" sz="1000" dirty="0">
                <a:solidFill>
                  <a:srgbClr val="3C5790"/>
                </a:solidFill>
              </a:rPr>
              <a:t>(</a:t>
            </a:r>
            <a:r>
              <a:rPr lang="en-US" sz="1000" dirty="0" err="1">
                <a:solidFill>
                  <a:srgbClr val="3C5790"/>
                </a:solidFill>
              </a:rPr>
              <a:t>ctx.getMessage</a:t>
            </a:r>
            <a:r>
              <a:rPr lang="en-US" sz="1000" dirty="0">
                <a:solidFill>
                  <a:srgbClr val="3C5790"/>
                </a:solidFill>
              </a:rPr>
              <a:t>())).call().content());</a:t>
            </a:r>
          </a:p>
          <a:p>
            <a:r>
              <a:rPr lang="en-US" sz="1000" dirty="0">
                <a:solidFill>
                  <a:srgbClr val="3C5790"/>
                </a:solidFill>
              </a:rPr>
              <a:t>}</a:t>
            </a:r>
            <a:endParaRPr lang="fr-CA" sz="1000" dirty="0">
              <a:solidFill>
                <a:srgbClr val="3C5790"/>
              </a:solidFill>
            </a:endParaRPr>
          </a:p>
        </p:txBody>
      </p:sp>
    </p:spTree>
    <p:extLst>
      <p:ext uri="{BB962C8B-B14F-4D97-AF65-F5344CB8AC3E}">
        <p14:creationId xmlns:p14="http://schemas.microsoft.com/office/powerpoint/2010/main" val="1468440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a:extLst>
            <a:ext uri="{FF2B5EF4-FFF2-40B4-BE49-F238E27FC236}">
              <a16:creationId xmlns:a16="http://schemas.microsoft.com/office/drawing/2014/main" id="{BDF0DDE5-CD38-5F66-5A21-931B86C91B99}"/>
            </a:ext>
          </a:extLst>
        </p:cNvPr>
        <p:cNvGrpSpPr/>
        <p:nvPr/>
      </p:nvGrpSpPr>
      <p:grpSpPr>
        <a:xfrm>
          <a:off x="0" y="0"/>
          <a:ext cx="0" cy="0"/>
          <a:chOff x="0" y="0"/>
          <a:chExt cx="0" cy="0"/>
        </a:xfrm>
      </p:grpSpPr>
      <p:sp>
        <p:nvSpPr>
          <p:cNvPr id="4098" name="Titre 3">
            <a:extLst>
              <a:ext uri="{FF2B5EF4-FFF2-40B4-BE49-F238E27FC236}">
                <a16:creationId xmlns:a16="http://schemas.microsoft.com/office/drawing/2014/main" id="{4A4231FD-E517-207E-A21D-4C1B94F3B1D6}"/>
              </a:ext>
            </a:extLst>
          </p:cNvPr>
          <p:cNvSpPr>
            <a:spLocks noGrp="1"/>
          </p:cNvSpPr>
          <p:nvPr>
            <p:ph type="title"/>
          </p:nvPr>
        </p:nvSpPr>
        <p:spPr/>
        <p:txBody>
          <a:bodyPr/>
          <a:lstStyle/>
          <a:p>
            <a:r>
              <a:rPr lang="fr-CA" dirty="0" err="1">
                <a:solidFill>
                  <a:schemeClr val="bg1"/>
                </a:solidFill>
              </a:rPr>
              <a:t>Core</a:t>
            </a:r>
            <a:r>
              <a:rPr lang="fr-CA" dirty="0">
                <a:solidFill>
                  <a:schemeClr val="bg1"/>
                </a:solidFill>
              </a:rPr>
              <a:t> (</a:t>
            </a:r>
            <a:r>
              <a:rPr lang="fr-CA" dirty="0" err="1">
                <a:solidFill>
                  <a:schemeClr val="bg1"/>
                </a:solidFill>
              </a:rPr>
              <a:t>cont</a:t>
            </a:r>
            <a:r>
              <a:rPr lang="fr-CA" dirty="0">
                <a:solidFill>
                  <a:schemeClr val="bg1"/>
                </a:solidFill>
              </a:rPr>
              <a:t>.)</a:t>
            </a:r>
          </a:p>
        </p:txBody>
      </p:sp>
      <p:sp>
        <p:nvSpPr>
          <p:cNvPr id="4099" name="Espace réservé du contenu 4">
            <a:extLst>
              <a:ext uri="{FF2B5EF4-FFF2-40B4-BE49-F238E27FC236}">
                <a16:creationId xmlns:a16="http://schemas.microsoft.com/office/drawing/2014/main" id="{F5032F70-2F5F-44C9-CCCF-200C55625D8B}"/>
              </a:ext>
            </a:extLst>
          </p:cNvPr>
          <p:cNvSpPr>
            <a:spLocks noGrp="1"/>
          </p:cNvSpPr>
          <p:nvPr>
            <p:ph idx="1"/>
          </p:nvPr>
        </p:nvSpPr>
        <p:spPr>
          <a:xfrm>
            <a:off x="228600" y="1981200"/>
            <a:ext cx="8686800" cy="4449762"/>
          </a:xfrm>
        </p:spPr>
        <p:txBody>
          <a:bodyPr/>
          <a:lstStyle/>
          <a:p>
            <a:r>
              <a:rPr lang="en-US" sz="1000" b="1" dirty="0">
                <a:solidFill>
                  <a:srgbClr val="3C5790"/>
                </a:solidFill>
              </a:rPr>
              <a:t>@Tool and </a:t>
            </a:r>
            <a:r>
              <a:rPr lang="en-US" sz="1000" b="1" dirty="0" err="1">
                <a:solidFill>
                  <a:srgbClr val="3C5790"/>
                </a:solidFill>
              </a:rPr>
              <a:t>application.yml</a:t>
            </a:r>
            <a:endParaRPr lang="en-US" sz="1000" b="1" dirty="0">
              <a:solidFill>
                <a:srgbClr val="3C5790"/>
              </a:solidFill>
            </a:endParaRPr>
          </a:p>
          <a:p>
            <a:r>
              <a:rPr lang="en-US" sz="1000" dirty="0">
                <a:solidFill>
                  <a:srgbClr val="3C5790"/>
                </a:solidFill>
              </a:rPr>
              <a:t>@Service</a:t>
            </a:r>
          </a:p>
          <a:p>
            <a:r>
              <a:rPr lang="en-US" sz="1000" dirty="0">
                <a:solidFill>
                  <a:srgbClr val="3C5790"/>
                </a:solidFill>
              </a:rPr>
              <a:t>public class </a:t>
            </a:r>
            <a:r>
              <a:rPr lang="en-US" sz="1000" dirty="0" err="1">
                <a:solidFill>
                  <a:srgbClr val="3C5790"/>
                </a:solidFill>
              </a:rPr>
              <a:t>WeatherTools</a:t>
            </a:r>
            <a:r>
              <a:rPr lang="en-US" sz="1000" dirty="0">
                <a:solidFill>
                  <a:srgbClr val="3C5790"/>
                </a:solidFill>
              </a:rPr>
              <a:t> {</a:t>
            </a:r>
          </a:p>
          <a:p>
            <a:r>
              <a:rPr lang="en-US" sz="1000" dirty="0">
                <a:solidFill>
                  <a:srgbClr val="3C5790"/>
                </a:solidFill>
              </a:rPr>
              <a:t>    @Tool(description = "Get current weather for a location")</a:t>
            </a:r>
          </a:p>
          <a:p>
            <a:r>
              <a:rPr lang="en-US" sz="1000" dirty="0">
                <a:solidFill>
                  <a:srgbClr val="3C5790"/>
                </a:solidFill>
              </a:rPr>
              <a:t>    public String </a:t>
            </a:r>
            <a:r>
              <a:rPr lang="en-US" sz="1000" dirty="0" err="1">
                <a:solidFill>
                  <a:srgbClr val="3C5790"/>
                </a:solidFill>
              </a:rPr>
              <a:t>getCurrentWeather</a:t>
            </a:r>
            <a:r>
              <a:rPr lang="en-US" sz="1000" dirty="0">
                <a:solidFill>
                  <a:srgbClr val="3C5790"/>
                </a:solidFill>
              </a:rPr>
              <a:t>(</a:t>
            </a:r>
          </a:p>
          <a:p>
            <a:r>
              <a:rPr lang="en-US" sz="1000" dirty="0">
                <a:solidFill>
                  <a:srgbClr val="3C5790"/>
                </a:solidFill>
              </a:rPr>
              <a:t>        @ToolParam(description = "City, e.g. London, UK") String location) {</a:t>
            </a:r>
          </a:p>
          <a:p>
            <a:r>
              <a:rPr lang="en-US" sz="1000" dirty="0">
                <a:solidFill>
                  <a:srgbClr val="3C5790"/>
                </a:solidFill>
              </a:rPr>
              <a:t>        return "Weather in " + location + ": Sunny, 22°C";</a:t>
            </a:r>
          </a:p>
          <a:p>
            <a:r>
              <a:rPr lang="en-US" sz="1000" dirty="0">
                <a:solidFill>
                  <a:srgbClr val="3C5790"/>
                </a:solidFill>
              </a:rPr>
              <a:t>    }</a:t>
            </a:r>
          </a:p>
          <a:p>
            <a:r>
              <a:rPr lang="en-US" sz="1000" dirty="0">
                <a:solidFill>
                  <a:srgbClr val="3C5790"/>
                </a:solidFill>
              </a:rPr>
              <a:t>}</a:t>
            </a:r>
          </a:p>
          <a:p>
            <a:endParaRPr lang="en-US" sz="1000" dirty="0">
              <a:solidFill>
                <a:srgbClr val="3C5790"/>
              </a:solidFill>
            </a:endParaRPr>
          </a:p>
          <a:p>
            <a:r>
              <a:rPr lang="en-US" sz="1000" dirty="0">
                <a:solidFill>
                  <a:srgbClr val="3C5790"/>
                </a:solidFill>
              </a:rPr>
              <a:t># </a:t>
            </a:r>
            <a:r>
              <a:rPr lang="en-US" sz="1000" dirty="0" err="1">
                <a:solidFill>
                  <a:srgbClr val="3C5790"/>
                </a:solidFill>
              </a:rPr>
              <a:t>application.yml</a:t>
            </a:r>
            <a:endParaRPr lang="en-US" sz="1000" dirty="0">
              <a:solidFill>
                <a:srgbClr val="3C5790"/>
              </a:solidFill>
            </a:endParaRPr>
          </a:p>
          <a:p>
            <a:r>
              <a:rPr lang="en-US" sz="1000" dirty="0">
                <a:solidFill>
                  <a:srgbClr val="3C5790"/>
                </a:solidFill>
              </a:rPr>
              <a:t>server:</a:t>
            </a:r>
          </a:p>
          <a:p>
            <a:r>
              <a:rPr lang="en-US" sz="1000" dirty="0">
                <a:solidFill>
                  <a:srgbClr val="3C5790"/>
                </a:solidFill>
              </a:rPr>
              <a:t>  port: 8080</a:t>
            </a:r>
          </a:p>
          <a:p>
            <a:r>
              <a:rPr lang="en-US" sz="1000" dirty="0">
                <a:solidFill>
                  <a:srgbClr val="3C5790"/>
                </a:solidFill>
              </a:rPr>
              <a:t>  </a:t>
            </a:r>
            <a:r>
              <a:rPr lang="en-US" sz="1000" dirty="0" err="1">
                <a:solidFill>
                  <a:srgbClr val="3C5790"/>
                </a:solidFill>
              </a:rPr>
              <a:t>servlet.context</a:t>
            </a:r>
            <a:r>
              <a:rPr lang="en-US" sz="1000" dirty="0">
                <a:solidFill>
                  <a:srgbClr val="3C5790"/>
                </a:solidFill>
              </a:rPr>
              <a:t>-path: /a2a</a:t>
            </a:r>
          </a:p>
          <a:p>
            <a:r>
              <a:rPr lang="en-US" sz="1000" dirty="0">
                <a:solidFill>
                  <a:srgbClr val="3C5790"/>
                </a:solidFill>
              </a:rPr>
              <a:t>spring:</a:t>
            </a:r>
          </a:p>
          <a:p>
            <a:r>
              <a:rPr lang="en-US" sz="1000" dirty="0">
                <a:solidFill>
                  <a:srgbClr val="3C5790"/>
                </a:solidFill>
              </a:rPr>
              <a:t>  ai:</a:t>
            </a:r>
          </a:p>
          <a:p>
            <a:r>
              <a:rPr lang="en-US" sz="1000" dirty="0">
                <a:solidFill>
                  <a:srgbClr val="3C5790"/>
                </a:solidFill>
              </a:rPr>
              <a:t>    a2a.server.enabled: true</a:t>
            </a:r>
          </a:p>
          <a:p>
            <a:r>
              <a:rPr lang="en-US" sz="1000" dirty="0">
                <a:solidFill>
                  <a:srgbClr val="3C5790"/>
                </a:solidFill>
              </a:rPr>
              <a:t>    </a:t>
            </a:r>
            <a:r>
              <a:rPr lang="en-US" sz="1000" dirty="0" err="1">
                <a:solidFill>
                  <a:srgbClr val="3C5790"/>
                </a:solidFill>
              </a:rPr>
              <a:t>openai.api</a:t>
            </a:r>
            <a:r>
              <a:rPr lang="en-US" sz="1000" dirty="0">
                <a:solidFill>
                  <a:srgbClr val="3C5790"/>
                </a:solidFill>
              </a:rPr>
              <a:t>-key: ${OPENAI_API_KEY}</a:t>
            </a:r>
            <a:endParaRPr lang="fr-CA" sz="1000" dirty="0">
              <a:solidFill>
                <a:srgbClr val="3C5790"/>
              </a:solidFill>
            </a:endParaRPr>
          </a:p>
        </p:txBody>
      </p:sp>
    </p:spTree>
    <p:extLst>
      <p:ext uri="{BB962C8B-B14F-4D97-AF65-F5344CB8AC3E}">
        <p14:creationId xmlns:p14="http://schemas.microsoft.com/office/powerpoint/2010/main" val="23432793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a:extLst>
            <a:ext uri="{FF2B5EF4-FFF2-40B4-BE49-F238E27FC236}">
              <a16:creationId xmlns:a16="http://schemas.microsoft.com/office/drawing/2014/main" id="{869AB921-95F2-42CB-24BD-EEE9AC4312E9}"/>
            </a:ext>
          </a:extLst>
        </p:cNvPr>
        <p:cNvGrpSpPr/>
        <p:nvPr/>
      </p:nvGrpSpPr>
      <p:grpSpPr>
        <a:xfrm>
          <a:off x="0" y="0"/>
          <a:ext cx="0" cy="0"/>
          <a:chOff x="0" y="0"/>
          <a:chExt cx="0" cy="0"/>
        </a:xfrm>
      </p:grpSpPr>
      <p:sp>
        <p:nvSpPr>
          <p:cNvPr id="4098" name="Titre 3">
            <a:extLst>
              <a:ext uri="{FF2B5EF4-FFF2-40B4-BE49-F238E27FC236}">
                <a16:creationId xmlns:a16="http://schemas.microsoft.com/office/drawing/2014/main" id="{B994F8E3-6E75-B9AA-EBBD-0274EB426F9F}"/>
              </a:ext>
            </a:extLst>
          </p:cNvPr>
          <p:cNvSpPr>
            <a:spLocks noGrp="1"/>
          </p:cNvSpPr>
          <p:nvPr>
            <p:ph type="title"/>
          </p:nvPr>
        </p:nvSpPr>
        <p:spPr/>
        <p:txBody>
          <a:bodyPr/>
          <a:lstStyle/>
          <a:p>
            <a:r>
              <a:rPr lang="fr-CA" dirty="0" err="1">
                <a:solidFill>
                  <a:schemeClr val="bg1"/>
                </a:solidFill>
              </a:rPr>
              <a:t>Core</a:t>
            </a:r>
            <a:r>
              <a:rPr lang="fr-CA" dirty="0">
                <a:solidFill>
                  <a:schemeClr val="bg1"/>
                </a:solidFill>
              </a:rPr>
              <a:t> (</a:t>
            </a:r>
            <a:r>
              <a:rPr lang="fr-CA" dirty="0" err="1">
                <a:solidFill>
                  <a:schemeClr val="bg1"/>
                </a:solidFill>
              </a:rPr>
              <a:t>cont</a:t>
            </a:r>
            <a:r>
              <a:rPr lang="fr-CA" dirty="0">
                <a:solidFill>
                  <a:schemeClr val="bg1"/>
                </a:solidFill>
              </a:rPr>
              <a:t>.)</a:t>
            </a:r>
          </a:p>
        </p:txBody>
      </p:sp>
      <p:sp>
        <p:nvSpPr>
          <p:cNvPr id="4099" name="Espace réservé du contenu 4">
            <a:extLst>
              <a:ext uri="{FF2B5EF4-FFF2-40B4-BE49-F238E27FC236}">
                <a16:creationId xmlns:a16="http://schemas.microsoft.com/office/drawing/2014/main" id="{55154337-8427-692C-F8AF-55177A46B7C9}"/>
              </a:ext>
            </a:extLst>
          </p:cNvPr>
          <p:cNvSpPr>
            <a:spLocks noGrp="1"/>
          </p:cNvSpPr>
          <p:nvPr>
            <p:ph idx="1"/>
          </p:nvPr>
        </p:nvSpPr>
        <p:spPr>
          <a:xfrm>
            <a:off x="228600" y="1981200"/>
            <a:ext cx="8686800" cy="4449762"/>
          </a:xfrm>
        </p:spPr>
        <p:txBody>
          <a:bodyPr/>
          <a:lstStyle/>
          <a:p>
            <a:r>
              <a:rPr lang="en-US" sz="1000" b="1" dirty="0">
                <a:solidFill>
                  <a:srgbClr val="3C5790"/>
                </a:solidFill>
              </a:rPr>
              <a:t>Calling remote A2A agents</a:t>
            </a:r>
          </a:p>
          <a:p>
            <a:r>
              <a:rPr lang="en-US" sz="1000" dirty="0">
                <a:solidFill>
                  <a:srgbClr val="3C5790"/>
                </a:solidFill>
              </a:rPr>
              <a:t>// Discover agent and send a message via A2A Java SDK</a:t>
            </a:r>
          </a:p>
          <a:p>
            <a:r>
              <a:rPr lang="en-US" sz="1000" dirty="0">
                <a:solidFill>
                  <a:srgbClr val="3C5790"/>
                </a:solidFill>
              </a:rPr>
              <a:t>A2ACardResolver resolver = new A2ACardResolver(</a:t>
            </a:r>
          </a:p>
          <a:p>
            <a:r>
              <a:rPr lang="en-US" sz="1000" dirty="0">
                <a:solidFill>
                  <a:srgbClr val="3C5790"/>
                </a:solidFill>
              </a:rPr>
              <a:t>    new JdkA2AHttpClient(), "http://localhost:8081",</a:t>
            </a:r>
          </a:p>
          <a:p>
            <a:r>
              <a:rPr lang="en-US" sz="1000" dirty="0">
                <a:solidFill>
                  <a:srgbClr val="3C5790"/>
                </a:solidFill>
              </a:rPr>
              <a:t>    "/a2a/card", null);</a:t>
            </a:r>
          </a:p>
          <a:p>
            <a:endParaRPr lang="en-US" sz="1000" dirty="0">
              <a:solidFill>
                <a:srgbClr val="3C5790"/>
              </a:solidFill>
            </a:endParaRPr>
          </a:p>
          <a:p>
            <a:r>
              <a:rPr lang="en-US" sz="1000" dirty="0">
                <a:solidFill>
                  <a:srgbClr val="3C5790"/>
                </a:solidFill>
              </a:rPr>
              <a:t>Client </a:t>
            </a:r>
            <a:r>
              <a:rPr lang="en-US" sz="1000" dirty="0" err="1">
                <a:solidFill>
                  <a:srgbClr val="3C5790"/>
                </a:solidFill>
              </a:rPr>
              <a:t>client</a:t>
            </a:r>
            <a:r>
              <a:rPr lang="en-US" sz="1000" dirty="0">
                <a:solidFill>
                  <a:srgbClr val="3C5790"/>
                </a:solidFill>
              </a:rPr>
              <a:t> = </a:t>
            </a:r>
            <a:r>
              <a:rPr lang="en-US" sz="1000" dirty="0" err="1">
                <a:solidFill>
                  <a:srgbClr val="3C5790"/>
                </a:solidFill>
              </a:rPr>
              <a:t>Client.builder</a:t>
            </a:r>
            <a:r>
              <a:rPr lang="en-US" sz="1000" dirty="0">
                <a:solidFill>
                  <a:srgbClr val="3C5790"/>
                </a:solidFill>
              </a:rPr>
              <a:t>(</a:t>
            </a:r>
            <a:r>
              <a:rPr lang="en-US" sz="1000" dirty="0" err="1">
                <a:solidFill>
                  <a:srgbClr val="3C5790"/>
                </a:solidFill>
              </a:rPr>
              <a:t>resolver.getAgentCard</a:t>
            </a:r>
            <a:r>
              <a:rPr lang="en-US" sz="1000" dirty="0">
                <a:solidFill>
                  <a:srgbClr val="3C5790"/>
                </a:solidFill>
              </a:rPr>
              <a:t>())</a:t>
            </a:r>
          </a:p>
          <a:p>
            <a:r>
              <a:rPr lang="en-US" sz="1000" dirty="0">
                <a:solidFill>
                  <a:srgbClr val="3C5790"/>
                </a:solidFill>
              </a:rPr>
              <a:t>    .</a:t>
            </a:r>
            <a:r>
              <a:rPr lang="en-US" sz="1000" dirty="0" err="1">
                <a:solidFill>
                  <a:srgbClr val="3C5790"/>
                </a:solidFill>
              </a:rPr>
              <a:t>withTransport</a:t>
            </a:r>
            <a:r>
              <a:rPr lang="en-US" sz="1000" dirty="0">
                <a:solidFill>
                  <a:srgbClr val="3C5790"/>
                </a:solidFill>
              </a:rPr>
              <a:t>(</a:t>
            </a:r>
            <a:r>
              <a:rPr lang="en-US" sz="1000" dirty="0" err="1">
                <a:solidFill>
                  <a:srgbClr val="3C5790"/>
                </a:solidFill>
              </a:rPr>
              <a:t>JSONRPCTransport.class</a:t>
            </a:r>
            <a:r>
              <a:rPr lang="en-US" sz="1000" dirty="0">
                <a:solidFill>
                  <a:srgbClr val="3C5790"/>
                </a:solidFill>
              </a:rPr>
              <a:t>, new </a:t>
            </a:r>
            <a:r>
              <a:rPr lang="en-US" sz="1000" dirty="0" err="1">
                <a:solidFill>
                  <a:srgbClr val="3C5790"/>
                </a:solidFill>
              </a:rPr>
              <a:t>JSONRPCTransportConfig</a:t>
            </a:r>
            <a:r>
              <a:rPr lang="en-US" sz="1000" dirty="0">
                <a:solidFill>
                  <a:srgbClr val="3C5790"/>
                </a:solidFill>
              </a:rPr>
              <a:t>())</a:t>
            </a:r>
          </a:p>
          <a:p>
            <a:r>
              <a:rPr lang="en-US" sz="1000" dirty="0">
                <a:solidFill>
                  <a:srgbClr val="3C5790"/>
                </a:solidFill>
              </a:rPr>
              <a:t>    .build();</a:t>
            </a:r>
          </a:p>
          <a:p>
            <a:endParaRPr lang="en-US" sz="1000" dirty="0">
              <a:solidFill>
                <a:srgbClr val="3C5790"/>
              </a:solidFill>
            </a:endParaRPr>
          </a:p>
          <a:p>
            <a:r>
              <a:rPr lang="en-US" sz="1000" dirty="0" err="1">
                <a:solidFill>
                  <a:srgbClr val="3C5790"/>
                </a:solidFill>
              </a:rPr>
              <a:t>client.sendMessage</a:t>
            </a:r>
            <a:r>
              <a:rPr lang="en-US" sz="1000" dirty="0">
                <a:solidFill>
                  <a:srgbClr val="3C5790"/>
                </a:solidFill>
              </a:rPr>
              <a:t>(new </a:t>
            </a:r>
            <a:r>
              <a:rPr lang="en-US" sz="1000" dirty="0" err="1">
                <a:solidFill>
                  <a:srgbClr val="3C5790"/>
                </a:solidFill>
              </a:rPr>
              <a:t>Message.Builder</a:t>
            </a:r>
            <a:r>
              <a:rPr lang="en-US" sz="1000" dirty="0">
                <a:solidFill>
                  <a:srgbClr val="3C5790"/>
                </a:solidFill>
              </a:rPr>
              <a:t>()</a:t>
            </a:r>
          </a:p>
          <a:p>
            <a:r>
              <a:rPr lang="en-US" sz="1000" dirty="0">
                <a:solidFill>
                  <a:srgbClr val="3C5790"/>
                </a:solidFill>
              </a:rPr>
              <a:t>    .role(</a:t>
            </a:r>
            <a:r>
              <a:rPr lang="en-US" sz="1000" dirty="0" err="1">
                <a:solidFill>
                  <a:srgbClr val="3C5790"/>
                </a:solidFill>
              </a:rPr>
              <a:t>Message.Role.USER</a:t>
            </a:r>
            <a:r>
              <a:rPr lang="en-US" sz="1000" dirty="0">
                <a:solidFill>
                  <a:srgbClr val="3C5790"/>
                </a:solidFill>
              </a:rPr>
              <a:t>)</a:t>
            </a:r>
          </a:p>
          <a:p>
            <a:r>
              <a:rPr lang="en-US" sz="1000" dirty="0">
                <a:solidFill>
                  <a:srgbClr val="3C5790"/>
                </a:solidFill>
              </a:rPr>
              <a:t>    .parts(</a:t>
            </a:r>
            <a:r>
              <a:rPr lang="en-US" sz="1000" dirty="0" err="1">
                <a:solidFill>
                  <a:srgbClr val="3C5790"/>
                </a:solidFill>
              </a:rPr>
              <a:t>List.of</a:t>
            </a:r>
            <a:r>
              <a:rPr lang="en-US" sz="1000" dirty="0">
                <a:solidFill>
                  <a:srgbClr val="3C5790"/>
                </a:solidFill>
              </a:rPr>
              <a:t>(new </a:t>
            </a:r>
            <a:r>
              <a:rPr lang="en-US" sz="1000" dirty="0" err="1">
                <a:solidFill>
                  <a:srgbClr val="3C5790"/>
                </a:solidFill>
              </a:rPr>
              <a:t>TextPart</a:t>
            </a:r>
            <a:r>
              <a:rPr lang="en-US" sz="1000" dirty="0">
                <a:solidFill>
                  <a:srgbClr val="3C5790"/>
                </a:solidFill>
              </a:rPr>
              <a:t>("Plan a trip to Paris")))</a:t>
            </a:r>
          </a:p>
          <a:p>
            <a:r>
              <a:rPr lang="en-US" sz="1000" dirty="0">
                <a:solidFill>
                  <a:srgbClr val="3C5790"/>
                </a:solidFill>
              </a:rPr>
              <a:t>    .build());</a:t>
            </a:r>
          </a:p>
          <a:p>
            <a:endParaRPr lang="en-US" sz="1000" dirty="0">
              <a:solidFill>
                <a:srgbClr val="3C5790"/>
              </a:solidFill>
            </a:endParaRPr>
          </a:p>
          <a:p>
            <a:r>
              <a:rPr lang="en-US" sz="1000" dirty="0">
                <a:solidFill>
                  <a:srgbClr val="3C5790"/>
                </a:solidFill>
              </a:rPr>
              <a:t>// Or wrap remote agents as @Tool methods for multi-agent orchestration</a:t>
            </a:r>
            <a:endParaRPr lang="fr-CA" sz="1000" dirty="0">
              <a:solidFill>
                <a:srgbClr val="3C5790"/>
              </a:solidFill>
            </a:endParaRPr>
          </a:p>
        </p:txBody>
      </p:sp>
    </p:spTree>
    <p:extLst>
      <p:ext uri="{BB962C8B-B14F-4D97-AF65-F5344CB8AC3E}">
        <p14:creationId xmlns:p14="http://schemas.microsoft.com/office/powerpoint/2010/main" val="341893327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a:extLst>
            <a:ext uri="{FF2B5EF4-FFF2-40B4-BE49-F238E27FC236}">
              <a16:creationId xmlns:a16="http://schemas.microsoft.com/office/drawing/2014/main" id="{9C97D434-171E-AA4F-BD93-3049DED75A61}"/>
            </a:ext>
          </a:extLst>
        </p:cNvPr>
        <p:cNvGrpSpPr/>
        <p:nvPr/>
      </p:nvGrpSpPr>
      <p:grpSpPr>
        <a:xfrm>
          <a:off x="0" y="0"/>
          <a:ext cx="0" cy="0"/>
          <a:chOff x="0" y="0"/>
          <a:chExt cx="0" cy="0"/>
        </a:xfrm>
      </p:grpSpPr>
      <p:sp>
        <p:nvSpPr>
          <p:cNvPr id="4098" name="Titre 3">
            <a:extLst>
              <a:ext uri="{FF2B5EF4-FFF2-40B4-BE49-F238E27FC236}">
                <a16:creationId xmlns:a16="http://schemas.microsoft.com/office/drawing/2014/main" id="{3A05B70F-BF49-931E-B63C-F2F4C3942EC5}"/>
              </a:ext>
            </a:extLst>
          </p:cNvPr>
          <p:cNvSpPr>
            <a:spLocks noGrp="1"/>
          </p:cNvSpPr>
          <p:nvPr>
            <p:ph type="title"/>
          </p:nvPr>
        </p:nvSpPr>
        <p:spPr/>
        <p:txBody>
          <a:bodyPr/>
          <a:lstStyle/>
          <a:p>
            <a:r>
              <a:rPr lang="fr-CA" dirty="0" err="1">
                <a:solidFill>
                  <a:schemeClr val="bg1"/>
                </a:solidFill>
              </a:rPr>
              <a:t>Core</a:t>
            </a:r>
            <a:r>
              <a:rPr lang="fr-CA" dirty="0">
                <a:solidFill>
                  <a:schemeClr val="bg1"/>
                </a:solidFill>
              </a:rPr>
              <a:t> (</a:t>
            </a:r>
            <a:r>
              <a:rPr lang="fr-CA" dirty="0" err="1">
                <a:solidFill>
                  <a:schemeClr val="bg1"/>
                </a:solidFill>
              </a:rPr>
              <a:t>cont</a:t>
            </a:r>
            <a:r>
              <a:rPr lang="fr-CA" dirty="0">
                <a:solidFill>
                  <a:schemeClr val="bg1"/>
                </a:solidFill>
              </a:rPr>
              <a:t>.)</a:t>
            </a:r>
          </a:p>
        </p:txBody>
      </p:sp>
      <p:sp>
        <p:nvSpPr>
          <p:cNvPr id="4099" name="Espace réservé du contenu 4">
            <a:extLst>
              <a:ext uri="{FF2B5EF4-FFF2-40B4-BE49-F238E27FC236}">
                <a16:creationId xmlns:a16="http://schemas.microsoft.com/office/drawing/2014/main" id="{8276F564-614B-9F54-8D3D-84232B0BC0EF}"/>
              </a:ext>
            </a:extLst>
          </p:cNvPr>
          <p:cNvSpPr>
            <a:spLocks noGrp="1"/>
          </p:cNvSpPr>
          <p:nvPr>
            <p:ph idx="1"/>
          </p:nvPr>
        </p:nvSpPr>
        <p:spPr>
          <a:xfrm>
            <a:off x="228600" y="1981200"/>
            <a:ext cx="8686800" cy="4449762"/>
          </a:xfrm>
        </p:spPr>
        <p:txBody>
          <a:bodyPr/>
          <a:lstStyle/>
          <a:p>
            <a:r>
              <a:rPr lang="en-US" sz="1000" b="1" dirty="0">
                <a:solidFill>
                  <a:srgbClr val="3C5790"/>
                </a:solidFill>
              </a:rPr>
              <a:t>Testing A2A agent with CURL</a:t>
            </a:r>
          </a:p>
          <a:p>
            <a:r>
              <a:rPr lang="en-US" sz="1000" dirty="0">
                <a:solidFill>
                  <a:srgbClr val="3C5790"/>
                </a:solidFill>
              </a:rPr>
              <a:t>curl -X POST http://localhost:8080/a2a \</a:t>
            </a:r>
          </a:p>
          <a:p>
            <a:r>
              <a:rPr lang="en-US" sz="1000" dirty="0">
                <a:solidFill>
                  <a:srgbClr val="3C5790"/>
                </a:solidFill>
              </a:rPr>
              <a:t>  -H 'Content-Type: application/</a:t>
            </a:r>
            <a:r>
              <a:rPr lang="en-US" sz="1000" dirty="0" err="1">
                <a:solidFill>
                  <a:srgbClr val="3C5790"/>
                </a:solidFill>
              </a:rPr>
              <a:t>json</a:t>
            </a:r>
            <a:r>
              <a:rPr lang="en-US" sz="1000" dirty="0">
                <a:solidFill>
                  <a:srgbClr val="3C5790"/>
                </a:solidFill>
              </a:rPr>
              <a:t>' \</a:t>
            </a:r>
          </a:p>
          <a:p>
            <a:r>
              <a:rPr lang="en-US" sz="1000" dirty="0">
                <a:solidFill>
                  <a:srgbClr val="3C5790"/>
                </a:solidFill>
              </a:rPr>
              <a:t>  -d '{</a:t>
            </a:r>
          </a:p>
          <a:p>
            <a:r>
              <a:rPr lang="en-US" sz="1000" dirty="0">
                <a:solidFill>
                  <a:srgbClr val="3C5790"/>
                </a:solidFill>
              </a:rPr>
              <a:t>    "</a:t>
            </a:r>
            <a:r>
              <a:rPr lang="en-US" sz="1000" dirty="0" err="1">
                <a:solidFill>
                  <a:srgbClr val="3C5790"/>
                </a:solidFill>
              </a:rPr>
              <a:t>jsonrpc</a:t>
            </a:r>
            <a:r>
              <a:rPr lang="en-US" sz="1000" dirty="0">
                <a:solidFill>
                  <a:srgbClr val="3C5790"/>
                </a:solidFill>
              </a:rPr>
              <a:t>": "2.0",</a:t>
            </a:r>
          </a:p>
          <a:p>
            <a:r>
              <a:rPr lang="en-US" sz="1000" dirty="0">
                <a:solidFill>
                  <a:srgbClr val="3C5790"/>
                </a:solidFill>
              </a:rPr>
              <a:t>    "method": "message/send",</a:t>
            </a:r>
          </a:p>
          <a:p>
            <a:r>
              <a:rPr lang="en-US" sz="1000" dirty="0">
                <a:solidFill>
                  <a:srgbClr val="3C5790"/>
                </a:solidFill>
              </a:rPr>
              <a:t>    "id": "1",</a:t>
            </a:r>
          </a:p>
          <a:p>
            <a:r>
              <a:rPr lang="en-US" sz="1000" dirty="0">
                <a:solidFill>
                  <a:srgbClr val="3C5790"/>
                </a:solidFill>
              </a:rPr>
              <a:t>    "params": {</a:t>
            </a:r>
          </a:p>
          <a:p>
            <a:r>
              <a:rPr lang="en-US" sz="1000" dirty="0">
                <a:solidFill>
                  <a:srgbClr val="3C5790"/>
                </a:solidFill>
              </a:rPr>
              <a:t>      "message": {</a:t>
            </a:r>
          </a:p>
          <a:p>
            <a:r>
              <a:rPr lang="en-US" sz="1000" dirty="0">
                <a:solidFill>
                  <a:srgbClr val="3C5790"/>
                </a:solidFill>
              </a:rPr>
              <a:t>        "role": "user",</a:t>
            </a:r>
          </a:p>
          <a:p>
            <a:r>
              <a:rPr lang="en-US" sz="1000" dirty="0">
                <a:solidFill>
                  <a:srgbClr val="3C5790"/>
                </a:solidFill>
              </a:rPr>
              <a:t>        "parts": [{"kind": "text", "text": "Weather in London?"}]</a:t>
            </a:r>
          </a:p>
          <a:p>
            <a:r>
              <a:rPr lang="en-US" sz="1000" dirty="0">
                <a:solidFill>
                  <a:srgbClr val="3C5790"/>
                </a:solidFill>
              </a:rPr>
              <a:t>      }</a:t>
            </a:r>
          </a:p>
          <a:p>
            <a:r>
              <a:rPr lang="en-US" sz="1000" dirty="0">
                <a:solidFill>
                  <a:srgbClr val="3C5790"/>
                </a:solidFill>
              </a:rPr>
              <a:t>    }</a:t>
            </a:r>
          </a:p>
          <a:p>
            <a:r>
              <a:rPr lang="en-US" sz="1000" dirty="0">
                <a:solidFill>
                  <a:srgbClr val="3C5790"/>
                </a:solidFill>
              </a:rPr>
              <a:t>  }'</a:t>
            </a:r>
          </a:p>
          <a:p>
            <a:endParaRPr lang="en-US" sz="1000" dirty="0">
              <a:solidFill>
                <a:srgbClr val="3C5790"/>
              </a:solidFill>
            </a:endParaRPr>
          </a:p>
          <a:p>
            <a:r>
              <a:rPr lang="en-US" sz="1000" dirty="0">
                <a:solidFill>
                  <a:srgbClr val="3C5790"/>
                </a:solidFill>
              </a:rPr>
              <a:t>Discover Agent Card: GET http://localhost:8080/a2a/card</a:t>
            </a:r>
          </a:p>
        </p:txBody>
      </p:sp>
    </p:spTree>
    <p:extLst>
      <p:ext uri="{BB962C8B-B14F-4D97-AF65-F5344CB8AC3E}">
        <p14:creationId xmlns:p14="http://schemas.microsoft.com/office/powerpoint/2010/main" val="206744914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a:solidFill>
                  <a:schemeClr val="bg1"/>
                </a:solidFill>
              </a:rPr>
              <a:t>A2A vs MCP</a:t>
            </a:r>
          </a:p>
        </p:txBody>
      </p:sp>
      <p:pic>
        <p:nvPicPr>
          <p:cNvPr id="5" name="Picture 4">
            <a:extLst>
              <a:ext uri="{FF2B5EF4-FFF2-40B4-BE49-F238E27FC236}">
                <a16:creationId xmlns:a16="http://schemas.microsoft.com/office/drawing/2014/main" id="{1D0F7132-F4ED-4855-B682-C9990220B10B}"/>
              </a:ext>
            </a:extLst>
          </p:cNvPr>
          <p:cNvPicPr>
            <a:picLocks noChangeAspect="1"/>
          </p:cNvPicPr>
          <p:nvPr/>
        </p:nvPicPr>
        <p:blipFill>
          <a:blip r:embed="rId3"/>
          <a:stretch>
            <a:fillRect/>
          </a:stretch>
        </p:blipFill>
        <p:spPr>
          <a:xfrm>
            <a:off x="1066800" y="1907199"/>
            <a:ext cx="6428531" cy="4724400"/>
          </a:xfrm>
          <a:prstGeom prst="rect">
            <a:avLst/>
          </a:prstGeom>
        </p:spPr>
      </p:pic>
    </p:spTree>
    <p:extLst>
      <p:ext uri="{BB962C8B-B14F-4D97-AF65-F5344CB8AC3E}">
        <p14:creationId xmlns:p14="http://schemas.microsoft.com/office/powerpoint/2010/main" val="29820893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a:solidFill>
                  <a:schemeClr val="bg1"/>
                </a:solidFill>
              </a:rPr>
              <a:t>Conclusion</a:t>
            </a:r>
          </a:p>
        </p:txBody>
      </p:sp>
      <p:sp>
        <p:nvSpPr>
          <p:cNvPr id="4099" name="Espace réservé du contenu 4"/>
          <p:cNvSpPr>
            <a:spLocks noGrp="1"/>
          </p:cNvSpPr>
          <p:nvPr>
            <p:ph idx="1"/>
          </p:nvPr>
        </p:nvSpPr>
        <p:spPr>
          <a:xfrm>
            <a:off x="228600" y="2133600"/>
            <a:ext cx="8686800" cy="4267200"/>
          </a:xfrm>
        </p:spPr>
        <p:txBody>
          <a:bodyPr/>
          <a:lstStyle/>
          <a:p>
            <a:r>
              <a:rPr lang="en-US" sz="1400" b="1" dirty="0">
                <a:solidFill>
                  <a:srgbClr val="3C5790"/>
                </a:solidFill>
              </a:rPr>
              <a:t>Pros</a:t>
            </a:r>
            <a:r>
              <a:rPr lang="en-US" sz="1400" dirty="0">
                <a:solidFill>
                  <a:srgbClr val="3C5790"/>
                </a:solidFill>
              </a:rPr>
              <a:t>:</a:t>
            </a:r>
          </a:p>
          <a:p>
            <a:pPr lvl="1"/>
            <a:r>
              <a:rPr lang="en-US" sz="1200" dirty="0">
                <a:solidFill>
                  <a:srgbClr val="3C5790"/>
                </a:solidFill>
              </a:rPr>
              <a:t>Decentralized coordination – No central controller required.</a:t>
            </a:r>
          </a:p>
          <a:p>
            <a:pPr lvl="1"/>
            <a:r>
              <a:rPr lang="en-US" sz="1200" dirty="0">
                <a:solidFill>
                  <a:srgbClr val="3C5790"/>
                </a:solidFill>
              </a:rPr>
              <a:t>Scalable collaboration – Agents can negotiate, delegate, and specialize.</a:t>
            </a:r>
          </a:p>
          <a:p>
            <a:pPr lvl="1"/>
            <a:r>
              <a:rPr lang="en-US" sz="1200" dirty="0">
                <a:solidFill>
                  <a:srgbClr val="3C5790"/>
                </a:solidFill>
              </a:rPr>
              <a:t>Flexibility – Enables dynamic task sharing.</a:t>
            </a:r>
          </a:p>
          <a:p>
            <a:pPr lvl="1"/>
            <a:r>
              <a:rPr lang="en-US" sz="1200" dirty="0">
                <a:solidFill>
                  <a:srgbClr val="3C5790"/>
                </a:solidFill>
              </a:rPr>
              <a:t>Autonomy – Agents can make independent decisions. </a:t>
            </a:r>
          </a:p>
          <a:p>
            <a:r>
              <a:rPr lang="en-US" sz="1400" b="1" dirty="0">
                <a:solidFill>
                  <a:srgbClr val="3C5790"/>
                </a:solidFill>
              </a:rPr>
              <a:t>Cons</a:t>
            </a:r>
            <a:r>
              <a:rPr lang="en-US" sz="1400" dirty="0">
                <a:solidFill>
                  <a:srgbClr val="3C5790"/>
                </a:solidFill>
              </a:rPr>
              <a:t>:</a:t>
            </a:r>
          </a:p>
          <a:p>
            <a:pPr lvl="1"/>
            <a:r>
              <a:rPr lang="en-US" sz="1200" dirty="0">
                <a:solidFill>
                  <a:srgbClr val="3C5790"/>
                </a:solidFill>
              </a:rPr>
              <a:t>Complex design – Requires message standards and conflict resolution.</a:t>
            </a:r>
          </a:p>
          <a:p>
            <a:pPr lvl="1"/>
            <a:r>
              <a:rPr lang="en-US" sz="1200" dirty="0">
                <a:solidFill>
                  <a:srgbClr val="3C5790"/>
                </a:solidFill>
              </a:rPr>
              <a:t>Security risks – Trust, authentication, and spoofing issues.</a:t>
            </a:r>
          </a:p>
          <a:p>
            <a:pPr lvl="1"/>
            <a:r>
              <a:rPr lang="en-US" sz="1200" dirty="0">
                <a:solidFill>
                  <a:srgbClr val="3C5790"/>
                </a:solidFill>
              </a:rPr>
              <a:t>Debugging difficulty – Emergent behaviors can be unpredictable.</a:t>
            </a:r>
          </a:p>
          <a:p>
            <a:pPr lvl="1"/>
            <a:r>
              <a:rPr lang="en-US" sz="1200" dirty="0">
                <a:solidFill>
                  <a:srgbClr val="3C5790"/>
                </a:solidFill>
              </a:rPr>
              <a:t>Interoperability challenges – Agents from different frameworks may not align.</a:t>
            </a:r>
          </a:p>
        </p:txBody>
      </p:sp>
    </p:spTree>
    <p:extLst>
      <p:ext uri="{BB962C8B-B14F-4D97-AF65-F5344CB8AC3E}">
        <p14:creationId xmlns:p14="http://schemas.microsoft.com/office/powerpoint/2010/main" val="242226893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5122" name="Titre 3"/>
          <p:cNvSpPr>
            <a:spLocks noGrp="1"/>
          </p:cNvSpPr>
          <p:nvPr>
            <p:ph type="title"/>
          </p:nvPr>
        </p:nvSpPr>
        <p:spPr/>
        <p:txBody>
          <a:bodyPr/>
          <a:lstStyle/>
          <a:p>
            <a:r>
              <a:rPr lang="fr-CA" sz="4000" dirty="0" err="1">
                <a:solidFill>
                  <a:schemeClr val="bg1">
                    <a:lumMod val="95000"/>
                  </a:schemeClr>
                </a:solidFill>
              </a:rPr>
              <a:t>Bibliography</a:t>
            </a:r>
            <a:endParaRPr lang="fr-CA" sz="4000" dirty="0">
              <a:solidFill>
                <a:schemeClr val="bg1">
                  <a:lumMod val="95000"/>
                </a:schemeClr>
              </a:solidFill>
            </a:endParaRPr>
          </a:p>
        </p:txBody>
      </p:sp>
      <p:sp>
        <p:nvSpPr>
          <p:cNvPr id="5123" name="Espace réservé du contenu 4"/>
          <p:cNvSpPr>
            <a:spLocks noGrp="1"/>
          </p:cNvSpPr>
          <p:nvPr>
            <p:ph idx="1"/>
          </p:nvPr>
        </p:nvSpPr>
        <p:spPr>
          <a:xfrm>
            <a:off x="457200" y="1676400"/>
            <a:ext cx="8458200" cy="4876800"/>
          </a:xfrm>
        </p:spPr>
        <p:txBody>
          <a:bodyPr/>
          <a:lstStyle/>
          <a:p>
            <a:r>
              <a:rPr lang="en-US" sz="1600" dirty="0">
                <a:solidFill>
                  <a:schemeClr val="bg1"/>
                </a:solidFill>
              </a:rPr>
              <a:t>https://developers.googleblog.com/en/a2a-a-new-era-of-agent-interoperability/</a:t>
            </a:r>
          </a:p>
          <a:p>
            <a:r>
              <a:rPr lang="en-US" sz="1600" dirty="0">
                <a:solidFill>
                  <a:schemeClr val="bg1"/>
                </a:solidFill>
              </a:rPr>
              <a:t>https://a2a-protocol.org/</a:t>
            </a:r>
          </a:p>
          <a:p>
            <a:r>
              <a:rPr lang="en-US" sz="1600" dirty="0">
                <a:solidFill>
                  <a:schemeClr val="bg1"/>
                </a:solidFill>
              </a:rPr>
              <a:t>https://blog.logto.io/a2a-mcp</a:t>
            </a:r>
          </a:p>
          <a:p>
            <a:r>
              <a:rPr lang="en-US" sz="1600" dirty="0">
                <a:solidFill>
                  <a:schemeClr val="bg1"/>
                </a:solidFill>
              </a:rPr>
              <a:t>https://medium.com/ai-cloud-lab/building-multi-agent-ai-app-with-googles-a2a-agent2agent-protocol-adk-and-mcp-a-deep-a94de2237200</a:t>
            </a:r>
          </a:p>
          <a:p>
            <a:r>
              <a:rPr lang="en-US" sz="1600" dirty="0">
                <a:solidFill>
                  <a:schemeClr val="bg1"/>
                </a:solidFill>
              </a:rPr>
              <a:t>https://www.ibm.com/think/topics/agent2agent-protocol</a:t>
            </a:r>
          </a:p>
          <a:p>
            <a:r>
              <a:rPr lang="en-US" sz="1600" dirty="0">
                <a:solidFill>
                  <a:schemeClr val="bg1"/>
                </a:solidFill>
              </a:rPr>
              <a:t>https://github.com/a2aproject/A2A — protocol repository</a:t>
            </a:r>
          </a:p>
          <a:p>
            <a:r>
              <a:rPr lang="en-US" sz="1600" dirty="0">
                <a:solidFill>
                  <a:schemeClr val="bg1"/>
                </a:solidFill>
              </a:rPr>
              <a:t>https://github.com/a2aproject/a2a-java — official A2A Java SDK</a:t>
            </a:r>
          </a:p>
          <a:p>
            <a:pPr marL="0" indent="0">
              <a:buNone/>
            </a:pPr>
            <a:endParaRPr lang="en-US" sz="1600" dirty="0">
              <a:solidFill>
                <a:schemeClr val="bg1"/>
              </a:solidFill>
            </a:endParaRPr>
          </a:p>
        </p:txBody>
      </p:sp>
    </p:spTree>
  </p:cSld>
  <p:clrMapOvr>
    <a:masterClrMapping/>
  </p:clrMapOvr>
</p:sld>
</file>

<file path=ppt/theme/theme1.xml><?xml version="1.0" encoding="utf-8"?>
<a:theme xmlns:a="http://schemas.openxmlformats.org/drawingml/2006/main" name="143">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143</Template>
  <TotalTime>19044</TotalTime>
  <Words>2871</Words>
  <Application>Microsoft Office PowerPoint</Application>
  <PresentationFormat>On-screen Show (4:3)</PresentationFormat>
  <Paragraphs>311</Paragraphs>
  <Slides>33</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143</vt:lpstr>
      <vt:lpstr>A2A</vt:lpstr>
      <vt:lpstr>Contents</vt:lpstr>
      <vt:lpstr>What is A2A?</vt:lpstr>
      <vt:lpstr>Goals</vt:lpstr>
      <vt:lpstr>Goals (cont.)</vt:lpstr>
      <vt:lpstr>Features</vt:lpstr>
      <vt:lpstr>Features (cont.)</vt:lpstr>
      <vt:lpstr>Features (cont.)</vt:lpstr>
      <vt:lpstr>Use Cases</vt:lpstr>
      <vt:lpstr>Arhitecture</vt:lpstr>
      <vt:lpstr>Concepts</vt:lpstr>
      <vt:lpstr>Concepts (cont.)</vt:lpstr>
      <vt:lpstr>Core</vt:lpstr>
      <vt:lpstr>Core (cont.)</vt:lpstr>
      <vt:lpstr>Core (cont.)</vt:lpstr>
      <vt:lpstr>Core (cont.)</vt:lpstr>
      <vt:lpstr>Core (cont.)</vt:lpstr>
      <vt:lpstr>Core (cont.)</vt:lpstr>
      <vt:lpstr>Core (cont.)</vt:lpstr>
      <vt:lpstr>Core (cont.)</vt:lpstr>
      <vt:lpstr>Core (cont.)</vt:lpstr>
      <vt:lpstr>Core (cont.)</vt:lpstr>
      <vt:lpstr>Core (cont.)</vt:lpstr>
      <vt:lpstr>Core (cont.)</vt:lpstr>
      <vt:lpstr>Core (cont.)</vt:lpstr>
      <vt:lpstr>Core (cont.)</vt:lpstr>
      <vt:lpstr>Core (cont.)</vt:lpstr>
      <vt:lpstr>Core (cont.)</vt:lpstr>
      <vt:lpstr>Core (cont.)</vt:lpstr>
      <vt:lpstr>Core (cont.)</vt:lpstr>
      <vt:lpstr>A2A vs MCP</vt:lpstr>
      <vt:lpstr>Conclusion</vt:lpstr>
      <vt:lpstr>Bibliography</vt:lpstr>
    </vt:vector>
  </TitlesOfParts>
  <Company>Computaris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NAME</dc:title>
  <dc:creator>Ionut Dima</dc:creator>
  <cp:lastModifiedBy>Ionut Dima</cp:lastModifiedBy>
  <cp:revision>1161</cp:revision>
  <dcterms:created xsi:type="dcterms:W3CDTF">2012-04-12T06:19:17Z</dcterms:created>
  <dcterms:modified xsi:type="dcterms:W3CDTF">2026-07-07T08:48:19Z</dcterms:modified>
</cp:coreProperties>
</file>