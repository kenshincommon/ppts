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89" r:id="rId5"/>
    <p:sldId id="445" r:id="rId6"/>
    <p:sldId id="429" r:id="rId7"/>
    <p:sldId id="453" r:id="rId8"/>
    <p:sldId id="447" r:id="rId9"/>
    <p:sldId id="449" r:id="rId10"/>
    <p:sldId id="450" r:id="rId11"/>
    <p:sldId id="451" r:id="rId12"/>
    <p:sldId id="452" r:id="rId13"/>
    <p:sldId id="448" r:id="rId14"/>
    <p:sldId id="455" r:id="rId15"/>
    <p:sldId id="454" r:id="rId16"/>
    <p:sldId id="442" r:id="rId17"/>
    <p:sldId id="467" r:id="rId18"/>
    <p:sldId id="456" r:id="rId19"/>
    <p:sldId id="459" r:id="rId20"/>
    <p:sldId id="460" r:id="rId21"/>
    <p:sldId id="464" r:id="rId22"/>
    <p:sldId id="462" r:id="rId23"/>
    <p:sldId id="457" r:id="rId24"/>
    <p:sldId id="466" r:id="rId25"/>
    <p:sldId id="465" r:id="rId26"/>
    <p:sldId id="463" r:id="rId27"/>
    <p:sldId id="461" r:id="rId28"/>
    <p:sldId id="471" r:id="rId29"/>
    <p:sldId id="458" r:id="rId30"/>
    <p:sldId id="469" r:id="rId31"/>
    <p:sldId id="470" r:id="rId32"/>
    <p:sldId id="468" r:id="rId33"/>
    <p:sldId id="446" r:id="rId34"/>
    <p:sldId id="259" r:id="rId35"/>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57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1768" autoAdjust="0"/>
  </p:normalViewPr>
  <p:slideViewPr>
    <p:cSldViewPr>
      <p:cViewPr varScale="1">
        <p:scale>
          <a:sx n="114" d="100"/>
          <a:sy n="114" d="100"/>
        </p:scale>
        <p:origin x="155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a:t>Click to edit Master title style</a:t>
            </a:r>
            <a:endParaRPr lang="fr-CA"/>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fr-CA"/>
          </a:p>
        </p:txBody>
      </p:sp>
      <p:sp>
        <p:nvSpPr>
          <p:cNvPr id="4" name="Espace réservé de la date 3"/>
          <p:cNvSpPr>
            <a:spLocks noGrp="1"/>
          </p:cNvSpPr>
          <p:nvPr>
            <p:ph type="dt" sz="half" idx="10"/>
          </p:nvPr>
        </p:nvSpPr>
        <p:spPr/>
        <p:txBody>
          <a:bodyPr/>
          <a:lstStyle>
            <a:lvl1pPr>
              <a:defRPr/>
            </a:lvl1pPr>
          </a:lstStyle>
          <a:p>
            <a:pPr>
              <a:defRPr/>
            </a:pPr>
            <a:fld id="{22807098-A8DF-4714-B43F-DC882CB72C38}" type="datetimeFigureOut">
              <a:rPr lang="fr-FR"/>
              <a:pPr>
                <a:defRPr/>
              </a:pPr>
              <a:t>19/04/2026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4CF57D0A-305D-4A35-A608-B814A0BEDBC9}" type="slidenum">
              <a:rPr lang="fr-CA"/>
              <a:pPr>
                <a:defRPr/>
              </a:pPr>
              <a:t>‹#›</a:t>
            </a:fld>
            <a:endParaRPr lang="fr-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C580763A-51CB-4C09-97C6-6FDA1E354680}" type="datetimeFigureOut">
              <a:rPr lang="fr-FR"/>
              <a:pPr>
                <a:defRPr/>
              </a:pPr>
              <a:t>19/04/2026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F192BCFE-7F07-4DEB-84D0-B6E069D09AB4}" type="slidenum">
              <a:rPr lang="fr-CA"/>
              <a:pPr>
                <a:defRPr/>
              </a:pPr>
              <a:t>‹#›</a:t>
            </a:fld>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fr-CA"/>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64034F85-C7AC-44D9-8041-DCE5F1910771}" type="datetimeFigureOut">
              <a:rPr lang="fr-FR"/>
              <a:pPr>
                <a:defRPr/>
              </a:pPr>
              <a:t>19/04/2026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B539C1E6-5858-412D-B164-0E5729C1B013}" type="slidenum">
              <a:rPr lang="fr-CA"/>
              <a:pPr>
                <a:defRPr/>
              </a:pPr>
              <a:t>‹#›</a:t>
            </a:fld>
            <a:endParaRPr lang="fr-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e la date 3"/>
          <p:cNvSpPr>
            <a:spLocks noGrp="1"/>
          </p:cNvSpPr>
          <p:nvPr>
            <p:ph type="dt" sz="half" idx="10"/>
          </p:nvPr>
        </p:nvSpPr>
        <p:spPr/>
        <p:txBody>
          <a:bodyPr/>
          <a:lstStyle>
            <a:lvl1pPr>
              <a:defRPr/>
            </a:lvl1pPr>
          </a:lstStyle>
          <a:p>
            <a:pPr>
              <a:defRPr/>
            </a:pPr>
            <a:fld id="{5F45984F-4687-4822-B90B-D2F0C053EC34}" type="datetimeFigureOut">
              <a:rPr lang="fr-FR"/>
              <a:pPr>
                <a:defRPr/>
              </a:pPr>
              <a:t>19/04/2026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F9F1BFA6-010D-431C-B551-A9D369DB37A1}" type="slidenum">
              <a:rPr lang="fr-CA"/>
              <a:pPr>
                <a:defRPr/>
              </a:pPr>
              <a:t>‹#›</a:t>
            </a:fld>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a:t>Click to edit Master title style</a:t>
            </a:r>
            <a:endParaRPr lang="fr-CA"/>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Espace réservé de la date 3"/>
          <p:cNvSpPr>
            <a:spLocks noGrp="1"/>
          </p:cNvSpPr>
          <p:nvPr>
            <p:ph type="dt" sz="half" idx="10"/>
          </p:nvPr>
        </p:nvSpPr>
        <p:spPr/>
        <p:txBody>
          <a:bodyPr/>
          <a:lstStyle>
            <a:lvl1pPr>
              <a:defRPr/>
            </a:lvl1pPr>
          </a:lstStyle>
          <a:p>
            <a:pPr>
              <a:defRPr/>
            </a:pPr>
            <a:fld id="{1AAEB407-0560-4B40-983D-A7D236E18EC5}" type="datetimeFigureOut">
              <a:rPr lang="fr-FR"/>
              <a:pPr>
                <a:defRPr/>
              </a:pPr>
              <a:t>19/04/2026</a:t>
            </a:fld>
            <a:endParaRPr lang="fr-CA"/>
          </a:p>
        </p:txBody>
      </p:sp>
      <p:sp>
        <p:nvSpPr>
          <p:cNvPr id="8" name="Espace réservé du pied de page 4"/>
          <p:cNvSpPr>
            <a:spLocks noGrp="1"/>
          </p:cNvSpPr>
          <p:nvPr>
            <p:ph type="ftr" sz="quarter" idx="11"/>
          </p:nvPr>
        </p:nvSpPr>
        <p:spPr/>
        <p:txBody>
          <a:bodyPr/>
          <a:lstStyle>
            <a:lvl1pPr>
              <a:defRPr/>
            </a:lvl1pPr>
          </a:lstStyle>
          <a:p>
            <a:pPr>
              <a:defRPr/>
            </a:pPr>
            <a:endParaRPr lang="fr-CA"/>
          </a:p>
        </p:txBody>
      </p:sp>
      <p:sp>
        <p:nvSpPr>
          <p:cNvPr id="9" name="Espace réservé du numéro de diapositive 5"/>
          <p:cNvSpPr>
            <a:spLocks noGrp="1"/>
          </p:cNvSpPr>
          <p:nvPr>
            <p:ph type="sldNum" sz="quarter" idx="12"/>
          </p:nvPr>
        </p:nvSpPr>
        <p:spPr/>
        <p:txBody>
          <a:bodyPr/>
          <a:lstStyle>
            <a:lvl1pPr>
              <a:defRPr/>
            </a:lvl1pPr>
          </a:lstStyle>
          <a:p>
            <a:pPr>
              <a:defRPr/>
            </a:pPr>
            <a:fld id="{E3D0B0A2-27E0-4485-9168-8AA570A8DAFC}" type="slidenum">
              <a:rPr lang="fr-CA"/>
              <a:pPr>
                <a:defRPr/>
              </a:pPr>
              <a:t>‹#›</a:t>
            </a:fld>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e la date 3"/>
          <p:cNvSpPr>
            <a:spLocks noGrp="1"/>
          </p:cNvSpPr>
          <p:nvPr>
            <p:ph type="dt" sz="half" idx="10"/>
          </p:nvPr>
        </p:nvSpPr>
        <p:spPr/>
        <p:txBody>
          <a:bodyPr/>
          <a:lstStyle>
            <a:lvl1pPr>
              <a:defRPr/>
            </a:lvl1pPr>
          </a:lstStyle>
          <a:p>
            <a:pPr>
              <a:defRPr/>
            </a:pPr>
            <a:fld id="{31E07EA0-14F2-420C-A475-0D18AFDA93B1}" type="datetimeFigureOut">
              <a:rPr lang="fr-FR"/>
              <a:pPr>
                <a:defRPr/>
              </a:pPr>
              <a:t>19/04/2026</a:t>
            </a:fld>
            <a:endParaRPr lang="fr-CA"/>
          </a:p>
        </p:txBody>
      </p:sp>
      <p:sp>
        <p:nvSpPr>
          <p:cNvPr id="4" name="Espace réservé du pied de page 4"/>
          <p:cNvSpPr>
            <a:spLocks noGrp="1"/>
          </p:cNvSpPr>
          <p:nvPr>
            <p:ph type="ftr" sz="quarter" idx="11"/>
          </p:nvPr>
        </p:nvSpPr>
        <p:spPr/>
        <p:txBody>
          <a:bodyPr/>
          <a:lstStyle>
            <a:lvl1pPr>
              <a:defRPr/>
            </a:lvl1pPr>
          </a:lstStyle>
          <a:p>
            <a:pPr>
              <a:defRPr/>
            </a:pPr>
            <a:endParaRPr lang="fr-CA"/>
          </a:p>
        </p:txBody>
      </p:sp>
      <p:sp>
        <p:nvSpPr>
          <p:cNvPr id="5" name="Espace réservé du numéro de diapositive 5"/>
          <p:cNvSpPr>
            <a:spLocks noGrp="1"/>
          </p:cNvSpPr>
          <p:nvPr>
            <p:ph type="sldNum" sz="quarter" idx="12"/>
          </p:nvPr>
        </p:nvSpPr>
        <p:spPr/>
        <p:txBody>
          <a:bodyPr/>
          <a:lstStyle>
            <a:lvl1pPr>
              <a:defRPr/>
            </a:lvl1pPr>
          </a:lstStyle>
          <a:p>
            <a:pPr>
              <a:defRPr/>
            </a:pPr>
            <a:fld id="{F0B3AE74-2F99-4987-987A-6C3EA8F2668B}" type="slidenum">
              <a:rPr lang="fr-CA"/>
              <a:pPr>
                <a:defRPr/>
              </a:pPr>
              <a:t>‹#›</a:t>
            </a:fld>
            <a:endParaRPr lang="fr-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5DDA1DD5-A17C-48EA-9412-EA98D6409207}" type="datetimeFigureOut">
              <a:rPr lang="fr-FR"/>
              <a:pPr>
                <a:defRPr/>
              </a:pPr>
              <a:t>19/04/2026</a:t>
            </a:fld>
            <a:endParaRPr lang="fr-CA"/>
          </a:p>
        </p:txBody>
      </p:sp>
      <p:sp>
        <p:nvSpPr>
          <p:cNvPr id="3" name="Espace réservé du pied de page 4"/>
          <p:cNvSpPr>
            <a:spLocks noGrp="1"/>
          </p:cNvSpPr>
          <p:nvPr>
            <p:ph type="ftr" sz="quarter" idx="11"/>
          </p:nvPr>
        </p:nvSpPr>
        <p:spPr/>
        <p:txBody>
          <a:bodyPr/>
          <a:lstStyle>
            <a:lvl1pPr>
              <a:defRPr/>
            </a:lvl1pPr>
          </a:lstStyle>
          <a:p>
            <a:pPr>
              <a:defRPr/>
            </a:pPr>
            <a:endParaRPr lang="fr-CA"/>
          </a:p>
        </p:txBody>
      </p:sp>
      <p:sp>
        <p:nvSpPr>
          <p:cNvPr id="4" name="Espace réservé du numéro de diapositive 5"/>
          <p:cNvSpPr>
            <a:spLocks noGrp="1"/>
          </p:cNvSpPr>
          <p:nvPr>
            <p:ph type="sldNum" sz="quarter" idx="12"/>
          </p:nvPr>
        </p:nvSpPr>
        <p:spPr/>
        <p:txBody>
          <a:bodyPr/>
          <a:lstStyle>
            <a:lvl1pPr>
              <a:defRPr/>
            </a:lvl1pPr>
          </a:lstStyle>
          <a:p>
            <a:pPr>
              <a:defRPr/>
            </a:pPr>
            <a:fld id="{880E848E-D45A-49C9-AF07-E8D1D5BE3B06}" type="slidenum">
              <a:rPr lang="fr-CA"/>
              <a:pPr>
                <a:defRPr/>
              </a:pPr>
              <a:t>‹#›</a:t>
            </a:fld>
            <a:endParaRPr lang="fr-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fr-CA"/>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00002456-19D9-42BE-A6A4-31B0B2C0CD52}" type="datetimeFigureOut">
              <a:rPr lang="fr-FR"/>
              <a:pPr>
                <a:defRPr/>
              </a:pPr>
              <a:t>19/04/2026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4AFF93D-3571-4F94-83EE-E5D41E95C87B}" type="slidenum">
              <a:rPr lang="fr-CA"/>
              <a:pPr>
                <a:defRPr/>
              </a:pPr>
              <a:t>‹#›</a:t>
            </a:fld>
            <a:endParaRPr lang="fr-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fr-CA"/>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fr-CA"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1AFF835A-66CB-4758-9200-7B9C84F9639E}" type="datetimeFigureOut">
              <a:rPr lang="fr-FR"/>
              <a:pPr>
                <a:defRPr/>
              </a:pPr>
              <a:t>19/04/2026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57E2403-F942-4042-B87D-191FA9AEC4FC}" type="slidenum">
              <a:rPr lang="fr-CA"/>
              <a:pPr>
                <a:defRPr/>
              </a:pPr>
              <a:t>‹#›</a:t>
            </a:fld>
            <a:endParaRPr lang="fr-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890CA72D-36E4-4393-9507-9CBDA1AC8F50}" type="datetimeFigureOut">
              <a:rPr lang="fr-FR"/>
              <a:pPr>
                <a:defRPr/>
              </a:pPr>
              <a:t>19/04/2026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3F488108-AC2B-469D-8E1A-8A1FC91F787D}" type="slidenum">
              <a:rPr lang="fr-CA"/>
              <a:pPr>
                <a:defRPr/>
              </a:pPr>
              <a:t>‹#›</a:t>
            </a:fld>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a:t>Click to edit Master title style</a:t>
            </a:r>
            <a:endParaRPr lang="fr-CA"/>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343A0D9B-B10A-4C2F-90C1-683BF0DFEB41}" type="datetimeFigureOut">
              <a:rPr lang="fr-FR"/>
              <a:pPr>
                <a:defRPr/>
              </a:pPr>
              <a:t>19/04/2026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C044A544-6A6F-467F-AC6F-55FD44753437}" type="slidenum">
              <a:rPr lang="fr-CA"/>
              <a:pPr>
                <a:defRPr/>
              </a:pPr>
              <a:t>‹#›</a:t>
            </a:fld>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a:t>Cliquez pour modifier le style du titre</a:t>
            </a:r>
            <a:endParaRPr lang="fr-CA"/>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22E20E43-3D58-4660-B8C5-0C3B8220668E}" type="datetimeFigureOut">
              <a:rPr lang="fr-FR"/>
              <a:pPr>
                <a:defRPr/>
              </a:pPr>
              <a:t>19/04/2026</a:t>
            </a:fld>
            <a:endParaRPr lang="fr-CA"/>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CA"/>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019B76BF-C9E2-4657-92CA-F0808A608D01}" type="slidenum">
              <a:rPr lang="fr-CA"/>
              <a:pPr>
                <a:defRPr/>
              </a:pPr>
              <a:t>‹#›</a:t>
            </a:fld>
            <a:endParaRPr lang="fr-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0" name="Titre 1"/>
          <p:cNvSpPr>
            <a:spLocks noGrp="1"/>
          </p:cNvSpPr>
          <p:nvPr>
            <p:ph type="ctrTitle"/>
          </p:nvPr>
        </p:nvSpPr>
        <p:spPr>
          <a:xfrm>
            <a:off x="685800" y="3373438"/>
            <a:ext cx="7772400" cy="1012825"/>
          </a:xfrm>
        </p:spPr>
        <p:txBody>
          <a:bodyPr/>
          <a:lstStyle/>
          <a:p>
            <a:r>
              <a:rPr lang="fr-CA" sz="4000" dirty="0">
                <a:solidFill>
                  <a:schemeClr val="bg1"/>
                </a:solidFill>
              </a:rPr>
              <a:t>Chroma</a:t>
            </a:r>
            <a:endParaRPr lang="fr-CA" sz="3800" dirty="0">
              <a:solidFill>
                <a:schemeClr val="bg1"/>
              </a:solidFill>
            </a:endParaRPr>
          </a:p>
        </p:txBody>
      </p:sp>
      <p:sp>
        <p:nvSpPr>
          <p:cNvPr id="2051" name="Sous-titre 2"/>
          <p:cNvSpPr>
            <a:spLocks noGrp="1"/>
          </p:cNvSpPr>
          <p:nvPr>
            <p:ph type="subTitle" idx="1"/>
          </p:nvPr>
        </p:nvSpPr>
        <p:spPr>
          <a:xfrm>
            <a:off x="5715000" y="6091237"/>
            <a:ext cx="3124200" cy="614363"/>
          </a:xfrm>
        </p:spPr>
        <p:txBody>
          <a:bodyPr/>
          <a:lstStyle/>
          <a:p>
            <a:r>
              <a:rPr lang="fr-CA" sz="2600" dirty="0">
                <a:solidFill>
                  <a:schemeClr val="bg1"/>
                </a:solidFill>
              </a:rPr>
              <a:t>Dima Ionut Daniel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2071688" y="274638"/>
            <a:ext cx="6615112" cy="1143000"/>
          </a:xfrm>
        </p:spPr>
        <p:txBody>
          <a:bodyPr/>
          <a:lstStyle/>
          <a:p>
            <a:pPr algn="l"/>
            <a:r>
              <a:rPr lang="fr-CA" sz="4000" dirty="0">
                <a:solidFill>
                  <a:srgbClr val="3C5790"/>
                </a:solidFill>
              </a:rPr>
              <a:t>Contents</a:t>
            </a:r>
          </a:p>
        </p:txBody>
      </p:sp>
      <p:sp>
        <p:nvSpPr>
          <p:cNvPr id="3075" name="Espace réservé du contenu 2"/>
          <p:cNvSpPr>
            <a:spLocks noGrp="1"/>
          </p:cNvSpPr>
          <p:nvPr>
            <p:ph idx="1"/>
          </p:nvPr>
        </p:nvSpPr>
        <p:spPr>
          <a:xfrm>
            <a:off x="2224088" y="1600200"/>
            <a:ext cx="6615112" cy="5029200"/>
          </a:xfrm>
        </p:spPr>
        <p:txBody>
          <a:bodyPr/>
          <a:lstStyle/>
          <a:p>
            <a:r>
              <a:rPr lang="fr-CA" sz="1600" dirty="0" err="1">
                <a:solidFill>
                  <a:srgbClr val="3C5790"/>
                </a:solidFill>
              </a:rPr>
              <a:t>What</a:t>
            </a:r>
            <a:r>
              <a:rPr lang="fr-CA" sz="1600" dirty="0">
                <a:solidFill>
                  <a:srgbClr val="3C5790"/>
                </a:solidFill>
              </a:rPr>
              <a:t> </a:t>
            </a:r>
            <a:r>
              <a:rPr lang="fr-CA" sz="1600" dirty="0" err="1">
                <a:solidFill>
                  <a:srgbClr val="3C5790"/>
                </a:solidFill>
              </a:rPr>
              <a:t>is</a:t>
            </a:r>
            <a:r>
              <a:rPr lang="fr-CA" sz="1600" dirty="0">
                <a:solidFill>
                  <a:srgbClr val="3C5790"/>
                </a:solidFill>
              </a:rPr>
              <a:t> Chroma?</a:t>
            </a:r>
          </a:p>
          <a:p>
            <a:r>
              <a:rPr lang="fr-CA" sz="1600" dirty="0" err="1">
                <a:solidFill>
                  <a:srgbClr val="3C5790"/>
                </a:solidFill>
              </a:rPr>
              <a:t>History</a:t>
            </a:r>
            <a:endParaRPr lang="fr-CA" sz="1600" dirty="0">
              <a:solidFill>
                <a:srgbClr val="3C5790"/>
              </a:solidFill>
            </a:endParaRPr>
          </a:p>
          <a:p>
            <a:r>
              <a:rPr lang="fr-CA" sz="1600" dirty="0" err="1">
                <a:solidFill>
                  <a:srgbClr val="3C5790"/>
                </a:solidFill>
              </a:rPr>
              <a:t>Features</a:t>
            </a:r>
            <a:endParaRPr lang="fr-CA" sz="1600" dirty="0">
              <a:solidFill>
                <a:srgbClr val="3C5790"/>
              </a:solidFill>
            </a:endParaRPr>
          </a:p>
          <a:p>
            <a:r>
              <a:rPr lang="fr-CA" sz="1600" dirty="0">
                <a:solidFill>
                  <a:srgbClr val="3C5790"/>
                </a:solidFill>
              </a:rPr>
              <a:t>Goals</a:t>
            </a:r>
          </a:p>
          <a:p>
            <a:r>
              <a:rPr lang="fr-CA" sz="1600" dirty="0">
                <a:solidFill>
                  <a:srgbClr val="3C5790"/>
                </a:solidFill>
              </a:rPr>
              <a:t>Use Cases</a:t>
            </a:r>
          </a:p>
          <a:p>
            <a:r>
              <a:rPr lang="fr-CA" sz="1600" dirty="0" err="1">
                <a:solidFill>
                  <a:srgbClr val="3C5790"/>
                </a:solidFill>
              </a:rPr>
              <a:t>Arhitecture</a:t>
            </a:r>
            <a:endParaRPr lang="fr-CA" sz="1600" dirty="0">
              <a:solidFill>
                <a:srgbClr val="3C5790"/>
              </a:solidFill>
            </a:endParaRPr>
          </a:p>
          <a:p>
            <a:r>
              <a:rPr lang="fr-CA" sz="1600" dirty="0">
                <a:solidFill>
                  <a:srgbClr val="3C5790"/>
                </a:solidFill>
              </a:rPr>
              <a:t>Concepts</a:t>
            </a:r>
          </a:p>
          <a:p>
            <a:r>
              <a:rPr lang="fr-CA" sz="1600" dirty="0" err="1">
                <a:solidFill>
                  <a:srgbClr val="3C5790"/>
                </a:solidFill>
              </a:rPr>
              <a:t>Core</a:t>
            </a:r>
            <a:endParaRPr lang="fr-CA" sz="1600" dirty="0">
              <a:solidFill>
                <a:srgbClr val="3C5790"/>
              </a:solidFill>
            </a:endParaRPr>
          </a:p>
          <a:p>
            <a:r>
              <a:rPr lang="fr-CA" sz="1600" dirty="0" err="1">
                <a:solidFill>
                  <a:srgbClr val="3C5790"/>
                </a:solidFill>
              </a:rPr>
              <a:t>Vector</a:t>
            </a:r>
            <a:r>
              <a:rPr lang="fr-CA" sz="1600" dirty="0">
                <a:solidFill>
                  <a:srgbClr val="3C5790"/>
                </a:solidFill>
              </a:rPr>
              <a:t> stores </a:t>
            </a:r>
            <a:r>
              <a:rPr lang="fr-CA" sz="1600" dirty="0" err="1">
                <a:solidFill>
                  <a:srgbClr val="3C5790"/>
                </a:solidFill>
              </a:rPr>
              <a:t>comparision</a:t>
            </a:r>
            <a:endParaRPr lang="fr-CA" sz="1600" dirty="0">
              <a:solidFill>
                <a:srgbClr val="3C5790"/>
              </a:solidFill>
            </a:endParaRPr>
          </a:p>
          <a:p>
            <a:r>
              <a:rPr lang="en-US" sz="1600" dirty="0">
                <a:solidFill>
                  <a:srgbClr val="3C5790"/>
                </a:solidFill>
              </a:rPr>
              <a:t>Conclusion</a:t>
            </a:r>
          </a:p>
          <a:p>
            <a:r>
              <a:rPr lang="fr-CA" sz="1600" dirty="0">
                <a:solidFill>
                  <a:srgbClr val="3C5790"/>
                </a:solidFill>
              </a:rPr>
              <a:t>Bibliography</a:t>
            </a:r>
          </a:p>
          <a:p>
            <a:pPr>
              <a:buNone/>
            </a:pPr>
            <a:br>
              <a:rPr lang="fr-CA" sz="1600" dirty="0">
                <a:solidFill>
                  <a:srgbClr val="3C5790"/>
                </a:solidFill>
              </a:rPr>
            </a:br>
            <a:endParaRPr lang="fr-CA" sz="1600" dirty="0">
              <a:solidFill>
                <a:srgbClr val="3C579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What</a:t>
            </a:r>
            <a:r>
              <a:rPr lang="fr-CA" dirty="0">
                <a:solidFill>
                  <a:schemeClr val="bg1"/>
                </a:solidFill>
              </a:rPr>
              <a:t> </a:t>
            </a:r>
            <a:r>
              <a:rPr lang="fr-CA" dirty="0" err="1">
                <a:solidFill>
                  <a:schemeClr val="bg1"/>
                </a:solidFill>
              </a:rPr>
              <a:t>is</a:t>
            </a:r>
            <a:r>
              <a:rPr lang="fr-CA" dirty="0">
                <a:solidFill>
                  <a:schemeClr val="bg1"/>
                </a:solidFill>
              </a:rPr>
              <a:t> Chroma?</a:t>
            </a:r>
          </a:p>
        </p:txBody>
      </p:sp>
      <p:sp>
        <p:nvSpPr>
          <p:cNvPr id="4099" name="Espace réservé du contenu 4"/>
          <p:cNvSpPr>
            <a:spLocks noGrp="1"/>
          </p:cNvSpPr>
          <p:nvPr>
            <p:ph idx="1"/>
          </p:nvPr>
        </p:nvSpPr>
        <p:spPr>
          <a:xfrm>
            <a:off x="228600" y="2133600"/>
            <a:ext cx="8686800" cy="4419600"/>
          </a:xfrm>
        </p:spPr>
        <p:txBody>
          <a:bodyPr/>
          <a:lstStyle/>
          <a:p>
            <a:r>
              <a:rPr lang="en-US" sz="1500" b="1" dirty="0">
                <a:solidFill>
                  <a:srgbClr val="3C5790"/>
                </a:solidFill>
              </a:rPr>
              <a:t>Chroma Vector Database </a:t>
            </a:r>
            <a:r>
              <a:rPr lang="en-US" sz="1500" dirty="0">
                <a:solidFill>
                  <a:srgbClr val="3C5790"/>
                </a:solidFill>
              </a:rPr>
              <a:t>(</a:t>
            </a:r>
            <a:r>
              <a:rPr lang="en-US" sz="1500" b="1" dirty="0">
                <a:solidFill>
                  <a:srgbClr val="3C5790"/>
                </a:solidFill>
              </a:rPr>
              <a:t>Chroma</a:t>
            </a:r>
            <a:r>
              <a:rPr lang="en-US" sz="1500" dirty="0">
                <a:solidFill>
                  <a:srgbClr val="3C5790"/>
                </a:solidFill>
              </a:rPr>
              <a:t> </a:t>
            </a:r>
            <a:r>
              <a:rPr lang="en-US" sz="1500" b="1" dirty="0">
                <a:solidFill>
                  <a:srgbClr val="3C5790"/>
                </a:solidFill>
              </a:rPr>
              <a:t>DB</a:t>
            </a:r>
            <a:r>
              <a:rPr lang="en-US" sz="1500" dirty="0">
                <a:solidFill>
                  <a:srgbClr val="3C5790"/>
                </a:solidFill>
              </a:rPr>
              <a:t>) is a modern, high-performance, open-source vector database designed specifically for AI and machine learning applications. It is built to store and manage vector embeddings—numerical representations of data such as text, images, and other complex media types used by AI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History</a:t>
            </a:r>
            <a:endParaRPr lang="fr-CA" dirty="0">
              <a:solidFill>
                <a:schemeClr val="bg1"/>
              </a:solidFill>
            </a:endParaRPr>
          </a:p>
        </p:txBody>
      </p:sp>
      <p:sp>
        <p:nvSpPr>
          <p:cNvPr id="4099" name="Espace réservé du contenu 4"/>
          <p:cNvSpPr>
            <a:spLocks noGrp="1"/>
          </p:cNvSpPr>
          <p:nvPr>
            <p:ph idx="1"/>
          </p:nvPr>
        </p:nvSpPr>
        <p:spPr>
          <a:xfrm>
            <a:off x="228600" y="2133600"/>
            <a:ext cx="8686800" cy="2743200"/>
          </a:xfrm>
        </p:spPr>
        <p:txBody>
          <a:bodyPr/>
          <a:lstStyle/>
          <a:p>
            <a:r>
              <a:rPr lang="en-US" sz="1500" dirty="0">
                <a:solidFill>
                  <a:srgbClr val="3C5790"/>
                </a:solidFill>
              </a:rPr>
              <a:t>Its headquarters are in San Francisco. In April 2023, it raised 18 million US dollars as seed funding.</a:t>
            </a:r>
          </a:p>
          <a:p>
            <a:r>
              <a:rPr lang="en-US" sz="1500" dirty="0" err="1">
                <a:solidFill>
                  <a:srgbClr val="3C5790"/>
                </a:solidFill>
              </a:rPr>
              <a:t>ChromaDB</a:t>
            </a:r>
            <a:r>
              <a:rPr lang="en-US" sz="1500" dirty="0">
                <a:solidFill>
                  <a:srgbClr val="3C5790"/>
                </a:solidFill>
              </a:rPr>
              <a:t> has been used in academic studies on artificial intelligence, particularly as part of the tech stack for retrieval-augmented generation.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endParaRPr lang="fr-CA" dirty="0">
              <a:solidFill>
                <a:schemeClr val="bg1"/>
              </a:solidFill>
            </a:endParaRPr>
          </a:p>
        </p:txBody>
      </p:sp>
      <p:sp>
        <p:nvSpPr>
          <p:cNvPr id="4099" name="Espace réservé du contenu 4"/>
          <p:cNvSpPr>
            <a:spLocks noGrp="1"/>
          </p:cNvSpPr>
          <p:nvPr>
            <p:ph idx="1"/>
          </p:nvPr>
        </p:nvSpPr>
        <p:spPr>
          <a:xfrm>
            <a:off x="228600" y="2133600"/>
            <a:ext cx="8686800" cy="3657600"/>
          </a:xfrm>
        </p:spPr>
        <p:txBody>
          <a:bodyPr/>
          <a:lstStyle/>
          <a:p>
            <a:r>
              <a:rPr lang="en-US" sz="1400" b="1" dirty="0">
                <a:solidFill>
                  <a:srgbClr val="3C5790"/>
                </a:solidFill>
              </a:rPr>
              <a:t>Efficient Similarity Search</a:t>
            </a:r>
            <a:r>
              <a:rPr lang="en-US" sz="1400" dirty="0">
                <a:solidFill>
                  <a:srgbClr val="3C5790"/>
                </a:solidFill>
              </a:rPr>
              <a:t>: Quickly finds nearest neighbors in high-dimensional vector space.</a:t>
            </a:r>
          </a:p>
          <a:p>
            <a:r>
              <a:rPr lang="en-US" sz="1400" b="1" dirty="0">
                <a:solidFill>
                  <a:srgbClr val="3C5790"/>
                </a:solidFill>
              </a:rPr>
              <a:t>Scalable</a:t>
            </a:r>
            <a:r>
              <a:rPr lang="en-US" sz="1400" dirty="0">
                <a:solidFill>
                  <a:srgbClr val="3C5790"/>
                </a:solidFill>
              </a:rPr>
              <a:t> </a:t>
            </a:r>
            <a:r>
              <a:rPr lang="en-US" sz="1400" b="1" dirty="0">
                <a:solidFill>
                  <a:srgbClr val="3C5790"/>
                </a:solidFill>
              </a:rPr>
              <a:t>Architecture</a:t>
            </a:r>
            <a:r>
              <a:rPr lang="en-US" sz="1400" dirty="0">
                <a:solidFill>
                  <a:srgbClr val="3C5790"/>
                </a:solidFill>
              </a:rPr>
              <a:t>: Can horizontally scale across multiple nodes for large datasets.</a:t>
            </a:r>
          </a:p>
          <a:p>
            <a:r>
              <a:rPr lang="en-US" sz="1400" b="1" dirty="0">
                <a:solidFill>
                  <a:srgbClr val="3C5790"/>
                </a:solidFill>
              </a:rPr>
              <a:t>Open</a:t>
            </a:r>
            <a:r>
              <a:rPr lang="en-US" sz="1400" dirty="0">
                <a:solidFill>
                  <a:srgbClr val="3C5790"/>
                </a:solidFill>
              </a:rPr>
              <a:t> </a:t>
            </a:r>
            <a:r>
              <a:rPr lang="en-US" sz="1400" b="1" dirty="0">
                <a:solidFill>
                  <a:srgbClr val="3C5790"/>
                </a:solidFill>
              </a:rPr>
              <a:t>Source</a:t>
            </a:r>
            <a:r>
              <a:rPr lang="en-US" sz="1400" dirty="0">
                <a:solidFill>
                  <a:srgbClr val="3C5790"/>
                </a:solidFill>
              </a:rPr>
              <a:t>: Encourages community contributions and customization.</a:t>
            </a:r>
          </a:p>
          <a:p>
            <a:r>
              <a:rPr lang="en-US" sz="1400" b="1" dirty="0">
                <a:solidFill>
                  <a:srgbClr val="3C5790"/>
                </a:solidFill>
              </a:rPr>
              <a:t>In-memory</a:t>
            </a:r>
            <a:r>
              <a:rPr lang="en-US" sz="1400" dirty="0">
                <a:solidFill>
                  <a:srgbClr val="3C5790"/>
                </a:solidFill>
              </a:rPr>
              <a:t> </a:t>
            </a:r>
            <a:r>
              <a:rPr lang="en-US" sz="1400" b="1" dirty="0">
                <a:solidFill>
                  <a:srgbClr val="3C5790"/>
                </a:solidFill>
              </a:rPr>
              <a:t>and</a:t>
            </a:r>
            <a:r>
              <a:rPr lang="en-US" sz="1400" dirty="0">
                <a:solidFill>
                  <a:srgbClr val="3C5790"/>
                </a:solidFill>
              </a:rPr>
              <a:t> </a:t>
            </a:r>
            <a:r>
              <a:rPr lang="en-US" sz="1400" b="1" dirty="0">
                <a:solidFill>
                  <a:srgbClr val="3C5790"/>
                </a:solidFill>
              </a:rPr>
              <a:t>Persistent</a:t>
            </a:r>
            <a:r>
              <a:rPr lang="en-US" sz="1400" dirty="0">
                <a:solidFill>
                  <a:srgbClr val="3C5790"/>
                </a:solidFill>
              </a:rPr>
              <a:t> </a:t>
            </a:r>
            <a:r>
              <a:rPr lang="en-US" sz="1400" b="1" dirty="0">
                <a:solidFill>
                  <a:srgbClr val="3C5790"/>
                </a:solidFill>
              </a:rPr>
              <a:t>Storage</a:t>
            </a:r>
            <a:r>
              <a:rPr lang="en-US" sz="1400" dirty="0">
                <a:solidFill>
                  <a:srgbClr val="3C5790"/>
                </a:solidFill>
              </a:rPr>
              <a:t>: Offers fast read/write with options for durability.</a:t>
            </a:r>
          </a:p>
          <a:p>
            <a:r>
              <a:rPr lang="en-US" sz="1400" b="1" dirty="0">
                <a:solidFill>
                  <a:srgbClr val="3C5790"/>
                </a:solidFill>
              </a:rPr>
              <a:t>Simple API</a:t>
            </a:r>
            <a:r>
              <a:rPr lang="en-US" sz="1400" dirty="0">
                <a:solidFill>
                  <a:srgbClr val="3C5790"/>
                </a:solidFill>
              </a:rPr>
              <a:t>: Facilitates easy embedding management and searching.</a:t>
            </a:r>
          </a:p>
        </p:txBody>
      </p:sp>
    </p:spTree>
    <p:extLst>
      <p:ext uri="{BB962C8B-B14F-4D97-AF65-F5344CB8AC3E}">
        <p14:creationId xmlns:p14="http://schemas.microsoft.com/office/powerpoint/2010/main" val="2708943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Goals</a:t>
            </a:r>
          </a:p>
        </p:txBody>
      </p:sp>
      <p:sp>
        <p:nvSpPr>
          <p:cNvPr id="4099" name="Espace réservé du contenu 4"/>
          <p:cNvSpPr>
            <a:spLocks noGrp="1"/>
          </p:cNvSpPr>
          <p:nvPr>
            <p:ph idx="1"/>
          </p:nvPr>
        </p:nvSpPr>
        <p:spPr>
          <a:xfrm>
            <a:off x="228600" y="2133600"/>
            <a:ext cx="8686800" cy="2362200"/>
          </a:xfrm>
        </p:spPr>
        <p:txBody>
          <a:bodyPr/>
          <a:lstStyle/>
          <a:p>
            <a:r>
              <a:rPr lang="en-US" sz="1400" dirty="0">
                <a:solidFill>
                  <a:srgbClr val="3C5790"/>
                </a:solidFill>
              </a:rPr>
              <a:t>Provide a modern, open-source embedded vector database designed specifically for AI and machine learning workloads, focusing on efficient storage, management, and retrieval of vector embeddings derived from data like text, images, and audio.</a:t>
            </a:r>
          </a:p>
          <a:p>
            <a:r>
              <a:rPr lang="en-US" sz="1400" b="1" dirty="0">
                <a:solidFill>
                  <a:srgbClr val="3C5790"/>
                </a:solidFill>
              </a:rPr>
              <a:t>Optimize</a:t>
            </a:r>
            <a:r>
              <a:rPr lang="en-US" sz="1400" dirty="0">
                <a:solidFill>
                  <a:srgbClr val="3C5790"/>
                </a:solidFill>
              </a:rPr>
              <a:t> </a:t>
            </a:r>
            <a:r>
              <a:rPr lang="en-US" sz="1400" b="1" dirty="0">
                <a:solidFill>
                  <a:srgbClr val="3C5790"/>
                </a:solidFill>
              </a:rPr>
              <a:t>fast</a:t>
            </a:r>
            <a:r>
              <a:rPr lang="en-US" sz="1400" dirty="0">
                <a:solidFill>
                  <a:srgbClr val="3C5790"/>
                </a:solidFill>
              </a:rPr>
              <a:t> and </a:t>
            </a:r>
            <a:r>
              <a:rPr lang="en-US" sz="1400" b="1" dirty="0">
                <a:solidFill>
                  <a:srgbClr val="3C5790"/>
                </a:solidFill>
              </a:rPr>
              <a:t>scalable</a:t>
            </a:r>
            <a:r>
              <a:rPr lang="en-US" sz="1400" dirty="0">
                <a:solidFill>
                  <a:srgbClr val="3C5790"/>
                </a:solidFill>
              </a:rPr>
              <a:t> </a:t>
            </a:r>
            <a:r>
              <a:rPr lang="en-US" sz="1400" b="1" dirty="0">
                <a:solidFill>
                  <a:srgbClr val="3C5790"/>
                </a:solidFill>
              </a:rPr>
              <a:t>similarity</a:t>
            </a:r>
            <a:r>
              <a:rPr lang="en-US" sz="1400" dirty="0">
                <a:solidFill>
                  <a:srgbClr val="3C5790"/>
                </a:solidFill>
              </a:rPr>
              <a:t> search to enable applications to find nearest neighbors or semantically similar items quickly, supporting use cases like recommender systems, semantic search, image retrieval, and chatbot memory.</a:t>
            </a:r>
          </a:p>
          <a:p>
            <a:r>
              <a:rPr lang="en-US" sz="1400" dirty="0">
                <a:solidFill>
                  <a:srgbClr val="3C5790"/>
                </a:solidFill>
              </a:rPr>
              <a:t>Offer </a:t>
            </a:r>
            <a:r>
              <a:rPr lang="en-US" sz="1400" b="1" dirty="0">
                <a:solidFill>
                  <a:srgbClr val="3C5790"/>
                </a:solidFill>
              </a:rPr>
              <a:t>seamless</a:t>
            </a:r>
            <a:r>
              <a:rPr lang="en-US" sz="1400" dirty="0">
                <a:solidFill>
                  <a:srgbClr val="3C5790"/>
                </a:solidFill>
              </a:rPr>
              <a:t> </a:t>
            </a:r>
            <a:r>
              <a:rPr lang="en-US" sz="1400" b="1" dirty="0">
                <a:solidFill>
                  <a:srgbClr val="3C5790"/>
                </a:solidFill>
              </a:rPr>
              <a:t>integration</a:t>
            </a:r>
            <a:r>
              <a:rPr lang="en-US" sz="1400" dirty="0">
                <a:solidFill>
                  <a:srgbClr val="3C5790"/>
                </a:solidFill>
              </a:rPr>
              <a:t> with popular machine learning frameworks such as TensorFlow, </a:t>
            </a:r>
            <a:r>
              <a:rPr lang="en-US" sz="1400" dirty="0" err="1">
                <a:solidFill>
                  <a:srgbClr val="3C5790"/>
                </a:solidFill>
              </a:rPr>
              <a:t>PyTorch</a:t>
            </a:r>
            <a:r>
              <a:rPr lang="en-US" sz="1400" dirty="0">
                <a:solidFill>
                  <a:srgbClr val="3C5790"/>
                </a:solidFill>
              </a:rPr>
              <a:t>, and Hugging Face, making it easier to incorporate embeddings generated by models into AI application workflows.</a:t>
            </a:r>
          </a:p>
          <a:p>
            <a:endParaRPr lang="en-US" sz="1400" dirty="0">
              <a:solidFill>
                <a:srgbClr val="3C5790"/>
              </a:solidFill>
            </a:endParaRPr>
          </a:p>
        </p:txBody>
      </p:sp>
    </p:spTree>
    <p:extLst>
      <p:ext uri="{BB962C8B-B14F-4D97-AF65-F5344CB8AC3E}">
        <p14:creationId xmlns:p14="http://schemas.microsoft.com/office/powerpoint/2010/main" val="3821931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Goals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362200"/>
          </a:xfrm>
        </p:spPr>
        <p:txBody>
          <a:bodyPr/>
          <a:lstStyle/>
          <a:p>
            <a:r>
              <a:rPr lang="en-US" sz="1400" dirty="0">
                <a:solidFill>
                  <a:srgbClr val="3C5790"/>
                </a:solidFill>
              </a:rPr>
              <a:t>Support </a:t>
            </a:r>
            <a:r>
              <a:rPr lang="en-US" sz="1400" b="1" dirty="0">
                <a:solidFill>
                  <a:srgbClr val="3C5790"/>
                </a:solidFill>
              </a:rPr>
              <a:t>horizontal</a:t>
            </a:r>
            <a:r>
              <a:rPr lang="en-US" sz="1400" dirty="0">
                <a:solidFill>
                  <a:srgbClr val="3C5790"/>
                </a:solidFill>
              </a:rPr>
              <a:t> </a:t>
            </a:r>
            <a:r>
              <a:rPr lang="en-US" sz="1400" b="1" dirty="0">
                <a:solidFill>
                  <a:srgbClr val="3C5790"/>
                </a:solidFill>
              </a:rPr>
              <a:t>scalability</a:t>
            </a:r>
            <a:r>
              <a:rPr lang="en-US" sz="1400" dirty="0">
                <a:solidFill>
                  <a:srgbClr val="3C5790"/>
                </a:solidFill>
              </a:rPr>
              <a:t> and large-scale data handling to accommodate enterprise needs, ensuring that the system remains performant as the volume of embeddings grows.</a:t>
            </a:r>
          </a:p>
          <a:p>
            <a:r>
              <a:rPr lang="en-US" sz="1400" dirty="0">
                <a:solidFill>
                  <a:srgbClr val="3C5790"/>
                </a:solidFill>
              </a:rPr>
              <a:t>Provide a </a:t>
            </a:r>
            <a:r>
              <a:rPr lang="en-US" sz="1400" b="1" dirty="0">
                <a:solidFill>
                  <a:srgbClr val="3C5790"/>
                </a:solidFill>
              </a:rPr>
              <a:t>simple, developer-friendly API </a:t>
            </a:r>
            <a:r>
              <a:rPr lang="en-US" sz="1400" dirty="0">
                <a:solidFill>
                  <a:srgbClr val="3C5790"/>
                </a:solidFill>
              </a:rPr>
              <a:t>for managing embeddings, metadata, documents, and full-text search within one database, enabling flexible, hybrid retrieval strategies.</a:t>
            </a:r>
          </a:p>
          <a:p>
            <a:r>
              <a:rPr lang="en-US" sz="1400" b="1" dirty="0">
                <a:solidFill>
                  <a:srgbClr val="3C5790"/>
                </a:solidFill>
              </a:rPr>
              <a:t>Enable real-time ingestion </a:t>
            </a:r>
            <a:r>
              <a:rPr lang="en-US" sz="1400" dirty="0">
                <a:solidFill>
                  <a:srgbClr val="3C5790"/>
                </a:solidFill>
              </a:rPr>
              <a:t>and up-to-date vector storage so that AI applications can adapt rapidly to new data, critical for recommendations, adaptive learning, or live query responses.</a:t>
            </a:r>
          </a:p>
          <a:p>
            <a:r>
              <a:rPr lang="en-US" sz="1400" dirty="0">
                <a:solidFill>
                  <a:srgbClr val="3C5790"/>
                </a:solidFill>
              </a:rPr>
              <a:t>Maintain an </a:t>
            </a:r>
            <a:r>
              <a:rPr lang="en-US" sz="1400" b="1" dirty="0">
                <a:solidFill>
                  <a:srgbClr val="3C5790"/>
                </a:solidFill>
              </a:rPr>
              <a:t>open-source</a:t>
            </a:r>
            <a:r>
              <a:rPr lang="en-US" sz="1400" dirty="0">
                <a:solidFill>
                  <a:srgbClr val="3C5790"/>
                </a:solidFill>
              </a:rPr>
              <a:t>, community-driven ethos under the </a:t>
            </a:r>
            <a:r>
              <a:rPr lang="en-US" sz="1400" b="1" dirty="0">
                <a:solidFill>
                  <a:srgbClr val="3C5790"/>
                </a:solidFill>
              </a:rPr>
              <a:t>Apache 2.0 </a:t>
            </a:r>
            <a:r>
              <a:rPr lang="en-US" sz="1400" dirty="0">
                <a:solidFill>
                  <a:srgbClr val="3C5790"/>
                </a:solidFill>
              </a:rPr>
              <a:t>license to promote transparency, extensibility, and broad adoption in AI and data science communities.</a:t>
            </a:r>
          </a:p>
          <a:p>
            <a:endParaRPr lang="en-US" sz="1400" dirty="0">
              <a:solidFill>
                <a:srgbClr val="3C5790"/>
              </a:solidFill>
            </a:endParaRPr>
          </a:p>
        </p:txBody>
      </p:sp>
    </p:spTree>
    <p:extLst>
      <p:ext uri="{BB962C8B-B14F-4D97-AF65-F5344CB8AC3E}">
        <p14:creationId xmlns:p14="http://schemas.microsoft.com/office/powerpoint/2010/main" val="1902186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Use Cases</a:t>
            </a:r>
          </a:p>
        </p:txBody>
      </p:sp>
      <p:sp>
        <p:nvSpPr>
          <p:cNvPr id="4099" name="Espace réservé du contenu 4"/>
          <p:cNvSpPr>
            <a:spLocks noGrp="1"/>
          </p:cNvSpPr>
          <p:nvPr>
            <p:ph idx="1"/>
          </p:nvPr>
        </p:nvSpPr>
        <p:spPr>
          <a:xfrm>
            <a:off x="228600" y="2133600"/>
            <a:ext cx="8686800" cy="1447800"/>
          </a:xfrm>
        </p:spPr>
        <p:txBody>
          <a:bodyPr/>
          <a:lstStyle/>
          <a:p>
            <a:r>
              <a:rPr lang="en-US" sz="1400" dirty="0">
                <a:solidFill>
                  <a:srgbClr val="3C5790"/>
                </a:solidFill>
              </a:rPr>
              <a:t>Semantic search in documents</a:t>
            </a:r>
          </a:p>
          <a:p>
            <a:r>
              <a:rPr lang="en-US" sz="1400" dirty="0">
                <a:solidFill>
                  <a:srgbClr val="3C5790"/>
                </a:solidFill>
              </a:rPr>
              <a:t>Personalized recommendation engines</a:t>
            </a:r>
          </a:p>
          <a:p>
            <a:r>
              <a:rPr lang="en-US" sz="1400" dirty="0">
                <a:solidFill>
                  <a:srgbClr val="3C5790"/>
                </a:solidFill>
              </a:rPr>
              <a:t>Image and multimedia retrieval</a:t>
            </a:r>
          </a:p>
          <a:p>
            <a:r>
              <a:rPr lang="en-US" sz="1400" dirty="0">
                <a:solidFill>
                  <a:srgbClr val="3C5790"/>
                </a:solidFill>
              </a:rPr>
              <a:t>AI chatbot conversation context management</a:t>
            </a:r>
            <a:endParaRPr lang="fr-CA" sz="1400" dirty="0">
              <a:solidFill>
                <a:srgbClr val="3C5790"/>
              </a:solidFill>
            </a:endParaRPr>
          </a:p>
        </p:txBody>
      </p:sp>
    </p:spTree>
    <p:extLst>
      <p:ext uri="{BB962C8B-B14F-4D97-AF65-F5344CB8AC3E}">
        <p14:creationId xmlns:p14="http://schemas.microsoft.com/office/powerpoint/2010/main" val="2714434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Arhitecture</a:t>
            </a:r>
            <a:endParaRPr lang="fr-CA" dirty="0">
              <a:solidFill>
                <a:schemeClr val="bg1"/>
              </a:solidFill>
            </a:endParaRPr>
          </a:p>
        </p:txBody>
      </p:sp>
      <p:sp>
        <p:nvSpPr>
          <p:cNvPr id="4099" name="Espace réservé du contenu 4"/>
          <p:cNvSpPr>
            <a:spLocks noGrp="1"/>
          </p:cNvSpPr>
          <p:nvPr>
            <p:ph idx="1"/>
          </p:nvPr>
        </p:nvSpPr>
        <p:spPr>
          <a:xfrm>
            <a:off x="228600" y="2133600"/>
            <a:ext cx="8686800" cy="2209800"/>
          </a:xfrm>
        </p:spPr>
        <p:txBody>
          <a:bodyPr/>
          <a:lstStyle/>
          <a:p>
            <a:r>
              <a:rPr lang="en-US" sz="1400" dirty="0">
                <a:solidFill>
                  <a:srgbClr val="3C5790"/>
                </a:solidFill>
              </a:rPr>
              <a:t>Chroma is designed with a modular architecture that prioritizes performance and ease of use. </a:t>
            </a:r>
          </a:p>
          <a:p>
            <a:r>
              <a:rPr lang="en-US" sz="1400" dirty="0">
                <a:solidFill>
                  <a:srgbClr val="3C5790"/>
                </a:solidFill>
              </a:rPr>
              <a:t>It scales seamlessly from local development to large-scale production, while exposing a consistent API across all deployment modes.</a:t>
            </a:r>
          </a:p>
          <a:p>
            <a:pPr lvl="1"/>
            <a:r>
              <a:rPr lang="en-US" sz="1400" b="1" dirty="0">
                <a:solidFill>
                  <a:srgbClr val="3C5790"/>
                </a:solidFill>
              </a:rPr>
              <a:t>Local</a:t>
            </a:r>
            <a:r>
              <a:rPr lang="en-US" sz="1400" dirty="0">
                <a:solidFill>
                  <a:srgbClr val="3C5790"/>
                </a:solidFill>
              </a:rPr>
              <a:t>: as an embedded library - great for prototyping and experimentation.</a:t>
            </a:r>
          </a:p>
          <a:p>
            <a:pPr lvl="1"/>
            <a:r>
              <a:rPr lang="en-US" sz="1400" b="1" dirty="0">
                <a:solidFill>
                  <a:srgbClr val="3C5790"/>
                </a:solidFill>
              </a:rPr>
              <a:t>Single</a:t>
            </a:r>
            <a:r>
              <a:rPr lang="en-US" sz="1400" dirty="0">
                <a:solidFill>
                  <a:srgbClr val="3C5790"/>
                </a:solidFill>
              </a:rPr>
              <a:t> </a:t>
            </a:r>
            <a:r>
              <a:rPr lang="en-US" sz="1400" b="1" dirty="0">
                <a:solidFill>
                  <a:srgbClr val="3C5790"/>
                </a:solidFill>
              </a:rPr>
              <a:t>Node</a:t>
            </a:r>
            <a:r>
              <a:rPr lang="en-US" sz="1400" dirty="0">
                <a:solidFill>
                  <a:srgbClr val="3C5790"/>
                </a:solidFill>
              </a:rPr>
              <a:t>: as a single-node server - great for small to medium scale workloads of &lt; 10M records in a handful of collections.</a:t>
            </a:r>
          </a:p>
          <a:p>
            <a:pPr lvl="1"/>
            <a:r>
              <a:rPr lang="en-US" sz="1400" b="1" dirty="0">
                <a:solidFill>
                  <a:srgbClr val="3C5790"/>
                </a:solidFill>
              </a:rPr>
              <a:t>Distributed</a:t>
            </a:r>
            <a:r>
              <a:rPr lang="en-US" sz="1400" dirty="0">
                <a:solidFill>
                  <a:srgbClr val="3C5790"/>
                </a:solidFill>
              </a:rPr>
              <a:t>: as a scalable distributed system - great for large scale production workloads, supporting millions of collections.</a:t>
            </a:r>
          </a:p>
          <a:p>
            <a:endParaRPr lang="fr-CA" sz="1400" dirty="0">
              <a:solidFill>
                <a:srgbClr val="3C5790"/>
              </a:solidFill>
            </a:endParaRPr>
          </a:p>
        </p:txBody>
      </p:sp>
    </p:spTree>
    <p:extLst>
      <p:ext uri="{BB962C8B-B14F-4D97-AF65-F5344CB8AC3E}">
        <p14:creationId xmlns:p14="http://schemas.microsoft.com/office/powerpoint/2010/main" val="19124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Arhitecture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3657600"/>
          </a:xfrm>
        </p:spPr>
        <p:txBody>
          <a:bodyPr/>
          <a:lstStyle/>
          <a:p>
            <a:r>
              <a:rPr lang="en-US" sz="1400" dirty="0">
                <a:solidFill>
                  <a:srgbClr val="3C5790"/>
                </a:solidFill>
              </a:rPr>
              <a:t>Regardless of deployment mode, Chroma is composed of </a:t>
            </a:r>
            <a:r>
              <a:rPr lang="en-US" sz="1400" b="1" dirty="0">
                <a:solidFill>
                  <a:srgbClr val="3C5790"/>
                </a:solidFill>
              </a:rPr>
              <a:t>five</a:t>
            </a:r>
            <a:r>
              <a:rPr lang="en-US" sz="1400" dirty="0">
                <a:solidFill>
                  <a:srgbClr val="3C5790"/>
                </a:solidFill>
              </a:rPr>
              <a:t> </a:t>
            </a:r>
            <a:r>
              <a:rPr lang="en-US" sz="1400" b="1" dirty="0">
                <a:solidFill>
                  <a:srgbClr val="3C5790"/>
                </a:solidFill>
              </a:rPr>
              <a:t>core</a:t>
            </a:r>
            <a:r>
              <a:rPr lang="en-US" sz="1400" dirty="0">
                <a:solidFill>
                  <a:srgbClr val="3C5790"/>
                </a:solidFill>
              </a:rPr>
              <a:t> </a:t>
            </a:r>
            <a:r>
              <a:rPr lang="en-US" sz="1400" b="1" dirty="0">
                <a:solidFill>
                  <a:srgbClr val="3C5790"/>
                </a:solidFill>
              </a:rPr>
              <a:t>components</a:t>
            </a:r>
            <a:r>
              <a:rPr lang="en-US" sz="1400" dirty="0">
                <a:solidFill>
                  <a:srgbClr val="3C5790"/>
                </a:solidFill>
              </a:rPr>
              <a:t>.</a:t>
            </a:r>
          </a:p>
          <a:p>
            <a:r>
              <a:rPr lang="en-US" sz="1400" b="1" dirty="0">
                <a:solidFill>
                  <a:srgbClr val="3C5790"/>
                </a:solidFill>
              </a:rPr>
              <a:t>The Gateway</a:t>
            </a:r>
            <a:r>
              <a:rPr lang="en-US" sz="1400" dirty="0">
                <a:solidFill>
                  <a:srgbClr val="3C5790"/>
                </a:solidFill>
              </a:rPr>
              <a:t>: the entry point for all client traffic.</a:t>
            </a:r>
          </a:p>
          <a:p>
            <a:pPr lvl="1"/>
            <a:r>
              <a:rPr lang="en-US" sz="1400" dirty="0">
                <a:solidFill>
                  <a:srgbClr val="3C5790"/>
                </a:solidFill>
              </a:rPr>
              <a:t>Exposes a consistent API across all modes.</a:t>
            </a:r>
          </a:p>
          <a:p>
            <a:pPr lvl="1"/>
            <a:r>
              <a:rPr lang="en-US" sz="1400" dirty="0">
                <a:solidFill>
                  <a:srgbClr val="3C5790"/>
                </a:solidFill>
              </a:rPr>
              <a:t>Handles authentication, rate-limiting, quota management, and request validation.</a:t>
            </a:r>
          </a:p>
          <a:p>
            <a:pPr lvl="1"/>
            <a:r>
              <a:rPr lang="en-US" sz="1400" dirty="0">
                <a:solidFill>
                  <a:srgbClr val="3C5790"/>
                </a:solidFill>
              </a:rPr>
              <a:t>Routes requests to downstream services.</a:t>
            </a:r>
          </a:p>
          <a:p>
            <a:r>
              <a:rPr lang="en-US" sz="1400" b="1" dirty="0">
                <a:solidFill>
                  <a:srgbClr val="3C5790"/>
                </a:solidFill>
              </a:rPr>
              <a:t>The Log</a:t>
            </a:r>
            <a:r>
              <a:rPr lang="en-US" sz="1400" dirty="0">
                <a:solidFill>
                  <a:srgbClr val="3C5790"/>
                </a:solidFill>
              </a:rPr>
              <a:t>: Chroma’s write-ahead log.</a:t>
            </a:r>
          </a:p>
          <a:p>
            <a:pPr lvl="1"/>
            <a:r>
              <a:rPr lang="en-US" sz="1400" dirty="0">
                <a:solidFill>
                  <a:srgbClr val="3C5790"/>
                </a:solidFill>
              </a:rPr>
              <a:t>All writes are recorded here before acknowledgment to clients.</a:t>
            </a:r>
          </a:p>
          <a:p>
            <a:pPr lvl="1"/>
            <a:r>
              <a:rPr lang="en-US" sz="1400" dirty="0">
                <a:solidFill>
                  <a:srgbClr val="3C5790"/>
                </a:solidFill>
              </a:rPr>
              <a:t>Ensures atomicity across multi-record writes.</a:t>
            </a:r>
          </a:p>
          <a:p>
            <a:pPr lvl="1"/>
            <a:r>
              <a:rPr lang="en-US" sz="1400" dirty="0">
                <a:solidFill>
                  <a:srgbClr val="3C5790"/>
                </a:solidFill>
              </a:rPr>
              <a:t>Provides durability and replay in distributed deployments.</a:t>
            </a:r>
          </a:p>
          <a:p>
            <a:r>
              <a:rPr lang="en-US" sz="1400" b="1" dirty="0">
                <a:solidFill>
                  <a:srgbClr val="3C5790"/>
                </a:solidFill>
              </a:rPr>
              <a:t>The Query Executor</a:t>
            </a:r>
            <a:r>
              <a:rPr lang="en-US" sz="1400" dirty="0">
                <a:solidFill>
                  <a:srgbClr val="3C5790"/>
                </a:solidFill>
              </a:rPr>
              <a:t>: responsible for all read operations.</a:t>
            </a:r>
          </a:p>
          <a:p>
            <a:pPr lvl="1"/>
            <a:r>
              <a:rPr lang="en-US" sz="1400" dirty="0">
                <a:solidFill>
                  <a:srgbClr val="3C5790"/>
                </a:solidFill>
              </a:rPr>
              <a:t>Vector similarity, full-text and metadata search.</a:t>
            </a:r>
          </a:p>
          <a:p>
            <a:pPr lvl="1"/>
            <a:r>
              <a:rPr lang="en-US" sz="1400" dirty="0">
                <a:solidFill>
                  <a:srgbClr val="3C5790"/>
                </a:solidFill>
              </a:rPr>
              <a:t>Maintains a combination of in-memory and on-disk indexes, and coordinates with the Log to serve consistent results.</a:t>
            </a:r>
            <a:endParaRPr lang="fr-CA" sz="1400" dirty="0">
              <a:solidFill>
                <a:srgbClr val="3C5790"/>
              </a:solidFill>
            </a:endParaRPr>
          </a:p>
        </p:txBody>
      </p:sp>
    </p:spTree>
    <p:extLst>
      <p:ext uri="{BB962C8B-B14F-4D97-AF65-F5344CB8AC3E}">
        <p14:creationId xmlns:p14="http://schemas.microsoft.com/office/powerpoint/2010/main" val="1717465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Arhitecture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2133600"/>
          </a:xfrm>
        </p:spPr>
        <p:txBody>
          <a:bodyPr/>
          <a:lstStyle/>
          <a:p>
            <a:r>
              <a:rPr lang="en-US" sz="1400" b="1" dirty="0">
                <a:solidFill>
                  <a:srgbClr val="3C5790"/>
                </a:solidFill>
              </a:rPr>
              <a:t>The Compactor</a:t>
            </a:r>
            <a:r>
              <a:rPr lang="en-US" sz="1400" dirty="0">
                <a:solidFill>
                  <a:srgbClr val="3C5790"/>
                </a:solidFill>
              </a:rPr>
              <a:t>: service that periodically builds and maintains indexes.</a:t>
            </a:r>
          </a:p>
          <a:p>
            <a:pPr lvl="1"/>
            <a:r>
              <a:rPr lang="en-US" sz="1400" dirty="0">
                <a:solidFill>
                  <a:srgbClr val="3C5790"/>
                </a:solidFill>
              </a:rPr>
              <a:t>Reads from the Log and builds updated vector / full-text / metadata indexes.</a:t>
            </a:r>
          </a:p>
          <a:p>
            <a:pPr lvl="1"/>
            <a:r>
              <a:rPr lang="en-US" sz="1400" dirty="0">
                <a:solidFill>
                  <a:srgbClr val="3C5790"/>
                </a:solidFill>
              </a:rPr>
              <a:t>Writes materialized index data to shared storage.</a:t>
            </a:r>
          </a:p>
          <a:p>
            <a:pPr lvl="1"/>
            <a:r>
              <a:rPr lang="en-US" sz="1400" dirty="0">
                <a:solidFill>
                  <a:srgbClr val="3C5790"/>
                </a:solidFill>
              </a:rPr>
              <a:t>Updates the System Database with metadata about new index versions.</a:t>
            </a:r>
          </a:p>
          <a:p>
            <a:r>
              <a:rPr lang="en-US" sz="1400" b="1" dirty="0">
                <a:solidFill>
                  <a:srgbClr val="3C5790"/>
                </a:solidFill>
              </a:rPr>
              <a:t>The System Database</a:t>
            </a:r>
            <a:r>
              <a:rPr lang="en-US" sz="1400" dirty="0">
                <a:solidFill>
                  <a:srgbClr val="3C5790"/>
                </a:solidFill>
              </a:rPr>
              <a:t>: Chroma’s internal catalog.</a:t>
            </a:r>
          </a:p>
          <a:p>
            <a:pPr lvl="1"/>
            <a:r>
              <a:rPr lang="en-US" sz="1400" dirty="0">
                <a:solidFill>
                  <a:srgbClr val="3C5790"/>
                </a:solidFill>
              </a:rPr>
              <a:t>Tracks tenants, collections, and their metadata.</a:t>
            </a:r>
          </a:p>
          <a:p>
            <a:pPr lvl="1"/>
            <a:r>
              <a:rPr lang="en-US" sz="1400" dirty="0">
                <a:solidFill>
                  <a:srgbClr val="3C5790"/>
                </a:solidFill>
              </a:rPr>
              <a:t>In distributed mode, also manages cluster state (e.g., query/compactor node membership).</a:t>
            </a:r>
          </a:p>
          <a:p>
            <a:pPr lvl="1"/>
            <a:r>
              <a:rPr lang="en-US" sz="1400" dirty="0">
                <a:solidFill>
                  <a:srgbClr val="3C5790"/>
                </a:solidFill>
              </a:rPr>
              <a:t>Backed by a SQL database.</a:t>
            </a:r>
          </a:p>
        </p:txBody>
      </p:sp>
      <p:pic>
        <p:nvPicPr>
          <p:cNvPr id="3" name="Picture 2">
            <a:extLst>
              <a:ext uri="{FF2B5EF4-FFF2-40B4-BE49-F238E27FC236}">
                <a16:creationId xmlns:a16="http://schemas.microsoft.com/office/drawing/2014/main" id="{5EDD335D-0E6D-406B-92F0-E5D6C3C8CEBD}"/>
              </a:ext>
            </a:extLst>
          </p:cNvPr>
          <p:cNvPicPr>
            <a:picLocks noChangeAspect="1"/>
          </p:cNvPicPr>
          <p:nvPr/>
        </p:nvPicPr>
        <p:blipFill>
          <a:blip r:embed="rId3"/>
          <a:stretch>
            <a:fillRect/>
          </a:stretch>
        </p:blipFill>
        <p:spPr>
          <a:xfrm>
            <a:off x="1760671" y="4133675"/>
            <a:ext cx="5325929" cy="2495725"/>
          </a:xfrm>
          <a:prstGeom prst="rect">
            <a:avLst/>
          </a:prstGeom>
        </p:spPr>
      </p:pic>
    </p:spTree>
    <p:extLst>
      <p:ext uri="{BB962C8B-B14F-4D97-AF65-F5344CB8AC3E}">
        <p14:creationId xmlns:p14="http://schemas.microsoft.com/office/powerpoint/2010/main" val="1481721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Arhitecture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2133600"/>
          </a:xfrm>
        </p:spPr>
        <p:txBody>
          <a:bodyPr/>
          <a:lstStyle/>
          <a:p>
            <a:r>
              <a:rPr lang="en-US" sz="1400" dirty="0">
                <a:solidFill>
                  <a:srgbClr val="3C5790"/>
                </a:solidFill>
              </a:rPr>
              <a:t>These components operate differently depending on the deployment mode, particularly in how they use storage and the runtime they operate in.</a:t>
            </a:r>
          </a:p>
          <a:p>
            <a:r>
              <a:rPr lang="en-US" sz="1400" dirty="0">
                <a:solidFill>
                  <a:srgbClr val="3C5790"/>
                </a:solidFill>
              </a:rPr>
              <a:t>In </a:t>
            </a:r>
            <a:r>
              <a:rPr lang="en-US" sz="1400" b="1" dirty="0">
                <a:solidFill>
                  <a:srgbClr val="3C5790"/>
                </a:solidFill>
              </a:rPr>
              <a:t>Local</a:t>
            </a:r>
            <a:r>
              <a:rPr lang="en-US" sz="1400" dirty="0">
                <a:solidFill>
                  <a:srgbClr val="3C5790"/>
                </a:solidFill>
              </a:rPr>
              <a:t> and </a:t>
            </a:r>
            <a:r>
              <a:rPr lang="en-US" sz="1400" b="1" dirty="0">
                <a:solidFill>
                  <a:srgbClr val="3C5790"/>
                </a:solidFill>
              </a:rPr>
              <a:t>Single</a:t>
            </a:r>
            <a:r>
              <a:rPr lang="en-US" sz="1400" dirty="0">
                <a:solidFill>
                  <a:srgbClr val="3C5790"/>
                </a:solidFill>
              </a:rPr>
              <a:t> </a:t>
            </a:r>
            <a:r>
              <a:rPr lang="en-US" sz="1400" b="1" dirty="0">
                <a:solidFill>
                  <a:srgbClr val="3C5790"/>
                </a:solidFill>
              </a:rPr>
              <a:t>Node</a:t>
            </a:r>
            <a:r>
              <a:rPr lang="en-US" sz="1400" dirty="0">
                <a:solidFill>
                  <a:srgbClr val="3C5790"/>
                </a:solidFill>
              </a:rPr>
              <a:t> </a:t>
            </a:r>
            <a:r>
              <a:rPr lang="en-US" sz="1400" b="1" dirty="0">
                <a:solidFill>
                  <a:srgbClr val="3C5790"/>
                </a:solidFill>
              </a:rPr>
              <a:t>mode</a:t>
            </a:r>
            <a:r>
              <a:rPr lang="en-US" sz="1400" dirty="0">
                <a:solidFill>
                  <a:srgbClr val="3C5790"/>
                </a:solidFill>
              </a:rPr>
              <a:t>, all components share a process and use the local filesystem for durability.</a:t>
            </a:r>
          </a:p>
          <a:p>
            <a:r>
              <a:rPr lang="en-US" sz="1400" dirty="0">
                <a:solidFill>
                  <a:srgbClr val="3C5790"/>
                </a:solidFill>
              </a:rPr>
              <a:t>In </a:t>
            </a:r>
            <a:r>
              <a:rPr lang="en-US" sz="1400" b="1" dirty="0">
                <a:solidFill>
                  <a:srgbClr val="3C5790"/>
                </a:solidFill>
              </a:rPr>
              <a:t>Distributed</a:t>
            </a:r>
            <a:r>
              <a:rPr lang="en-US" sz="1400" dirty="0">
                <a:solidFill>
                  <a:srgbClr val="3C5790"/>
                </a:solidFill>
              </a:rPr>
              <a:t> </a:t>
            </a:r>
            <a:r>
              <a:rPr lang="en-US" sz="1400" b="1" dirty="0">
                <a:solidFill>
                  <a:srgbClr val="3C5790"/>
                </a:solidFill>
              </a:rPr>
              <a:t>mode</a:t>
            </a:r>
            <a:r>
              <a:rPr lang="en-US" sz="1400" dirty="0">
                <a:solidFill>
                  <a:srgbClr val="3C5790"/>
                </a:solidFill>
              </a:rPr>
              <a:t>, components are deployed as independent services.</a:t>
            </a:r>
          </a:p>
          <a:p>
            <a:pPr lvl="1"/>
            <a:r>
              <a:rPr lang="en-US" sz="1400" dirty="0">
                <a:solidFill>
                  <a:srgbClr val="3C5790"/>
                </a:solidFill>
              </a:rPr>
              <a:t>The log and built indexes are stored in cloud object storage.</a:t>
            </a:r>
          </a:p>
          <a:p>
            <a:pPr lvl="1"/>
            <a:r>
              <a:rPr lang="en-US" sz="1400" dirty="0">
                <a:solidFill>
                  <a:srgbClr val="3C5790"/>
                </a:solidFill>
              </a:rPr>
              <a:t>The system catalog is backed by a SQL database.</a:t>
            </a:r>
          </a:p>
          <a:p>
            <a:pPr lvl="1"/>
            <a:r>
              <a:rPr lang="en-US" sz="1400" dirty="0">
                <a:solidFill>
                  <a:srgbClr val="3C5790"/>
                </a:solidFill>
              </a:rPr>
              <a:t>All services use local SSDs as caches to reduce object storage latency and cost.</a:t>
            </a:r>
          </a:p>
        </p:txBody>
      </p:sp>
    </p:spTree>
    <p:extLst>
      <p:ext uri="{BB962C8B-B14F-4D97-AF65-F5344CB8AC3E}">
        <p14:creationId xmlns:p14="http://schemas.microsoft.com/office/powerpoint/2010/main" val="1921011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Concepts</a:t>
            </a:r>
          </a:p>
        </p:txBody>
      </p:sp>
      <p:sp>
        <p:nvSpPr>
          <p:cNvPr id="4099" name="Espace réservé du contenu 4"/>
          <p:cNvSpPr>
            <a:spLocks noGrp="1"/>
          </p:cNvSpPr>
          <p:nvPr>
            <p:ph idx="1"/>
          </p:nvPr>
        </p:nvSpPr>
        <p:spPr>
          <a:xfrm>
            <a:off x="228600" y="2133600"/>
            <a:ext cx="8686800" cy="3276600"/>
          </a:xfrm>
        </p:spPr>
        <p:txBody>
          <a:bodyPr/>
          <a:lstStyle/>
          <a:p>
            <a:r>
              <a:rPr lang="en-US" sz="1400" b="1" dirty="0">
                <a:solidFill>
                  <a:srgbClr val="3C5790"/>
                </a:solidFill>
              </a:rPr>
              <a:t>Vector Embeddings</a:t>
            </a:r>
            <a:r>
              <a:rPr lang="en-US" sz="1400" dirty="0">
                <a:solidFill>
                  <a:srgbClr val="3C5790"/>
                </a:solidFill>
              </a:rPr>
              <a:t> </a:t>
            </a:r>
          </a:p>
          <a:p>
            <a:pPr lvl="1"/>
            <a:r>
              <a:rPr lang="en-US" sz="1200" dirty="0">
                <a:solidFill>
                  <a:srgbClr val="3C5790"/>
                </a:solidFill>
              </a:rPr>
              <a:t>Numerical representations of data used to capture semantic meaning. </a:t>
            </a:r>
          </a:p>
          <a:p>
            <a:pPr lvl="1"/>
            <a:r>
              <a:rPr lang="en-US" sz="1200" dirty="0">
                <a:solidFill>
                  <a:srgbClr val="3C5790"/>
                </a:solidFill>
              </a:rPr>
              <a:t>These embeddings allow the database to perform similarity searches to find data points close to one another in vector space.</a:t>
            </a:r>
          </a:p>
          <a:p>
            <a:r>
              <a:rPr lang="en-US" sz="1400" b="1" dirty="0">
                <a:solidFill>
                  <a:srgbClr val="3C5790"/>
                </a:solidFill>
              </a:rPr>
              <a:t>Similarity Search</a:t>
            </a:r>
            <a:r>
              <a:rPr lang="en-US" sz="1400" dirty="0">
                <a:solidFill>
                  <a:srgbClr val="3C5790"/>
                </a:solidFill>
              </a:rPr>
              <a:t> </a:t>
            </a:r>
          </a:p>
          <a:p>
            <a:pPr lvl="1"/>
            <a:r>
              <a:rPr lang="en-US" sz="1200" dirty="0">
                <a:solidFill>
                  <a:srgbClr val="3C5790"/>
                </a:solidFill>
              </a:rPr>
              <a:t>The process of finding vectors in the database closest to a query vector based on distance metrics such as cosine similarity or Euclidean distance. </a:t>
            </a:r>
          </a:p>
          <a:p>
            <a:pPr lvl="1"/>
            <a:r>
              <a:rPr lang="en-US" sz="1200" dirty="0">
                <a:solidFill>
                  <a:srgbClr val="3C5790"/>
                </a:solidFill>
              </a:rPr>
              <a:t>This allows for semantic and context-aware retrieval, not just keyword matching.</a:t>
            </a:r>
          </a:p>
          <a:p>
            <a:r>
              <a:rPr lang="en-US" sz="1400" b="1" dirty="0">
                <a:solidFill>
                  <a:srgbClr val="3C5790"/>
                </a:solidFill>
              </a:rPr>
              <a:t>Indexing Techniques</a:t>
            </a:r>
            <a:endParaRPr lang="en-US" sz="1400" dirty="0">
              <a:solidFill>
                <a:srgbClr val="3C5790"/>
              </a:solidFill>
            </a:endParaRPr>
          </a:p>
          <a:p>
            <a:pPr lvl="1"/>
            <a:r>
              <a:rPr lang="en-US" sz="1200" dirty="0">
                <a:solidFill>
                  <a:srgbClr val="3C5790"/>
                </a:solidFill>
              </a:rPr>
              <a:t>Specialized algorithms like Hierarchical Navigable Small World (HNSW), Locality-Sensitive Hashing (LSH), and Product Quantization (PQ) organize vectors to enable fast approximate nearest neighbor searches at scale. </a:t>
            </a:r>
          </a:p>
          <a:p>
            <a:pPr lvl="1"/>
            <a:r>
              <a:rPr lang="en-US" sz="1200" dirty="0">
                <a:solidFill>
                  <a:srgbClr val="3C5790"/>
                </a:solidFill>
              </a:rPr>
              <a:t>These methods balance speed, accuracy, and memory consumption.</a:t>
            </a:r>
          </a:p>
        </p:txBody>
      </p:sp>
    </p:spTree>
    <p:extLst>
      <p:ext uri="{BB962C8B-B14F-4D97-AF65-F5344CB8AC3E}">
        <p14:creationId xmlns:p14="http://schemas.microsoft.com/office/powerpoint/2010/main" val="2981222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Concepts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438400"/>
          </a:xfrm>
        </p:spPr>
        <p:txBody>
          <a:bodyPr/>
          <a:lstStyle/>
          <a:p>
            <a:r>
              <a:rPr lang="en-US" sz="1400" b="1" dirty="0">
                <a:solidFill>
                  <a:srgbClr val="3C5790"/>
                </a:solidFill>
              </a:rPr>
              <a:t>Metadata Filtering</a:t>
            </a:r>
            <a:r>
              <a:rPr lang="en-US" sz="1400" dirty="0">
                <a:solidFill>
                  <a:srgbClr val="3C5790"/>
                </a:solidFill>
              </a:rPr>
              <a:t> </a:t>
            </a:r>
          </a:p>
          <a:p>
            <a:pPr lvl="1"/>
            <a:r>
              <a:rPr lang="en-US" sz="1200" dirty="0">
                <a:solidFill>
                  <a:srgbClr val="3C5790"/>
                </a:solidFill>
              </a:rPr>
              <a:t>In addition to vector similarity, vector databases can store and filter associated metadata, enabling more flexible, multi-criteria searches and retrievals.</a:t>
            </a:r>
          </a:p>
          <a:p>
            <a:r>
              <a:rPr lang="en-US" sz="1400" b="1" dirty="0">
                <a:solidFill>
                  <a:srgbClr val="3C5790"/>
                </a:solidFill>
              </a:rPr>
              <a:t>In-memory Storage and Persistence</a:t>
            </a:r>
            <a:r>
              <a:rPr lang="en-US" sz="1400" dirty="0">
                <a:solidFill>
                  <a:srgbClr val="3C5790"/>
                </a:solidFill>
              </a:rPr>
              <a:t> </a:t>
            </a:r>
          </a:p>
          <a:p>
            <a:pPr lvl="1"/>
            <a:r>
              <a:rPr lang="en-US" sz="1200" dirty="0">
                <a:solidFill>
                  <a:srgbClr val="3C5790"/>
                </a:solidFill>
              </a:rPr>
              <a:t>Chroma uses in-memory storage for fast access but can extend to persistent storage to retain data across restarts.</a:t>
            </a:r>
          </a:p>
          <a:p>
            <a:r>
              <a:rPr lang="en-US" sz="1400" b="1" dirty="0">
                <a:solidFill>
                  <a:srgbClr val="3C5790"/>
                </a:solidFill>
              </a:rPr>
              <a:t>Advanced Query Capabilities</a:t>
            </a:r>
            <a:r>
              <a:rPr lang="en-US" sz="1400" dirty="0">
                <a:solidFill>
                  <a:srgbClr val="3C5790"/>
                </a:solidFill>
              </a:rPr>
              <a:t>: </a:t>
            </a:r>
          </a:p>
          <a:p>
            <a:pPr lvl="1"/>
            <a:r>
              <a:rPr lang="en-US" sz="1200" dirty="0">
                <a:solidFill>
                  <a:srgbClr val="3C5790"/>
                </a:solidFill>
              </a:rPr>
              <a:t>The database supports fast and accurate retrieval of vectors based on similarity metrics such as cosine similarity or Euclidean distance, essential for AI use cases like semantic search, recommendation systems, and natural language processing.</a:t>
            </a:r>
            <a:endParaRPr lang="fr-CA" sz="1200" b="1" dirty="0">
              <a:solidFill>
                <a:srgbClr val="3C5790"/>
              </a:solidFill>
            </a:endParaRPr>
          </a:p>
        </p:txBody>
      </p:sp>
    </p:spTree>
    <p:extLst>
      <p:ext uri="{BB962C8B-B14F-4D97-AF65-F5344CB8AC3E}">
        <p14:creationId xmlns:p14="http://schemas.microsoft.com/office/powerpoint/2010/main" val="3953324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endParaRPr lang="fr-CA" dirty="0">
              <a:solidFill>
                <a:schemeClr val="bg1"/>
              </a:solidFill>
            </a:endParaRPr>
          </a:p>
        </p:txBody>
      </p:sp>
      <p:sp>
        <p:nvSpPr>
          <p:cNvPr id="4099" name="Espace réservé du contenu 4"/>
          <p:cNvSpPr>
            <a:spLocks noGrp="1"/>
          </p:cNvSpPr>
          <p:nvPr>
            <p:ph idx="1"/>
          </p:nvPr>
        </p:nvSpPr>
        <p:spPr>
          <a:xfrm>
            <a:off x="228600" y="2133600"/>
            <a:ext cx="8686800" cy="2438400"/>
          </a:xfrm>
        </p:spPr>
        <p:txBody>
          <a:bodyPr/>
          <a:lstStyle/>
          <a:p>
            <a:r>
              <a:rPr lang="en-US" sz="1400" b="1" dirty="0">
                <a:solidFill>
                  <a:srgbClr val="3C5790"/>
                </a:solidFill>
              </a:rPr>
              <a:t>A vector database</a:t>
            </a:r>
          </a:p>
          <a:p>
            <a:pPr lvl="1"/>
            <a:r>
              <a:rPr lang="en-US" sz="1200" dirty="0">
                <a:solidFill>
                  <a:srgbClr val="3C5790"/>
                </a:solidFill>
              </a:rPr>
              <a:t>encodes information as vectors in a multi-dimensional space to perform high-efficient queries based on similarity.</a:t>
            </a:r>
          </a:p>
          <a:p>
            <a:pPr lvl="1"/>
            <a:r>
              <a:rPr lang="en-US" sz="1200" dirty="0">
                <a:solidFill>
                  <a:srgbClr val="3C5790"/>
                </a:solidFill>
              </a:rPr>
              <a:t>is a specialized type of database designed to store, manage, and index high-dimensional vectors (essentially fixed-length lists of numbers that represent features of data items like words, images, videos, documents, or audio).</a:t>
            </a:r>
          </a:p>
          <a:p>
            <a:r>
              <a:rPr lang="en-US" sz="1400" dirty="0">
                <a:solidFill>
                  <a:srgbClr val="3C5790"/>
                </a:solidFill>
              </a:rPr>
              <a:t>Unlike traditional databases that query exact matches, vector databases enable similarity searches using approximate nearest neighbor (ANN) algorithms to find data points closest to a query vector based on similarity metrics. </a:t>
            </a:r>
            <a:endParaRPr lang="fr-CA" sz="1400" dirty="0">
              <a:solidFill>
                <a:srgbClr val="3C5790"/>
              </a:solidFill>
            </a:endParaRPr>
          </a:p>
        </p:txBody>
      </p:sp>
    </p:spTree>
    <p:extLst>
      <p:ext uri="{BB962C8B-B14F-4D97-AF65-F5344CB8AC3E}">
        <p14:creationId xmlns:p14="http://schemas.microsoft.com/office/powerpoint/2010/main" val="1844600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209800"/>
          </a:xfrm>
        </p:spPr>
        <p:txBody>
          <a:bodyPr/>
          <a:lstStyle/>
          <a:p>
            <a:r>
              <a:rPr lang="en-US" sz="1400" u="sng" dirty="0">
                <a:solidFill>
                  <a:srgbClr val="3C5790"/>
                </a:solidFill>
              </a:rPr>
              <a:t>Key Features</a:t>
            </a:r>
          </a:p>
          <a:p>
            <a:pPr lvl="1"/>
            <a:r>
              <a:rPr lang="en-US" sz="1200" dirty="0">
                <a:solidFill>
                  <a:srgbClr val="3C5790"/>
                </a:solidFill>
              </a:rPr>
              <a:t>Store vectors representing complex data objects in high-dimensional space.</a:t>
            </a:r>
          </a:p>
          <a:p>
            <a:pPr lvl="1"/>
            <a:r>
              <a:rPr lang="en-US" sz="1200" dirty="0">
                <a:solidFill>
                  <a:srgbClr val="3C5790"/>
                </a:solidFill>
              </a:rPr>
              <a:t>Use ANN algorithms (e.g., PQ, LSH, HNSW) for fast, approximate similarity search.</a:t>
            </a:r>
          </a:p>
          <a:p>
            <a:pPr lvl="1"/>
            <a:r>
              <a:rPr lang="en-US" sz="1200" dirty="0">
                <a:solidFill>
                  <a:srgbClr val="3C5790"/>
                </a:solidFill>
              </a:rPr>
              <a:t>Index vectors to optimize query speed and accuracy trade-offs.</a:t>
            </a:r>
          </a:p>
          <a:p>
            <a:pPr lvl="1"/>
            <a:r>
              <a:rPr lang="en-US" sz="1200" dirty="0">
                <a:solidFill>
                  <a:srgbClr val="3C5790"/>
                </a:solidFill>
              </a:rPr>
              <a:t>Enable semantic search and similarity-based retrieval, not exact match.</a:t>
            </a:r>
          </a:p>
          <a:p>
            <a:pPr lvl="1"/>
            <a:r>
              <a:rPr lang="en-US" sz="1200" dirty="0">
                <a:solidFill>
                  <a:srgbClr val="3C5790"/>
                </a:solidFill>
              </a:rPr>
              <a:t>Support metadata storage, data versioning, and integration with other systems.</a:t>
            </a:r>
          </a:p>
          <a:p>
            <a:pPr lvl="1"/>
            <a:r>
              <a:rPr lang="en-US" sz="1200" dirty="0">
                <a:solidFill>
                  <a:srgbClr val="3C5790"/>
                </a:solidFill>
              </a:rPr>
              <a:t>Used in AI areas like semantic search, recommendation engines, multi-modal search, and domain-specific LLM augmentation.</a:t>
            </a:r>
            <a:endParaRPr lang="fr-CA" sz="1200" dirty="0">
              <a:solidFill>
                <a:srgbClr val="3C5790"/>
              </a:solidFill>
            </a:endParaRPr>
          </a:p>
        </p:txBody>
      </p:sp>
    </p:spTree>
    <p:extLst>
      <p:ext uri="{BB962C8B-B14F-4D97-AF65-F5344CB8AC3E}">
        <p14:creationId xmlns:p14="http://schemas.microsoft.com/office/powerpoint/2010/main" val="385763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209800"/>
          </a:xfrm>
        </p:spPr>
        <p:txBody>
          <a:bodyPr/>
          <a:lstStyle/>
          <a:p>
            <a:r>
              <a:rPr lang="en-US" sz="1400" u="sng" dirty="0">
                <a:solidFill>
                  <a:srgbClr val="3C5790"/>
                </a:solidFill>
              </a:rPr>
              <a:t>Vector DB advantages</a:t>
            </a:r>
          </a:p>
          <a:p>
            <a:pPr lvl="1"/>
            <a:r>
              <a:rPr lang="en-US" sz="1200" b="1" dirty="0">
                <a:solidFill>
                  <a:srgbClr val="3C5790"/>
                </a:solidFill>
              </a:rPr>
              <a:t>Data Representation as Vectors</a:t>
            </a:r>
            <a:r>
              <a:rPr lang="en-US" sz="1200" dirty="0">
                <a:solidFill>
                  <a:srgbClr val="3C5790"/>
                </a:solidFill>
              </a:rPr>
              <a:t>: vector is vectorized which brings lots of benefits for searching.</a:t>
            </a:r>
          </a:p>
          <a:p>
            <a:pPr lvl="1"/>
            <a:r>
              <a:rPr lang="en-US" sz="1200" b="1" dirty="0">
                <a:solidFill>
                  <a:srgbClr val="3C5790"/>
                </a:solidFill>
              </a:rPr>
              <a:t>Similarity Search</a:t>
            </a:r>
            <a:r>
              <a:rPr lang="en-US" sz="1200" dirty="0">
                <a:solidFill>
                  <a:srgbClr val="3C5790"/>
                </a:solidFill>
              </a:rPr>
              <a:t>: finding data points closest to a given query vector.</a:t>
            </a:r>
          </a:p>
          <a:p>
            <a:pPr lvl="1"/>
            <a:r>
              <a:rPr lang="en-US" sz="1200" b="1" dirty="0">
                <a:solidFill>
                  <a:srgbClr val="3C5790"/>
                </a:solidFill>
              </a:rPr>
              <a:t>Efficiency in High-Dimensional Searches</a:t>
            </a:r>
            <a:r>
              <a:rPr lang="en-US" sz="1200" dirty="0">
                <a:solidFill>
                  <a:srgbClr val="3C5790"/>
                </a:solidFill>
              </a:rPr>
              <a:t>: use of specialized indexing structures that are highly optimized.</a:t>
            </a:r>
          </a:p>
          <a:p>
            <a:pPr lvl="1"/>
            <a:r>
              <a:rPr lang="en-US" sz="1200" b="1" dirty="0">
                <a:solidFill>
                  <a:srgbClr val="3C5790"/>
                </a:solidFill>
              </a:rPr>
              <a:t>Handling Unstructured Data</a:t>
            </a:r>
            <a:r>
              <a:rPr lang="en-US" sz="1200" dirty="0">
                <a:solidFill>
                  <a:srgbClr val="3C5790"/>
                </a:solidFill>
              </a:rPr>
              <a:t>: vector database are made to deal with unstructured data.</a:t>
            </a:r>
          </a:p>
          <a:p>
            <a:pPr lvl="1"/>
            <a:r>
              <a:rPr lang="en-US" sz="1200" b="1" dirty="0">
                <a:solidFill>
                  <a:srgbClr val="3C5790"/>
                </a:solidFill>
              </a:rPr>
              <a:t>Schema-less Design</a:t>
            </a:r>
            <a:r>
              <a:rPr lang="en-US" sz="1200" dirty="0">
                <a:solidFill>
                  <a:srgbClr val="3C5790"/>
                </a:solidFill>
              </a:rPr>
              <a:t>: don’t require schema, allowing more flexibility in handling various data types and structures.</a:t>
            </a:r>
            <a:endParaRPr lang="fr-CA" sz="1200" dirty="0">
              <a:solidFill>
                <a:srgbClr val="3C5790"/>
              </a:solidFill>
            </a:endParaRPr>
          </a:p>
        </p:txBody>
      </p:sp>
    </p:spTree>
    <p:extLst>
      <p:ext uri="{BB962C8B-B14F-4D97-AF65-F5344CB8AC3E}">
        <p14:creationId xmlns:p14="http://schemas.microsoft.com/office/powerpoint/2010/main" val="1815307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762000"/>
          </a:xfrm>
        </p:spPr>
        <p:txBody>
          <a:bodyPr/>
          <a:lstStyle/>
          <a:p>
            <a:r>
              <a:rPr lang="en-US" sz="1400" dirty="0">
                <a:solidFill>
                  <a:srgbClr val="3C5790"/>
                </a:solidFill>
              </a:rPr>
              <a:t>Embedding vector keeps the content and the meaning of the text.</a:t>
            </a:r>
          </a:p>
          <a:p>
            <a:r>
              <a:rPr lang="en-US" sz="1400" dirty="0">
                <a:solidFill>
                  <a:srgbClr val="3C5790"/>
                </a:solidFill>
              </a:rPr>
              <a:t>Text with similar content and meaning will have similar vectors.</a:t>
            </a:r>
            <a:endParaRPr lang="fr-CA" sz="1400" dirty="0">
              <a:solidFill>
                <a:srgbClr val="3C5790"/>
              </a:solidFill>
            </a:endParaRPr>
          </a:p>
        </p:txBody>
      </p:sp>
      <p:pic>
        <p:nvPicPr>
          <p:cNvPr id="3" name="Picture 2">
            <a:extLst>
              <a:ext uri="{FF2B5EF4-FFF2-40B4-BE49-F238E27FC236}">
                <a16:creationId xmlns:a16="http://schemas.microsoft.com/office/drawing/2014/main" id="{7FB91506-D88B-44FF-B45F-4A58D55C7A6F}"/>
              </a:ext>
            </a:extLst>
          </p:cNvPr>
          <p:cNvPicPr>
            <a:picLocks noChangeAspect="1"/>
          </p:cNvPicPr>
          <p:nvPr/>
        </p:nvPicPr>
        <p:blipFill>
          <a:blip r:embed="rId3"/>
          <a:stretch>
            <a:fillRect/>
          </a:stretch>
        </p:blipFill>
        <p:spPr>
          <a:xfrm>
            <a:off x="914400" y="3200400"/>
            <a:ext cx="7239000" cy="2634038"/>
          </a:xfrm>
          <a:prstGeom prst="rect">
            <a:avLst/>
          </a:prstGeom>
        </p:spPr>
      </p:pic>
    </p:spTree>
    <p:extLst>
      <p:ext uri="{BB962C8B-B14F-4D97-AF65-F5344CB8AC3E}">
        <p14:creationId xmlns:p14="http://schemas.microsoft.com/office/powerpoint/2010/main" val="659789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
          </a:xfrm>
        </p:spPr>
        <p:txBody>
          <a:bodyPr/>
          <a:lstStyle/>
          <a:p>
            <a:r>
              <a:rPr lang="en-US" sz="1400" dirty="0">
                <a:solidFill>
                  <a:srgbClr val="3C5790"/>
                </a:solidFill>
              </a:rPr>
              <a:t>Text with similar content and meaning will have similar vectors.</a:t>
            </a:r>
            <a:endParaRPr lang="fr-CA" sz="1400" dirty="0">
              <a:solidFill>
                <a:srgbClr val="3C5790"/>
              </a:solidFill>
            </a:endParaRPr>
          </a:p>
        </p:txBody>
      </p:sp>
      <p:pic>
        <p:nvPicPr>
          <p:cNvPr id="3" name="Picture 2">
            <a:extLst>
              <a:ext uri="{FF2B5EF4-FFF2-40B4-BE49-F238E27FC236}">
                <a16:creationId xmlns:a16="http://schemas.microsoft.com/office/drawing/2014/main" id="{CD82257E-0D0F-46D5-A6E1-BCA91FB963A4}"/>
              </a:ext>
            </a:extLst>
          </p:cNvPr>
          <p:cNvPicPr>
            <a:picLocks noChangeAspect="1"/>
          </p:cNvPicPr>
          <p:nvPr/>
        </p:nvPicPr>
        <p:blipFill>
          <a:blip r:embed="rId3"/>
          <a:stretch>
            <a:fillRect/>
          </a:stretch>
        </p:blipFill>
        <p:spPr>
          <a:xfrm>
            <a:off x="228600" y="2942466"/>
            <a:ext cx="4806556" cy="3131163"/>
          </a:xfrm>
          <a:prstGeom prst="rect">
            <a:avLst/>
          </a:prstGeom>
        </p:spPr>
      </p:pic>
      <p:pic>
        <p:nvPicPr>
          <p:cNvPr id="5" name="Picture 4">
            <a:extLst>
              <a:ext uri="{FF2B5EF4-FFF2-40B4-BE49-F238E27FC236}">
                <a16:creationId xmlns:a16="http://schemas.microsoft.com/office/drawing/2014/main" id="{F36BA245-34EA-4BDA-BBF1-A48A98A2E077}"/>
              </a:ext>
            </a:extLst>
          </p:cNvPr>
          <p:cNvPicPr>
            <a:picLocks noChangeAspect="1"/>
          </p:cNvPicPr>
          <p:nvPr/>
        </p:nvPicPr>
        <p:blipFill>
          <a:blip r:embed="rId4"/>
          <a:stretch>
            <a:fillRect/>
          </a:stretch>
        </p:blipFill>
        <p:spPr>
          <a:xfrm>
            <a:off x="5890123" y="2942466"/>
            <a:ext cx="2534872" cy="3153534"/>
          </a:xfrm>
          <a:prstGeom prst="rect">
            <a:avLst/>
          </a:prstGeom>
        </p:spPr>
      </p:pic>
    </p:spTree>
    <p:extLst>
      <p:ext uri="{BB962C8B-B14F-4D97-AF65-F5344CB8AC3E}">
        <p14:creationId xmlns:p14="http://schemas.microsoft.com/office/powerpoint/2010/main" val="3227124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Embedding creation and storage</a:t>
            </a:r>
            <a:endParaRPr lang="fr-CA" sz="1400" dirty="0">
              <a:solidFill>
                <a:srgbClr val="3C5790"/>
              </a:solidFill>
            </a:endParaRPr>
          </a:p>
        </p:txBody>
      </p:sp>
      <p:pic>
        <p:nvPicPr>
          <p:cNvPr id="3" name="Picture 2">
            <a:extLst>
              <a:ext uri="{FF2B5EF4-FFF2-40B4-BE49-F238E27FC236}">
                <a16:creationId xmlns:a16="http://schemas.microsoft.com/office/drawing/2014/main" id="{7D4E1C62-84FA-4DB2-8F07-E48FF4830249}"/>
              </a:ext>
            </a:extLst>
          </p:cNvPr>
          <p:cNvPicPr>
            <a:picLocks noChangeAspect="1"/>
          </p:cNvPicPr>
          <p:nvPr/>
        </p:nvPicPr>
        <p:blipFill>
          <a:blip r:embed="rId3"/>
          <a:stretch>
            <a:fillRect/>
          </a:stretch>
        </p:blipFill>
        <p:spPr>
          <a:xfrm>
            <a:off x="990600" y="2819400"/>
            <a:ext cx="6934200" cy="2683614"/>
          </a:xfrm>
          <a:prstGeom prst="rect">
            <a:avLst/>
          </a:prstGeom>
        </p:spPr>
      </p:pic>
    </p:spTree>
    <p:extLst>
      <p:ext uri="{BB962C8B-B14F-4D97-AF65-F5344CB8AC3E}">
        <p14:creationId xmlns:p14="http://schemas.microsoft.com/office/powerpoint/2010/main" val="1948916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533400"/>
          </a:xfrm>
        </p:spPr>
        <p:txBody>
          <a:bodyPr/>
          <a:lstStyle/>
          <a:p>
            <a:r>
              <a:rPr lang="en-US" sz="1400" dirty="0">
                <a:solidFill>
                  <a:srgbClr val="3C5790"/>
                </a:solidFill>
              </a:rPr>
              <a:t>Vector Database (Vector store) -  querying the vector database</a:t>
            </a:r>
            <a:endParaRPr lang="fr-CA" sz="1400" dirty="0">
              <a:solidFill>
                <a:srgbClr val="3C5790"/>
              </a:solidFill>
            </a:endParaRPr>
          </a:p>
        </p:txBody>
      </p:sp>
      <p:pic>
        <p:nvPicPr>
          <p:cNvPr id="4" name="Picture 3">
            <a:extLst>
              <a:ext uri="{FF2B5EF4-FFF2-40B4-BE49-F238E27FC236}">
                <a16:creationId xmlns:a16="http://schemas.microsoft.com/office/drawing/2014/main" id="{99E98E17-5E86-4FC4-9836-83D475A5EB21}"/>
              </a:ext>
            </a:extLst>
          </p:cNvPr>
          <p:cNvPicPr>
            <a:picLocks noChangeAspect="1"/>
          </p:cNvPicPr>
          <p:nvPr/>
        </p:nvPicPr>
        <p:blipFill>
          <a:blip r:embed="rId3"/>
          <a:stretch>
            <a:fillRect/>
          </a:stretch>
        </p:blipFill>
        <p:spPr>
          <a:xfrm>
            <a:off x="571500" y="2819400"/>
            <a:ext cx="8001000" cy="3267030"/>
          </a:xfrm>
          <a:prstGeom prst="rect">
            <a:avLst/>
          </a:prstGeom>
        </p:spPr>
      </p:pic>
    </p:spTree>
    <p:extLst>
      <p:ext uri="{BB962C8B-B14F-4D97-AF65-F5344CB8AC3E}">
        <p14:creationId xmlns:p14="http://schemas.microsoft.com/office/powerpoint/2010/main" val="816626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Vector databases - store and query process</a:t>
            </a:r>
            <a:endParaRPr lang="fr-CA" sz="1400" dirty="0">
              <a:solidFill>
                <a:srgbClr val="3C5790"/>
              </a:solidFill>
            </a:endParaRPr>
          </a:p>
        </p:txBody>
      </p:sp>
      <p:pic>
        <p:nvPicPr>
          <p:cNvPr id="3" name="Picture 2">
            <a:extLst>
              <a:ext uri="{FF2B5EF4-FFF2-40B4-BE49-F238E27FC236}">
                <a16:creationId xmlns:a16="http://schemas.microsoft.com/office/drawing/2014/main" id="{7090F806-26CB-430C-96DF-244C6944C312}"/>
              </a:ext>
            </a:extLst>
          </p:cNvPr>
          <p:cNvPicPr>
            <a:picLocks noChangeAspect="1"/>
          </p:cNvPicPr>
          <p:nvPr/>
        </p:nvPicPr>
        <p:blipFill>
          <a:blip r:embed="rId3"/>
          <a:stretch>
            <a:fillRect/>
          </a:stretch>
        </p:blipFill>
        <p:spPr>
          <a:xfrm>
            <a:off x="609600" y="3048000"/>
            <a:ext cx="8077200" cy="2864946"/>
          </a:xfrm>
          <a:prstGeom prst="rect">
            <a:avLst/>
          </a:prstGeom>
        </p:spPr>
      </p:pic>
    </p:spTree>
    <p:extLst>
      <p:ext uri="{BB962C8B-B14F-4D97-AF65-F5344CB8AC3E}">
        <p14:creationId xmlns:p14="http://schemas.microsoft.com/office/powerpoint/2010/main" val="751220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514600"/>
          </a:xfrm>
        </p:spPr>
        <p:txBody>
          <a:bodyPr/>
          <a:lstStyle/>
          <a:p>
            <a:r>
              <a:rPr lang="en-US" sz="1400" b="1" dirty="0">
                <a:solidFill>
                  <a:srgbClr val="3C5790"/>
                </a:solidFill>
              </a:rPr>
              <a:t>Vector</a:t>
            </a:r>
            <a:r>
              <a:rPr lang="en-US" sz="1400" dirty="0">
                <a:solidFill>
                  <a:srgbClr val="3C5790"/>
                </a:solidFill>
              </a:rPr>
              <a:t>: A vector is a generic mathematical object, an array of numbers used to represent features or attributes of data. For example, a vector for an image might include pixel intensity values or color histograms. Vectors can be handcrafted (feature vectors) or learned.</a:t>
            </a:r>
          </a:p>
          <a:p>
            <a:r>
              <a:rPr lang="en-US" sz="1400" b="1" dirty="0">
                <a:solidFill>
                  <a:srgbClr val="3C5790"/>
                </a:solidFill>
              </a:rPr>
              <a:t>Embedding</a:t>
            </a:r>
            <a:r>
              <a:rPr lang="en-US" sz="1400" dirty="0">
                <a:solidFill>
                  <a:srgbClr val="3C5790"/>
                </a:solidFill>
              </a:rPr>
              <a:t>: An embedding is a learned, dense, lower-dimensional vector specifically created by AI models (e.g., neural networks) that maps complex data like text, images, or audio into a continuous vector space where semantically or contextually similar items are close together. Embeddings encode latent patterns beyond simple features.</a:t>
            </a:r>
          </a:p>
          <a:p>
            <a:r>
              <a:rPr lang="en-US" sz="1400" b="1" dirty="0">
                <a:solidFill>
                  <a:srgbClr val="3C5790"/>
                </a:solidFill>
              </a:rPr>
              <a:t>Embeddings</a:t>
            </a:r>
            <a:r>
              <a:rPr lang="en-US" sz="1400" dirty="0">
                <a:solidFill>
                  <a:srgbClr val="3C5790"/>
                </a:solidFill>
              </a:rPr>
              <a:t> are specialized semantic vectors essential to modern AI’s ability to understand and process meaning, while </a:t>
            </a:r>
            <a:r>
              <a:rPr lang="en-US" sz="1400" b="1" dirty="0">
                <a:solidFill>
                  <a:srgbClr val="3C5790"/>
                </a:solidFill>
              </a:rPr>
              <a:t>vectors</a:t>
            </a:r>
            <a:r>
              <a:rPr lang="en-US" sz="1400" dirty="0">
                <a:solidFill>
                  <a:srgbClr val="3C5790"/>
                </a:solidFill>
              </a:rPr>
              <a:t> are the broader mathematical entities that represent data points numerically.</a:t>
            </a:r>
          </a:p>
          <a:p>
            <a:r>
              <a:rPr lang="en-US" sz="1400" dirty="0">
                <a:solidFill>
                  <a:srgbClr val="3C5790"/>
                </a:solidFill>
              </a:rPr>
              <a:t>Embeddings are vectors, but not all vectors are embeddings.</a:t>
            </a:r>
          </a:p>
        </p:txBody>
      </p:sp>
    </p:spTree>
    <p:extLst>
      <p:ext uri="{BB962C8B-B14F-4D97-AF65-F5344CB8AC3E}">
        <p14:creationId xmlns:p14="http://schemas.microsoft.com/office/powerpoint/2010/main" val="2873327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981200"/>
          </a:xfrm>
        </p:spPr>
        <p:txBody>
          <a:bodyPr/>
          <a:lstStyle/>
          <a:p>
            <a:r>
              <a:rPr lang="en-US" sz="1400" b="1" dirty="0">
                <a:solidFill>
                  <a:srgbClr val="3C5790"/>
                </a:solidFill>
              </a:rPr>
              <a:t>Creation</a:t>
            </a:r>
            <a:r>
              <a:rPr lang="en-US" sz="1400" dirty="0">
                <a:solidFill>
                  <a:srgbClr val="3C5790"/>
                </a:solidFill>
              </a:rPr>
              <a:t>: Feature vectors are often crafted manually using domain knowledge, while embeddings are automatically learned during model training to capture meaningful relationships in the data.</a:t>
            </a:r>
          </a:p>
          <a:p>
            <a:r>
              <a:rPr lang="en-US" sz="1400" b="1" dirty="0">
                <a:solidFill>
                  <a:srgbClr val="3C5790"/>
                </a:solidFill>
              </a:rPr>
              <a:t>Purpose</a:t>
            </a:r>
            <a:r>
              <a:rPr lang="en-US" sz="1400" dirty="0">
                <a:solidFill>
                  <a:srgbClr val="3C5790"/>
                </a:solidFill>
              </a:rPr>
              <a:t>: Embeddings serve to translate unstructured or complex data into a numerical form that preserves semantic similarity, enabling AI tasks like similarity search, clustering, or classification. Vectors more generally represent any numerical data point, regardless of semantic content.</a:t>
            </a:r>
          </a:p>
          <a:p>
            <a:r>
              <a:rPr lang="en-US" sz="1400" b="1" dirty="0">
                <a:solidFill>
                  <a:srgbClr val="3C5790"/>
                </a:solidFill>
              </a:rPr>
              <a:t>Example</a:t>
            </a:r>
            <a:r>
              <a:rPr lang="en-US" sz="1400" dirty="0">
                <a:solidFill>
                  <a:srgbClr val="3C5790"/>
                </a:solidFill>
              </a:rPr>
              <a:t>: In NLP, word embeddings map words like "king" and "queen" to vectors close in space due to related meanings, while generic vectors might just represent frequency counts or other explicit features without capturing context.</a:t>
            </a:r>
          </a:p>
        </p:txBody>
      </p:sp>
    </p:spTree>
    <p:extLst>
      <p:ext uri="{BB962C8B-B14F-4D97-AF65-F5344CB8AC3E}">
        <p14:creationId xmlns:p14="http://schemas.microsoft.com/office/powerpoint/2010/main" val="1081675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524000"/>
          </a:xfrm>
        </p:spPr>
        <p:txBody>
          <a:bodyPr/>
          <a:lstStyle/>
          <a:p>
            <a:r>
              <a:rPr lang="en-US" sz="1400" dirty="0">
                <a:solidFill>
                  <a:srgbClr val="3C5790"/>
                </a:solidFill>
              </a:rPr>
              <a:t>Most complex and knowledge-intensive LLM applications require runtime data retrieval for </a:t>
            </a:r>
            <a:r>
              <a:rPr lang="en-US" sz="1400" b="1" dirty="0">
                <a:solidFill>
                  <a:srgbClr val="3C5790"/>
                </a:solidFill>
              </a:rPr>
              <a:t>Retrieval Augmented Generation</a:t>
            </a:r>
            <a:r>
              <a:rPr lang="en-US" sz="1400" dirty="0">
                <a:solidFill>
                  <a:srgbClr val="3C5790"/>
                </a:solidFill>
              </a:rPr>
              <a:t> (</a:t>
            </a:r>
            <a:r>
              <a:rPr lang="en-US" sz="1400" b="1" dirty="0">
                <a:solidFill>
                  <a:srgbClr val="3C5790"/>
                </a:solidFill>
              </a:rPr>
              <a:t>RAG</a:t>
            </a:r>
            <a:r>
              <a:rPr lang="en-US" sz="1400" dirty="0">
                <a:solidFill>
                  <a:srgbClr val="3C5790"/>
                </a:solidFill>
              </a:rPr>
              <a:t>). </a:t>
            </a:r>
          </a:p>
          <a:p>
            <a:r>
              <a:rPr lang="en-US" sz="1400" dirty="0">
                <a:solidFill>
                  <a:srgbClr val="3C5790"/>
                </a:solidFill>
              </a:rPr>
              <a:t>A core component of the typical RAG stack is a vector store, which is used to power document retrieval.</a:t>
            </a:r>
          </a:p>
          <a:p>
            <a:r>
              <a:rPr lang="en-US" sz="1400" dirty="0">
                <a:solidFill>
                  <a:srgbClr val="3C5790"/>
                </a:solidFill>
              </a:rPr>
              <a:t>Using a vector store requires setting up an indexing pipeline to load data from sources (a website, a file, etc.), transform the data into documents, embed those documents, and insert the embeddings and documents into the vector store.</a:t>
            </a:r>
          </a:p>
        </p:txBody>
      </p:sp>
      <p:pic>
        <p:nvPicPr>
          <p:cNvPr id="3" name="Picture 2">
            <a:extLst>
              <a:ext uri="{FF2B5EF4-FFF2-40B4-BE49-F238E27FC236}">
                <a16:creationId xmlns:a16="http://schemas.microsoft.com/office/drawing/2014/main" id="{122D288D-3335-43D8-83DB-BC25CCE47923}"/>
              </a:ext>
            </a:extLst>
          </p:cNvPr>
          <p:cNvPicPr>
            <a:picLocks noChangeAspect="1"/>
          </p:cNvPicPr>
          <p:nvPr/>
        </p:nvPicPr>
        <p:blipFill>
          <a:blip r:embed="rId3"/>
          <a:stretch>
            <a:fillRect/>
          </a:stretch>
        </p:blipFill>
        <p:spPr>
          <a:xfrm>
            <a:off x="1552575" y="3886200"/>
            <a:ext cx="6038850" cy="1857375"/>
          </a:xfrm>
          <a:prstGeom prst="rect">
            <a:avLst/>
          </a:prstGeom>
        </p:spPr>
      </p:pic>
    </p:spTree>
    <p:extLst>
      <p:ext uri="{BB962C8B-B14F-4D97-AF65-F5344CB8AC3E}">
        <p14:creationId xmlns:p14="http://schemas.microsoft.com/office/powerpoint/2010/main" val="2183017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133600"/>
          </a:xfrm>
        </p:spPr>
        <p:txBody>
          <a:bodyPr/>
          <a:lstStyle/>
          <a:p>
            <a:r>
              <a:rPr lang="en-US" sz="1400" dirty="0">
                <a:solidFill>
                  <a:srgbClr val="3C5790"/>
                </a:solidFill>
              </a:rPr>
              <a:t>We can start </a:t>
            </a:r>
            <a:r>
              <a:rPr lang="en-US" sz="1400" dirty="0" err="1">
                <a:solidFill>
                  <a:srgbClr val="3C5790"/>
                </a:solidFill>
              </a:rPr>
              <a:t>ChromaDB</a:t>
            </a:r>
            <a:r>
              <a:rPr lang="en-US" sz="1400" dirty="0">
                <a:solidFill>
                  <a:srgbClr val="3C5790"/>
                </a:solidFill>
              </a:rPr>
              <a:t> using docker using the command: </a:t>
            </a:r>
          </a:p>
          <a:p>
            <a:r>
              <a:rPr lang="en-US" sz="1400" dirty="0">
                <a:solidFill>
                  <a:srgbClr val="3C5790"/>
                </a:solidFill>
              </a:rPr>
              <a:t>docker run -it  --name chroma-1.0.21 \</a:t>
            </a:r>
          </a:p>
          <a:p>
            <a:r>
              <a:rPr lang="en-US" sz="1400" dirty="0">
                <a:solidFill>
                  <a:srgbClr val="3C5790"/>
                </a:solidFill>
              </a:rPr>
              <a:t>  -p 8000:8000 \</a:t>
            </a:r>
          </a:p>
          <a:p>
            <a:r>
              <a:rPr lang="en-US" sz="1400" dirty="0">
                <a:solidFill>
                  <a:srgbClr val="3C5790"/>
                </a:solidFill>
              </a:rPr>
              <a:t>  -v ./chroma-data:/chroma/chroma \</a:t>
            </a:r>
          </a:p>
          <a:p>
            <a:r>
              <a:rPr lang="en-US" sz="1400" dirty="0">
                <a:solidFill>
                  <a:srgbClr val="3C5790"/>
                </a:solidFill>
              </a:rPr>
              <a:t>  </a:t>
            </a:r>
            <a:r>
              <a:rPr lang="en-US" sz="1400" dirty="0" err="1">
                <a:solidFill>
                  <a:srgbClr val="3C5790"/>
                </a:solidFill>
              </a:rPr>
              <a:t>chromadb</a:t>
            </a:r>
            <a:r>
              <a:rPr lang="en-US" sz="1400" dirty="0">
                <a:solidFill>
                  <a:srgbClr val="3C5790"/>
                </a:solidFill>
              </a:rPr>
              <a:t>/chroma:1.0.21.dev64</a:t>
            </a:r>
          </a:p>
          <a:p>
            <a:r>
              <a:rPr lang="en-US" sz="1400" dirty="0" err="1">
                <a:solidFill>
                  <a:srgbClr val="3C5790"/>
                </a:solidFill>
              </a:rPr>
              <a:t>ChromaDB</a:t>
            </a:r>
            <a:r>
              <a:rPr lang="en-US" sz="1400" dirty="0">
                <a:solidFill>
                  <a:srgbClr val="3C5790"/>
                </a:solidFill>
              </a:rPr>
              <a:t> exposes a RESTful API primarily through </a:t>
            </a:r>
            <a:r>
              <a:rPr lang="en-US" sz="1400" dirty="0" err="1">
                <a:solidFill>
                  <a:srgbClr val="3C5790"/>
                </a:solidFill>
              </a:rPr>
              <a:t>FastAPI</a:t>
            </a:r>
            <a:r>
              <a:rPr lang="en-US" sz="1400" dirty="0">
                <a:solidFill>
                  <a:srgbClr val="3C5790"/>
                </a:solidFill>
              </a:rPr>
              <a:t> when running in client-server mode. </a:t>
            </a:r>
          </a:p>
          <a:p>
            <a:r>
              <a:rPr lang="en-US" sz="1400" dirty="0">
                <a:solidFill>
                  <a:srgbClr val="3C5790"/>
                </a:solidFill>
              </a:rPr>
              <a:t>We can view the full interactive </a:t>
            </a:r>
            <a:r>
              <a:rPr lang="en-US" sz="1400" dirty="0" err="1">
                <a:solidFill>
                  <a:srgbClr val="3C5790"/>
                </a:solidFill>
              </a:rPr>
              <a:t>OpenAPI</a:t>
            </a:r>
            <a:r>
              <a:rPr lang="en-US" sz="1400" dirty="0">
                <a:solidFill>
                  <a:srgbClr val="3C5790"/>
                </a:solidFill>
              </a:rPr>
              <a:t> documentation (Swagger UI) by navigating to</a:t>
            </a:r>
            <a:r>
              <a:rPr lang="en-US" sz="1400" b="1" dirty="0">
                <a:solidFill>
                  <a:srgbClr val="3C5790"/>
                </a:solidFill>
              </a:rPr>
              <a:t> http://localhost:8000/docs</a:t>
            </a:r>
            <a:r>
              <a:rPr lang="en-US" sz="1400" dirty="0">
                <a:solidFill>
                  <a:srgbClr val="3C5790"/>
                </a:solidFill>
              </a:rPr>
              <a:t> while the container is running.</a:t>
            </a:r>
            <a:endParaRPr lang="fr-CA" sz="1400" dirty="0">
              <a:solidFill>
                <a:srgbClr val="3C5790"/>
              </a:solidFill>
            </a:endParaRPr>
          </a:p>
        </p:txBody>
      </p:sp>
    </p:spTree>
    <p:extLst>
      <p:ext uri="{BB962C8B-B14F-4D97-AF65-F5344CB8AC3E}">
        <p14:creationId xmlns:p14="http://schemas.microsoft.com/office/powerpoint/2010/main" val="721220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graphicFrame>
        <p:nvGraphicFramePr>
          <p:cNvPr id="4" name="Table 4">
            <a:extLst>
              <a:ext uri="{FF2B5EF4-FFF2-40B4-BE49-F238E27FC236}">
                <a16:creationId xmlns:a16="http://schemas.microsoft.com/office/drawing/2014/main" id="{9DB28AB9-BB05-418A-A615-234AEF8799E1}"/>
              </a:ext>
            </a:extLst>
          </p:cNvPr>
          <p:cNvGraphicFramePr>
            <a:graphicFrameLocks noGrp="1"/>
          </p:cNvGraphicFramePr>
          <p:nvPr>
            <p:extLst>
              <p:ext uri="{D42A27DB-BD31-4B8C-83A1-F6EECF244321}">
                <p14:modId xmlns:p14="http://schemas.microsoft.com/office/powerpoint/2010/main" val="3696994420"/>
              </p:ext>
            </p:extLst>
          </p:nvPr>
        </p:nvGraphicFramePr>
        <p:xfrm>
          <a:off x="457200" y="2362200"/>
          <a:ext cx="8382000" cy="2971800"/>
        </p:xfrm>
        <a:graphic>
          <a:graphicData uri="http://schemas.openxmlformats.org/drawingml/2006/table">
            <a:tbl>
              <a:tblPr firstRow="1" bandRow="1">
                <a:tableStyleId>{5C22544A-7EE6-4342-B048-85BDC9FD1C3A}</a:tableStyleId>
              </a:tblPr>
              <a:tblGrid>
                <a:gridCol w="2306972">
                  <a:extLst>
                    <a:ext uri="{9D8B030D-6E8A-4147-A177-3AD203B41FA5}">
                      <a16:colId xmlns:a16="http://schemas.microsoft.com/office/drawing/2014/main" val="1270855764"/>
                    </a:ext>
                  </a:extLst>
                </a:gridCol>
                <a:gridCol w="845890">
                  <a:extLst>
                    <a:ext uri="{9D8B030D-6E8A-4147-A177-3AD203B41FA5}">
                      <a16:colId xmlns:a16="http://schemas.microsoft.com/office/drawing/2014/main" val="4133567880"/>
                    </a:ext>
                  </a:extLst>
                </a:gridCol>
                <a:gridCol w="5229138">
                  <a:extLst>
                    <a:ext uri="{9D8B030D-6E8A-4147-A177-3AD203B41FA5}">
                      <a16:colId xmlns:a16="http://schemas.microsoft.com/office/drawing/2014/main" val="584603604"/>
                    </a:ext>
                  </a:extLst>
                </a:gridCol>
              </a:tblGrid>
              <a:tr h="371475">
                <a:tc>
                  <a:txBody>
                    <a:bodyPr/>
                    <a:lstStyle/>
                    <a:p>
                      <a:r>
                        <a:rPr lang="en-US" sz="1400" dirty="0"/>
                        <a:t>Endpoint</a:t>
                      </a:r>
                    </a:p>
                  </a:txBody>
                  <a:tcPr/>
                </a:tc>
                <a:tc>
                  <a:txBody>
                    <a:bodyPr/>
                    <a:lstStyle/>
                    <a:p>
                      <a:r>
                        <a:rPr lang="en-US" sz="1400" dirty="0"/>
                        <a:t>Method</a:t>
                      </a:r>
                    </a:p>
                  </a:txBody>
                  <a:tcPr/>
                </a:tc>
                <a:tc>
                  <a:txBody>
                    <a:bodyPr/>
                    <a:lstStyle/>
                    <a:p>
                      <a:r>
                        <a:rPr lang="en-US" sz="1400" dirty="0"/>
                        <a:t>Description</a:t>
                      </a:r>
                    </a:p>
                  </a:txBody>
                  <a:tcPr/>
                </a:tc>
                <a:extLst>
                  <a:ext uri="{0D108BD9-81ED-4DB2-BD59-A6C34878D82A}">
                    <a16:rowId xmlns:a16="http://schemas.microsoft.com/office/drawing/2014/main" val="4172863160"/>
                  </a:ext>
                </a:extLst>
              </a:tr>
              <a:tr h="371475">
                <a:tc>
                  <a:txBody>
                    <a:bodyPr/>
                    <a:lstStyle/>
                    <a:p>
                      <a:r>
                        <a:rPr lang="en-US" sz="1400" dirty="0"/>
                        <a:t>/</a:t>
                      </a:r>
                      <a:r>
                        <a:rPr lang="en-US" sz="1400" dirty="0" err="1"/>
                        <a:t>api</a:t>
                      </a:r>
                      <a:r>
                        <a:rPr lang="en-US" sz="1400" dirty="0"/>
                        <a:t>/v2/heartbeat</a:t>
                      </a:r>
                    </a:p>
                  </a:txBody>
                  <a:tcPr/>
                </a:tc>
                <a:tc>
                  <a:txBody>
                    <a:bodyPr/>
                    <a:lstStyle/>
                    <a:p>
                      <a:r>
                        <a:rPr lang="en-US" sz="1400" dirty="0"/>
                        <a:t>GET</a:t>
                      </a:r>
                    </a:p>
                  </a:txBody>
                  <a:tcPr/>
                </a:tc>
                <a:tc>
                  <a:txBody>
                    <a:bodyPr/>
                    <a:lstStyle/>
                    <a:p>
                      <a:r>
                        <a:rPr lang="en-US" sz="1400" dirty="0"/>
                        <a:t>Returns a nanosecond heartbeat to check server liveness.</a:t>
                      </a:r>
                    </a:p>
                  </a:txBody>
                  <a:tcPr/>
                </a:tc>
                <a:extLst>
                  <a:ext uri="{0D108BD9-81ED-4DB2-BD59-A6C34878D82A}">
                    <a16:rowId xmlns:a16="http://schemas.microsoft.com/office/drawing/2014/main" val="1287044822"/>
                  </a:ext>
                </a:extLst>
              </a:tr>
              <a:tr h="371475">
                <a:tc>
                  <a:txBody>
                    <a:bodyPr/>
                    <a:lstStyle/>
                    <a:p>
                      <a:r>
                        <a:rPr lang="en-US" sz="1400" dirty="0"/>
                        <a:t>/</a:t>
                      </a:r>
                      <a:r>
                        <a:rPr lang="en-US" sz="1400" dirty="0" err="1"/>
                        <a:t>api</a:t>
                      </a:r>
                      <a:r>
                        <a:rPr lang="en-US" sz="1400" dirty="0"/>
                        <a:t>/v2/version</a:t>
                      </a:r>
                    </a:p>
                  </a:txBody>
                  <a:tcPr/>
                </a:tc>
                <a:tc>
                  <a:txBody>
                    <a:bodyPr/>
                    <a:lstStyle/>
                    <a:p>
                      <a:r>
                        <a:rPr lang="en-US" sz="1400" dirty="0"/>
                        <a:t>GET</a:t>
                      </a:r>
                    </a:p>
                  </a:txBody>
                  <a:tcPr/>
                </a:tc>
                <a:tc>
                  <a:txBody>
                    <a:bodyPr/>
                    <a:lstStyle/>
                    <a:p>
                      <a:r>
                        <a:rPr lang="en-US" sz="1400" dirty="0"/>
                        <a:t>Returns the current server version.</a:t>
                      </a:r>
                    </a:p>
                  </a:txBody>
                  <a:tcPr/>
                </a:tc>
                <a:extLst>
                  <a:ext uri="{0D108BD9-81ED-4DB2-BD59-A6C34878D82A}">
                    <a16:rowId xmlns:a16="http://schemas.microsoft.com/office/drawing/2014/main" val="345226537"/>
                  </a:ext>
                </a:extLst>
              </a:tr>
              <a:tr h="371475">
                <a:tc>
                  <a:txBody>
                    <a:bodyPr/>
                    <a:lstStyle/>
                    <a:p>
                      <a:r>
                        <a:rPr lang="en-US" sz="1400" dirty="0"/>
                        <a:t>/</a:t>
                      </a:r>
                      <a:r>
                        <a:rPr lang="en-US" sz="1400" dirty="0" err="1"/>
                        <a:t>api</a:t>
                      </a:r>
                      <a:r>
                        <a:rPr lang="en-US" sz="1400" dirty="0"/>
                        <a:t>/v2/collections</a:t>
                      </a:r>
                    </a:p>
                  </a:txBody>
                  <a:tcPr/>
                </a:tc>
                <a:tc>
                  <a:txBody>
                    <a:bodyPr/>
                    <a:lstStyle/>
                    <a:p>
                      <a:r>
                        <a:rPr lang="en-US" sz="1400" dirty="0"/>
                        <a:t>GET</a:t>
                      </a:r>
                    </a:p>
                  </a:txBody>
                  <a:tcPr/>
                </a:tc>
                <a:tc>
                  <a:txBody>
                    <a:bodyPr/>
                    <a:lstStyle/>
                    <a:p>
                      <a:r>
                        <a:rPr lang="en-US" sz="1400" dirty="0"/>
                        <a:t>Lists all existing collections in the database.</a:t>
                      </a:r>
                    </a:p>
                  </a:txBody>
                  <a:tcPr/>
                </a:tc>
                <a:extLst>
                  <a:ext uri="{0D108BD9-81ED-4DB2-BD59-A6C34878D82A}">
                    <a16:rowId xmlns:a16="http://schemas.microsoft.com/office/drawing/2014/main" val="2731346778"/>
                  </a:ext>
                </a:extLst>
              </a:tr>
              <a:tr h="371475">
                <a:tc>
                  <a:txBody>
                    <a:bodyPr/>
                    <a:lstStyle/>
                    <a:p>
                      <a:r>
                        <a:rPr lang="en-US" sz="1400" dirty="0"/>
                        <a:t>/</a:t>
                      </a:r>
                      <a:r>
                        <a:rPr lang="en-US" sz="1400" dirty="0" err="1"/>
                        <a:t>api</a:t>
                      </a:r>
                      <a:r>
                        <a:rPr lang="en-US" sz="1400" dirty="0"/>
                        <a:t>/v2/collections</a:t>
                      </a:r>
                    </a:p>
                  </a:txBody>
                  <a:tcPr/>
                </a:tc>
                <a:tc>
                  <a:txBody>
                    <a:bodyPr/>
                    <a:lstStyle/>
                    <a:p>
                      <a:r>
                        <a:rPr lang="en-US" sz="1400" dirty="0"/>
                        <a:t>POST</a:t>
                      </a:r>
                    </a:p>
                  </a:txBody>
                  <a:tcPr/>
                </a:tc>
                <a:tc>
                  <a:txBody>
                    <a:bodyPr/>
                    <a:lstStyle/>
                    <a:p>
                      <a:r>
                        <a:rPr lang="en-US" sz="1400" dirty="0"/>
                        <a:t>Creates a new collection with a specified name and metadata.</a:t>
                      </a:r>
                    </a:p>
                  </a:txBody>
                  <a:tcPr/>
                </a:tc>
                <a:extLst>
                  <a:ext uri="{0D108BD9-81ED-4DB2-BD59-A6C34878D82A}">
                    <a16:rowId xmlns:a16="http://schemas.microsoft.com/office/drawing/2014/main" val="113932497"/>
                  </a:ext>
                </a:extLst>
              </a:tr>
              <a:tr h="371475">
                <a:tc>
                  <a:txBody>
                    <a:bodyPr/>
                    <a:lstStyle/>
                    <a:p>
                      <a:r>
                        <a:rPr lang="en-US" sz="1400" dirty="0"/>
                        <a:t>/</a:t>
                      </a:r>
                      <a:r>
                        <a:rPr lang="en-US" sz="1400" dirty="0" err="1"/>
                        <a:t>api</a:t>
                      </a:r>
                      <a:r>
                        <a:rPr lang="en-US" sz="1400" dirty="0"/>
                        <a:t>/v2/collections/{id}</a:t>
                      </a:r>
                    </a:p>
                  </a:txBody>
                  <a:tcPr/>
                </a:tc>
                <a:tc>
                  <a:txBody>
                    <a:bodyPr/>
                    <a:lstStyle/>
                    <a:p>
                      <a:r>
                        <a:rPr lang="en-US" sz="1400" dirty="0"/>
                        <a:t>GET</a:t>
                      </a:r>
                    </a:p>
                  </a:txBody>
                  <a:tcPr/>
                </a:tc>
                <a:tc>
                  <a:txBody>
                    <a:bodyPr/>
                    <a:lstStyle/>
                    <a:p>
                      <a:r>
                        <a:rPr lang="en-US" sz="1400" dirty="0"/>
                        <a:t>Retrieves details for a specific collection by its ID.</a:t>
                      </a:r>
                    </a:p>
                  </a:txBody>
                  <a:tcPr/>
                </a:tc>
                <a:extLst>
                  <a:ext uri="{0D108BD9-81ED-4DB2-BD59-A6C34878D82A}">
                    <a16:rowId xmlns:a16="http://schemas.microsoft.com/office/drawing/2014/main" val="703467542"/>
                  </a:ext>
                </a:extLst>
              </a:tr>
              <a:tr h="371475">
                <a:tc>
                  <a:txBody>
                    <a:bodyPr/>
                    <a:lstStyle/>
                    <a:p>
                      <a:r>
                        <a:rPr lang="en-US" sz="1400" dirty="0"/>
                        <a:t>/</a:t>
                      </a:r>
                      <a:r>
                        <a:rPr lang="en-US" sz="1400" dirty="0" err="1"/>
                        <a:t>api</a:t>
                      </a:r>
                      <a:r>
                        <a:rPr lang="en-US" sz="1400" dirty="0"/>
                        <a:t>/v2/collections/{id}</a:t>
                      </a:r>
                    </a:p>
                  </a:txBody>
                  <a:tcPr/>
                </a:tc>
                <a:tc>
                  <a:txBody>
                    <a:bodyPr/>
                    <a:lstStyle/>
                    <a:p>
                      <a:r>
                        <a:rPr lang="en-US" sz="1400" dirty="0"/>
                        <a:t>DELETE</a:t>
                      </a:r>
                    </a:p>
                  </a:txBody>
                  <a:tcPr/>
                </a:tc>
                <a:tc>
                  <a:txBody>
                    <a:bodyPr/>
                    <a:lstStyle/>
                    <a:p>
                      <a:r>
                        <a:rPr lang="en-US" sz="1400" dirty="0"/>
                        <a:t>Deletes a collection and all associated data.</a:t>
                      </a:r>
                    </a:p>
                  </a:txBody>
                  <a:tcPr/>
                </a:tc>
                <a:extLst>
                  <a:ext uri="{0D108BD9-81ED-4DB2-BD59-A6C34878D82A}">
                    <a16:rowId xmlns:a16="http://schemas.microsoft.com/office/drawing/2014/main" val="2944928156"/>
                  </a:ext>
                </a:extLst>
              </a:tr>
              <a:tr h="371475">
                <a:tc>
                  <a:txBody>
                    <a:bodyPr/>
                    <a:lstStyle/>
                    <a:p>
                      <a:r>
                        <a:rPr lang="en-US" sz="1400" dirty="0"/>
                        <a:t>/</a:t>
                      </a:r>
                      <a:r>
                        <a:rPr lang="en-US" sz="1400" dirty="0" err="1"/>
                        <a:t>api</a:t>
                      </a:r>
                      <a:r>
                        <a:rPr lang="en-US" sz="1400" dirty="0"/>
                        <a:t>/v2/collections/{id}/add</a:t>
                      </a:r>
                    </a:p>
                  </a:txBody>
                  <a:tcPr/>
                </a:tc>
                <a:tc>
                  <a:txBody>
                    <a:bodyPr/>
                    <a:lstStyle/>
                    <a:p>
                      <a:r>
                        <a:rPr lang="en-US" sz="1400" dirty="0"/>
                        <a:t>POST</a:t>
                      </a:r>
                    </a:p>
                  </a:txBody>
                  <a:tcPr/>
                </a:tc>
                <a:tc>
                  <a:txBody>
                    <a:bodyPr/>
                    <a:lstStyle/>
                    <a:p>
                      <a:r>
                        <a:rPr lang="en-US" sz="1400" dirty="0"/>
                        <a:t>Adds documents, embeddings, and metadata to a collection.</a:t>
                      </a:r>
                    </a:p>
                  </a:txBody>
                  <a:tcPr/>
                </a:tc>
                <a:extLst>
                  <a:ext uri="{0D108BD9-81ED-4DB2-BD59-A6C34878D82A}">
                    <a16:rowId xmlns:a16="http://schemas.microsoft.com/office/drawing/2014/main" val="3025843495"/>
                  </a:ext>
                </a:extLst>
              </a:tr>
            </a:tbl>
          </a:graphicData>
        </a:graphic>
      </p:graphicFrame>
    </p:spTree>
    <p:extLst>
      <p:ext uri="{BB962C8B-B14F-4D97-AF65-F5344CB8AC3E}">
        <p14:creationId xmlns:p14="http://schemas.microsoft.com/office/powerpoint/2010/main" val="3543644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graphicFrame>
        <p:nvGraphicFramePr>
          <p:cNvPr id="4" name="Table 4">
            <a:extLst>
              <a:ext uri="{FF2B5EF4-FFF2-40B4-BE49-F238E27FC236}">
                <a16:creationId xmlns:a16="http://schemas.microsoft.com/office/drawing/2014/main" id="{9DB28AB9-BB05-418A-A615-234AEF8799E1}"/>
              </a:ext>
            </a:extLst>
          </p:cNvPr>
          <p:cNvGraphicFramePr>
            <a:graphicFrameLocks noGrp="1"/>
          </p:cNvGraphicFramePr>
          <p:nvPr>
            <p:extLst>
              <p:ext uri="{D42A27DB-BD31-4B8C-83A1-F6EECF244321}">
                <p14:modId xmlns:p14="http://schemas.microsoft.com/office/powerpoint/2010/main" val="621191983"/>
              </p:ext>
            </p:extLst>
          </p:nvPr>
        </p:nvGraphicFramePr>
        <p:xfrm>
          <a:off x="228600" y="2362200"/>
          <a:ext cx="8610601" cy="3118485"/>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1270855764"/>
                    </a:ext>
                  </a:extLst>
                </a:gridCol>
                <a:gridCol w="724250">
                  <a:extLst>
                    <a:ext uri="{9D8B030D-6E8A-4147-A177-3AD203B41FA5}">
                      <a16:colId xmlns:a16="http://schemas.microsoft.com/office/drawing/2014/main" val="4133567880"/>
                    </a:ext>
                  </a:extLst>
                </a:gridCol>
                <a:gridCol w="5371751">
                  <a:extLst>
                    <a:ext uri="{9D8B030D-6E8A-4147-A177-3AD203B41FA5}">
                      <a16:colId xmlns:a16="http://schemas.microsoft.com/office/drawing/2014/main" val="584603604"/>
                    </a:ext>
                  </a:extLst>
                </a:gridCol>
              </a:tblGrid>
              <a:tr h="371475">
                <a:tc>
                  <a:txBody>
                    <a:bodyPr/>
                    <a:lstStyle/>
                    <a:p>
                      <a:r>
                        <a:rPr lang="en-US" sz="1400" dirty="0"/>
                        <a:t>Endpoint</a:t>
                      </a:r>
                    </a:p>
                  </a:txBody>
                  <a:tcPr/>
                </a:tc>
                <a:tc>
                  <a:txBody>
                    <a:bodyPr/>
                    <a:lstStyle/>
                    <a:p>
                      <a:r>
                        <a:rPr lang="en-US" sz="1400" dirty="0"/>
                        <a:t>Method</a:t>
                      </a:r>
                    </a:p>
                  </a:txBody>
                  <a:tcPr/>
                </a:tc>
                <a:tc>
                  <a:txBody>
                    <a:bodyPr/>
                    <a:lstStyle/>
                    <a:p>
                      <a:r>
                        <a:rPr lang="en-US" sz="1400" dirty="0"/>
                        <a:t>Description</a:t>
                      </a:r>
                    </a:p>
                  </a:txBody>
                  <a:tcPr/>
                </a:tc>
                <a:extLst>
                  <a:ext uri="{0D108BD9-81ED-4DB2-BD59-A6C34878D82A}">
                    <a16:rowId xmlns:a16="http://schemas.microsoft.com/office/drawing/2014/main" val="4172863160"/>
                  </a:ext>
                </a:extLst>
              </a:tr>
              <a:tr h="371475">
                <a:tc>
                  <a:txBody>
                    <a:bodyPr/>
                    <a:lstStyle/>
                    <a:p>
                      <a:r>
                        <a:rPr lang="en-US" sz="1400" dirty="0"/>
                        <a:t> /</a:t>
                      </a:r>
                      <a:r>
                        <a:rPr lang="en-US" sz="1400" dirty="0" err="1"/>
                        <a:t>api</a:t>
                      </a:r>
                      <a:r>
                        <a:rPr lang="en-US" sz="1400" dirty="0"/>
                        <a:t>/v2/collections/{id}/get</a:t>
                      </a:r>
                    </a:p>
                  </a:txBody>
                  <a:tcPr/>
                </a:tc>
                <a:tc>
                  <a:txBody>
                    <a:bodyPr/>
                    <a:lstStyle/>
                    <a:p>
                      <a:r>
                        <a:rPr lang="en-US" sz="1400" dirty="0"/>
                        <a:t>POST</a:t>
                      </a:r>
                    </a:p>
                  </a:txBody>
                  <a:tcPr/>
                </a:tc>
                <a:tc>
                  <a:txBody>
                    <a:bodyPr/>
                    <a:lstStyle/>
                    <a:p>
                      <a:r>
                        <a:rPr lang="en-US" sz="1400" dirty="0"/>
                        <a:t>Retrieves specific documents from a collection by ID or filter.</a:t>
                      </a:r>
                    </a:p>
                  </a:txBody>
                  <a:tcPr/>
                </a:tc>
                <a:extLst>
                  <a:ext uri="{0D108BD9-81ED-4DB2-BD59-A6C34878D82A}">
                    <a16:rowId xmlns:a16="http://schemas.microsoft.com/office/drawing/2014/main" val="1287044822"/>
                  </a:ext>
                </a:extLst>
              </a:tr>
              <a:tr h="371475">
                <a:tc>
                  <a:txBody>
                    <a:bodyPr/>
                    <a:lstStyle/>
                    <a:p>
                      <a:r>
                        <a:rPr lang="en-US" sz="1400" dirty="0"/>
                        <a:t>/</a:t>
                      </a:r>
                      <a:r>
                        <a:rPr lang="en-US" sz="1400" dirty="0" err="1"/>
                        <a:t>api</a:t>
                      </a:r>
                      <a:r>
                        <a:rPr lang="en-US" sz="1400" dirty="0"/>
                        <a:t>/v2/collections/{id}/query</a:t>
                      </a:r>
                    </a:p>
                  </a:txBody>
                  <a:tcPr/>
                </a:tc>
                <a:tc>
                  <a:txBody>
                    <a:bodyPr/>
                    <a:lstStyle/>
                    <a:p>
                      <a:r>
                        <a:rPr lang="en-US" sz="1400" dirty="0"/>
                        <a:t>POST</a:t>
                      </a:r>
                    </a:p>
                  </a:txBody>
                  <a:tcPr/>
                </a:tc>
                <a:tc>
                  <a:txBody>
                    <a:bodyPr/>
                    <a:lstStyle/>
                    <a:p>
                      <a:r>
                        <a:rPr lang="en-US" sz="1400" dirty="0"/>
                        <a:t>Performs a similarity search (ANN) against the collection.</a:t>
                      </a:r>
                    </a:p>
                  </a:txBody>
                  <a:tcPr/>
                </a:tc>
                <a:extLst>
                  <a:ext uri="{0D108BD9-81ED-4DB2-BD59-A6C34878D82A}">
                    <a16:rowId xmlns:a16="http://schemas.microsoft.com/office/drawing/2014/main" val="345226537"/>
                  </a:ext>
                </a:extLst>
              </a:tr>
              <a:tr h="371475">
                <a:tc>
                  <a:txBody>
                    <a:bodyPr/>
                    <a:lstStyle/>
                    <a:p>
                      <a:r>
                        <a:rPr lang="en-US" sz="1400" dirty="0"/>
                        <a:t>/</a:t>
                      </a:r>
                      <a:r>
                        <a:rPr lang="en-US" sz="1400" dirty="0" err="1"/>
                        <a:t>api</a:t>
                      </a:r>
                      <a:r>
                        <a:rPr lang="en-US" sz="1400" dirty="0"/>
                        <a:t>/v2/collections/{id}/update</a:t>
                      </a:r>
                    </a:p>
                  </a:txBody>
                  <a:tcPr/>
                </a:tc>
                <a:tc>
                  <a:txBody>
                    <a:bodyPr/>
                    <a:lstStyle/>
                    <a:p>
                      <a:r>
                        <a:rPr lang="en-US" sz="1400" dirty="0"/>
                        <a:t>POST</a:t>
                      </a:r>
                    </a:p>
                  </a:txBody>
                  <a:tcPr/>
                </a:tc>
                <a:tc>
                  <a:txBody>
                    <a:bodyPr/>
                    <a:lstStyle/>
                    <a:p>
                      <a:r>
                        <a:rPr lang="en-US" sz="1400" dirty="0"/>
                        <a:t>Updates existing documents or metadata within a collection.</a:t>
                      </a:r>
                    </a:p>
                  </a:txBody>
                  <a:tcPr/>
                </a:tc>
                <a:extLst>
                  <a:ext uri="{0D108BD9-81ED-4DB2-BD59-A6C34878D82A}">
                    <a16:rowId xmlns:a16="http://schemas.microsoft.com/office/drawing/2014/main" val="2731346778"/>
                  </a:ext>
                </a:extLst>
              </a:tr>
              <a:tr h="371475">
                <a:tc>
                  <a:txBody>
                    <a:bodyPr/>
                    <a:lstStyle/>
                    <a:p>
                      <a:r>
                        <a:rPr lang="en-US" sz="1400" dirty="0"/>
                        <a:t>/</a:t>
                      </a:r>
                      <a:r>
                        <a:rPr lang="en-US" sz="1400" dirty="0" err="1"/>
                        <a:t>api</a:t>
                      </a:r>
                      <a:r>
                        <a:rPr lang="en-US" sz="1400" dirty="0"/>
                        <a:t>/v2/collections/{id}/</a:t>
                      </a:r>
                      <a:r>
                        <a:rPr lang="en-US" sz="1400" dirty="0" err="1"/>
                        <a:t>upsert</a:t>
                      </a:r>
                      <a:endParaRPr lang="en-US" sz="1400" dirty="0"/>
                    </a:p>
                  </a:txBody>
                  <a:tcPr/>
                </a:tc>
                <a:tc>
                  <a:txBody>
                    <a:bodyPr/>
                    <a:lstStyle/>
                    <a:p>
                      <a:r>
                        <a:rPr lang="en-US" sz="1400" dirty="0"/>
                        <a:t>POST</a:t>
                      </a:r>
                    </a:p>
                  </a:txBody>
                  <a:tcPr/>
                </a:tc>
                <a:tc>
                  <a:txBody>
                    <a:bodyPr/>
                    <a:lstStyle/>
                    <a:p>
                      <a:r>
                        <a:rPr lang="en-US" sz="1400" dirty="0"/>
                        <a:t>Updates documents if they exist, or adds them if they do not.</a:t>
                      </a:r>
                    </a:p>
                  </a:txBody>
                  <a:tcPr/>
                </a:tc>
                <a:extLst>
                  <a:ext uri="{0D108BD9-81ED-4DB2-BD59-A6C34878D82A}">
                    <a16:rowId xmlns:a16="http://schemas.microsoft.com/office/drawing/2014/main" val="113932497"/>
                  </a:ext>
                </a:extLst>
              </a:tr>
              <a:tr h="371475">
                <a:tc>
                  <a:txBody>
                    <a:bodyPr/>
                    <a:lstStyle/>
                    <a:p>
                      <a:r>
                        <a:rPr lang="en-US" sz="1400" dirty="0"/>
                        <a:t>/</a:t>
                      </a:r>
                      <a:r>
                        <a:rPr lang="en-US" sz="1400" dirty="0" err="1"/>
                        <a:t>api</a:t>
                      </a:r>
                      <a:r>
                        <a:rPr lang="en-US" sz="1400" dirty="0"/>
                        <a:t>/v2/collections/{id}/delete</a:t>
                      </a:r>
                    </a:p>
                  </a:txBody>
                  <a:tcPr/>
                </a:tc>
                <a:tc>
                  <a:txBody>
                    <a:bodyPr/>
                    <a:lstStyle/>
                    <a:p>
                      <a:r>
                        <a:rPr lang="en-US" sz="1400" dirty="0"/>
                        <a:t>POST</a:t>
                      </a:r>
                    </a:p>
                  </a:txBody>
                  <a:tcPr/>
                </a:tc>
                <a:tc>
                  <a:txBody>
                    <a:bodyPr/>
                    <a:lstStyle/>
                    <a:p>
                      <a:r>
                        <a:rPr lang="en-US" sz="1400" dirty="0"/>
                        <a:t>Deletes specific documents from a collection based on IDs or filters.</a:t>
                      </a:r>
                    </a:p>
                  </a:txBody>
                  <a:tcPr/>
                </a:tc>
                <a:extLst>
                  <a:ext uri="{0D108BD9-81ED-4DB2-BD59-A6C34878D82A}">
                    <a16:rowId xmlns:a16="http://schemas.microsoft.com/office/drawing/2014/main" val="703467542"/>
                  </a:ext>
                </a:extLst>
              </a:tr>
              <a:tr h="371475">
                <a:tc>
                  <a:txBody>
                    <a:bodyPr/>
                    <a:lstStyle/>
                    <a:p>
                      <a:r>
                        <a:rPr lang="en-US" sz="1400" dirty="0"/>
                        <a:t>/</a:t>
                      </a:r>
                      <a:r>
                        <a:rPr lang="en-US" sz="1400" dirty="0" err="1"/>
                        <a:t>api</a:t>
                      </a:r>
                      <a:r>
                        <a:rPr lang="en-US" sz="1400" dirty="0"/>
                        <a:t>/v2/collections/{id}/count</a:t>
                      </a:r>
                    </a:p>
                  </a:txBody>
                  <a:tcPr/>
                </a:tc>
                <a:tc>
                  <a:txBody>
                    <a:bodyPr/>
                    <a:lstStyle/>
                    <a:p>
                      <a:r>
                        <a:rPr lang="en-US" sz="1400" dirty="0"/>
                        <a:t>GET</a:t>
                      </a:r>
                    </a:p>
                  </a:txBody>
                  <a:tcPr/>
                </a:tc>
                <a:tc>
                  <a:txBody>
                    <a:bodyPr/>
                    <a:lstStyle/>
                    <a:p>
                      <a:r>
                        <a:rPr lang="en-US" sz="1400" dirty="0"/>
                        <a:t>Returns the total number of items in a collection.</a:t>
                      </a:r>
                    </a:p>
                  </a:txBody>
                  <a:tcPr/>
                </a:tc>
                <a:extLst>
                  <a:ext uri="{0D108BD9-81ED-4DB2-BD59-A6C34878D82A}">
                    <a16:rowId xmlns:a16="http://schemas.microsoft.com/office/drawing/2014/main" val="2944928156"/>
                  </a:ext>
                </a:extLst>
              </a:tr>
              <a:tr h="371475">
                <a:tc>
                  <a:txBody>
                    <a:bodyPr/>
                    <a:lstStyle/>
                    <a:p>
                      <a:r>
                        <a:rPr lang="en-US" sz="1400" dirty="0"/>
                        <a:t>/</a:t>
                      </a:r>
                      <a:r>
                        <a:rPr lang="en-US" sz="1400" dirty="0" err="1"/>
                        <a:t>api</a:t>
                      </a:r>
                      <a:r>
                        <a:rPr lang="en-US" sz="1400" dirty="0"/>
                        <a:t>/v2/reset</a:t>
                      </a:r>
                    </a:p>
                  </a:txBody>
                  <a:tcPr/>
                </a:tc>
                <a:tc>
                  <a:txBody>
                    <a:bodyPr/>
                    <a:lstStyle/>
                    <a:p>
                      <a:r>
                        <a:rPr lang="en-US" sz="1400" dirty="0"/>
                        <a:t>POST</a:t>
                      </a:r>
                    </a:p>
                  </a:txBody>
                  <a:tcPr/>
                </a:tc>
                <a:tc>
                  <a:txBody>
                    <a:bodyPr/>
                    <a:lstStyle/>
                    <a:p>
                      <a:r>
                        <a:rPr lang="en-US" sz="1400" dirty="0"/>
                        <a:t>Resets the entire database (requires ALLOW_RESET=True env var).</a:t>
                      </a:r>
                    </a:p>
                  </a:txBody>
                  <a:tcPr/>
                </a:tc>
                <a:extLst>
                  <a:ext uri="{0D108BD9-81ED-4DB2-BD59-A6C34878D82A}">
                    <a16:rowId xmlns:a16="http://schemas.microsoft.com/office/drawing/2014/main" val="3025843495"/>
                  </a:ext>
                </a:extLst>
              </a:tr>
            </a:tbl>
          </a:graphicData>
        </a:graphic>
      </p:graphicFrame>
    </p:spTree>
    <p:extLst>
      <p:ext uri="{BB962C8B-B14F-4D97-AF65-F5344CB8AC3E}">
        <p14:creationId xmlns:p14="http://schemas.microsoft.com/office/powerpoint/2010/main" val="1434144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
          </a:xfrm>
        </p:spPr>
        <p:txBody>
          <a:bodyPr/>
          <a:lstStyle/>
          <a:p>
            <a:r>
              <a:rPr lang="en-US" sz="1400" dirty="0">
                <a:solidFill>
                  <a:srgbClr val="3C5790"/>
                </a:solidFill>
              </a:rPr>
              <a:t>We can create a Spring AI application, where we define in </a:t>
            </a:r>
            <a:r>
              <a:rPr lang="en-US" sz="1400" dirty="0" err="1">
                <a:solidFill>
                  <a:srgbClr val="3C5790"/>
                </a:solidFill>
              </a:rPr>
              <a:t>application.properties</a:t>
            </a:r>
            <a:r>
              <a:rPr lang="en-US" sz="1400" dirty="0">
                <a:solidFill>
                  <a:srgbClr val="3C5790"/>
                </a:solidFill>
              </a:rPr>
              <a:t> the following setup</a:t>
            </a:r>
            <a:endParaRPr lang="fr-CA" sz="1400" dirty="0">
              <a:solidFill>
                <a:srgbClr val="3C5790"/>
              </a:solidFill>
            </a:endParaRPr>
          </a:p>
        </p:txBody>
      </p:sp>
      <p:pic>
        <p:nvPicPr>
          <p:cNvPr id="3" name="Picture 2">
            <a:extLst>
              <a:ext uri="{FF2B5EF4-FFF2-40B4-BE49-F238E27FC236}">
                <a16:creationId xmlns:a16="http://schemas.microsoft.com/office/drawing/2014/main" id="{37026408-EFC0-4601-8AC0-876FB6CD8EDC}"/>
              </a:ext>
            </a:extLst>
          </p:cNvPr>
          <p:cNvPicPr>
            <a:picLocks noChangeAspect="1"/>
          </p:cNvPicPr>
          <p:nvPr/>
        </p:nvPicPr>
        <p:blipFill>
          <a:blip r:embed="rId3"/>
          <a:stretch>
            <a:fillRect/>
          </a:stretch>
        </p:blipFill>
        <p:spPr>
          <a:xfrm>
            <a:off x="2362200" y="2362200"/>
            <a:ext cx="4010025" cy="781050"/>
          </a:xfrm>
          <a:prstGeom prst="rect">
            <a:avLst/>
          </a:prstGeom>
        </p:spPr>
      </p:pic>
      <p:pic>
        <p:nvPicPr>
          <p:cNvPr id="5" name="Picture 4">
            <a:extLst>
              <a:ext uri="{FF2B5EF4-FFF2-40B4-BE49-F238E27FC236}">
                <a16:creationId xmlns:a16="http://schemas.microsoft.com/office/drawing/2014/main" id="{EF6C06D6-CB06-4B63-8F26-D2AFECBE24B3}"/>
              </a:ext>
            </a:extLst>
          </p:cNvPr>
          <p:cNvPicPr>
            <a:picLocks noChangeAspect="1"/>
          </p:cNvPicPr>
          <p:nvPr/>
        </p:nvPicPr>
        <p:blipFill>
          <a:blip r:embed="rId4"/>
          <a:stretch>
            <a:fillRect/>
          </a:stretch>
        </p:blipFill>
        <p:spPr>
          <a:xfrm>
            <a:off x="304800" y="3299224"/>
            <a:ext cx="3505200" cy="3109018"/>
          </a:xfrm>
          <a:prstGeom prst="rect">
            <a:avLst/>
          </a:prstGeom>
        </p:spPr>
      </p:pic>
      <p:pic>
        <p:nvPicPr>
          <p:cNvPr id="9" name="Picture 8">
            <a:extLst>
              <a:ext uri="{FF2B5EF4-FFF2-40B4-BE49-F238E27FC236}">
                <a16:creationId xmlns:a16="http://schemas.microsoft.com/office/drawing/2014/main" id="{9FCE2AD8-79F6-45D5-9056-FC7D53FD40EF}"/>
              </a:ext>
            </a:extLst>
          </p:cNvPr>
          <p:cNvPicPr>
            <a:picLocks noChangeAspect="1"/>
          </p:cNvPicPr>
          <p:nvPr/>
        </p:nvPicPr>
        <p:blipFill>
          <a:blip r:embed="rId5"/>
          <a:stretch>
            <a:fillRect/>
          </a:stretch>
        </p:blipFill>
        <p:spPr>
          <a:xfrm>
            <a:off x="5334002" y="3371850"/>
            <a:ext cx="3065617" cy="3086100"/>
          </a:xfrm>
          <a:prstGeom prst="rect">
            <a:avLst/>
          </a:prstGeom>
        </p:spPr>
      </p:pic>
    </p:spTree>
    <p:extLst>
      <p:ext uri="{BB962C8B-B14F-4D97-AF65-F5344CB8AC3E}">
        <p14:creationId xmlns:p14="http://schemas.microsoft.com/office/powerpoint/2010/main" val="298208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We use the </a:t>
            </a:r>
            <a:r>
              <a:rPr lang="en-US" sz="1400" dirty="0" err="1">
                <a:solidFill>
                  <a:srgbClr val="3C5790"/>
                </a:solidFill>
              </a:rPr>
              <a:t>VectorStore</a:t>
            </a:r>
            <a:r>
              <a:rPr lang="en-US" sz="1400" dirty="0">
                <a:solidFill>
                  <a:srgbClr val="3C5790"/>
                </a:solidFill>
              </a:rPr>
              <a:t> interface to interact with the vector store.</a:t>
            </a:r>
            <a:endParaRPr lang="fr-CA" sz="1400" dirty="0">
              <a:solidFill>
                <a:srgbClr val="3C5790"/>
              </a:solidFill>
            </a:endParaRPr>
          </a:p>
        </p:txBody>
      </p:sp>
      <p:pic>
        <p:nvPicPr>
          <p:cNvPr id="3" name="Picture 2">
            <a:extLst>
              <a:ext uri="{FF2B5EF4-FFF2-40B4-BE49-F238E27FC236}">
                <a16:creationId xmlns:a16="http://schemas.microsoft.com/office/drawing/2014/main" id="{141E5F6F-F065-473B-931F-D4B9928E964E}"/>
              </a:ext>
            </a:extLst>
          </p:cNvPr>
          <p:cNvPicPr>
            <a:picLocks noChangeAspect="1"/>
          </p:cNvPicPr>
          <p:nvPr/>
        </p:nvPicPr>
        <p:blipFill>
          <a:blip r:embed="rId3"/>
          <a:stretch>
            <a:fillRect/>
          </a:stretch>
        </p:blipFill>
        <p:spPr>
          <a:xfrm>
            <a:off x="1707356" y="2438400"/>
            <a:ext cx="5729287" cy="3639880"/>
          </a:xfrm>
          <a:prstGeom prst="rect">
            <a:avLst/>
          </a:prstGeom>
        </p:spPr>
      </p:pic>
    </p:spTree>
    <p:extLst>
      <p:ext uri="{BB962C8B-B14F-4D97-AF65-F5344CB8AC3E}">
        <p14:creationId xmlns:p14="http://schemas.microsoft.com/office/powerpoint/2010/main" val="3457478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838200"/>
          </a:xfrm>
        </p:spPr>
        <p:txBody>
          <a:bodyPr/>
          <a:lstStyle/>
          <a:p>
            <a:r>
              <a:rPr lang="en-US" sz="1400" dirty="0">
                <a:solidFill>
                  <a:srgbClr val="3C5790"/>
                </a:solidFill>
              </a:rPr>
              <a:t>After we store embeddings in the </a:t>
            </a:r>
            <a:r>
              <a:rPr lang="en-US" sz="1400" dirty="0" err="1">
                <a:solidFill>
                  <a:srgbClr val="3C5790"/>
                </a:solidFill>
              </a:rPr>
              <a:t>ChromaDb</a:t>
            </a:r>
            <a:r>
              <a:rPr lang="en-US" sz="1400" dirty="0">
                <a:solidFill>
                  <a:srgbClr val="3C5790"/>
                </a:solidFill>
              </a:rPr>
              <a:t> vector store we need later to perform the searches.</a:t>
            </a:r>
            <a:endParaRPr lang="fr-CA" sz="1400" dirty="0">
              <a:solidFill>
                <a:srgbClr val="3C5790"/>
              </a:solidFill>
            </a:endParaRPr>
          </a:p>
        </p:txBody>
      </p:sp>
      <p:pic>
        <p:nvPicPr>
          <p:cNvPr id="3" name="Picture 2">
            <a:extLst>
              <a:ext uri="{FF2B5EF4-FFF2-40B4-BE49-F238E27FC236}">
                <a16:creationId xmlns:a16="http://schemas.microsoft.com/office/drawing/2014/main" id="{22034C8D-3EBF-4994-8C44-F718DCDFF19E}"/>
              </a:ext>
            </a:extLst>
          </p:cNvPr>
          <p:cNvPicPr>
            <a:picLocks noChangeAspect="1"/>
          </p:cNvPicPr>
          <p:nvPr/>
        </p:nvPicPr>
        <p:blipFill>
          <a:blip r:embed="rId3"/>
          <a:stretch>
            <a:fillRect/>
          </a:stretch>
        </p:blipFill>
        <p:spPr>
          <a:xfrm>
            <a:off x="895350" y="2895600"/>
            <a:ext cx="7353300" cy="1257300"/>
          </a:xfrm>
          <a:prstGeom prst="rect">
            <a:avLst/>
          </a:prstGeom>
        </p:spPr>
      </p:pic>
    </p:spTree>
    <p:extLst>
      <p:ext uri="{BB962C8B-B14F-4D97-AF65-F5344CB8AC3E}">
        <p14:creationId xmlns:p14="http://schemas.microsoft.com/office/powerpoint/2010/main" val="706293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Vector</a:t>
            </a:r>
            <a:r>
              <a:rPr lang="fr-CA" dirty="0">
                <a:solidFill>
                  <a:schemeClr val="bg1"/>
                </a:solidFill>
              </a:rPr>
              <a:t> store </a:t>
            </a:r>
            <a:r>
              <a:rPr lang="fr-CA" dirty="0" err="1">
                <a:solidFill>
                  <a:schemeClr val="bg1"/>
                </a:solidFill>
              </a:rPr>
              <a:t>comparision</a:t>
            </a:r>
            <a:endParaRPr lang="fr-CA" dirty="0">
              <a:solidFill>
                <a:schemeClr val="bg1"/>
              </a:solidFill>
            </a:endParaRPr>
          </a:p>
        </p:txBody>
      </p:sp>
      <p:graphicFrame>
        <p:nvGraphicFramePr>
          <p:cNvPr id="5" name="Table 5">
            <a:extLst>
              <a:ext uri="{FF2B5EF4-FFF2-40B4-BE49-F238E27FC236}">
                <a16:creationId xmlns:a16="http://schemas.microsoft.com/office/drawing/2014/main" id="{22FBD51F-2064-4335-82E4-B6D701FF8007}"/>
              </a:ext>
            </a:extLst>
          </p:cNvPr>
          <p:cNvGraphicFramePr>
            <a:graphicFrameLocks noGrp="1"/>
          </p:cNvGraphicFramePr>
          <p:nvPr>
            <p:extLst>
              <p:ext uri="{D42A27DB-BD31-4B8C-83A1-F6EECF244321}">
                <p14:modId xmlns:p14="http://schemas.microsoft.com/office/powerpoint/2010/main" val="3288183361"/>
              </p:ext>
            </p:extLst>
          </p:nvPr>
        </p:nvGraphicFramePr>
        <p:xfrm>
          <a:off x="76200" y="2362200"/>
          <a:ext cx="8915400" cy="35610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4118789668"/>
                    </a:ext>
                  </a:extLst>
                </a:gridCol>
                <a:gridCol w="990600">
                  <a:extLst>
                    <a:ext uri="{9D8B030D-6E8A-4147-A177-3AD203B41FA5}">
                      <a16:colId xmlns:a16="http://schemas.microsoft.com/office/drawing/2014/main" val="1309063204"/>
                    </a:ext>
                  </a:extLst>
                </a:gridCol>
                <a:gridCol w="990600">
                  <a:extLst>
                    <a:ext uri="{9D8B030D-6E8A-4147-A177-3AD203B41FA5}">
                      <a16:colId xmlns:a16="http://schemas.microsoft.com/office/drawing/2014/main" val="2021888904"/>
                    </a:ext>
                  </a:extLst>
                </a:gridCol>
                <a:gridCol w="1066800">
                  <a:extLst>
                    <a:ext uri="{9D8B030D-6E8A-4147-A177-3AD203B41FA5}">
                      <a16:colId xmlns:a16="http://schemas.microsoft.com/office/drawing/2014/main" val="1647609838"/>
                    </a:ext>
                  </a:extLst>
                </a:gridCol>
                <a:gridCol w="838200">
                  <a:extLst>
                    <a:ext uri="{9D8B030D-6E8A-4147-A177-3AD203B41FA5}">
                      <a16:colId xmlns:a16="http://schemas.microsoft.com/office/drawing/2014/main" val="2970102467"/>
                    </a:ext>
                  </a:extLst>
                </a:gridCol>
                <a:gridCol w="1066800">
                  <a:extLst>
                    <a:ext uri="{9D8B030D-6E8A-4147-A177-3AD203B41FA5}">
                      <a16:colId xmlns:a16="http://schemas.microsoft.com/office/drawing/2014/main" val="1495597605"/>
                    </a:ext>
                  </a:extLst>
                </a:gridCol>
                <a:gridCol w="914400">
                  <a:extLst>
                    <a:ext uri="{9D8B030D-6E8A-4147-A177-3AD203B41FA5}">
                      <a16:colId xmlns:a16="http://schemas.microsoft.com/office/drawing/2014/main" val="1398595689"/>
                    </a:ext>
                  </a:extLst>
                </a:gridCol>
                <a:gridCol w="914400">
                  <a:extLst>
                    <a:ext uri="{9D8B030D-6E8A-4147-A177-3AD203B41FA5}">
                      <a16:colId xmlns:a16="http://schemas.microsoft.com/office/drawing/2014/main" val="899540224"/>
                    </a:ext>
                  </a:extLst>
                </a:gridCol>
                <a:gridCol w="1143000">
                  <a:extLst>
                    <a:ext uri="{9D8B030D-6E8A-4147-A177-3AD203B41FA5}">
                      <a16:colId xmlns:a16="http://schemas.microsoft.com/office/drawing/2014/main" val="1788626395"/>
                    </a:ext>
                  </a:extLst>
                </a:gridCol>
              </a:tblGrid>
              <a:tr h="294640">
                <a:tc>
                  <a:txBody>
                    <a:bodyPr/>
                    <a:lstStyle/>
                    <a:p>
                      <a:r>
                        <a:rPr lang="en-US" sz="1200" dirty="0"/>
                        <a:t>Feature</a:t>
                      </a:r>
                    </a:p>
                  </a:txBody>
                  <a:tcPr/>
                </a:tc>
                <a:tc>
                  <a:txBody>
                    <a:bodyPr/>
                    <a:lstStyle/>
                    <a:p>
                      <a:r>
                        <a:rPr lang="en-US" sz="1200" dirty="0"/>
                        <a:t>Pinecone</a:t>
                      </a:r>
                    </a:p>
                  </a:txBody>
                  <a:tcPr/>
                </a:tc>
                <a:tc>
                  <a:txBody>
                    <a:bodyPr/>
                    <a:lstStyle/>
                    <a:p>
                      <a:r>
                        <a:rPr lang="en-US" sz="1200" dirty="0"/>
                        <a:t>Milvus</a:t>
                      </a:r>
                    </a:p>
                  </a:txBody>
                  <a:tcPr/>
                </a:tc>
                <a:tc>
                  <a:txBody>
                    <a:bodyPr/>
                    <a:lstStyle/>
                    <a:p>
                      <a:r>
                        <a:rPr lang="en-US" sz="1200" dirty="0"/>
                        <a:t>Chroma</a:t>
                      </a:r>
                    </a:p>
                  </a:txBody>
                  <a:tcPr/>
                </a:tc>
                <a:tc>
                  <a:txBody>
                    <a:bodyPr/>
                    <a:lstStyle/>
                    <a:p>
                      <a:r>
                        <a:rPr lang="en-US" sz="1200" dirty="0" err="1"/>
                        <a:t>Weaviate</a:t>
                      </a:r>
                      <a:endParaRPr lang="en-US" sz="1200" dirty="0"/>
                    </a:p>
                  </a:txBody>
                  <a:tcPr/>
                </a:tc>
                <a:tc>
                  <a:txBody>
                    <a:bodyPr/>
                    <a:lstStyle/>
                    <a:p>
                      <a:r>
                        <a:rPr lang="en-US" sz="1200" dirty="0" err="1"/>
                        <a:t>Qdrant</a:t>
                      </a:r>
                      <a:endParaRPr lang="en-US" sz="1200" dirty="0"/>
                    </a:p>
                  </a:txBody>
                  <a:tcPr/>
                </a:tc>
                <a:tc>
                  <a:txBody>
                    <a:bodyPr/>
                    <a:lstStyle/>
                    <a:p>
                      <a:r>
                        <a:rPr lang="en-US" sz="1200" dirty="0" err="1"/>
                        <a:t>pgvector</a:t>
                      </a:r>
                      <a:endParaRPr lang="en-US" sz="1200" dirty="0"/>
                    </a:p>
                  </a:txBody>
                  <a:tcPr/>
                </a:tc>
                <a:tc>
                  <a:txBody>
                    <a:bodyPr/>
                    <a:lstStyle/>
                    <a:p>
                      <a:r>
                        <a:rPr lang="en-US" sz="1200" dirty="0" err="1"/>
                        <a:t>Vald</a:t>
                      </a:r>
                      <a:endParaRPr lang="en-US" sz="1200" dirty="0"/>
                    </a:p>
                  </a:txBody>
                  <a:tcPr/>
                </a:tc>
                <a:tc>
                  <a:txBody>
                    <a:bodyPr/>
                    <a:lstStyle/>
                    <a:p>
                      <a:r>
                        <a:rPr lang="en-US" sz="1200" dirty="0" err="1"/>
                        <a:t>CockroachDB</a:t>
                      </a:r>
                      <a:endParaRPr lang="en-US" sz="1200" dirty="0"/>
                    </a:p>
                  </a:txBody>
                  <a:tcPr/>
                </a:tc>
                <a:extLst>
                  <a:ext uri="{0D108BD9-81ED-4DB2-BD59-A6C34878D82A}">
                    <a16:rowId xmlns:a16="http://schemas.microsoft.com/office/drawing/2014/main" val="1696249219"/>
                  </a:ext>
                </a:extLst>
              </a:tr>
              <a:tr h="370840">
                <a:tc>
                  <a:txBody>
                    <a:bodyPr/>
                    <a:lstStyle/>
                    <a:p>
                      <a:r>
                        <a:rPr lang="en-US" sz="1200" dirty="0"/>
                        <a:t>Open-Source</a:t>
                      </a:r>
                    </a:p>
                  </a:txBody>
                  <a:tcPr/>
                </a:tc>
                <a:tc>
                  <a:txBody>
                    <a:bodyPr/>
                    <a:lstStyle/>
                    <a:p>
                      <a:r>
                        <a:rPr lang="en-US" sz="1000" dirty="0"/>
                        <a:t>No</a:t>
                      </a:r>
                    </a:p>
                  </a:txBody>
                  <a:tcPr/>
                </a:tc>
                <a:tc>
                  <a:txBody>
                    <a:bodyPr/>
                    <a:lstStyle/>
                    <a:p>
                      <a:r>
                        <a:rPr lang="en-US" sz="1000" dirty="0"/>
                        <a:t>Yes</a:t>
                      </a:r>
                    </a:p>
                  </a:txBody>
                  <a:tcPr/>
                </a:tc>
                <a:tc>
                  <a:txBody>
                    <a:bodyPr/>
                    <a:lstStyle/>
                    <a:p>
                      <a:r>
                        <a:rPr lang="en-US" sz="1000" dirty="0"/>
                        <a:t>Yes</a:t>
                      </a:r>
                    </a:p>
                  </a:txBody>
                  <a:tcPr/>
                </a:tc>
                <a:tc>
                  <a:txBody>
                    <a:bodyPr/>
                    <a:lstStyle/>
                    <a:p>
                      <a:r>
                        <a:rPr lang="en-US" sz="1000" dirty="0"/>
                        <a:t>Yes</a:t>
                      </a:r>
                    </a:p>
                  </a:txBody>
                  <a:tcPr/>
                </a:tc>
                <a:tc>
                  <a:txBody>
                    <a:bodyPr/>
                    <a:lstStyle/>
                    <a:p>
                      <a:r>
                        <a:rPr lang="en-US" sz="1000" dirty="0"/>
                        <a:t>Yes</a:t>
                      </a:r>
                    </a:p>
                  </a:txBody>
                  <a:tcPr/>
                </a:tc>
                <a:tc>
                  <a:txBody>
                    <a:bodyPr/>
                    <a:lstStyle/>
                    <a:p>
                      <a:r>
                        <a:rPr lang="en-US" sz="1000" dirty="0"/>
                        <a:t>Yes</a:t>
                      </a:r>
                    </a:p>
                  </a:txBody>
                  <a:tcPr/>
                </a:tc>
                <a:tc>
                  <a:txBody>
                    <a:bodyPr/>
                    <a:lstStyle/>
                    <a:p>
                      <a:r>
                        <a:rPr lang="en-US" sz="1000" dirty="0"/>
                        <a:t>No</a:t>
                      </a:r>
                    </a:p>
                  </a:txBody>
                  <a:tcPr/>
                </a:tc>
                <a:tc>
                  <a:txBody>
                    <a:bodyPr/>
                    <a:lstStyle/>
                    <a:p>
                      <a:r>
                        <a:rPr lang="en-US" sz="1000" dirty="0"/>
                        <a:t>Yes</a:t>
                      </a:r>
                    </a:p>
                  </a:txBody>
                  <a:tcPr/>
                </a:tc>
                <a:extLst>
                  <a:ext uri="{0D108BD9-81ED-4DB2-BD59-A6C34878D82A}">
                    <a16:rowId xmlns:a16="http://schemas.microsoft.com/office/drawing/2014/main" val="196528346"/>
                  </a:ext>
                </a:extLst>
              </a:tr>
              <a:tr h="370840">
                <a:tc>
                  <a:txBody>
                    <a:bodyPr/>
                    <a:lstStyle/>
                    <a:p>
                      <a:r>
                        <a:rPr lang="en-US" sz="1200" dirty="0"/>
                        <a:t>Primary Use Case</a:t>
                      </a:r>
                    </a:p>
                  </a:txBody>
                  <a:tcPr/>
                </a:tc>
                <a:tc>
                  <a:txBody>
                    <a:bodyPr/>
                    <a:lstStyle/>
                    <a:p>
                      <a:r>
                        <a:rPr lang="en-US" sz="1000" dirty="0"/>
                        <a:t>Managed vector search</a:t>
                      </a:r>
                    </a:p>
                  </a:txBody>
                  <a:tcPr/>
                </a:tc>
                <a:tc>
                  <a:txBody>
                    <a:bodyPr/>
                    <a:lstStyle/>
                    <a:p>
                      <a:r>
                        <a:rPr lang="en-US" sz="1000" dirty="0"/>
                        <a:t>High performance AI search</a:t>
                      </a:r>
                    </a:p>
                  </a:txBody>
                  <a:tcPr/>
                </a:tc>
                <a:tc>
                  <a:txBody>
                    <a:bodyPr/>
                    <a:lstStyle/>
                    <a:p>
                      <a:r>
                        <a:rPr lang="en-US" sz="1000" dirty="0"/>
                        <a:t>LLM apps &amp; development</a:t>
                      </a:r>
                    </a:p>
                  </a:txBody>
                  <a:tcPr/>
                </a:tc>
                <a:tc>
                  <a:txBody>
                    <a:bodyPr/>
                    <a:lstStyle/>
                    <a:p>
                      <a:r>
                        <a:rPr lang="en-US" sz="1000" dirty="0"/>
                        <a:t>Vector similarity search</a:t>
                      </a:r>
                    </a:p>
                  </a:txBody>
                  <a:tcPr/>
                </a:tc>
                <a:tc>
                  <a:txBody>
                    <a:bodyPr/>
                    <a:lstStyle/>
                    <a:p>
                      <a:r>
                        <a:rPr lang="en-US" sz="1000" dirty="0"/>
                        <a:t>Rapid large-scale search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PostgreSQL extension</a:t>
                      </a:r>
                    </a:p>
                    <a:p>
                      <a:endParaRPr lang="en-US" sz="1000" dirty="0"/>
                    </a:p>
                  </a:txBody>
                  <a:tcPr/>
                </a:tc>
                <a:tc>
                  <a:txBody>
                    <a:bodyPr/>
                    <a:lstStyle/>
                    <a:p>
                      <a:r>
                        <a:rPr lang="en-US" sz="1000" dirty="0"/>
                        <a:t>Cloud native vector management</a:t>
                      </a:r>
                    </a:p>
                  </a:txBody>
                  <a:tcPr/>
                </a:tc>
                <a:tc>
                  <a:txBody>
                    <a:bodyPr/>
                    <a:lstStyle/>
                    <a:p>
                      <a:r>
                        <a:rPr lang="en-US" sz="1000" dirty="0"/>
                        <a:t>Multi-model resilient database</a:t>
                      </a:r>
                    </a:p>
                  </a:txBody>
                  <a:tcPr/>
                </a:tc>
                <a:extLst>
                  <a:ext uri="{0D108BD9-81ED-4DB2-BD59-A6C34878D82A}">
                    <a16:rowId xmlns:a16="http://schemas.microsoft.com/office/drawing/2014/main" val="957752431"/>
                  </a:ext>
                </a:extLst>
              </a:tr>
              <a:tr h="370840">
                <a:tc>
                  <a:txBody>
                    <a:bodyPr/>
                    <a:lstStyle/>
                    <a:p>
                      <a:r>
                        <a:rPr lang="en-US" sz="1200" dirty="0"/>
                        <a:t>Scalability</a:t>
                      </a:r>
                    </a:p>
                  </a:txBody>
                  <a:tcPr/>
                </a:tc>
                <a:tc>
                  <a:txBody>
                    <a:bodyPr/>
                    <a:lstStyle/>
                    <a:p>
                      <a:r>
                        <a:rPr lang="en-US" sz="1000" dirty="0"/>
                        <a:t>High, cloud-native</a:t>
                      </a:r>
                    </a:p>
                  </a:txBody>
                  <a:tcPr/>
                </a:tc>
                <a:tc>
                  <a:txBody>
                    <a:bodyPr/>
                    <a:lstStyle/>
                    <a:p>
                      <a:r>
                        <a:rPr lang="en-US" sz="1000" dirty="0"/>
                        <a:t>Very high distributed</a:t>
                      </a:r>
                    </a:p>
                  </a:txBody>
                  <a:tcPr/>
                </a:tc>
                <a:tc>
                  <a:txBody>
                    <a:bodyPr/>
                    <a:lstStyle/>
                    <a:p>
                      <a:r>
                        <a:rPr lang="en-US" sz="1000" dirty="0"/>
                        <a:t>Moderate</a:t>
                      </a:r>
                    </a:p>
                  </a:txBody>
                  <a:tcPr/>
                </a:tc>
                <a:tc>
                  <a:txBody>
                    <a:bodyPr/>
                    <a:lstStyle/>
                    <a:p>
                      <a:r>
                        <a:rPr lang="en-US" sz="1000" dirty="0"/>
                        <a:t>High, cloud-scale</a:t>
                      </a:r>
                    </a:p>
                  </a:txBody>
                  <a:tcPr/>
                </a:tc>
                <a:tc>
                  <a:txBody>
                    <a:bodyPr/>
                    <a:lstStyle/>
                    <a:p>
                      <a:r>
                        <a:rPr lang="en-US" sz="1000" dirty="0"/>
                        <a:t>Very high, cloud native</a:t>
                      </a:r>
                    </a:p>
                  </a:txBody>
                  <a:tcPr/>
                </a:tc>
                <a:tc>
                  <a:txBody>
                    <a:bodyPr/>
                    <a:lstStyle/>
                    <a:p>
                      <a:r>
                        <a:rPr lang="en-US" sz="1000" dirty="0"/>
                        <a:t>Depends on PostgreSQL</a:t>
                      </a:r>
                    </a:p>
                  </a:txBody>
                  <a:tcPr/>
                </a:tc>
                <a:tc>
                  <a:txBody>
                    <a:bodyPr/>
                    <a:lstStyle/>
                    <a:p>
                      <a:r>
                        <a:rPr lang="en-US" sz="1000" dirty="0"/>
                        <a:t>Horizontal scaling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Horizontal scaling</a:t>
                      </a:r>
                    </a:p>
                    <a:p>
                      <a:endParaRPr lang="en-US" sz="1000" dirty="0"/>
                    </a:p>
                  </a:txBody>
                  <a:tcPr/>
                </a:tc>
                <a:extLst>
                  <a:ext uri="{0D108BD9-81ED-4DB2-BD59-A6C34878D82A}">
                    <a16:rowId xmlns:a16="http://schemas.microsoft.com/office/drawing/2014/main" val="2127145149"/>
                  </a:ext>
                </a:extLst>
              </a:tr>
              <a:tr h="370840">
                <a:tc>
                  <a:txBody>
                    <a:bodyPr/>
                    <a:lstStyle/>
                    <a:p>
                      <a:r>
                        <a:rPr lang="en-US" sz="1200" dirty="0"/>
                        <a:t>Search Speed</a:t>
                      </a:r>
                    </a:p>
                  </a:txBody>
                  <a:tcPr/>
                </a:tc>
                <a:tc>
                  <a:txBody>
                    <a:bodyPr/>
                    <a:lstStyle/>
                    <a:p>
                      <a:r>
                        <a:rPr lang="en-US" sz="1000" dirty="0"/>
                        <a:t>Low latency</a:t>
                      </a:r>
                    </a:p>
                  </a:txBody>
                  <a:tcPr/>
                </a:tc>
                <a:tc>
                  <a:txBody>
                    <a:bodyPr/>
                    <a:lstStyle/>
                    <a:p>
                      <a:r>
                        <a:rPr lang="en-US" sz="1000" dirty="0"/>
                        <a:t>Ultra-fast</a:t>
                      </a:r>
                    </a:p>
                  </a:txBody>
                  <a:tcPr/>
                </a:tc>
                <a:tc>
                  <a:txBody>
                    <a:bodyPr/>
                    <a:lstStyle/>
                    <a:p>
                      <a:r>
                        <a:rPr lang="en-US" sz="1000" dirty="0"/>
                        <a:t>Fast</a:t>
                      </a:r>
                    </a:p>
                  </a:txBody>
                  <a:tcPr/>
                </a:tc>
                <a:tc>
                  <a:txBody>
                    <a:bodyPr/>
                    <a:lstStyle/>
                    <a:p>
                      <a:r>
                        <a:rPr lang="en-US" sz="1000" dirty="0"/>
                        <a:t>Fast</a:t>
                      </a:r>
                    </a:p>
                  </a:txBody>
                  <a:tcPr/>
                </a:tc>
                <a:tc>
                  <a:txBody>
                    <a:bodyPr/>
                    <a:lstStyle/>
                    <a:p>
                      <a:r>
                        <a:rPr lang="en-US" sz="1000" dirty="0"/>
                        <a:t>Fast</a:t>
                      </a:r>
                    </a:p>
                  </a:txBody>
                  <a:tcPr/>
                </a:tc>
                <a:tc>
                  <a:txBody>
                    <a:bodyPr/>
                    <a:lstStyle/>
                    <a:p>
                      <a:r>
                        <a:rPr lang="en-US" sz="1000" dirty="0"/>
                        <a:t>Approximate NN</a:t>
                      </a:r>
                    </a:p>
                  </a:txBody>
                  <a:tcPr/>
                </a:tc>
                <a:tc>
                  <a:txBody>
                    <a:bodyPr/>
                    <a:lstStyle/>
                    <a:p>
                      <a:r>
                        <a:rPr lang="en-US" sz="1000" dirty="0"/>
                        <a:t>Optimized</a:t>
                      </a:r>
                    </a:p>
                  </a:txBody>
                  <a:tcPr/>
                </a:tc>
                <a:tc>
                  <a:txBody>
                    <a:bodyPr/>
                    <a:lstStyle/>
                    <a:p>
                      <a:r>
                        <a:rPr lang="en-US" sz="1000" dirty="0"/>
                        <a:t>Depends on setup</a:t>
                      </a:r>
                    </a:p>
                  </a:txBody>
                  <a:tcPr/>
                </a:tc>
                <a:extLst>
                  <a:ext uri="{0D108BD9-81ED-4DB2-BD59-A6C34878D82A}">
                    <a16:rowId xmlns:a16="http://schemas.microsoft.com/office/drawing/2014/main" val="953084559"/>
                  </a:ext>
                </a:extLst>
              </a:tr>
              <a:tr h="370840">
                <a:tc>
                  <a:txBody>
                    <a:bodyPr/>
                    <a:lstStyle/>
                    <a:p>
                      <a:r>
                        <a:rPr lang="en-US" sz="1200" dirty="0"/>
                        <a:t>Data Privacy</a:t>
                      </a:r>
                    </a:p>
                  </a:txBody>
                  <a:tcPr/>
                </a:tc>
                <a:tc>
                  <a:txBody>
                    <a:bodyPr/>
                    <a:lstStyle/>
                    <a:p>
                      <a:r>
                        <a:rPr lang="en-US" sz="1000" dirty="0"/>
                        <a:t>Managed service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Self-hosted</a:t>
                      </a:r>
                    </a:p>
                    <a:p>
                      <a:endParaRPr lang="en-US" sz="1000" dirty="0"/>
                    </a:p>
                  </a:txBody>
                  <a:tcPr/>
                </a:tc>
                <a:tc>
                  <a:txBody>
                    <a:bodyPr/>
                    <a:lstStyle/>
                    <a:p>
                      <a:r>
                        <a:rPr lang="en-US" sz="1000" dirty="0"/>
                        <a:t>Self-hosted</a:t>
                      </a:r>
                    </a:p>
                  </a:txBody>
                  <a:tcPr/>
                </a:tc>
                <a:tc>
                  <a:txBody>
                    <a:bodyPr/>
                    <a:lstStyle/>
                    <a:p>
                      <a:r>
                        <a:rPr lang="en-US" sz="1000" dirty="0"/>
                        <a:t>Self-hosted &amp; managed</a:t>
                      </a:r>
                    </a:p>
                  </a:txBody>
                  <a:tcPr/>
                </a:tc>
                <a:tc>
                  <a:txBody>
                    <a:bodyPr/>
                    <a:lstStyle/>
                    <a:p>
                      <a:r>
                        <a:rPr lang="en-US" sz="1000" dirty="0"/>
                        <a:t>Self-hosted</a:t>
                      </a:r>
                    </a:p>
                  </a:txBody>
                  <a:tcPr/>
                </a:tc>
                <a:tc>
                  <a:txBody>
                    <a:bodyPr/>
                    <a:lstStyle/>
                    <a:p>
                      <a:r>
                        <a:rPr lang="en-US" sz="1000" dirty="0"/>
                        <a:t>Self-hosted</a:t>
                      </a:r>
                    </a:p>
                  </a:txBody>
                  <a:tcPr/>
                </a:tc>
                <a:tc>
                  <a:txBody>
                    <a:bodyPr/>
                    <a:lstStyle/>
                    <a:p>
                      <a:r>
                        <a:rPr lang="en-US" sz="1000" dirty="0"/>
                        <a:t>Managed &amp; self-hosted</a:t>
                      </a:r>
                    </a:p>
                  </a:txBody>
                  <a:tcPr/>
                </a:tc>
                <a:tc>
                  <a:txBody>
                    <a:bodyPr/>
                    <a:lstStyle/>
                    <a:p>
                      <a:r>
                        <a:rPr lang="en-US" sz="1000" dirty="0"/>
                        <a:t>Self-hosted &amp; managed</a:t>
                      </a:r>
                    </a:p>
                  </a:txBody>
                  <a:tcPr/>
                </a:tc>
                <a:extLst>
                  <a:ext uri="{0D108BD9-81ED-4DB2-BD59-A6C34878D82A}">
                    <a16:rowId xmlns:a16="http://schemas.microsoft.com/office/drawing/2014/main" val="1398166964"/>
                  </a:ext>
                </a:extLst>
              </a:tr>
              <a:tr h="370840">
                <a:tc>
                  <a:txBody>
                    <a:bodyPr/>
                    <a:lstStyle/>
                    <a:p>
                      <a:r>
                        <a:rPr lang="en-US" sz="1200" dirty="0"/>
                        <a:t>Integration</a:t>
                      </a:r>
                    </a:p>
                  </a:txBody>
                  <a:tcPr/>
                </a:tc>
                <a:tc>
                  <a:txBody>
                    <a:bodyPr/>
                    <a:lstStyle/>
                    <a:p>
                      <a:r>
                        <a:rPr lang="en-US" sz="1000" dirty="0"/>
                        <a:t>ML frameworks, APIs</a:t>
                      </a:r>
                    </a:p>
                  </a:txBody>
                  <a:tcPr/>
                </a:tc>
                <a:tc>
                  <a:txBody>
                    <a:bodyPr/>
                    <a:lstStyle/>
                    <a:p>
                      <a:r>
                        <a:rPr lang="en-US" sz="1000" dirty="0"/>
                        <a:t>Multiple SDK</a:t>
                      </a:r>
                    </a:p>
                  </a:txBody>
                  <a:tcPr/>
                </a:tc>
                <a:tc>
                  <a:txBody>
                    <a:bodyPr/>
                    <a:lstStyle/>
                    <a:p>
                      <a:r>
                        <a:rPr lang="en-US" sz="1000" dirty="0" err="1"/>
                        <a:t>LangChain</a:t>
                      </a:r>
                      <a:r>
                        <a:rPr lang="en-US" sz="1000" dirty="0"/>
                        <a:t> APIs</a:t>
                      </a:r>
                    </a:p>
                  </a:txBody>
                  <a:tcPr/>
                </a:tc>
                <a:tc>
                  <a:txBody>
                    <a:bodyPr/>
                    <a:lstStyle/>
                    <a:p>
                      <a:r>
                        <a:rPr lang="en-US" sz="1000" dirty="0"/>
                        <a:t>Multiple APIs, </a:t>
                      </a:r>
                      <a:r>
                        <a:rPr lang="en-US" sz="1000" dirty="0" err="1"/>
                        <a:t>GraphQL</a:t>
                      </a:r>
                      <a:endParaRPr lang="en-US" sz="1000" dirty="0"/>
                    </a:p>
                  </a:txBody>
                  <a:tcPr/>
                </a:tc>
                <a:tc>
                  <a:txBody>
                    <a:bodyPr/>
                    <a:lstStyle/>
                    <a:p>
                      <a:r>
                        <a:rPr lang="en-US" sz="1000" dirty="0"/>
                        <a:t>Rest, SDKs</a:t>
                      </a:r>
                    </a:p>
                  </a:txBody>
                  <a:tcPr/>
                </a:tc>
                <a:tc>
                  <a:txBody>
                    <a:bodyPr/>
                    <a:lstStyle/>
                    <a:p>
                      <a:r>
                        <a:rPr lang="en-US" sz="1000" dirty="0"/>
                        <a:t>SQL, Python</a:t>
                      </a:r>
                    </a:p>
                  </a:txBody>
                  <a:tcPr/>
                </a:tc>
                <a:tc>
                  <a:txBody>
                    <a:bodyPr/>
                    <a:lstStyle/>
                    <a:p>
                      <a:r>
                        <a:rPr lang="en-US" sz="1000" dirty="0"/>
                        <a:t>REST APIs</a:t>
                      </a:r>
                    </a:p>
                  </a:txBody>
                  <a:tcPr/>
                </a:tc>
                <a:tc>
                  <a:txBody>
                    <a:bodyPr/>
                    <a:lstStyle/>
                    <a:p>
                      <a:r>
                        <a:rPr lang="en-US" sz="1000" dirty="0"/>
                        <a:t>SQL, distributed transactions</a:t>
                      </a:r>
                    </a:p>
                  </a:txBody>
                  <a:tcPr/>
                </a:tc>
                <a:extLst>
                  <a:ext uri="{0D108BD9-81ED-4DB2-BD59-A6C34878D82A}">
                    <a16:rowId xmlns:a16="http://schemas.microsoft.com/office/drawing/2014/main" val="835425480"/>
                  </a:ext>
                </a:extLst>
              </a:tr>
              <a:tr h="370840">
                <a:tc>
                  <a:txBody>
                    <a:bodyPr/>
                    <a:lstStyle/>
                    <a:p>
                      <a:r>
                        <a:rPr lang="en-US" sz="1200" dirty="0"/>
                        <a:t>Key Strengths</a:t>
                      </a:r>
                    </a:p>
                  </a:txBody>
                  <a:tcPr/>
                </a:tc>
                <a:tc>
                  <a:txBody>
                    <a:bodyPr/>
                    <a:lstStyle/>
                    <a:p>
                      <a:r>
                        <a:rPr lang="en-US" sz="1000" dirty="0"/>
                        <a:t>Managed, scalable, easy</a:t>
                      </a:r>
                    </a:p>
                  </a:txBody>
                  <a:tcPr/>
                </a:tc>
                <a:tc>
                  <a:txBody>
                    <a:bodyPr/>
                    <a:lstStyle/>
                    <a:p>
                      <a:r>
                        <a:rPr lang="en-US" sz="1000" dirty="0"/>
                        <a:t>Open source, versatile</a:t>
                      </a:r>
                    </a:p>
                  </a:txBody>
                  <a:tcPr/>
                </a:tc>
                <a:tc>
                  <a:txBody>
                    <a:bodyPr/>
                    <a:lstStyle/>
                    <a:p>
                      <a:r>
                        <a:rPr lang="en-US" sz="1000" dirty="0"/>
                        <a:t>Open source, flexible</a:t>
                      </a:r>
                    </a:p>
                  </a:txBody>
                  <a:tcPr/>
                </a:tc>
                <a:tc>
                  <a:txBody>
                    <a:bodyPr/>
                    <a:lstStyle/>
                    <a:p>
                      <a:r>
                        <a:rPr lang="en-US" sz="1000" dirty="0"/>
                        <a:t>Semantic search, extensibility</a:t>
                      </a:r>
                    </a:p>
                  </a:txBody>
                  <a:tcPr/>
                </a:tc>
                <a:tc>
                  <a:txBody>
                    <a:bodyPr/>
                    <a:lstStyle/>
                    <a:p>
                      <a:r>
                        <a:rPr lang="en-US" sz="1000" dirty="0"/>
                        <a:t>Open source, flexible</a:t>
                      </a:r>
                    </a:p>
                  </a:txBody>
                  <a:tcPr/>
                </a:tc>
                <a:tc>
                  <a:txBody>
                    <a:bodyPr/>
                    <a:lstStyle/>
                    <a:p>
                      <a:r>
                        <a:rPr lang="en-US" sz="1000" dirty="0"/>
                        <a:t>Embedding support</a:t>
                      </a:r>
                    </a:p>
                  </a:txBody>
                  <a:tcPr/>
                </a:tc>
                <a:tc>
                  <a:txBody>
                    <a:bodyPr/>
                    <a:lstStyle/>
                    <a:p>
                      <a:r>
                        <a:rPr lang="en-US" sz="1000" dirty="0"/>
                        <a:t>Resilience, multi-tenancy</a:t>
                      </a:r>
                    </a:p>
                  </a:txBody>
                  <a:tcPr/>
                </a:tc>
                <a:tc>
                  <a:txBody>
                    <a:bodyPr/>
                    <a:lstStyle/>
                    <a:p>
                      <a:r>
                        <a:rPr lang="en-US" sz="1000" dirty="0"/>
                        <a:t>Resilience for multi-model</a:t>
                      </a:r>
                    </a:p>
                  </a:txBody>
                  <a:tcPr/>
                </a:tc>
                <a:extLst>
                  <a:ext uri="{0D108BD9-81ED-4DB2-BD59-A6C34878D82A}">
                    <a16:rowId xmlns:a16="http://schemas.microsoft.com/office/drawing/2014/main" val="3078635389"/>
                  </a:ext>
                </a:extLst>
              </a:tr>
            </a:tbl>
          </a:graphicData>
        </a:graphic>
      </p:graphicFrame>
    </p:spTree>
    <p:extLst>
      <p:ext uri="{BB962C8B-B14F-4D97-AF65-F5344CB8AC3E}">
        <p14:creationId xmlns:p14="http://schemas.microsoft.com/office/powerpoint/2010/main" val="2486223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Conclusion</a:t>
            </a:r>
          </a:p>
        </p:txBody>
      </p:sp>
      <p:sp>
        <p:nvSpPr>
          <p:cNvPr id="4099" name="Espace réservé du contenu 4"/>
          <p:cNvSpPr>
            <a:spLocks noGrp="1"/>
          </p:cNvSpPr>
          <p:nvPr>
            <p:ph idx="1"/>
          </p:nvPr>
        </p:nvSpPr>
        <p:spPr>
          <a:xfrm>
            <a:off x="228600" y="2133600"/>
            <a:ext cx="8686800" cy="3276600"/>
          </a:xfrm>
        </p:spPr>
        <p:txBody>
          <a:bodyPr/>
          <a:lstStyle/>
          <a:p>
            <a:r>
              <a:rPr lang="en-US" sz="1400" b="1" dirty="0">
                <a:solidFill>
                  <a:srgbClr val="3C5790"/>
                </a:solidFill>
              </a:rPr>
              <a:t>Pros</a:t>
            </a:r>
            <a:r>
              <a:rPr lang="en-US" sz="1400" dirty="0">
                <a:solidFill>
                  <a:srgbClr val="3C5790"/>
                </a:solidFill>
              </a:rPr>
              <a:t>:</a:t>
            </a:r>
          </a:p>
          <a:p>
            <a:pPr lvl="1"/>
            <a:r>
              <a:rPr lang="en-US" sz="1200" dirty="0">
                <a:solidFill>
                  <a:srgbClr val="3C5790"/>
                </a:solidFill>
              </a:rPr>
              <a:t>High-performance similarity search</a:t>
            </a:r>
          </a:p>
          <a:p>
            <a:pPr lvl="1"/>
            <a:r>
              <a:rPr lang="en-US" sz="1200" dirty="0">
                <a:solidFill>
                  <a:srgbClr val="3C5790"/>
                </a:solidFill>
              </a:rPr>
              <a:t>Scalability</a:t>
            </a:r>
          </a:p>
          <a:p>
            <a:pPr lvl="1"/>
            <a:r>
              <a:rPr lang="en-US" sz="1200" dirty="0">
                <a:solidFill>
                  <a:srgbClr val="3C5790"/>
                </a:solidFill>
              </a:rPr>
              <a:t>Ease of use</a:t>
            </a:r>
          </a:p>
          <a:p>
            <a:pPr lvl="1"/>
            <a:r>
              <a:rPr lang="en-US" sz="1200" dirty="0">
                <a:solidFill>
                  <a:srgbClr val="3C5790"/>
                </a:solidFill>
              </a:rPr>
              <a:t>Real-time data ingestion</a:t>
            </a:r>
          </a:p>
          <a:p>
            <a:pPr lvl="1"/>
            <a:r>
              <a:rPr lang="en-US" sz="1200" dirty="0">
                <a:solidFill>
                  <a:srgbClr val="3C5790"/>
                </a:solidFill>
              </a:rPr>
              <a:t>Open-source</a:t>
            </a:r>
          </a:p>
          <a:p>
            <a:pPr lvl="1"/>
            <a:r>
              <a:rPr lang="en-US" sz="1200" dirty="0">
                <a:solidFill>
                  <a:srgbClr val="3C5790"/>
                </a:solidFill>
              </a:rPr>
              <a:t>Integration with popular ML frameworks</a:t>
            </a:r>
          </a:p>
          <a:p>
            <a:r>
              <a:rPr lang="en-US" sz="1400" b="1" dirty="0">
                <a:solidFill>
                  <a:srgbClr val="3C5790"/>
                </a:solidFill>
              </a:rPr>
              <a:t>Cons</a:t>
            </a:r>
            <a:r>
              <a:rPr lang="en-US" sz="1400" dirty="0">
                <a:solidFill>
                  <a:srgbClr val="3C5790"/>
                </a:solidFill>
              </a:rPr>
              <a:t>:</a:t>
            </a:r>
          </a:p>
          <a:p>
            <a:pPr lvl="1"/>
            <a:r>
              <a:rPr lang="en-US" sz="1200" dirty="0">
                <a:solidFill>
                  <a:srgbClr val="3C5790"/>
                </a:solidFill>
              </a:rPr>
              <a:t>Limited to vector data</a:t>
            </a:r>
          </a:p>
          <a:p>
            <a:pPr lvl="1"/>
            <a:r>
              <a:rPr lang="en-US" sz="1200" dirty="0">
                <a:solidFill>
                  <a:srgbClr val="3C5790"/>
                </a:solidFill>
              </a:rPr>
              <a:t>Memory intensive</a:t>
            </a:r>
          </a:p>
          <a:p>
            <a:pPr lvl="1"/>
            <a:r>
              <a:rPr lang="en-US" sz="1200" dirty="0">
                <a:solidFill>
                  <a:srgbClr val="3C5790"/>
                </a:solidFill>
              </a:rPr>
              <a:t>Less optimized for extremely large scale</a:t>
            </a:r>
          </a:p>
          <a:p>
            <a:pPr lvl="1"/>
            <a:r>
              <a:rPr lang="en-US" sz="1200" dirty="0">
                <a:solidFill>
                  <a:srgbClr val="3C5790"/>
                </a:solidFill>
              </a:rPr>
              <a:t>Still evolving ecosystem</a:t>
            </a:r>
          </a:p>
          <a:p>
            <a:pPr lvl="1"/>
            <a:r>
              <a:rPr lang="en-US" sz="1200" dirty="0">
                <a:solidFill>
                  <a:srgbClr val="3C5790"/>
                </a:solidFill>
              </a:rPr>
              <a:t>Limited advanced security</a:t>
            </a:r>
          </a:p>
        </p:txBody>
      </p:sp>
    </p:spTree>
    <p:extLst>
      <p:ext uri="{BB962C8B-B14F-4D97-AF65-F5344CB8AC3E}">
        <p14:creationId xmlns:p14="http://schemas.microsoft.com/office/powerpoint/2010/main" val="2422268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Titre 3"/>
          <p:cNvSpPr>
            <a:spLocks noGrp="1"/>
          </p:cNvSpPr>
          <p:nvPr>
            <p:ph type="title"/>
          </p:nvPr>
        </p:nvSpPr>
        <p:spPr/>
        <p:txBody>
          <a:bodyPr/>
          <a:lstStyle/>
          <a:p>
            <a:r>
              <a:rPr lang="fr-CA" sz="4000" dirty="0" err="1">
                <a:solidFill>
                  <a:schemeClr val="bg1">
                    <a:lumMod val="95000"/>
                  </a:schemeClr>
                </a:solidFill>
              </a:rPr>
              <a:t>Bibliography</a:t>
            </a:r>
            <a:endParaRPr lang="fr-CA" sz="4000" dirty="0">
              <a:solidFill>
                <a:schemeClr val="bg1">
                  <a:lumMod val="95000"/>
                </a:schemeClr>
              </a:solidFill>
            </a:endParaRPr>
          </a:p>
        </p:txBody>
      </p:sp>
      <p:sp>
        <p:nvSpPr>
          <p:cNvPr id="5123" name="Espace réservé du contenu 4"/>
          <p:cNvSpPr>
            <a:spLocks noGrp="1"/>
          </p:cNvSpPr>
          <p:nvPr>
            <p:ph idx="1"/>
          </p:nvPr>
        </p:nvSpPr>
        <p:spPr>
          <a:xfrm>
            <a:off x="457200" y="1676400"/>
            <a:ext cx="8458200" cy="4876800"/>
          </a:xfrm>
        </p:spPr>
        <p:txBody>
          <a:bodyPr/>
          <a:lstStyle/>
          <a:p>
            <a:r>
              <a:rPr lang="en-US" sz="1600" dirty="0">
                <a:solidFill>
                  <a:schemeClr val="bg1"/>
                </a:solidFill>
              </a:rPr>
              <a:t>https://en.wikipedia.org/wiki/Chroma_(vector_database)</a:t>
            </a:r>
          </a:p>
          <a:p>
            <a:r>
              <a:rPr lang="en-US" sz="1600" dirty="0">
                <a:solidFill>
                  <a:schemeClr val="bg1"/>
                </a:solidFill>
              </a:rPr>
              <a:t>https://docs.trychroma.com</a:t>
            </a:r>
          </a:p>
          <a:p>
            <a:r>
              <a:rPr lang="en-US" sz="1600" dirty="0">
                <a:solidFill>
                  <a:schemeClr val="bg1"/>
                </a:solidFill>
              </a:rPr>
              <a:t>Udemy - Unlock the Potential of Your Data with Pinecone, Chroma, and Beyond for AI-based Applications. Master Vector Databases</a:t>
            </a:r>
          </a:p>
          <a:p>
            <a:r>
              <a:rPr lang="en-US" sz="1600" dirty="0">
                <a:solidFill>
                  <a:schemeClr val="bg1"/>
                </a:solidFill>
              </a:rPr>
              <a:t>https://blog.langchain.com/syncing-data-sources-to-vector-stores/</a:t>
            </a:r>
          </a:p>
          <a:p>
            <a:endParaRPr lang="en-US" sz="1600" dirty="0">
              <a:solidFill>
                <a:schemeClr val="bg1"/>
              </a:solidFill>
            </a:endParaRPr>
          </a:p>
        </p:txBody>
      </p:sp>
    </p:spTree>
  </p:cSld>
  <p:clrMapOvr>
    <a:masterClrMapping/>
  </p:clrMapOvr>
</p:sld>
</file>

<file path=ppt/theme/theme1.xml><?xml version="1.0" encoding="utf-8"?>
<a:theme xmlns:a="http://schemas.openxmlformats.org/drawingml/2006/main" name="14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143</Template>
  <TotalTime>18769</TotalTime>
  <Words>2441</Words>
  <Application>Microsoft Office PowerPoint</Application>
  <PresentationFormat>On-screen Show (4:3)</PresentationFormat>
  <Paragraphs>292</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143</vt:lpstr>
      <vt:lpstr>Chroma</vt:lpstr>
      <vt:lpstr>Contents</vt:lpstr>
      <vt:lpstr>What is Chroma?</vt:lpstr>
      <vt:lpstr>History</vt:lpstr>
      <vt:lpstr>Features</vt:lpstr>
      <vt:lpstr>Goals</vt:lpstr>
      <vt:lpstr>Goals (cont.)</vt:lpstr>
      <vt:lpstr>Use Cases</vt:lpstr>
      <vt:lpstr>Arhitecture</vt:lpstr>
      <vt:lpstr>Arhitecture (cont.)</vt:lpstr>
      <vt:lpstr>Arhitecture (cont.)</vt:lpstr>
      <vt:lpstr>Arhitecture (cont.)</vt:lpstr>
      <vt:lpstr>Concepts</vt:lpstr>
      <vt:lpstr>Concepts (cont.)</vt:lpstr>
      <vt:lpstr>Core</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Vector store comparision</vt:lpstr>
      <vt:lpstr>Conclusion</vt:lpstr>
      <vt:lpstr>Bibliography</vt:lpstr>
    </vt:vector>
  </TitlesOfParts>
  <Company>Computaris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NAME</dc:title>
  <dc:creator>Ionut Dima</dc:creator>
  <cp:lastModifiedBy>1 2</cp:lastModifiedBy>
  <cp:revision>1079</cp:revision>
  <dcterms:created xsi:type="dcterms:W3CDTF">2012-04-12T06:19:17Z</dcterms:created>
  <dcterms:modified xsi:type="dcterms:W3CDTF">2026-04-19T06:05:34Z</dcterms:modified>
</cp:coreProperties>
</file>