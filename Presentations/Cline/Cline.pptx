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445" r:id="rId5"/>
    <p:sldId id="450" r:id="rId6"/>
    <p:sldId id="429" r:id="rId7"/>
    <p:sldId id="449" r:id="rId8"/>
    <p:sldId id="452" r:id="rId9"/>
    <p:sldId id="453" r:id="rId10"/>
    <p:sldId id="448" r:id="rId11"/>
    <p:sldId id="442" r:id="rId12"/>
    <p:sldId id="454" r:id="rId13"/>
    <p:sldId id="455" r:id="rId14"/>
    <p:sldId id="456" r:id="rId15"/>
    <p:sldId id="457" r:id="rId16"/>
    <p:sldId id="458" r:id="rId17"/>
    <p:sldId id="459" r:id="rId18"/>
    <p:sldId id="460" r:id="rId19"/>
    <p:sldId id="461" r:id="rId20"/>
    <p:sldId id="462" r:id="rId21"/>
    <p:sldId id="463" r:id="rId22"/>
    <p:sldId id="464" r:id="rId23"/>
    <p:sldId id="446" r:id="rId24"/>
    <p:sldId id="259" r:id="rId25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5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1768" autoAdjust="0"/>
  </p:normalViewPr>
  <p:slideViewPr>
    <p:cSldViewPr>
      <p:cViewPr varScale="1">
        <p:scale>
          <a:sx n="114" d="100"/>
          <a:sy n="114" d="100"/>
        </p:scale>
        <p:origin x="15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07098-A8DF-4714-B43F-DC882CB72C38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F57D0A-305D-4A35-A608-B814A0BEDBC9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0763A-51CB-4C09-97C6-6FDA1E354680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2BCFE-7F07-4DEB-84D0-B6E069D09AB4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034F85-C7AC-44D9-8041-DCE5F1910771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9C1E6-5858-412D-B164-0E5729C1B013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5984F-4687-4822-B90B-D2F0C053EC34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1BFA6-010D-431C-B551-A9D369DB37A1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EB407-0560-4B40-983D-A7D236E18EC5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0B0A2-27E0-4485-9168-8AA570A8DAFC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07EA0-14F2-420C-A475-0D18AFDA93B1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3AE74-2F99-4987-987A-6C3EA8F2668B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A1DD5-A17C-48EA-9412-EA98D6409207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E848E-D45A-49C9-AF07-E8D1D5BE3B06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02456-19D9-42BE-A6A4-31B0B2C0CD52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FF93D-3571-4F94-83EE-E5D41E95C87B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F835A-66CB-4758-9200-7B9C84F9639E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E2403-F942-4042-B87D-191FA9AEC4FC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CA72D-36E4-4393-9507-9CBDA1AC8F50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88108-AC2B-469D-8E1A-8A1FC91F787D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A0D9B-B10A-4C2F-90C1-683BF0DFEB41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4A544-6A6F-467F-AC6F-55FD44753437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2E20E43-3D58-4660-B8C5-0C3B8220668E}" type="datetimeFigureOut">
              <a:rPr lang="fr-FR"/>
              <a:pPr>
                <a:defRPr/>
              </a:pPr>
              <a:t>20/07/2026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19B76BF-C9E2-4657-92CA-F0808A608D01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/>
          <p:cNvSpPr>
            <a:spLocks noGrp="1"/>
          </p:cNvSpPr>
          <p:nvPr>
            <p:ph type="ctrTitle"/>
          </p:nvPr>
        </p:nvSpPr>
        <p:spPr>
          <a:xfrm>
            <a:off x="685800" y="3373438"/>
            <a:ext cx="7772400" cy="1012825"/>
          </a:xfrm>
        </p:spPr>
        <p:txBody>
          <a:bodyPr/>
          <a:lstStyle/>
          <a:p>
            <a:r>
              <a:rPr lang="fr-CA" sz="4000" dirty="0">
                <a:solidFill>
                  <a:schemeClr val="bg1"/>
                </a:solidFill>
              </a:rPr>
              <a:t>Cline</a:t>
            </a:r>
            <a:endParaRPr lang="fr-CA" sz="3800" dirty="0">
              <a:solidFill>
                <a:schemeClr val="bg1"/>
              </a:solidFill>
            </a:endParaRPr>
          </a:p>
        </p:txBody>
      </p:sp>
      <p:sp>
        <p:nvSpPr>
          <p:cNvPr id="2051" name="Sous-titre 2"/>
          <p:cNvSpPr>
            <a:spLocks noGrp="1"/>
          </p:cNvSpPr>
          <p:nvPr>
            <p:ph type="subTitle" idx="1"/>
          </p:nvPr>
        </p:nvSpPr>
        <p:spPr>
          <a:xfrm>
            <a:off x="5715000" y="6091237"/>
            <a:ext cx="3124200" cy="614363"/>
          </a:xfrm>
        </p:spPr>
        <p:txBody>
          <a:bodyPr/>
          <a:lstStyle/>
          <a:p>
            <a:r>
              <a:rPr lang="fr-CA" sz="2600" dirty="0">
                <a:solidFill>
                  <a:schemeClr val="bg1"/>
                </a:solidFill>
              </a:rPr>
              <a:t>Dima Ionut Daniel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>
          <a:xfrm>
            <a:off x="2071688" y="274638"/>
            <a:ext cx="6615112" cy="1143000"/>
          </a:xfrm>
        </p:spPr>
        <p:txBody>
          <a:bodyPr/>
          <a:lstStyle/>
          <a:p>
            <a:pPr algn="l"/>
            <a:r>
              <a:rPr lang="fr-CA" sz="4000" dirty="0">
                <a:solidFill>
                  <a:srgbClr val="3C5790"/>
                </a:solidFill>
              </a:rPr>
              <a:t>Contents</a:t>
            </a:r>
          </a:p>
        </p:txBody>
      </p:sp>
      <p:sp>
        <p:nvSpPr>
          <p:cNvPr id="3075" name="Espace réservé du contenu 2"/>
          <p:cNvSpPr>
            <a:spLocks noGrp="1"/>
          </p:cNvSpPr>
          <p:nvPr>
            <p:ph idx="1"/>
          </p:nvPr>
        </p:nvSpPr>
        <p:spPr>
          <a:xfrm>
            <a:off x="2224088" y="1600200"/>
            <a:ext cx="6615112" cy="5029200"/>
          </a:xfrm>
        </p:spPr>
        <p:txBody>
          <a:bodyPr/>
          <a:lstStyle/>
          <a:p>
            <a:r>
              <a:rPr lang="fr-CA" sz="1600" dirty="0" err="1">
                <a:solidFill>
                  <a:srgbClr val="3C5790"/>
                </a:solidFill>
              </a:rPr>
              <a:t>What</a:t>
            </a:r>
            <a:r>
              <a:rPr lang="fr-CA" sz="1600" dirty="0">
                <a:solidFill>
                  <a:srgbClr val="3C5790"/>
                </a:solidFill>
              </a:rPr>
              <a:t> </a:t>
            </a:r>
            <a:r>
              <a:rPr lang="fr-CA" sz="1600" dirty="0" err="1">
                <a:solidFill>
                  <a:srgbClr val="3C5790"/>
                </a:solidFill>
              </a:rPr>
              <a:t>is</a:t>
            </a:r>
            <a:r>
              <a:rPr lang="fr-CA" sz="1600" dirty="0">
                <a:solidFill>
                  <a:srgbClr val="3C5790"/>
                </a:solidFill>
              </a:rPr>
              <a:t> Cline?</a:t>
            </a:r>
          </a:p>
          <a:p>
            <a:r>
              <a:rPr lang="fr-CA" sz="1600" dirty="0" err="1">
                <a:solidFill>
                  <a:srgbClr val="3C5790"/>
                </a:solidFill>
              </a:rPr>
              <a:t>Features</a:t>
            </a:r>
            <a:endParaRPr lang="fr-CA" sz="1600" dirty="0">
              <a:solidFill>
                <a:srgbClr val="3C5790"/>
              </a:solidFill>
            </a:endParaRPr>
          </a:p>
          <a:p>
            <a:r>
              <a:rPr lang="fr-CA" sz="1600" dirty="0">
                <a:solidFill>
                  <a:srgbClr val="3C5790"/>
                </a:solidFill>
              </a:rPr>
              <a:t>Goals</a:t>
            </a:r>
          </a:p>
          <a:p>
            <a:r>
              <a:rPr lang="fr-CA" sz="1600" dirty="0" err="1">
                <a:solidFill>
                  <a:srgbClr val="3C5790"/>
                </a:solidFill>
              </a:rPr>
              <a:t>Arhitecture</a:t>
            </a:r>
            <a:endParaRPr lang="fr-CA" sz="1600" dirty="0">
              <a:solidFill>
                <a:srgbClr val="3C5790"/>
              </a:solidFill>
            </a:endParaRPr>
          </a:p>
          <a:p>
            <a:r>
              <a:rPr lang="fr-CA" sz="1600" dirty="0" err="1">
                <a:solidFill>
                  <a:srgbClr val="3C5790"/>
                </a:solidFill>
              </a:rPr>
              <a:t>Core</a:t>
            </a:r>
            <a:endParaRPr lang="fr-CA" sz="1600" dirty="0">
              <a:solidFill>
                <a:srgbClr val="3C5790"/>
              </a:solidFill>
            </a:endParaRPr>
          </a:p>
          <a:p>
            <a:r>
              <a:rPr lang="en-US" sz="1600" dirty="0">
                <a:solidFill>
                  <a:srgbClr val="3C5790"/>
                </a:solidFill>
              </a:rPr>
              <a:t>Conclusion</a:t>
            </a:r>
          </a:p>
          <a:p>
            <a:r>
              <a:rPr lang="fr-CA" sz="1600" dirty="0">
                <a:solidFill>
                  <a:srgbClr val="3C5790"/>
                </a:solidFill>
              </a:rPr>
              <a:t>Bibliography</a:t>
            </a:r>
          </a:p>
          <a:p>
            <a:pPr>
              <a:buNone/>
            </a:pPr>
            <a:br>
              <a:rPr lang="fr-CA" sz="1600" dirty="0">
                <a:solidFill>
                  <a:srgbClr val="3C5790"/>
                </a:solidFill>
              </a:rPr>
            </a:br>
            <a:endParaRPr lang="fr-CA" sz="1600" dirty="0">
              <a:solidFill>
                <a:srgbClr val="3C57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What</a:t>
            </a:r>
            <a:r>
              <a:rPr lang="fr-CA" dirty="0">
                <a:solidFill>
                  <a:schemeClr val="bg1"/>
                </a:solidFill>
              </a:rPr>
              <a:t> </a:t>
            </a:r>
            <a:r>
              <a:rPr lang="fr-CA" dirty="0" err="1">
                <a:solidFill>
                  <a:schemeClr val="bg1"/>
                </a:solidFill>
              </a:rPr>
              <a:t>is</a:t>
            </a:r>
            <a:r>
              <a:rPr lang="fr-CA" dirty="0">
                <a:solidFill>
                  <a:schemeClr val="bg1"/>
                </a:solidFill>
              </a:rPr>
              <a:t> Cline?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1676400"/>
          </a:xfrm>
        </p:spPr>
        <p:txBody>
          <a:bodyPr/>
          <a:lstStyle/>
          <a:p>
            <a:r>
              <a:rPr lang="en-US" sz="1500" b="1" dirty="0">
                <a:solidFill>
                  <a:srgbClr val="3C5790"/>
                </a:solidFill>
              </a:rPr>
              <a:t>Cline</a:t>
            </a:r>
            <a:r>
              <a:rPr lang="en-US" sz="1500" dirty="0">
                <a:solidFill>
                  <a:srgbClr val="3C5790"/>
                </a:solidFill>
              </a:rPr>
              <a:t> is an open-source AI coding assistant that works inside Visual Studio Code.</a:t>
            </a:r>
          </a:p>
          <a:p>
            <a:r>
              <a:rPr lang="en-US" sz="1500" dirty="0">
                <a:solidFill>
                  <a:srgbClr val="3C5790"/>
                </a:solidFill>
              </a:rPr>
              <a:t>It helps developers write, edit, debug, and understand code using natural language.</a:t>
            </a:r>
          </a:p>
          <a:p>
            <a:r>
              <a:rPr lang="en-US" sz="1500" dirty="0">
                <a:solidFill>
                  <a:srgbClr val="3C5790"/>
                </a:solidFill>
              </a:rPr>
              <a:t>Unlike basic code completion tools, Cline can plan and execute multi-step development tasks with user approval.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C985F6-A363-48E7-9ABE-0C979E6A7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25962"/>
            <a:ext cx="1665392" cy="14525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Features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267200"/>
          </a:xfrm>
        </p:spPr>
        <p:txBody>
          <a:bodyPr/>
          <a:lstStyle/>
          <a:p>
            <a:r>
              <a:rPr lang="en-US" sz="1200" b="1" dirty="0">
                <a:solidFill>
                  <a:srgbClr val="3C5790"/>
                </a:solidFill>
              </a:rPr>
              <a:t>Autonomous Coding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Creates new features from prompts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Refactors existing code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Fixes bugs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Generates tests and documentation</a:t>
            </a:r>
          </a:p>
          <a:p>
            <a:r>
              <a:rPr lang="en-US" sz="1200" b="1" dirty="0">
                <a:solidFill>
                  <a:srgbClr val="3C5790"/>
                </a:solidFill>
              </a:rPr>
              <a:t>Terminal Integration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Executes terminal commands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Installs dependencies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Runs builds and tests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Requests approval before executing commands</a:t>
            </a:r>
          </a:p>
          <a:p>
            <a:r>
              <a:rPr lang="en-US" sz="1200" b="1" dirty="0">
                <a:solidFill>
                  <a:srgbClr val="3C5790"/>
                </a:solidFill>
              </a:rPr>
              <a:t>File Management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Reads multiple project files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Creates, edits, and deletes files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Understands entire project structure</a:t>
            </a:r>
          </a:p>
          <a:p>
            <a:r>
              <a:rPr lang="en-US" sz="1200" b="1" dirty="0">
                <a:solidFill>
                  <a:srgbClr val="3C5790"/>
                </a:solidFill>
              </a:rPr>
              <a:t>AI Model Support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Works with multiple LLM providers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Supports models from </a:t>
            </a:r>
            <a:r>
              <a:rPr lang="en-US" sz="1200" dirty="0" err="1">
                <a:solidFill>
                  <a:srgbClr val="3C5790"/>
                </a:solidFill>
              </a:rPr>
              <a:t>OpenAI</a:t>
            </a:r>
            <a:r>
              <a:rPr lang="en-US" sz="1200" dirty="0">
                <a:solidFill>
                  <a:srgbClr val="3C5790"/>
                </a:solidFill>
              </a:rPr>
              <a:t>, Anthropic, Google, </a:t>
            </a:r>
            <a:r>
              <a:rPr lang="en-US" sz="1200" dirty="0" err="1">
                <a:solidFill>
                  <a:srgbClr val="3C5790"/>
                </a:solidFill>
              </a:rPr>
              <a:t>OpenRouter</a:t>
            </a:r>
            <a:r>
              <a:rPr lang="en-US" sz="1200" dirty="0">
                <a:solidFill>
                  <a:srgbClr val="3C5790"/>
                </a:solidFill>
              </a:rPr>
              <a:t>, and local models (via </a:t>
            </a:r>
            <a:r>
              <a:rPr lang="en-US" sz="1200" dirty="0" err="1">
                <a:solidFill>
                  <a:srgbClr val="3C5790"/>
                </a:solidFill>
              </a:rPr>
              <a:t>Ollama</a:t>
            </a:r>
            <a:r>
              <a:rPr lang="en-US" sz="1200" dirty="0">
                <a:solidFill>
                  <a:srgbClr val="3C579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0894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Features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657600"/>
          </a:xfrm>
        </p:spPr>
        <p:txBody>
          <a:bodyPr/>
          <a:lstStyle/>
          <a:p>
            <a:r>
              <a:rPr lang="en-US" sz="1200" b="1" dirty="0">
                <a:solidFill>
                  <a:srgbClr val="3C5790"/>
                </a:solidFill>
              </a:rPr>
              <a:t>Code Understanding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Explains complex code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Answers questions about the codebase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Identifies dependencies and architecture</a:t>
            </a:r>
          </a:p>
          <a:p>
            <a:r>
              <a:rPr lang="en-US" sz="1200" b="1" dirty="0">
                <a:solidFill>
                  <a:srgbClr val="3C5790"/>
                </a:solidFill>
              </a:rPr>
              <a:t>Browser Automation (MCP/Extensions)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Can interact with web applications for testing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Captures screenshots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Automates repetitive browser tasks (when configured)</a:t>
            </a:r>
          </a:p>
          <a:p>
            <a:r>
              <a:rPr lang="en-US" sz="1200" b="1" dirty="0">
                <a:solidFill>
                  <a:srgbClr val="3C5790"/>
                </a:solidFill>
              </a:rPr>
              <a:t>MCP (Model Context Protocol) Support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Connects to external tools and services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Accesses databases, APIs, GitHub, documentation, etc.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Extends capabilities through MCP servers</a:t>
            </a:r>
          </a:p>
          <a:p>
            <a:r>
              <a:rPr lang="en-US" sz="1200" b="1" dirty="0">
                <a:solidFill>
                  <a:srgbClr val="3C5790"/>
                </a:solidFill>
              </a:rPr>
              <a:t>Human-in-the-Loop Safety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Asks for permission before: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Running commands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Modifying important files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Accessing external resources</a:t>
            </a:r>
          </a:p>
        </p:txBody>
      </p:sp>
    </p:spTree>
    <p:extLst>
      <p:ext uri="{BB962C8B-B14F-4D97-AF65-F5344CB8AC3E}">
        <p14:creationId xmlns:p14="http://schemas.microsoft.com/office/powerpoint/2010/main" val="146907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Goals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5052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Increase developer productivity by automating repetitive coding tasks.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Accelerate software development from idea to implementation.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Understand the entire codebase to provide context-aware assistance.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Reduce manual effort in debugging, refactoring, testing, and documentation.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Integrate development tools (terminal, GitHub, databases, APIs) into a single AI workflow.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Keep developers in control by requiring approval for sensitive actions.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Support flexible AI usage by working with multiple AI models and providers.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Improve code quality through consistent suggestions, testing, and documentation generation.</a:t>
            </a:r>
            <a:endParaRPr lang="en-US" sz="12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931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Arhitecture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810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Cline architecture</a:t>
            </a:r>
          </a:p>
          <a:p>
            <a:pPr marL="0" indent="0">
              <a:buNone/>
            </a:pPr>
            <a:endParaRPr lang="fr-CA" sz="1400" dirty="0">
              <a:solidFill>
                <a:srgbClr val="3C579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22844-2EFD-4ABA-94B7-B34EDD9E4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699" y="2659062"/>
            <a:ext cx="2822601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Arhitecture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962400"/>
          </a:xfrm>
        </p:spPr>
        <p:txBody>
          <a:bodyPr/>
          <a:lstStyle/>
          <a:p>
            <a:r>
              <a:rPr lang="fr-CA" sz="1400" u="sng" dirty="0">
                <a:solidFill>
                  <a:srgbClr val="3C5790"/>
                </a:solidFill>
              </a:rPr>
              <a:t>Main Components</a:t>
            </a:r>
          </a:p>
          <a:p>
            <a:r>
              <a:rPr lang="fr-CA" sz="1400" b="1" dirty="0">
                <a:solidFill>
                  <a:srgbClr val="3C5790"/>
                </a:solidFill>
              </a:rPr>
              <a:t>VS Code Extension</a:t>
            </a:r>
          </a:p>
          <a:p>
            <a:pPr lvl="1"/>
            <a:r>
              <a:rPr lang="fr-CA" sz="1400" dirty="0">
                <a:solidFill>
                  <a:srgbClr val="3C5790"/>
                </a:solidFill>
              </a:rPr>
              <a:t>User interface</a:t>
            </a: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Receives</a:t>
            </a:r>
            <a:r>
              <a:rPr lang="fr-CA" sz="1400" dirty="0">
                <a:solidFill>
                  <a:srgbClr val="3C5790"/>
                </a:solidFill>
              </a:rPr>
              <a:t> prompts</a:t>
            </a:r>
          </a:p>
          <a:p>
            <a:pPr lvl="1"/>
            <a:r>
              <a:rPr lang="fr-CA" sz="1400" dirty="0">
                <a:solidFill>
                  <a:srgbClr val="3C5790"/>
                </a:solidFill>
              </a:rPr>
              <a:t>Displays </a:t>
            </a:r>
            <a:r>
              <a:rPr lang="fr-CA" sz="1400" dirty="0" err="1">
                <a:solidFill>
                  <a:srgbClr val="3C5790"/>
                </a:solidFill>
              </a:rPr>
              <a:t>responses</a:t>
            </a:r>
            <a:endParaRPr lang="fr-CA" sz="1400" dirty="0">
              <a:solidFill>
                <a:srgbClr val="3C5790"/>
              </a:solidFill>
            </a:endParaRPr>
          </a:p>
          <a:p>
            <a:pPr lvl="1"/>
            <a:r>
              <a:rPr lang="fr-CA" sz="1400" dirty="0">
                <a:solidFill>
                  <a:srgbClr val="3C5790"/>
                </a:solidFill>
              </a:rPr>
              <a:t>Manages workflow</a:t>
            </a:r>
          </a:p>
          <a:p>
            <a:r>
              <a:rPr lang="fr-CA" sz="1400" b="1" dirty="0">
                <a:solidFill>
                  <a:srgbClr val="3C5790"/>
                </a:solidFill>
              </a:rPr>
              <a:t>AI Model</a:t>
            </a: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Interprets</a:t>
            </a:r>
            <a:r>
              <a:rPr lang="fr-CA" sz="1400" dirty="0">
                <a:solidFill>
                  <a:srgbClr val="3C5790"/>
                </a:solidFill>
              </a:rPr>
              <a:t> user </a:t>
            </a:r>
            <a:r>
              <a:rPr lang="fr-CA" sz="1400" dirty="0" err="1">
                <a:solidFill>
                  <a:srgbClr val="3C5790"/>
                </a:solidFill>
              </a:rPr>
              <a:t>requests</a:t>
            </a:r>
            <a:endParaRPr lang="fr-CA" sz="1400" dirty="0">
              <a:solidFill>
                <a:srgbClr val="3C5790"/>
              </a:solidFill>
            </a:endParaRP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Generates</a:t>
            </a:r>
            <a:r>
              <a:rPr lang="fr-CA" sz="1400" dirty="0">
                <a:solidFill>
                  <a:srgbClr val="3C5790"/>
                </a:solidFill>
              </a:rPr>
              <a:t> code</a:t>
            </a:r>
          </a:p>
          <a:p>
            <a:pPr lvl="1"/>
            <a:r>
              <a:rPr lang="fr-CA" sz="1400" dirty="0">
                <a:solidFill>
                  <a:srgbClr val="3C5790"/>
                </a:solidFill>
              </a:rPr>
              <a:t>Plans multi-</a:t>
            </a:r>
            <a:r>
              <a:rPr lang="fr-CA" sz="1400" dirty="0" err="1">
                <a:solidFill>
                  <a:srgbClr val="3C5790"/>
                </a:solidFill>
              </a:rPr>
              <a:t>step</a:t>
            </a:r>
            <a:r>
              <a:rPr lang="fr-CA" sz="1400" dirty="0">
                <a:solidFill>
                  <a:srgbClr val="3C5790"/>
                </a:solidFill>
              </a:rPr>
              <a:t> </a:t>
            </a:r>
            <a:r>
              <a:rPr lang="fr-CA" sz="1400" dirty="0" err="1">
                <a:solidFill>
                  <a:srgbClr val="3C5790"/>
                </a:solidFill>
              </a:rPr>
              <a:t>tasks</a:t>
            </a:r>
            <a:endParaRPr lang="fr-CA" sz="1400" dirty="0">
              <a:solidFill>
                <a:srgbClr val="3C5790"/>
              </a:solidFill>
            </a:endParaRP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Explains</a:t>
            </a:r>
            <a:r>
              <a:rPr lang="fr-CA" sz="1400" dirty="0">
                <a:solidFill>
                  <a:srgbClr val="3C5790"/>
                </a:solidFill>
              </a:rPr>
              <a:t> and </a:t>
            </a:r>
            <a:r>
              <a:rPr lang="fr-CA" sz="1400" dirty="0" err="1">
                <a:solidFill>
                  <a:srgbClr val="3C5790"/>
                </a:solidFill>
              </a:rPr>
              <a:t>reviews</a:t>
            </a:r>
            <a:r>
              <a:rPr lang="fr-CA" sz="1400" dirty="0">
                <a:solidFill>
                  <a:srgbClr val="3C5790"/>
                </a:solidFill>
              </a:rPr>
              <a:t> code</a:t>
            </a:r>
          </a:p>
          <a:p>
            <a:r>
              <a:rPr lang="fr-CA" sz="1400" b="1" dirty="0" err="1">
                <a:solidFill>
                  <a:srgbClr val="3C5790"/>
                </a:solidFill>
              </a:rPr>
              <a:t>Context</a:t>
            </a:r>
            <a:r>
              <a:rPr lang="fr-CA" sz="1400" b="1" dirty="0">
                <a:solidFill>
                  <a:srgbClr val="3C5790"/>
                </a:solidFill>
              </a:rPr>
              <a:t> Manager</a:t>
            </a: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Reads</a:t>
            </a:r>
            <a:r>
              <a:rPr lang="fr-CA" sz="1400" dirty="0">
                <a:solidFill>
                  <a:srgbClr val="3C5790"/>
                </a:solidFill>
              </a:rPr>
              <a:t> </a:t>
            </a:r>
            <a:r>
              <a:rPr lang="fr-CA" sz="1400" dirty="0" err="1">
                <a:solidFill>
                  <a:srgbClr val="3C5790"/>
                </a:solidFill>
              </a:rPr>
              <a:t>project</a:t>
            </a:r>
            <a:r>
              <a:rPr lang="fr-CA" sz="1400" dirty="0">
                <a:solidFill>
                  <a:srgbClr val="3C5790"/>
                </a:solidFill>
              </a:rPr>
              <a:t> files</a:t>
            </a: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Maintains</a:t>
            </a:r>
            <a:r>
              <a:rPr lang="fr-CA" sz="1400" dirty="0">
                <a:solidFill>
                  <a:srgbClr val="3C5790"/>
                </a:solidFill>
              </a:rPr>
              <a:t> codebase </a:t>
            </a:r>
            <a:r>
              <a:rPr lang="fr-CA" sz="1400" dirty="0" err="1">
                <a:solidFill>
                  <a:srgbClr val="3C5790"/>
                </a:solidFill>
              </a:rPr>
              <a:t>context</a:t>
            </a:r>
            <a:endParaRPr lang="fr-CA" sz="1400" dirty="0">
              <a:solidFill>
                <a:srgbClr val="3C5790"/>
              </a:solidFill>
            </a:endParaRPr>
          </a:p>
          <a:p>
            <a:pPr lvl="1"/>
            <a:r>
              <a:rPr lang="fr-CA" sz="1400" dirty="0">
                <a:solidFill>
                  <a:srgbClr val="3C5790"/>
                </a:solidFill>
              </a:rPr>
              <a:t>Supplies relevant information to the AI</a:t>
            </a:r>
          </a:p>
        </p:txBody>
      </p:sp>
    </p:spTree>
    <p:extLst>
      <p:ext uri="{BB962C8B-B14F-4D97-AF65-F5344CB8AC3E}">
        <p14:creationId xmlns:p14="http://schemas.microsoft.com/office/powerpoint/2010/main" val="213822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Arhitecture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449762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Execution Engine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Edits files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Runs terminal commands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Executes tests and builds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Coordinates task execution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MCP Layer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Connects to external tools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GitHub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Databases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APIs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Documentation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Browser automation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Approval/Safety Layer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Requests confirmation before: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Running commands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Editing important files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Using external tools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37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5334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Cline can easy be installed as extension to </a:t>
            </a:r>
            <a:r>
              <a:rPr lang="en-US" sz="1400" dirty="0" err="1">
                <a:solidFill>
                  <a:srgbClr val="3C5790"/>
                </a:solidFill>
              </a:rPr>
              <a:t>Vistual</a:t>
            </a:r>
            <a:r>
              <a:rPr lang="en-US" sz="1400" dirty="0">
                <a:solidFill>
                  <a:srgbClr val="3C5790"/>
                </a:solidFill>
              </a:rPr>
              <a:t> Studio Code</a:t>
            </a:r>
            <a:endParaRPr lang="fr-CA" sz="1400" b="1" dirty="0">
              <a:solidFill>
                <a:srgbClr val="3C579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E5564-B023-4DC1-A0B5-4AA47C51A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424" y="2629950"/>
            <a:ext cx="2603951" cy="419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12B580-E04E-443E-BBA8-77CAFDBF3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2629950"/>
            <a:ext cx="26625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2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4384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Cline separates </a:t>
            </a:r>
            <a:r>
              <a:rPr lang="en-US" sz="1400" b="1" dirty="0">
                <a:solidFill>
                  <a:srgbClr val="3C5790"/>
                </a:solidFill>
              </a:rPr>
              <a:t>planning</a:t>
            </a:r>
            <a:r>
              <a:rPr lang="en-US" sz="1400" dirty="0">
                <a:solidFill>
                  <a:srgbClr val="3C5790"/>
                </a:solidFill>
              </a:rPr>
              <a:t> from </a:t>
            </a:r>
            <a:r>
              <a:rPr lang="en-US" sz="1400" b="1" dirty="0">
                <a:solidFill>
                  <a:srgbClr val="3C5790"/>
                </a:solidFill>
              </a:rPr>
              <a:t>execution</a:t>
            </a:r>
            <a:r>
              <a:rPr lang="en-US" sz="1400" dirty="0">
                <a:solidFill>
                  <a:srgbClr val="3C5790"/>
                </a:solidFill>
              </a:rPr>
              <a:t>, allowing developers to validate an approach before making any changes to the codebase. This reduces mistakes and improves transparency. 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Typical Workflow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Start in Plan mode and describe what you want to build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Let Cline explore relevant files and understand the codebase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Discuss the approach, considering edge cases and potential issues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When confident in the plan, switch to Act mode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Cline implements the solution based on your planning session</a:t>
            </a:r>
          </a:p>
        </p:txBody>
      </p:sp>
    </p:spTree>
    <p:extLst>
      <p:ext uri="{BB962C8B-B14F-4D97-AF65-F5344CB8AC3E}">
        <p14:creationId xmlns:p14="http://schemas.microsoft.com/office/powerpoint/2010/main" val="385763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1981200"/>
            <a:ext cx="8686800" cy="4602162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Plan Mode (Think First)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Purpose: Analyze and design without modifying the project.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What Cline can do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Read and understand the entire codebase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Search files and dependencies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Explain existing code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Discuss architecture and trade-offs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Identify edge cases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Create an implementation strategy</a:t>
            </a:r>
          </a:p>
          <a:p>
            <a:r>
              <a:rPr lang="en-US" sz="1400" dirty="0">
                <a:solidFill>
                  <a:srgbClr val="3C5790"/>
                </a:solidFill>
              </a:rPr>
              <a:t>Restrictions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Cannot edit files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Cannot execute terminal commands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Best for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New features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Architecture design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Debugging complex issues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Learning an unfamiliar codebase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Security or code reviews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410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1981200"/>
            <a:ext cx="8686800" cy="44958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Act Mode (Execute)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Purpose: Implement the approved plan.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What Cline can do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Create, edit, and delete files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Execute terminal commands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Install dependencies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Run builds and tests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Refactor code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Generate documentation</a:t>
            </a:r>
          </a:p>
          <a:p>
            <a:r>
              <a:rPr lang="en-US" sz="1400" dirty="0">
                <a:solidFill>
                  <a:srgbClr val="3C5790"/>
                </a:solidFill>
              </a:rPr>
              <a:t>Safety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Requests user approval before sensitive actions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Retains all context from the Plan phase, so no information is lost when switching modes. 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65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1981200"/>
            <a:ext cx="8686800" cy="9906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Cline lets you reference files, folders, terminal output, Git changes, and URLs directly in the prompt using </a:t>
            </a:r>
            <a:r>
              <a:rPr lang="en-US" sz="1400" b="1" dirty="0">
                <a:solidFill>
                  <a:srgbClr val="3C5790"/>
                </a:solidFill>
              </a:rPr>
              <a:t>@ mentions</a:t>
            </a:r>
            <a:r>
              <a:rPr lang="en-US" sz="1400" dirty="0">
                <a:solidFill>
                  <a:srgbClr val="3C5790"/>
                </a:solidFill>
              </a:rPr>
              <a:t>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This provides the AI with the right context while keeping conversations concise. </a:t>
            </a:r>
          </a:p>
          <a:p>
            <a:endParaRPr lang="fr-CA" sz="1400" dirty="0">
              <a:solidFill>
                <a:srgbClr val="3C5790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15CDCED-434F-4500-834A-C766A2574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993755"/>
              </p:ext>
            </p:extLst>
          </p:nvPr>
        </p:nvGraphicFramePr>
        <p:xfrm>
          <a:off x="609600" y="2895600"/>
          <a:ext cx="8001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379074261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276624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286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Reference 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D0D0D"/>
                          </a:solidFill>
                          <a:effectLst/>
                        </a:rPr>
                        <a:t>@/src/auth.ts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68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 a folder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@/src/components/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24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 compiler errors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@problems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792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 terminal output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0D0D0D"/>
                          </a:solidFill>
                          <a:effectLst/>
                        </a:rPr>
                        <a:t>@terminal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507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Git changes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@git-changes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08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 a commit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@a1b2c3d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94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external documentation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@https://react.dev/...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899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Drag &amp; Drop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files, PDFs, CSVs, Excel files, or images directly into the chat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300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534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6858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Slash commands are built-in shortcuts that help manage conversations, preserve context, automate workflows, and improve productivity. They are invoked by typing </a:t>
            </a:r>
            <a:r>
              <a:rPr lang="en-US" sz="1400" b="1" dirty="0">
                <a:solidFill>
                  <a:srgbClr val="3C5790"/>
                </a:solidFill>
              </a:rPr>
              <a:t>/</a:t>
            </a:r>
            <a:r>
              <a:rPr lang="en-US" sz="1400" dirty="0">
                <a:solidFill>
                  <a:srgbClr val="3C5790"/>
                </a:solidFill>
              </a:rPr>
              <a:t> in the Cline chat. </a:t>
            </a:r>
            <a:endParaRPr lang="fr-CA" sz="1400" dirty="0">
              <a:solidFill>
                <a:srgbClr val="3C5790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54DB92C-E3FD-4AB9-AE01-F15AB40F5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340103"/>
              </p:ext>
            </p:extLst>
          </p:nvPr>
        </p:nvGraphicFramePr>
        <p:xfrm>
          <a:off x="762000" y="2895600"/>
          <a:ext cx="7848600" cy="310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3510549676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3099723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5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newtask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Starts a new task while carrying over the important context from the current conversation.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97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smol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Compresses the conversation history to save context without losing key information.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50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/deep-planning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Investigates the codebase and creates a detailed implementation plan before coding.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167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newrule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Creates reusable rules for coding style, communication, or project standards.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854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/explain-changes 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(VS Code)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Generates AI explanations for Git diffs, commits, or pull requests.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998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reportbug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Collects diagnostics and prepares a useful bug report for the Cline team.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166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59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8100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/</a:t>
            </a:r>
            <a:r>
              <a:rPr lang="en-US" sz="1400" b="1" dirty="0" err="1">
                <a:solidFill>
                  <a:srgbClr val="3C5790"/>
                </a:solidFill>
              </a:rPr>
              <a:t>newtask</a:t>
            </a:r>
            <a:r>
              <a:rPr lang="en-US" sz="1400" dirty="0">
                <a:solidFill>
                  <a:srgbClr val="3C5790"/>
                </a:solidFill>
              </a:rPr>
              <a:t> works like a developer handoff. It packages what matters (overall plan, work accomplished, relevant files, next steps) into a fresh task with a clean context window, leaving behind the noise of tool calls and implementation details.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/</a:t>
            </a:r>
            <a:r>
              <a:rPr lang="en-US" sz="1400" b="1" dirty="0" err="1">
                <a:solidFill>
                  <a:srgbClr val="3C5790"/>
                </a:solidFill>
              </a:rPr>
              <a:t>smol</a:t>
            </a:r>
            <a:r>
              <a:rPr lang="en-US" sz="1400" dirty="0">
                <a:solidFill>
                  <a:srgbClr val="3C5790"/>
                </a:solidFill>
              </a:rPr>
              <a:t> (or its alias </a:t>
            </a:r>
            <a:r>
              <a:rPr lang="en-US" sz="1400" b="1" dirty="0">
                <a:solidFill>
                  <a:srgbClr val="3C5790"/>
                </a:solidFill>
              </a:rPr>
              <a:t>/compact</a:t>
            </a:r>
            <a:r>
              <a:rPr lang="en-US" sz="1400" dirty="0">
                <a:solidFill>
                  <a:srgbClr val="3C5790"/>
                </a:solidFill>
              </a:rPr>
              <a:t>) compresses your conversation history while preserving essential context. Unlike /</a:t>
            </a:r>
            <a:r>
              <a:rPr lang="en-US" sz="1400" dirty="0" err="1">
                <a:solidFill>
                  <a:srgbClr val="3C5790"/>
                </a:solidFill>
              </a:rPr>
              <a:t>newtask</a:t>
            </a:r>
            <a:r>
              <a:rPr lang="en-US" sz="1400" dirty="0">
                <a:solidFill>
                  <a:srgbClr val="3C5790"/>
                </a:solidFill>
              </a:rPr>
              <a:t> which creates a new task, /</a:t>
            </a:r>
            <a:r>
              <a:rPr lang="en-US" sz="1400" dirty="0" err="1">
                <a:solidFill>
                  <a:srgbClr val="3C5790"/>
                </a:solidFill>
              </a:rPr>
              <a:t>smol</a:t>
            </a:r>
            <a:r>
              <a:rPr lang="en-US" sz="1400" dirty="0">
                <a:solidFill>
                  <a:srgbClr val="3C5790"/>
                </a:solidFill>
              </a:rPr>
              <a:t> condenses your current conversation into a comprehensive summary, freeing up context window space while allowing you to continue working in the same task.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/deep-planning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Transform Cline into a meticulous architect who investigates your codebase, asks clarifying questions, and creates a comprehensive implementation plan before writing any code. Deep planning follows a four-step process:</a:t>
            </a:r>
          </a:p>
          <a:p>
            <a:pPr lvl="1"/>
            <a:r>
              <a:rPr lang="en-US" sz="1000" b="1" dirty="0">
                <a:solidFill>
                  <a:srgbClr val="3C5790"/>
                </a:solidFill>
              </a:rPr>
              <a:t>Silent Investigation</a:t>
            </a:r>
            <a:r>
              <a:rPr lang="en-US" sz="1000" dirty="0">
                <a:solidFill>
                  <a:srgbClr val="3C5790"/>
                </a:solidFill>
              </a:rPr>
              <a:t> - Cline explores your codebase structure and patterns</a:t>
            </a:r>
          </a:p>
          <a:p>
            <a:pPr lvl="1"/>
            <a:r>
              <a:rPr lang="en-US" sz="1000" b="1" dirty="0">
                <a:solidFill>
                  <a:srgbClr val="3C5790"/>
                </a:solidFill>
              </a:rPr>
              <a:t>Discussion</a:t>
            </a:r>
            <a:r>
              <a:rPr lang="en-US" sz="1000" dirty="0">
                <a:solidFill>
                  <a:srgbClr val="3C5790"/>
                </a:solidFill>
              </a:rPr>
              <a:t> - Targeted questions about requirements and approach</a:t>
            </a:r>
          </a:p>
          <a:p>
            <a:pPr lvl="1"/>
            <a:r>
              <a:rPr lang="en-US" sz="1000" b="1" dirty="0">
                <a:solidFill>
                  <a:srgbClr val="3C5790"/>
                </a:solidFill>
              </a:rPr>
              <a:t>Plan Creation</a:t>
            </a:r>
            <a:r>
              <a:rPr lang="en-US" sz="1000" dirty="0">
                <a:solidFill>
                  <a:srgbClr val="3C5790"/>
                </a:solidFill>
              </a:rPr>
              <a:t> - Generates implementation_plan.md with detailed specifications</a:t>
            </a:r>
          </a:p>
          <a:p>
            <a:pPr lvl="1"/>
            <a:r>
              <a:rPr lang="en-US" sz="1000" b="1" dirty="0">
                <a:solidFill>
                  <a:srgbClr val="3C5790"/>
                </a:solidFill>
              </a:rPr>
              <a:t>Task Creation</a:t>
            </a:r>
            <a:r>
              <a:rPr lang="en-US" sz="1000" dirty="0">
                <a:solidFill>
                  <a:srgbClr val="3C5790"/>
                </a:solidFill>
              </a:rPr>
              <a:t> - Creates a new task with trackable implementation steps</a:t>
            </a:r>
          </a:p>
          <a:p>
            <a:endParaRPr lang="en-US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591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3622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Checkpoints</a:t>
            </a:r>
            <a:r>
              <a:rPr lang="en-US" sz="1400" dirty="0">
                <a:solidFill>
                  <a:srgbClr val="3C5790"/>
                </a:solidFill>
              </a:rPr>
              <a:t> is one of Cline's most valuable features because it lets developers </a:t>
            </a:r>
            <a:r>
              <a:rPr lang="en-US" sz="1400" b="1" dirty="0">
                <a:solidFill>
                  <a:srgbClr val="3C5790"/>
                </a:solidFill>
              </a:rPr>
              <a:t>experiment without fear</a:t>
            </a:r>
            <a:r>
              <a:rPr lang="en-US" sz="1400" dirty="0">
                <a:solidFill>
                  <a:srgbClr val="3C5790"/>
                </a:solidFill>
              </a:rPr>
              <a:t>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It automatically saves snapshots of the project after each action, making it easy to compare changes or roll back to a previous state without affecting the project's Git history.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Key Features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Automatic snapshots after every action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Compare changes using visual diffs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Restore previous states in one click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Separate from Git (does not modify your commits or branches)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Persist across editor sessions </a:t>
            </a:r>
            <a:endParaRPr lang="fr-CA" sz="1400" dirty="0">
              <a:solidFill>
                <a:srgbClr val="3C5790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3994F72-E533-47A9-8849-C9ABFBBC7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771736"/>
              </p:ext>
            </p:extLst>
          </p:nvPr>
        </p:nvGraphicFramePr>
        <p:xfrm>
          <a:off x="609600" y="4800600"/>
          <a:ext cx="792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5881638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059546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Restore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52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Restore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Undo code changes while keeping the conversation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13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Restore Task Only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Keep the code, but revert the conversation to an earlier point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259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Restore Files &amp; Task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Restore both the code and the conversation to a previous checkpoint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71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836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4290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Subagents</a:t>
            </a:r>
            <a:r>
              <a:rPr lang="en-US" sz="1400" dirty="0">
                <a:solidFill>
                  <a:srgbClr val="3C5790"/>
                </a:solidFill>
              </a:rPr>
              <a:t> is one of Cline's advanced productivity features.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The main idea is that instead of one AI agent doing all the work sequentially, Cline can launch multiple specialized, read-only research agents in parallel, each investigating a different part of the codebase.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The main agent then combines their findings into a single response. This speeds up analysis while keeping the main conversation's context clean.</a:t>
            </a:r>
          </a:p>
          <a:p>
            <a:r>
              <a:rPr lang="fr-CA" sz="1400" b="1" dirty="0">
                <a:solidFill>
                  <a:srgbClr val="3C5790"/>
                </a:solidFill>
              </a:rPr>
              <a:t>Key </a:t>
            </a:r>
            <a:r>
              <a:rPr lang="fr-CA" sz="1400" b="1" dirty="0" err="1">
                <a:solidFill>
                  <a:srgbClr val="3C5790"/>
                </a:solidFill>
              </a:rPr>
              <a:t>Capabilities</a:t>
            </a:r>
            <a:endParaRPr lang="fr-CA" sz="1400" b="1" dirty="0">
              <a:solidFill>
                <a:srgbClr val="3C5790"/>
              </a:solidFill>
            </a:endParaRPr>
          </a:p>
          <a:p>
            <a:pPr lvl="1"/>
            <a:r>
              <a:rPr lang="fr-CA" sz="1000" dirty="0" err="1">
                <a:solidFill>
                  <a:srgbClr val="3C5790"/>
                </a:solidFill>
              </a:rPr>
              <a:t>Parallel</a:t>
            </a:r>
            <a:r>
              <a:rPr lang="fr-CA" sz="1000" dirty="0">
                <a:solidFill>
                  <a:srgbClr val="3C5790"/>
                </a:solidFill>
              </a:rPr>
              <a:t> codebase </a:t>
            </a:r>
            <a:r>
              <a:rPr lang="fr-CA" sz="1000" dirty="0" err="1">
                <a:solidFill>
                  <a:srgbClr val="3C5790"/>
                </a:solidFill>
              </a:rPr>
              <a:t>analysis</a:t>
            </a:r>
            <a:endParaRPr lang="fr-CA" sz="1000" dirty="0">
              <a:solidFill>
                <a:srgbClr val="3C5790"/>
              </a:solidFill>
            </a:endParaRPr>
          </a:p>
          <a:p>
            <a:pPr lvl="1"/>
            <a:r>
              <a:rPr lang="fr-CA" sz="1000" dirty="0" err="1">
                <a:solidFill>
                  <a:srgbClr val="3C5790"/>
                </a:solidFill>
              </a:rPr>
              <a:t>Search</a:t>
            </a:r>
            <a:r>
              <a:rPr lang="fr-CA" sz="1000" dirty="0">
                <a:solidFill>
                  <a:srgbClr val="3C5790"/>
                </a:solidFill>
              </a:rPr>
              <a:t> </a:t>
            </a:r>
            <a:r>
              <a:rPr lang="fr-CA" sz="1000" dirty="0" err="1">
                <a:solidFill>
                  <a:srgbClr val="3C5790"/>
                </a:solidFill>
              </a:rPr>
              <a:t>different</a:t>
            </a:r>
            <a:r>
              <a:rPr lang="fr-CA" sz="1000" dirty="0">
                <a:solidFill>
                  <a:srgbClr val="3C5790"/>
                </a:solidFill>
              </a:rPr>
              <a:t> folders </a:t>
            </a:r>
            <a:r>
              <a:rPr lang="fr-CA" sz="1000" dirty="0" err="1">
                <a:solidFill>
                  <a:srgbClr val="3C5790"/>
                </a:solidFill>
              </a:rPr>
              <a:t>simultaneously</a:t>
            </a:r>
            <a:endParaRPr lang="fr-CA" sz="1000" dirty="0">
              <a:solidFill>
                <a:srgbClr val="3C5790"/>
              </a:solidFill>
            </a:endParaRPr>
          </a:p>
          <a:p>
            <a:pPr lvl="1"/>
            <a:r>
              <a:rPr lang="fr-CA" sz="1000" dirty="0" err="1">
                <a:solidFill>
                  <a:srgbClr val="3C5790"/>
                </a:solidFill>
              </a:rPr>
              <a:t>Investigate</a:t>
            </a:r>
            <a:r>
              <a:rPr lang="fr-CA" sz="1000" dirty="0">
                <a:solidFill>
                  <a:srgbClr val="3C5790"/>
                </a:solidFill>
              </a:rPr>
              <a:t> multiple </a:t>
            </a:r>
            <a:r>
              <a:rPr lang="fr-CA" sz="1000" dirty="0" err="1">
                <a:solidFill>
                  <a:srgbClr val="3C5790"/>
                </a:solidFill>
              </a:rPr>
              <a:t>features</a:t>
            </a:r>
            <a:r>
              <a:rPr lang="fr-CA" sz="1000" dirty="0">
                <a:solidFill>
                  <a:srgbClr val="3C5790"/>
                </a:solidFill>
              </a:rPr>
              <a:t> </a:t>
            </a:r>
            <a:r>
              <a:rPr lang="fr-CA" sz="1000" dirty="0" err="1">
                <a:solidFill>
                  <a:srgbClr val="3C5790"/>
                </a:solidFill>
              </a:rPr>
              <a:t>independently</a:t>
            </a:r>
            <a:endParaRPr lang="fr-CA" sz="1000" dirty="0">
              <a:solidFill>
                <a:srgbClr val="3C5790"/>
              </a:solidFill>
            </a:endParaRPr>
          </a:p>
          <a:p>
            <a:pPr lvl="1"/>
            <a:r>
              <a:rPr lang="fr-CA" sz="1000" dirty="0" err="1">
                <a:solidFill>
                  <a:srgbClr val="3C5790"/>
                </a:solidFill>
              </a:rPr>
              <a:t>Separate</a:t>
            </a:r>
            <a:r>
              <a:rPr lang="fr-CA" sz="1000" dirty="0">
                <a:solidFill>
                  <a:srgbClr val="3C5790"/>
                </a:solidFill>
              </a:rPr>
              <a:t> </a:t>
            </a:r>
            <a:r>
              <a:rPr lang="fr-CA" sz="1000" dirty="0" err="1">
                <a:solidFill>
                  <a:srgbClr val="3C5790"/>
                </a:solidFill>
              </a:rPr>
              <a:t>context</a:t>
            </a:r>
            <a:r>
              <a:rPr lang="fr-CA" sz="1000" dirty="0">
                <a:solidFill>
                  <a:srgbClr val="3C5790"/>
                </a:solidFill>
              </a:rPr>
              <a:t> for </a:t>
            </a:r>
            <a:r>
              <a:rPr lang="fr-CA" sz="1000" dirty="0" err="1">
                <a:solidFill>
                  <a:srgbClr val="3C5790"/>
                </a:solidFill>
              </a:rPr>
              <a:t>each</a:t>
            </a:r>
            <a:r>
              <a:rPr lang="fr-CA" sz="1000" dirty="0">
                <a:solidFill>
                  <a:srgbClr val="3C5790"/>
                </a:solidFill>
              </a:rPr>
              <a:t> </a:t>
            </a:r>
            <a:r>
              <a:rPr lang="fr-CA" sz="1000" dirty="0" err="1">
                <a:solidFill>
                  <a:srgbClr val="3C5790"/>
                </a:solidFill>
              </a:rPr>
              <a:t>subagent</a:t>
            </a:r>
            <a:r>
              <a:rPr lang="fr-CA" sz="1000" dirty="0">
                <a:solidFill>
                  <a:srgbClr val="3C5790"/>
                </a:solidFill>
              </a:rPr>
              <a:t> (</a:t>
            </a:r>
            <a:r>
              <a:rPr lang="fr-CA" sz="1000" dirty="0" err="1">
                <a:solidFill>
                  <a:srgbClr val="3C5790"/>
                </a:solidFill>
              </a:rPr>
              <a:t>prevents</a:t>
            </a:r>
            <a:r>
              <a:rPr lang="fr-CA" sz="1000" dirty="0">
                <a:solidFill>
                  <a:srgbClr val="3C5790"/>
                </a:solidFill>
              </a:rPr>
              <a:t> </a:t>
            </a:r>
            <a:r>
              <a:rPr lang="fr-CA" sz="1000" dirty="0" err="1">
                <a:solidFill>
                  <a:srgbClr val="3C5790"/>
                </a:solidFill>
              </a:rPr>
              <a:t>context</a:t>
            </a:r>
            <a:r>
              <a:rPr lang="fr-CA" sz="1000" dirty="0">
                <a:solidFill>
                  <a:srgbClr val="3C5790"/>
                </a:solidFill>
              </a:rPr>
              <a:t> </a:t>
            </a:r>
            <a:r>
              <a:rPr lang="fr-CA" sz="1000" dirty="0" err="1">
                <a:solidFill>
                  <a:srgbClr val="3C5790"/>
                </a:solidFill>
              </a:rPr>
              <a:t>overload</a:t>
            </a:r>
            <a:r>
              <a:rPr lang="fr-CA" sz="1000" dirty="0">
                <a:solidFill>
                  <a:srgbClr val="3C5790"/>
                </a:solidFill>
              </a:rPr>
              <a:t>)</a:t>
            </a:r>
          </a:p>
          <a:p>
            <a:pPr lvl="1"/>
            <a:r>
              <a:rPr lang="fr-CA" sz="1000" dirty="0">
                <a:solidFill>
                  <a:srgbClr val="3C5790"/>
                </a:solidFill>
              </a:rPr>
              <a:t>Return concise </a:t>
            </a:r>
            <a:r>
              <a:rPr lang="fr-CA" sz="1000" dirty="0" err="1">
                <a:solidFill>
                  <a:srgbClr val="3C5790"/>
                </a:solidFill>
              </a:rPr>
              <a:t>summaries</a:t>
            </a:r>
            <a:r>
              <a:rPr lang="fr-CA" sz="1000" dirty="0">
                <a:solidFill>
                  <a:srgbClr val="3C5790"/>
                </a:solidFill>
              </a:rPr>
              <a:t> to the main agent</a:t>
            </a:r>
          </a:p>
          <a:p>
            <a:pPr lvl="1"/>
            <a:r>
              <a:rPr lang="fr-CA" sz="1000" dirty="0" err="1">
                <a:solidFill>
                  <a:srgbClr val="3C5790"/>
                </a:solidFill>
              </a:rPr>
              <a:t>Faster</a:t>
            </a:r>
            <a:r>
              <a:rPr lang="fr-CA" sz="1000" dirty="0">
                <a:solidFill>
                  <a:srgbClr val="3C5790"/>
                </a:solidFill>
              </a:rPr>
              <a:t> </a:t>
            </a:r>
            <a:r>
              <a:rPr lang="fr-CA" sz="1000" dirty="0" err="1">
                <a:solidFill>
                  <a:srgbClr val="3C5790"/>
                </a:solidFill>
              </a:rPr>
              <a:t>understanding</a:t>
            </a:r>
            <a:r>
              <a:rPr lang="fr-CA" sz="1000" dirty="0">
                <a:solidFill>
                  <a:srgbClr val="3C5790"/>
                </a:solidFill>
              </a:rPr>
              <a:t> of large </a:t>
            </a:r>
            <a:r>
              <a:rPr lang="fr-CA" sz="1000" dirty="0" err="1">
                <a:solidFill>
                  <a:srgbClr val="3C5790"/>
                </a:solidFill>
              </a:rPr>
              <a:t>projects</a:t>
            </a:r>
            <a:endParaRPr lang="en-US" sz="1000" dirty="0">
              <a:solidFill>
                <a:srgbClr val="3C5790"/>
              </a:solidFill>
            </a:endParaRPr>
          </a:p>
          <a:p>
            <a:r>
              <a:rPr lang="en-US" sz="1400" b="1" dirty="0">
                <a:solidFill>
                  <a:srgbClr val="3C5790"/>
                </a:solidFill>
              </a:rPr>
              <a:t>Note</a:t>
            </a:r>
            <a:r>
              <a:rPr lang="en-US" sz="1400" dirty="0">
                <a:solidFill>
                  <a:srgbClr val="3C5790"/>
                </a:solidFill>
              </a:rPr>
              <a:t>: Subagents are </a:t>
            </a:r>
            <a:r>
              <a:rPr lang="en-US" sz="1400" b="1" dirty="0">
                <a:solidFill>
                  <a:srgbClr val="3C5790"/>
                </a:solidFill>
              </a:rPr>
              <a:t>read-only</a:t>
            </a:r>
            <a:r>
              <a:rPr lang="en-US" sz="1400" dirty="0">
                <a:solidFill>
                  <a:srgbClr val="3C5790"/>
                </a:solidFill>
              </a:rPr>
              <a:t>. They can inspect files and run read-only commands, but they cannot edit files, use MCP servers, browse the web, or create additional subagents. 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902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3434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Cline supports both </a:t>
            </a:r>
            <a:r>
              <a:rPr lang="en-US" sz="1400" b="1" dirty="0">
                <a:solidFill>
                  <a:srgbClr val="3C5790"/>
                </a:solidFill>
              </a:rPr>
              <a:t>global</a:t>
            </a:r>
            <a:r>
              <a:rPr lang="en-US" sz="1400" dirty="0">
                <a:solidFill>
                  <a:srgbClr val="3C5790"/>
                </a:solidFill>
              </a:rPr>
              <a:t> and </a:t>
            </a:r>
            <a:r>
              <a:rPr lang="en-US" sz="1400" b="1" dirty="0">
                <a:solidFill>
                  <a:srgbClr val="3C5790"/>
                </a:solidFill>
              </a:rPr>
              <a:t>project-level configuration</a:t>
            </a:r>
            <a:r>
              <a:rPr lang="en-US" sz="1400" dirty="0">
                <a:solidFill>
                  <a:srgbClr val="3C5790"/>
                </a:solidFill>
              </a:rPr>
              <a:t>, allowing developers to customize its behavior across all projects or define team-specific settings that are shared with a repository.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Cline configuration lives in two scopes: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Global configuration in </a:t>
            </a:r>
            <a:r>
              <a:rPr lang="en-US" sz="1400" b="1" dirty="0">
                <a:solidFill>
                  <a:srgbClr val="3C5790"/>
                </a:solidFill>
              </a:rPr>
              <a:t>~/.cline/</a:t>
            </a:r>
            <a:r>
              <a:rPr lang="en-US" sz="1400" dirty="0">
                <a:solidFill>
                  <a:srgbClr val="3C5790"/>
                </a:solidFill>
              </a:rPr>
              <a:t> (applies globally across all Cline applications, including IDE, CLI, and SDK).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Project configuration in </a:t>
            </a:r>
            <a:r>
              <a:rPr lang="en-US" sz="1400" b="1" dirty="0">
                <a:solidFill>
                  <a:srgbClr val="3C5790"/>
                </a:solidFill>
              </a:rPr>
              <a:t>.cline/</a:t>
            </a:r>
            <a:r>
              <a:rPr lang="en-US" sz="1400" dirty="0">
                <a:solidFill>
                  <a:srgbClr val="3C5790"/>
                </a:solidFill>
              </a:rPr>
              <a:t> (applies only to the current workspace).</a:t>
            </a:r>
          </a:p>
        </p:txBody>
      </p:sp>
    </p:spTree>
    <p:extLst>
      <p:ext uri="{BB962C8B-B14F-4D97-AF65-F5344CB8AC3E}">
        <p14:creationId xmlns:p14="http://schemas.microsoft.com/office/powerpoint/2010/main" val="3501082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1981200"/>
            <a:ext cx="8686800" cy="47244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The primary root is ~/.cline/, with structured app state under ~/.cline/data/:</a:t>
            </a:r>
          </a:p>
          <a:p>
            <a:r>
              <a:rPr lang="en-US" sz="1400" dirty="0">
                <a:solidFill>
                  <a:srgbClr val="3C5790"/>
                </a:solidFill>
              </a:rPr>
              <a:t>~/.cline/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data/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settings/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  </a:t>
            </a:r>
            <a:r>
              <a:rPr lang="en-US" sz="1400" dirty="0" err="1">
                <a:solidFill>
                  <a:srgbClr val="3C5790"/>
                </a:solidFill>
              </a:rPr>
              <a:t>providers.json</a:t>
            </a:r>
            <a:r>
              <a:rPr lang="en-US" sz="1400" dirty="0">
                <a:solidFill>
                  <a:srgbClr val="3C5790"/>
                </a:solidFill>
              </a:rPr>
              <a:t>           # API keys and provider configuration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  global-</a:t>
            </a:r>
            <a:r>
              <a:rPr lang="en-US" sz="1400" dirty="0" err="1">
                <a:solidFill>
                  <a:srgbClr val="3C5790"/>
                </a:solidFill>
              </a:rPr>
              <a:t>settings.json</a:t>
            </a:r>
            <a:r>
              <a:rPr lang="en-US" sz="1400" dirty="0">
                <a:solidFill>
                  <a:srgbClr val="3C5790"/>
                </a:solidFill>
              </a:rPr>
              <a:t>     # Global settings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  </a:t>
            </a:r>
            <a:r>
              <a:rPr lang="en-US" sz="1400" dirty="0" err="1">
                <a:solidFill>
                  <a:srgbClr val="3C5790"/>
                </a:solidFill>
              </a:rPr>
              <a:t>cline_mcp_settings.json</a:t>
            </a:r>
            <a:r>
              <a:rPr lang="en-US" sz="1400" dirty="0">
                <a:solidFill>
                  <a:srgbClr val="3C5790"/>
                </a:solidFill>
              </a:rPr>
              <a:t>  # MCP settings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teams/                     # Team state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sessions/                  # Session data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</a:t>
            </a:r>
            <a:r>
              <a:rPr lang="en-US" sz="1400" dirty="0" err="1">
                <a:solidFill>
                  <a:srgbClr val="3C5790"/>
                </a:solidFill>
              </a:rPr>
              <a:t>db</a:t>
            </a:r>
            <a:r>
              <a:rPr lang="en-US" sz="1400" dirty="0">
                <a:solidFill>
                  <a:srgbClr val="3C5790"/>
                </a:solidFill>
              </a:rPr>
              <a:t>/                        # SQLite databases (for example </a:t>
            </a:r>
            <a:r>
              <a:rPr lang="en-US" sz="1400" dirty="0" err="1">
                <a:solidFill>
                  <a:srgbClr val="3C5790"/>
                </a:solidFill>
              </a:rPr>
              <a:t>cron.db</a:t>
            </a:r>
            <a:r>
              <a:rPr lang="en-US" sz="1400" dirty="0">
                <a:solidFill>
                  <a:srgbClr val="3C5790"/>
                </a:solidFill>
              </a:rPr>
              <a:t>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workflows/                 # Global workflows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rules/                       # Global rules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hooks/                       # Global hooks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skills/                      # Global skills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agents/                      # Global agent definitions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plugins/                     # Global plugins (.</a:t>
            </a:r>
            <a:r>
              <a:rPr lang="en-US" sz="1400" dirty="0" err="1">
                <a:solidFill>
                  <a:srgbClr val="3C5790"/>
                </a:solidFill>
              </a:rPr>
              <a:t>js</a:t>
            </a:r>
            <a:r>
              <a:rPr lang="en-US" sz="1400" dirty="0">
                <a:solidFill>
                  <a:srgbClr val="3C5790"/>
                </a:solidFill>
              </a:rPr>
              <a:t>, .</a:t>
            </a:r>
            <a:r>
              <a:rPr lang="en-US" sz="1400" dirty="0" err="1">
                <a:solidFill>
                  <a:srgbClr val="3C5790"/>
                </a:solidFill>
              </a:rPr>
              <a:t>ts</a:t>
            </a:r>
            <a:r>
              <a:rPr lang="en-US" sz="1400" dirty="0">
                <a:solidFill>
                  <a:srgbClr val="3C5790"/>
                </a:solidFill>
              </a:rPr>
              <a:t>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</a:t>
            </a:r>
            <a:r>
              <a:rPr lang="en-US" sz="1400" dirty="0" err="1">
                <a:solidFill>
                  <a:srgbClr val="3C5790"/>
                </a:solidFill>
              </a:rPr>
              <a:t>cron</a:t>
            </a:r>
            <a:r>
              <a:rPr lang="en-US" sz="1400" dirty="0">
                <a:solidFill>
                  <a:srgbClr val="3C5790"/>
                </a:solidFill>
              </a:rPr>
              <a:t>/                        # Global </a:t>
            </a:r>
            <a:r>
              <a:rPr lang="en-US" sz="1400" dirty="0" err="1">
                <a:solidFill>
                  <a:srgbClr val="3C5790"/>
                </a:solidFill>
              </a:rPr>
              <a:t>cron</a:t>
            </a:r>
            <a:r>
              <a:rPr lang="en-US" sz="1400" dirty="0">
                <a:solidFill>
                  <a:srgbClr val="3C5790"/>
                </a:solidFill>
              </a:rPr>
              <a:t> specs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35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1981200"/>
            <a:ext cx="8686800" cy="47244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Project-level configuration lives in .cline/ at your repository root:</a:t>
            </a:r>
          </a:p>
          <a:p>
            <a:r>
              <a:rPr lang="en-US" sz="1400" dirty="0">
                <a:solidFill>
                  <a:srgbClr val="3C5790"/>
                </a:solidFill>
              </a:rPr>
              <a:t>.cline/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rules/                       # Project rules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skills/                      # Project skills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hooks/                       # Lifecycle hooks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agents/                      # Project agent definitions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plugins/                     # Project plugins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</a:t>
            </a:r>
            <a:r>
              <a:rPr lang="en-US" sz="1400" dirty="0" err="1">
                <a:solidFill>
                  <a:srgbClr val="3C5790"/>
                </a:solidFill>
              </a:rPr>
              <a:t>cron</a:t>
            </a:r>
            <a:r>
              <a:rPr lang="en-US" sz="1400" dirty="0">
                <a:solidFill>
                  <a:srgbClr val="3C5790"/>
                </a:solidFill>
              </a:rPr>
              <a:t>/                        # Workspace </a:t>
            </a:r>
            <a:r>
              <a:rPr lang="en-US" sz="1400" dirty="0" err="1">
                <a:solidFill>
                  <a:srgbClr val="3C5790"/>
                </a:solidFill>
              </a:rPr>
              <a:t>cron</a:t>
            </a:r>
            <a:r>
              <a:rPr lang="en-US" sz="1400" dirty="0">
                <a:solidFill>
                  <a:srgbClr val="3C5790"/>
                </a:solidFill>
              </a:rPr>
              <a:t> specs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995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1981200"/>
            <a:ext cx="8686800" cy="4572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Environment Variables</a:t>
            </a:r>
          </a:p>
          <a:p>
            <a:endParaRPr lang="fr-CA" sz="1400" dirty="0">
              <a:solidFill>
                <a:srgbClr val="3C5790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75520B2-8A1E-44D0-B290-3F227E171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524118"/>
              </p:ext>
            </p:extLst>
          </p:nvPr>
        </p:nvGraphicFramePr>
        <p:xfrm>
          <a:off x="457200" y="2514600"/>
          <a:ext cx="83058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62936585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489005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765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CLINE_DATA_DIR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 data directory (replaces ~/.cline/data/)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0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CLINE_HUB_ADDRESS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Override hub address (default: 127.0.0.1:25463)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53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CLINE_SESSION_BACKEND_MODE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Force backend mode (local, hub, remote, auto)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90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CLINE_SANDBOX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Enable sandbox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31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CLINE_SANDBOX_DATA_DIR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Sandbox session storage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1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CLINE_HOOKS_DIR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Additional hooks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77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CLINE_COMMAND_PERMISSIONS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JSON policy restricting shell commands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416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9224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1910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Pros</a:t>
            </a:r>
            <a:r>
              <a:rPr lang="en-US" sz="1400" dirty="0">
                <a:solidFill>
                  <a:srgbClr val="3C5790"/>
                </a:solidFill>
              </a:rPr>
              <a:t>: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Open-source – Transparent and community-driven.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Works with multiple AI models – Supports </a:t>
            </a:r>
            <a:r>
              <a:rPr lang="en-US" sz="1000" dirty="0" err="1">
                <a:solidFill>
                  <a:srgbClr val="3C5790"/>
                </a:solidFill>
              </a:rPr>
              <a:t>OpenAI</a:t>
            </a:r>
            <a:r>
              <a:rPr lang="en-US" sz="1000" dirty="0">
                <a:solidFill>
                  <a:srgbClr val="3C5790"/>
                </a:solidFill>
              </a:rPr>
              <a:t>, Anthropic, Google, </a:t>
            </a:r>
            <a:r>
              <a:rPr lang="en-US" sz="1000" dirty="0" err="1">
                <a:solidFill>
                  <a:srgbClr val="3C5790"/>
                </a:solidFill>
              </a:rPr>
              <a:t>OpenRouter</a:t>
            </a:r>
            <a:r>
              <a:rPr lang="en-US" sz="1000" dirty="0">
                <a:solidFill>
                  <a:srgbClr val="3C5790"/>
                </a:solidFill>
              </a:rPr>
              <a:t>, </a:t>
            </a:r>
            <a:r>
              <a:rPr lang="en-US" sz="1000" dirty="0" err="1">
                <a:solidFill>
                  <a:srgbClr val="3C5790"/>
                </a:solidFill>
              </a:rPr>
              <a:t>Ollama</a:t>
            </a:r>
            <a:r>
              <a:rPr lang="en-US" sz="1000" dirty="0">
                <a:solidFill>
                  <a:srgbClr val="3C5790"/>
                </a:solidFill>
              </a:rPr>
              <a:t>, etc.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Project-wide understanding – Analyzes entire codebases, not just the current file.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Automates development tasks – Coding, debugging, refactoring, testing, and documentation.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Terminal integration – Can run builds, tests, and install dependencies.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Extensible via MCP – Connects to databases, APIs, GitHub, browsers, and other tools.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User approval for actions – Reduces the risk of unintended changes.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Improves developer productivity – Handles repetitive and time-consuming tasks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Cons</a:t>
            </a:r>
            <a:r>
              <a:rPr lang="en-US" sz="1400" dirty="0">
                <a:solidFill>
                  <a:srgbClr val="3C5790"/>
                </a:solidFill>
              </a:rPr>
              <a:t>: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AI output isn't always correct – Generated code requires review and testing.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Can consume many tokens – Large projects may increase API usage and costs.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Performance depends on the AI model – Better models typically provide better results.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Learning curve – Advanced features like MCP require setup and configuration.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May struggle with very large codebases – Context window limitations can affect understanding.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Needs internet access for most cloud models – Unless using a local model.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Approval steps can slow workflows – Safety confirmations may interrupt rapid iteration.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Not a replacement for developers – Human oversight is still necessary for architecture, security, and critical decisions.</a:t>
            </a:r>
          </a:p>
        </p:txBody>
      </p:sp>
    </p:spTree>
    <p:extLst>
      <p:ext uri="{BB962C8B-B14F-4D97-AF65-F5344CB8AC3E}">
        <p14:creationId xmlns:p14="http://schemas.microsoft.com/office/powerpoint/2010/main" val="2422268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4000" dirty="0" err="1">
                <a:solidFill>
                  <a:schemeClr val="bg1">
                    <a:lumMod val="95000"/>
                  </a:schemeClr>
                </a:solidFill>
              </a:rPr>
              <a:t>Bibliography</a:t>
            </a:r>
            <a:endParaRPr lang="fr-CA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123" name="Espace réservé du contenu 4"/>
          <p:cNvSpPr>
            <a:spLocks noGrp="1"/>
          </p:cNvSpPr>
          <p:nvPr>
            <p:ph idx="1"/>
          </p:nvPr>
        </p:nvSpPr>
        <p:spPr>
          <a:xfrm>
            <a:off x="457200" y="1676400"/>
            <a:ext cx="8458200" cy="4876800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https://github.com/cline/cline</a:t>
            </a:r>
          </a:p>
          <a:p>
            <a:r>
              <a:rPr lang="en-US" sz="1600" dirty="0">
                <a:solidFill>
                  <a:schemeClr val="bg1"/>
                </a:solidFill>
              </a:rPr>
              <a:t>https://cline</a:t>
            </a:r>
            <a:r>
              <a:rPr lang="en-US" sz="1600">
                <a:solidFill>
                  <a:schemeClr val="bg1"/>
                </a:solidFill>
              </a:rPr>
              <a:t>.bot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4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143</Template>
  <TotalTime>18803</TotalTime>
  <Words>1936</Words>
  <Application>Microsoft Office PowerPoint</Application>
  <PresentationFormat>On-screen Show (4:3)</PresentationFormat>
  <Paragraphs>285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143</vt:lpstr>
      <vt:lpstr>Cline</vt:lpstr>
      <vt:lpstr>Contents</vt:lpstr>
      <vt:lpstr>What is Cline?</vt:lpstr>
      <vt:lpstr>Features</vt:lpstr>
      <vt:lpstr>Features (cont.)</vt:lpstr>
      <vt:lpstr>Goals</vt:lpstr>
      <vt:lpstr>Arhitecture</vt:lpstr>
      <vt:lpstr>Arhitecture (cont.)</vt:lpstr>
      <vt:lpstr>Arhitecture (cont.)</vt:lpstr>
      <vt:lpstr>Core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Conclusion</vt:lpstr>
      <vt:lpstr>Bibliography</vt:lpstr>
    </vt:vector>
  </TitlesOfParts>
  <Company>Computaris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NAME</dc:title>
  <dc:creator>Ionut Dima</dc:creator>
  <cp:lastModifiedBy>1 2</cp:lastModifiedBy>
  <cp:revision>1103</cp:revision>
  <dcterms:created xsi:type="dcterms:W3CDTF">2012-04-12T06:19:17Z</dcterms:created>
  <dcterms:modified xsi:type="dcterms:W3CDTF">2026-07-20T07:31:08Z</dcterms:modified>
</cp:coreProperties>
</file>