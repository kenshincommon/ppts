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506" r:id="rId5"/>
    <p:sldId id="509" r:id="rId6"/>
    <p:sldId id="390" r:id="rId7"/>
    <p:sldId id="507" r:id="rId8"/>
    <p:sldId id="508" r:id="rId9"/>
    <p:sldId id="448" r:id="rId10"/>
    <p:sldId id="510" r:id="rId11"/>
    <p:sldId id="480" r:id="rId12"/>
    <p:sldId id="518" r:id="rId13"/>
    <p:sldId id="519" r:id="rId14"/>
    <p:sldId id="449" r:id="rId15"/>
    <p:sldId id="436" r:id="rId16"/>
    <p:sldId id="521" r:id="rId17"/>
    <p:sldId id="522" r:id="rId18"/>
    <p:sldId id="523" r:id="rId19"/>
    <p:sldId id="524" r:id="rId20"/>
    <p:sldId id="520" r:id="rId21"/>
    <p:sldId id="511" r:id="rId22"/>
    <p:sldId id="512" r:id="rId23"/>
    <p:sldId id="517" r:id="rId24"/>
    <p:sldId id="513" r:id="rId25"/>
    <p:sldId id="525" r:id="rId26"/>
    <p:sldId id="526" r:id="rId27"/>
    <p:sldId id="446" r:id="rId28"/>
    <p:sldId id="259" r:id="rId29"/>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57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91" autoAdjust="0"/>
    <p:restoredTop sz="91768" autoAdjust="0"/>
  </p:normalViewPr>
  <p:slideViewPr>
    <p:cSldViewPr>
      <p:cViewPr varScale="1">
        <p:scale>
          <a:sx n="114" d="100"/>
          <a:sy n="114" d="100"/>
        </p:scale>
        <p:origin x="136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a:t>Click to edit Master title style</a:t>
            </a:r>
            <a:endParaRPr lang="fr-CA"/>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fr-CA"/>
          </a:p>
        </p:txBody>
      </p:sp>
      <p:sp>
        <p:nvSpPr>
          <p:cNvPr id="4" name="Espace réservé de la date 3"/>
          <p:cNvSpPr>
            <a:spLocks noGrp="1"/>
          </p:cNvSpPr>
          <p:nvPr>
            <p:ph type="dt" sz="half" idx="10"/>
          </p:nvPr>
        </p:nvSpPr>
        <p:spPr/>
        <p:txBody>
          <a:bodyPr/>
          <a:lstStyle>
            <a:lvl1pPr>
              <a:defRPr/>
            </a:lvl1pPr>
          </a:lstStyle>
          <a:p>
            <a:pPr>
              <a:defRPr/>
            </a:pPr>
            <a:fld id="{22807098-A8DF-4714-B43F-DC882CB72C38}" type="datetimeFigureOut">
              <a:rPr lang="fr-FR"/>
              <a:pPr>
                <a:defRPr/>
              </a:pPr>
              <a:t>18/05/2026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4CF57D0A-305D-4A35-A608-B814A0BEDBC9}" type="slidenum">
              <a:rPr lang="fr-CA"/>
              <a:pPr>
                <a:defRPr/>
              </a:pPr>
              <a:t>‹#›</a:t>
            </a:fld>
            <a:endParaRPr lang="fr-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C580763A-51CB-4C09-97C6-6FDA1E354680}" type="datetimeFigureOut">
              <a:rPr lang="fr-FR"/>
              <a:pPr>
                <a:defRPr/>
              </a:pPr>
              <a:t>18/05/2026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F192BCFE-7F07-4DEB-84D0-B6E069D09AB4}" type="slidenum">
              <a:rPr lang="fr-CA"/>
              <a:pPr>
                <a:defRPr/>
              </a:pPr>
              <a:t>‹#›</a:t>
            </a:fld>
            <a:endParaRPr lang="fr-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fr-CA"/>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64034F85-C7AC-44D9-8041-DCE5F1910771}" type="datetimeFigureOut">
              <a:rPr lang="fr-FR"/>
              <a:pPr>
                <a:defRPr/>
              </a:pPr>
              <a:t>18/05/2026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B539C1E6-5858-412D-B164-0E5729C1B013}" type="slidenum">
              <a:rPr lang="fr-CA"/>
              <a:pPr>
                <a:defRPr/>
              </a:pPr>
              <a:t>‹#›</a:t>
            </a:fld>
            <a:endParaRPr lang="fr-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e la date 3"/>
          <p:cNvSpPr>
            <a:spLocks noGrp="1"/>
          </p:cNvSpPr>
          <p:nvPr>
            <p:ph type="dt" sz="half" idx="10"/>
          </p:nvPr>
        </p:nvSpPr>
        <p:spPr/>
        <p:txBody>
          <a:bodyPr/>
          <a:lstStyle>
            <a:lvl1pPr>
              <a:defRPr/>
            </a:lvl1pPr>
          </a:lstStyle>
          <a:p>
            <a:pPr>
              <a:defRPr/>
            </a:pPr>
            <a:fld id="{5F45984F-4687-4822-B90B-D2F0C053EC34}" type="datetimeFigureOut">
              <a:rPr lang="fr-FR"/>
              <a:pPr>
                <a:defRPr/>
              </a:pPr>
              <a:t>18/05/2026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F9F1BFA6-010D-431C-B551-A9D369DB37A1}" type="slidenum">
              <a:rPr lang="fr-CA"/>
              <a:pPr>
                <a:defRPr/>
              </a:pPr>
              <a:t>‹#›</a:t>
            </a:fld>
            <a:endParaRPr lang="fr-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a:t>Click to edit Master title style</a:t>
            </a:r>
            <a:endParaRPr lang="fr-CA"/>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7" name="Espace réservé de la date 3"/>
          <p:cNvSpPr>
            <a:spLocks noGrp="1"/>
          </p:cNvSpPr>
          <p:nvPr>
            <p:ph type="dt" sz="half" idx="10"/>
          </p:nvPr>
        </p:nvSpPr>
        <p:spPr/>
        <p:txBody>
          <a:bodyPr/>
          <a:lstStyle>
            <a:lvl1pPr>
              <a:defRPr/>
            </a:lvl1pPr>
          </a:lstStyle>
          <a:p>
            <a:pPr>
              <a:defRPr/>
            </a:pPr>
            <a:fld id="{1AAEB407-0560-4B40-983D-A7D236E18EC5}" type="datetimeFigureOut">
              <a:rPr lang="fr-FR"/>
              <a:pPr>
                <a:defRPr/>
              </a:pPr>
              <a:t>18/05/2026</a:t>
            </a:fld>
            <a:endParaRPr lang="fr-CA"/>
          </a:p>
        </p:txBody>
      </p:sp>
      <p:sp>
        <p:nvSpPr>
          <p:cNvPr id="8" name="Espace réservé du pied de page 4"/>
          <p:cNvSpPr>
            <a:spLocks noGrp="1"/>
          </p:cNvSpPr>
          <p:nvPr>
            <p:ph type="ftr" sz="quarter" idx="11"/>
          </p:nvPr>
        </p:nvSpPr>
        <p:spPr/>
        <p:txBody>
          <a:bodyPr/>
          <a:lstStyle>
            <a:lvl1pPr>
              <a:defRPr/>
            </a:lvl1pPr>
          </a:lstStyle>
          <a:p>
            <a:pPr>
              <a:defRPr/>
            </a:pPr>
            <a:endParaRPr lang="fr-CA"/>
          </a:p>
        </p:txBody>
      </p:sp>
      <p:sp>
        <p:nvSpPr>
          <p:cNvPr id="9" name="Espace réservé du numéro de diapositive 5"/>
          <p:cNvSpPr>
            <a:spLocks noGrp="1"/>
          </p:cNvSpPr>
          <p:nvPr>
            <p:ph type="sldNum" sz="quarter" idx="12"/>
          </p:nvPr>
        </p:nvSpPr>
        <p:spPr/>
        <p:txBody>
          <a:bodyPr/>
          <a:lstStyle>
            <a:lvl1pPr>
              <a:defRPr/>
            </a:lvl1pPr>
          </a:lstStyle>
          <a:p>
            <a:pPr>
              <a:defRPr/>
            </a:pPr>
            <a:fld id="{E3D0B0A2-27E0-4485-9168-8AA570A8DAFC}" type="slidenum">
              <a:rPr lang="fr-CA"/>
              <a:pPr>
                <a:defRPr/>
              </a:pPr>
              <a:t>‹#›</a:t>
            </a:fld>
            <a:endParaRPr lang="fr-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e la date 3"/>
          <p:cNvSpPr>
            <a:spLocks noGrp="1"/>
          </p:cNvSpPr>
          <p:nvPr>
            <p:ph type="dt" sz="half" idx="10"/>
          </p:nvPr>
        </p:nvSpPr>
        <p:spPr/>
        <p:txBody>
          <a:bodyPr/>
          <a:lstStyle>
            <a:lvl1pPr>
              <a:defRPr/>
            </a:lvl1pPr>
          </a:lstStyle>
          <a:p>
            <a:pPr>
              <a:defRPr/>
            </a:pPr>
            <a:fld id="{31E07EA0-14F2-420C-A475-0D18AFDA93B1}" type="datetimeFigureOut">
              <a:rPr lang="fr-FR"/>
              <a:pPr>
                <a:defRPr/>
              </a:pPr>
              <a:t>18/05/2026</a:t>
            </a:fld>
            <a:endParaRPr lang="fr-CA"/>
          </a:p>
        </p:txBody>
      </p:sp>
      <p:sp>
        <p:nvSpPr>
          <p:cNvPr id="4" name="Espace réservé du pied de page 4"/>
          <p:cNvSpPr>
            <a:spLocks noGrp="1"/>
          </p:cNvSpPr>
          <p:nvPr>
            <p:ph type="ftr" sz="quarter" idx="11"/>
          </p:nvPr>
        </p:nvSpPr>
        <p:spPr/>
        <p:txBody>
          <a:bodyPr/>
          <a:lstStyle>
            <a:lvl1pPr>
              <a:defRPr/>
            </a:lvl1pPr>
          </a:lstStyle>
          <a:p>
            <a:pPr>
              <a:defRPr/>
            </a:pPr>
            <a:endParaRPr lang="fr-CA"/>
          </a:p>
        </p:txBody>
      </p:sp>
      <p:sp>
        <p:nvSpPr>
          <p:cNvPr id="5" name="Espace réservé du numéro de diapositive 5"/>
          <p:cNvSpPr>
            <a:spLocks noGrp="1"/>
          </p:cNvSpPr>
          <p:nvPr>
            <p:ph type="sldNum" sz="quarter" idx="12"/>
          </p:nvPr>
        </p:nvSpPr>
        <p:spPr/>
        <p:txBody>
          <a:bodyPr/>
          <a:lstStyle>
            <a:lvl1pPr>
              <a:defRPr/>
            </a:lvl1pPr>
          </a:lstStyle>
          <a:p>
            <a:pPr>
              <a:defRPr/>
            </a:pPr>
            <a:fld id="{F0B3AE74-2F99-4987-987A-6C3EA8F2668B}" type="slidenum">
              <a:rPr lang="fr-CA"/>
              <a:pPr>
                <a:defRPr/>
              </a:pPr>
              <a:t>‹#›</a:t>
            </a:fld>
            <a:endParaRPr lang="fr-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5DDA1DD5-A17C-48EA-9412-EA98D6409207}" type="datetimeFigureOut">
              <a:rPr lang="fr-FR"/>
              <a:pPr>
                <a:defRPr/>
              </a:pPr>
              <a:t>18/05/2026</a:t>
            </a:fld>
            <a:endParaRPr lang="fr-CA"/>
          </a:p>
        </p:txBody>
      </p:sp>
      <p:sp>
        <p:nvSpPr>
          <p:cNvPr id="3" name="Espace réservé du pied de page 4"/>
          <p:cNvSpPr>
            <a:spLocks noGrp="1"/>
          </p:cNvSpPr>
          <p:nvPr>
            <p:ph type="ftr" sz="quarter" idx="11"/>
          </p:nvPr>
        </p:nvSpPr>
        <p:spPr/>
        <p:txBody>
          <a:bodyPr/>
          <a:lstStyle>
            <a:lvl1pPr>
              <a:defRPr/>
            </a:lvl1pPr>
          </a:lstStyle>
          <a:p>
            <a:pPr>
              <a:defRPr/>
            </a:pPr>
            <a:endParaRPr lang="fr-CA"/>
          </a:p>
        </p:txBody>
      </p:sp>
      <p:sp>
        <p:nvSpPr>
          <p:cNvPr id="4" name="Espace réservé du numéro de diapositive 5"/>
          <p:cNvSpPr>
            <a:spLocks noGrp="1"/>
          </p:cNvSpPr>
          <p:nvPr>
            <p:ph type="sldNum" sz="quarter" idx="12"/>
          </p:nvPr>
        </p:nvSpPr>
        <p:spPr/>
        <p:txBody>
          <a:bodyPr/>
          <a:lstStyle>
            <a:lvl1pPr>
              <a:defRPr/>
            </a:lvl1pPr>
          </a:lstStyle>
          <a:p>
            <a:pPr>
              <a:defRPr/>
            </a:pPr>
            <a:fld id="{880E848E-D45A-49C9-AF07-E8D1D5BE3B06}" type="slidenum">
              <a:rPr lang="fr-CA"/>
              <a:pPr>
                <a:defRPr/>
              </a:pPr>
              <a:t>‹#›</a:t>
            </a:fld>
            <a:endParaRPr lang="fr-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fr-CA"/>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00002456-19D9-42BE-A6A4-31B0B2C0CD52}" type="datetimeFigureOut">
              <a:rPr lang="fr-FR"/>
              <a:pPr>
                <a:defRPr/>
              </a:pPr>
              <a:t>18/05/2026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44AFF93D-3571-4F94-83EE-E5D41E95C87B}" type="slidenum">
              <a:rPr lang="fr-CA"/>
              <a:pPr>
                <a:defRPr/>
              </a:pPr>
              <a:t>‹#›</a:t>
            </a:fld>
            <a:endParaRPr lang="fr-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fr-CA"/>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fr-CA"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1AFF835A-66CB-4758-9200-7B9C84F9639E}" type="datetimeFigureOut">
              <a:rPr lang="fr-FR"/>
              <a:pPr>
                <a:defRPr/>
              </a:pPr>
              <a:t>18/05/2026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457E2403-F942-4042-B87D-191FA9AEC4FC}" type="slidenum">
              <a:rPr lang="fr-CA"/>
              <a:pPr>
                <a:defRPr/>
              </a:pPr>
              <a:t>‹#›</a:t>
            </a:fld>
            <a:endParaRPr lang="fr-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890CA72D-36E4-4393-9507-9CBDA1AC8F50}" type="datetimeFigureOut">
              <a:rPr lang="fr-FR"/>
              <a:pPr>
                <a:defRPr/>
              </a:pPr>
              <a:t>18/05/2026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3F488108-AC2B-469D-8E1A-8A1FC91F787D}" type="slidenum">
              <a:rPr lang="fr-CA"/>
              <a:pPr>
                <a:defRPr/>
              </a:pPr>
              <a:t>‹#›</a:t>
            </a:fld>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a:t>Click to edit Master title style</a:t>
            </a:r>
            <a:endParaRPr lang="fr-CA"/>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343A0D9B-B10A-4C2F-90C1-683BF0DFEB41}" type="datetimeFigureOut">
              <a:rPr lang="fr-FR"/>
              <a:pPr>
                <a:defRPr/>
              </a:pPr>
              <a:t>18/05/2026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C044A544-6A6F-467F-AC6F-55FD44753437}" type="slidenum">
              <a:rPr lang="fr-CA"/>
              <a:pPr>
                <a:defRPr/>
              </a:pPr>
              <a:t>‹#›</a:t>
            </a:fld>
            <a:endParaRPr lang="fr-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a:t>Cliquez pour modifier le style du titre</a:t>
            </a:r>
            <a:endParaRPr lang="fr-CA"/>
          </a:p>
        </p:txBody>
      </p:sp>
      <p:sp>
        <p:nvSpPr>
          <p:cNvPr id="1027" name="Espace réservé du texte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22E20E43-3D58-4660-B8C5-0C3B8220668E}" type="datetimeFigureOut">
              <a:rPr lang="fr-FR"/>
              <a:pPr>
                <a:defRPr/>
              </a:pPr>
              <a:t>18/05/2026</a:t>
            </a:fld>
            <a:endParaRPr lang="fr-CA"/>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CA"/>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019B76BF-C9E2-4657-92CA-F0808A608D01}" type="slidenum">
              <a:rPr lang="fr-CA"/>
              <a:pPr>
                <a:defRPr/>
              </a:pPr>
              <a:t>‹#›</a:t>
            </a:fld>
            <a:endParaRPr lang="fr-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localhost:1234/"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50" name="Titre 1"/>
          <p:cNvSpPr>
            <a:spLocks noGrp="1"/>
          </p:cNvSpPr>
          <p:nvPr>
            <p:ph type="ctrTitle"/>
          </p:nvPr>
        </p:nvSpPr>
        <p:spPr>
          <a:xfrm>
            <a:off x="685800" y="3373438"/>
            <a:ext cx="7772400" cy="1012825"/>
          </a:xfrm>
        </p:spPr>
        <p:txBody>
          <a:bodyPr/>
          <a:lstStyle/>
          <a:p>
            <a:r>
              <a:rPr lang="fr-CA" sz="4000" dirty="0" err="1">
                <a:solidFill>
                  <a:schemeClr val="bg1"/>
                </a:solidFill>
              </a:rPr>
              <a:t>LMStudio</a:t>
            </a:r>
            <a:endParaRPr lang="fr-CA" sz="3800" dirty="0">
              <a:solidFill>
                <a:schemeClr val="bg1"/>
              </a:solidFill>
            </a:endParaRPr>
          </a:p>
        </p:txBody>
      </p:sp>
      <p:sp>
        <p:nvSpPr>
          <p:cNvPr id="2051" name="Sous-titre 2"/>
          <p:cNvSpPr>
            <a:spLocks noGrp="1"/>
          </p:cNvSpPr>
          <p:nvPr>
            <p:ph type="subTitle" idx="1"/>
          </p:nvPr>
        </p:nvSpPr>
        <p:spPr>
          <a:xfrm>
            <a:off x="5715000" y="6091237"/>
            <a:ext cx="3124200" cy="614363"/>
          </a:xfrm>
        </p:spPr>
        <p:txBody>
          <a:bodyPr/>
          <a:lstStyle/>
          <a:p>
            <a:r>
              <a:rPr lang="fr-CA" sz="2600" dirty="0">
                <a:solidFill>
                  <a:schemeClr val="bg1"/>
                </a:solidFill>
              </a:rPr>
              <a:t>Dima Ionut Daniel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a:xfrm>
            <a:off x="2071688" y="274638"/>
            <a:ext cx="6615112" cy="1143000"/>
          </a:xfrm>
        </p:spPr>
        <p:txBody>
          <a:bodyPr/>
          <a:lstStyle/>
          <a:p>
            <a:pPr algn="l"/>
            <a:r>
              <a:rPr lang="fr-CA" sz="4000" dirty="0">
                <a:solidFill>
                  <a:srgbClr val="3C5790"/>
                </a:solidFill>
              </a:rPr>
              <a:t>Contents</a:t>
            </a:r>
          </a:p>
        </p:txBody>
      </p:sp>
      <p:sp>
        <p:nvSpPr>
          <p:cNvPr id="3075" name="Espace réservé du contenu 2"/>
          <p:cNvSpPr>
            <a:spLocks noGrp="1"/>
          </p:cNvSpPr>
          <p:nvPr>
            <p:ph idx="1"/>
          </p:nvPr>
        </p:nvSpPr>
        <p:spPr>
          <a:xfrm>
            <a:off x="2224088" y="1600200"/>
            <a:ext cx="6615112" cy="5029200"/>
          </a:xfrm>
        </p:spPr>
        <p:txBody>
          <a:bodyPr/>
          <a:lstStyle/>
          <a:p>
            <a:r>
              <a:rPr lang="fr-CA" sz="1600" dirty="0" err="1">
                <a:solidFill>
                  <a:srgbClr val="3C5790"/>
                </a:solidFill>
              </a:rPr>
              <a:t>What</a:t>
            </a:r>
            <a:r>
              <a:rPr lang="fr-CA" sz="1600" dirty="0">
                <a:solidFill>
                  <a:srgbClr val="3C5790"/>
                </a:solidFill>
              </a:rPr>
              <a:t> </a:t>
            </a:r>
            <a:r>
              <a:rPr lang="fr-CA" sz="1600" dirty="0" err="1">
                <a:solidFill>
                  <a:srgbClr val="3C5790"/>
                </a:solidFill>
              </a:rPr>
              <a:t>is</a:t>
            </a:r>
            <a:r>
              <a:rPr lang="fr-CA" sz="1600" dirty="0">
                <a:solidFill>
                  <a:srgbClr val="3C5790"/>
                </a:solidFill>
              </a:rPr>
              <a:t> </a:t>
            </a:r>
            <a:r>
              <a:rPr lang="fr-CA" sz="1600" dirty="0" err="1">
                <a:solidFill>
                  <a:srgbClr val="3C5790"/>
                </a:solidFill>
              </a:rPr>
              <a:t>LMStudio</a:t>
            </a:r>
            <a:r>
              <a:rPr lang="fr-CA" sz="1600" dirty="0">
                <a:solidFill>
                  <a:srgbClr val="3C5790"/>
                </a:solidFill>
              </a:rPr>
              <a:t>?</a:t>
            </a:r>
          </a:p>
          <a:p>
            <a:r>
              <a:rPr lang="fr-CA" sz="1600" dirty="0" err="1">
                <a:solidFill>
                  <a:srgbClr val="3C5790"/>
                </a:solidFill>
              </a:rPr>
              <a:t>History</a:t>
            </a:r>
            <a:endParaRPr lang="fr-CA" sz="1600" dirty="0">
              <a:solidFill>
                <a:srgbClr val="3C5790"/>
              </a:solidFill>
            </a:endParaRPr>
          </a:p>
          <a:p>
            <a:r>
              <a:rPr lang="fr-CA" sz="1600" dirty="0" err="1">
                <a:solidFill>
                  <a:srgbClr val="3C5790"/>
                </a:solidFill>
              </a:rPr>
              <a:t>Features</a:t>
            </a:r>
            <a:endParaRPr lang="fr-CA" sz="1600" dirty="0">
              <a:solidFill>
                <a:srgbClr val="3C5790"/>
              </a:solidFill>
            </a:endParaRPr>
          </a:p>
          <a:p>
            <a:r>
              <a:rPr lang="fr-CA" sz="1600" dirty="0">
                <a:solidFill>
                  <a:srgbClr val="3C5790"/>
                </a:solidFill>
              </a:rPr>
              <a:t>Architecture</a:t>
            </a:r>
          </a:p>
          <a:p>
            <a:r>
              <a:rPr lang="fr-CA" sz="1600" dirty="0" err="1">
                <a:solidFill>
                  <a:srgbClr val="3C5790"/>
                </a:solidFill>
              </a:rPr>
              <a:t>Models</a:t>
            </a:r>
            <a:endParaRPr lang="fr-CA" sz="1600" dirty="0">
              <a:solidFill>
                <a:srgbClr val="3C5790"/>
              </a:solidFill>
            </a:endParaRPr>
          </a:p>
          <a:p>
            <a:r>
              <a:rPr lang="fr-CA" sz="1600" dirty="0" err="1">
                <a:solidFill>
                  <a:srgbClr val="3C5790"/>
                </a:solidFill>
              </a:rPr>
              <a:t>Core</a:t>
            </a:r>
            <a:endParaRPr lang="fr-CA" sz="1600" dirty="0">
              <a:solidFill>
                <a:srgbClr val="3C5790"/>
              </a:solidFill>
            </a:endParaRPr>
          </a:p>
          <a:p>
            <a:r>
              <a:rPr lang="en-US" sz="1600" dirty="0">
                <a:solidFill>
                  <a:srgbClr val="3C5790"/>
                </a:solidFill>
              </a:rPr>
              <a:t>Conclusion</a:t>
            </a:r>
          </a:p>
          <a:p>
            <a:r>
              <a:rPr lang="fr-CA" sz="1600" dirty="0">
                <a:solidFill>
                  <a:srgbClr val="3C5790"/>
                </a:solidFill>
              </a:rPr>
              <a:t>Bibliography</a:t>
            </a:r>
          </a:p>
          <a:p>
            <a:pPr>
              <a:buNone/>
            </a:pPr>
            <a:br>
              <a:rPr lang="fr-CA" sz="1600" dirty="0">
                <a:solidFill>
                  <a:srgbClr val="3C5790"/>
                </a:solidFill>
              </a:rPr>
            </a:br>
            <a:endParaRPr lang="fr-CA" sz="1600" dirty="0">
              <a:solidFill>
                <a:srgbClr val="3C579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What</a:t>
            </a:r>
            <a:r>
              <a:rPr lang="fr-CA" dirty="0">
                <a:solidFill>
                  <a:schemeClr val="bg1"/>
                </a:solidFill>
              </a:rPr>
              <a:t> </a:t>
            </a:r>
            <a:r>
              <a:rPr lang="fr-CA" dirty="0" err="1">
                <a:solidFill>
                  <a:schemeClr val="bg1"/>
                </a:solidFill>
              </a:rPr>
              <a:t>is</a:t>
            </a:r>
            <a:r>
              <a:rPr lang="fr-CA" dirty="0">
                <a:solidFill>
                  <a:schemeClr val="bg1"/>
                </a:solidFill>
              </a:rPr>
              <a:t> </a:t>
            </a:r>
            <a:r>
              <a:rPr lang="fr-CA" dirty="0" err="1">
                <a:solidFill>
                  <a:schemeClr val="bg1"/>
                </a:solidFill>
              </a:rPr>
              <a:t>LMStudio</a:t>
            </a:r>
            <a:r>
              <a:rPr lang="fr-CA" dirty="0">
                <a:solidFill>
                  <a:schemeClr val="bg1"/>
                </a:solidFill>
              </a:rPr>
              <a:t>?</a:t>
            </a:r>
          </a:p>
        </p:txBody>
      </p:sp>
      <p:sp>
        <p:nvSpPr>
          <p:cNvPr id="4099" name="Espace réservé du contenu 4"/>
          <p:cNvSpPr>
            <a:spLocks noGrp="1"/>
          </p:cNvSpPr>
          <p:nvPr>
            <p:ph idx="1"/>
          </p:nvPr>
        </p:nvSpPr>
        <p:spPr>
          <a:xfrm>
            <a:off x="228600" y="2133600"/>
            <a:ext cx="8686800" cy="1524000"/>
          </a:xfrm>
        </p:spPr>
        <p:txBody>
          <a:bodyPr/>
          <a:lstStyle/>
          <a:p>
            <a:r>
              <a:rPr lang="en-US" sz="1600" b="1" dirty="0">
                <a:solidFill>
                  <a:srgbClr val="3C5790"/>
                </a:solidFill>
              </a:rPr>
              <a:t>LM Studio </a:t>
            </a:r>
            <a:r>
              <a:rPr lang="en-US" sz="1600" dirty="0">
                <a:solidFill>
                  <a:srgbClr val="3C5790"/>
                </a:solidFill>
              </a:rPr>
              <a:t>is a desktop application that allows users to run and interact with large language models (LLMs) locally on their own computer.</a:t>
            </a:r>
          </a:p>
          <a:p>
            <a:r>
              <a:rPr lang="en-US" sz="1600" dirty="0">
                <a:solidFill>
                  <a:srgbClr val="3C5790"/>
                </a:solidFill>
              </a:rPr>
              <a:t>It provides a simple interface to download, manage, and chat with open-source AI models offline, while also offering developer tools like a local API server for building AI applications.</a:t>
            </a:r>
          </a:p>
        </p:txBody>
      </p:sp>
      <p:pic>
        <p:nvPicPr>
          <p:cNvPr id="6" name="Picture 5">
            <a:extLst>
              <a:ext uri="{FF2B5EF4-FFF2-40B4-BE49-F238E27FC236}">
                <a16:creationId xmlns:a16="http://schemas.microsoft.com/office/drawing/2014/main" id="{79BE9F86-8179-48F3-95BF-2FB9F3D18632}"/>
              </a:ext>
            </a:extLst>
          </p:cNvPr>
          <p:cNvPicPr>
            <a:picLocks noChangeAspect="1"/>
          </p:cNvPicPr>
          <p:nvPr/>
        </p:nvPicPr>
        <p:blipFill>
          <a:blip r:embed="rId3"/>
          <a:stretch>
            <a:fillRect/>
          </a:stretch>
        </p:blipFill>
        <p:spPr>
          <a:xfrm>
            <a:off x="3732499" y="4648200"/>
            <a:ext cx="1679002" cy="12096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History</a:t>
            </a:r>
            <a:endParaRPr lang="fr-CA" dirty="0">
              <a:solidFill>
                <a:schemeClr val="bg1"/>
              </a:solidFill>
            </a:endParaRPr>
          </a:p>
        </p:txBody>
      </p:sp>
      <p:sp>
        <p:nvSpPr>
          <p:cNvPr id="4099" name="Espace réservé du contenu 4"/>
          <p:cNvSpPr>
            <a:spLocks noGrp="1"/>
          </p:cNvSpPr>
          <p:nvPr>
            <p:ph idx="1"/>
          </p:nvPr>
        </p:nvSpPr>
        <p:spPr>
          <a:xfrm>
            <a:off x="228600" y="2133600"/>
            <a:ext cx="8686800" cy="1905000"/>
          </a:xfrm>
        </p:spPr>
        <p:txBody>
          <a:bodyPr/>
          <a:lstStyle/>
          <a:p>
            <a:r>
              <a:rPr lang="en-US" sz="1600" dirty="0">
                <a:solidFill>
                  <a:srgbClr val="3C5790"/>
                </a:solidFill>
              </a:rPr>
              <a:t>LM Studio was created in 2023 by </a:t>
            </a:r>
            <a:r>
              <a:rPr lang="en-US" sz="1600" dirty="0" err="1">
                <a:solidFill>
                  <a:srgbClr val="3C5790"/>
                </a:solidFill>
              </a:rPr>
              <a:t>Yagil</a:t>
            </a:r>
            <a:r>
              <a:rPr lang="en-US" sz="1600" dirty="0">
                <a:solidFill>
                  <a:srgbClr val="3C5790"/>
                </a:solidFill>
              </a:rPr>
              <a:t> </a:t>
            </a:r>
            <a:r>
              <a:rPr lang="en-US" sz="1600" dirty="0" err="1">
                <a:solidFill>
                  <a:srgbClr val="3C5790"/>
                </a:solidFill>
              </a:rPr>
              <a:t>Burowski</a:t>
            </a:r>
            <a:r>
              <a:rPr lang="en-US" sz="1600" dirty="0">
                <a:solidFill>
                  <a:srgbClr val="3C5790"/>
                </a:solidFill>
              </a:rPr>
              <a:t> and developed by Element Labs with the goal of making local AI accessible to a wider audience. Its development was strongly influenced by the rapid rise of open-source large language models such as </a:t>
            </a:r>
            <a:r>
              <a:rPr lang="en-US" sz="1600" dirty="0" err="1">
                <a:solidFill>
                  <a:srgbClr val="3C5790"/>
                </a:solidFill>
              </a:rPr>
              <a:t>LLaMA</a:t>
            </a:r>
            <a:r>
              <a:rPr lang="en-US" sz="1600" dirty="0">
                <a:solidFill>
                  <a:srgbClr val="3C5790"/>
                </a:solidFill>
              </a:rPr>
              <a:t>, which made it possible to run powerful AI systems outside the cloud.</a:t>
            </a:r>
          </a:p>
          <a:p>
            <a:r>
              <a:rPr lang="en-US" sz="1600" dirty="0">
                <a:solidFill>
                  <a:srgbClr val="3C5790"/>
                </a:solidFill>
              </a:rPr>
              <a:t>The first public version of LM Studio was released in May 2023, offering a simple interface where users could download models and chat with them locally on their own computers. This marked an important shift toward more private and offline AI usage.</a:t>
            </a:r>
          </a:p>
        </p:txBody>
      </p:sp>
    </p:spTree>
    <p:extLst>
      <p:ext uri="{BB962C8B-B14F-4D97-AF65-F5344CB8AC3E}">
        <p14:creationId xmlns:p14="http://schemas.microsoft.com/office/powerpoint/2010/main" val="2366777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History</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514600"/>
          </a:xfrm>
        </p:spPr>
        <p:txBody>
          <a:bodyPr/>
          <a:lstStyle/>
          <a:p>
            <a:r>
              <a:rPr lang="en-US" sz="1600" dirty="0">
                <a:solidFill>
                  <a:srgbClr val="3C5790"/>
                </a:solidFill>
              </a:rPr>
              <a:t>Throughout 2024, the platform expanded significantly, adding cross-platform support and improving performance. As adoption grew, LM Studio introduced more advanced features, including the ability to interact with personal documents (RAG), enhanced developer tools, and better optimization for different hardware setups.</a:t>
            </a:r>
          </a:p>
          <a:p>
            <a:r>
              <a:rPr lang="en-US" sz="1600" dirty="0">
                <a:solidFill>
                  <a:srgbClr val="3C5790"/>
                </a:solidFill>
              </a:rPr>
              <a:t>By 2025, LM Studio had become one of the most popular tools for running local LLMs, supported by funding and a growing user base. Development continued into 2026 with further improvements such as server (headless) mode, faster processing, and a more refined user experience.</a:t>
            </a:r>
          </a:p>
          <a:p>
            <a:r>
              <a:rPr lang="en-US" sz="1600" dirty="0">
                <a:solidFill>
                  <a:srgbClr val="3C5790"/>
                </a:solidFill>
              </a:rPr>
              <a:t>Overall, LM Studio evolved quickly from a simple local chatbot interface into a comprehensive platform for running, testing, and integrating AI models directly on personal devices.</a:t>
            </a:r>
          </a:p>
        </p:txBody>
      </p:sp>
    </p:spTree>
    <p:extLst>
      <p:ext uri="{BB962C8B-B14F-4D97-AF65-F5344CB8AC3E}">
        <p14:creationId xmlns:p14="http://schemas.microsoft.com/office/powerpoint/2010/main" val="409552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endParaRPr lang="fr-CA" dirty="0">
              <a:solidFill>
                <a:schemeClr val="bg1"/>
              </a:solidFill>
            </a:endParaRPr>
          </a:p>
        </p:txBody>
      </p:sp>
      <p:sp>
        <p:nvSpPr>
          <p:cNvPr id="4099" name="Espace réservé du contenu 4"/>
          <p:cNvSpPr>
            <a:spLocks noGrp="1"/>
          </p:cNvSpPr>
          <p:nvPr>
            <p:ph idx="1"/>
          </p:nvPr>
        </p:nvSpPr>
        <p:spPr>
          <a:xfrm>
            <a:off x="228600" y="2133600"/>
            <a:ext cx="8686800" cy="4449762"/>
          </a:xfrm>
        </p:spPr>
        <p:txBody>
          <a:bodyPr/>
          <a:lstStyle/>
          <a:p>
            <a:r>
              <a:rPr lang="en-US" sz="1400" b="1" dirty="0">
                <a:solidFill>
                  <a:srgbClr val="3C5790"/>
                </a:solidFill>
              </a:rPr>
              <a:t>Core Features</a:t>
            </a:r>
          </a:p>
          <a:p>
            <a:pPr lvl="1"/>
            <a:r>
              <a:rPr lang="en-US" sz="1400" dirty="0">
                <a:solidFill>
                  <a:srgbClr val="3C5790"/>
                </a:solidFill>
              </a:rPr>
              <a:t>Run LLMs locally (offline) on your computer</a:t>
            </a:r>
          </a:p>
          <a:p>
            <a:pPr lvl="1"/>
            <a:r>
              <a:rPr lang="en-US" sz="1400" dirty="0">
                <a:solidFill>
                  <a:srgbClr val="3C5790"/>
                </a:solidFill>
              </a:rPr>
              <a:t>Chat interface (GUI) for easy interaction</a:t>
            </a:r>
          </a:p>
          <a:p>
            <a:pPr lvl="1"/>
            <a:r>
              <a:rPr lang="en-US" sz="1400" dirty="0">
                <a:solidFill>
                  <a:srgbClr val="3C5790"/>
                </a:solidFill>
              </a:rPr>
              <a:t>Cross-platform support (Windows, macOS, Linux)</a:t>
            </a:r>
          </a:p>
          <a:p>
            <a:pPr lvl="1"/>
            <a:r>
              <a:rPr lang="en-US" sz="1400" dirty="0">
                <a:solidFill>
                  <a:srgbClr val="3C5790"/>
                </a:solidFill>
              </a:rPr>
              <a:t>Works with multiple model families (</a:t>
            </a:r>
            <a:r>
              <a:rPr lang="en-US" sz="1400" dirty="0" err="1">
                <a:solidFill>
                  <a:srgbClr val="3C5790"/>
                </a:solidFill>
              </a:rPr>
              <a:t>LLaMA</a:t>
            </a:r>
            <a:r>
              <a:rPr lang="en-US" sz="1400" dirty="0">
                <a:solidFill>
                  <a:srgbClr val="3C5790"/>
                </a:solidFill>
              </a:rPr>
              <a:t>, Mistral, Gemma, etc.)</a:t>
            </a:r>
          </a:p>
          <a:p>
            <a:r>
              <a:rPr lang="en-US" sz="1400" b="1" dirty="0">
                <a:solidFill>
                  <a:srgbClr val="3C5790"/>
                </a:solidFill>
              </a:rPr>
              <a:t>Model Management</a:t>
            </a:r>
          </a:p>
          <a:p>
            <a:pPr lvl="1"/>
            <a:r>
              <a:rPr lang="en-US" sz="1400" dirty="0">
                <a:solidFill>
                  <a:srgbClr val="3C5790"/>
                </a:solidFill>
              </a:rPr>
              <a:t>Built-in model browser (Hugging Face integration)</a:t>
            </a:r>
          </a:p>
          <a:p>
            <a:pPr lvl="1"/>
            <a:r>
              <a:rPr lang="en-US" sz="1400" dirty="0">
                <a:solidFill>
                  <a:srgbClr val="3C5790"/>
                </a:solidFill>
              </a:rPr>
              <a:t>Search, filter, and download models inside the app</a:t>
            </a:r>
          </a:p>
          <a:p>
            <a:pPr lvl="1"/>
            <a:r>
              <a:rPr lang="en-US" sz="1400" dirty="0">
                <a:solidFill>
                  <a:srgbClr val="3C5790"/>
                </a:solidFill>
              </a:rPr>
              <a:t>Supports GGUF &amp; MLX model formats</a:t>
            </a:r>
          </a:p>
          <a:p>
            <a:pPr lvl="1"/>
            <a:r>
              <a:rPr lang="en-US" sz="1400" dirty="0">
                <a:solidFill>
                  <a:srgbClr val="3C5790"/>
                </a:solidFill>
              </a:rPr>
              <a:t>Shows model size, quantization, and VRAM requirements</a:t>
            </a:r>
          </a:p>
          <a:p>
            <a:r>
              <a:rPr lang="en-US" sz="1400" b="1" dirty="0">
                <a:solidFill>
                  <a:srgbClr val="3C5790"/>
                </a:solidFill>
              </a:rPr>
              <a:t>Chat &amp; Interaction</a:t>
            </a:r>
          </a:p>
          <a:p>
            <a:pPr lvl="1"/>
            <a:r>
              <a:rPr lang="en-US" sz="1400" dirty="0">
                <a:solidFill>
                  <a:srgbClr val="3C5790"/>
                </a:solidFill>
              </a:rPr>
              <a:t>Chat with models in real time</a:t>
            </a:r>
          </a:p>
          <a:p>
            <a:pPr lvl="1"/>
            <a:r>
              <a:rPr lang="en-US" sz="1400" dirty="0">
                <a:solidFill>
                  <a:srgbClr val="3C5790"/>
                </a:solidFill>
              </a:rPr>
              <a:t>Chat with your own documents (RAG)</a:t>
            </a:r>
          </a:p>
          <a:p>
            <a:pPr lvl="1"/>
            <a:r>
              <a:rPr lang="en-US" sz="1400" dirty="0">
                <a:solidFill>
                  <a:srgbClr val="3C5790"/>
                </a:solidFill>
              </a:rPr>
              <a:t>Split-view chat (compare outputs)</a:t>
            </a:r>
          </a:p>
          <a:p>
            <a:pPr lvl="1"/>
            <a:r>
              <a:rPr lang="en-US" sz="1400" dirty="0">
                <a:solidFill>
                  <a:srgbClr val="3C5790"/>
                </a:solidFill>
              </a:rPr>
              <a:t>Chat export &amp; history management</a:t>
            </a:r>
          </a:p>
          <a:p>
            <a:endParaRPr lang="en-US" sz="1400" dirty="0">
              <a:solidFill>
                <a:srgbClr val="3C579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0"/>
          </a:xfrm>
        </p:spPr>
        <p:txBody>
          <a:bodyPr/>
          <a:lstStyle/>
          <a:p>
            <a:r>
              <a:rPr lang="en-US" sz="1400" b="1" dirty="0">
                <a:solidFill>
                  <a:srgbClr val="3C5790"/>
                </a:solidFill>
              </a:rPr>
              <a:t>Developer Features</a:t>
            </a:r>
          </a:p>
          <a:p>
            <a:pPr lvl="1"/>
            <a:r>
              <a:rPr lang="en-US" sz="1400" dirty="0" err="1">
                <a:solidFill>
                  <a:srgbClr val="3C5790"/>
                </a:solidFill>
              </a:rPr>
              <a:t>OpenAI</a:t>
            </a:r>
            <a:r>
              <a:rPr lang="en-US" sz="1400" dirty="0">
                <a:solidFill>
                  <a:srgbClr val="3C5790"/>
                </a:solidFill>
              </a:rPr>
              <a:t>-compatible local API server</a:t>
            </a:r>
          </a:p>
          <a:p>
            <a:pPr lvl="1"/>
            <a:r>
              <a:rPr lang="en-US" sz="1400" dirty="0">
                <a:solidFill>
                  <a:srgbClr val="3C5790"/>
                </a:solidFill>
              </a:rPr>
              <a:t>REST API endpoints (e.g., /v1/chat)</a:t>
            </a:r>
          </a:p>
          <a:p>
            <a:pPr lvl="1"/>
            <a:r>
              <a:rPr lang="en-US" sz="1400" dirty="0">
                <a:solidFill>
                  <a:srgbClr val="3C5790"/>
                </a:solidFill>
              </a:rPr>
              <a:t>SDK support (Python, TypeScript)</a:t>
            </a:r>
          </a:p>
          <a:p>
            <a:pPr lvl="1"/>
            <a:r>
              <a:rPr lang="en-US" sz="1400" dirty="0">
                <a:solidFill>
                  <a:srgbClr val="3C5790"/>
                </a:solidFill>
              </a:rPr>
              <a:t>Developer mode + in-app documentation</a:t>
            </a:r>
          </a:p>
          <a:p>
            <a:pPr lvl="1"/>
            <a:r>
              <a:rPr lang="en-US" sz="1400" dirty="0">
                <a:solidFill>
                  <a:srgbClr val="3C5790"/>
                </a:solidFill>
              </a:rPr>
              <a:t>Can run without GUI (server/CI deployment)</a:t>
            </a:r>
          </a:p>
          <a:p>
            <a:r>
              <a:rPr lang="en-US" sz="1400" b="1" dirty="0">
                <a:solidFill>
                  <a:srgbClr val="3C5790"/>
                </a:solidFill>
              </a:rPr>
              <a:t>Performance &amp; Optimization</a:t>
            </a:r>
          </a:p>
          <a:p>
            <a:pPr lvl="1"/>
            <a:r>
              <a:rPr lang="en-US" sz="1400" dirty="0">
                <a:solidFill>
                  <a:srgbClr val="3C5790"/>
                </a:solidFill>
              </a:rPr>
              <a:t>GPU + CPU acceleration support</a:t>
            </a:r>
          </a:p>
          <a:p>
            <a:pPr lvl="1"/>
            <a:r>
              <a:rPr lang="en-US" sz="1400" dirty="0">
                <a:solidFill>
                  <a:srgbClr val="3C5790"/>
                </a:solidFill>
              </a:rPr>
              <a:t>GPU layer control (VRAM optimization slider)</a:t>
            </a:r>
          </a:p>
          <a:p>
            <a:pPr lvl="1"/>
            <a:r>
              <a:rPr lang="en-US" sz="1400" dirty="0">
                <a:solidFill>
                  <a:srgbClr val="3C5790"/>
                </a:solidFill>
              </a:rPr>
              <a:t>Continuous batching (parallel requests)</a:t>
            </a:r>
          </a:p>
          <a:p>
            <a:pPr lvl="1"/>
            <a:r>
              <a:rPr lang="en-US" sz="1400" dirty="0">
                <a:solidFill>
                  <a:srgbClr val="3C5790"/>
                </a:solidFill>
              </a:rPr>
              <a:t>KV caching (faster multi-turn chats)</a:t>
            </a:r>
          </a:p>
          <a:p>
            <a:pPr lvl="1"/>
            <a:r>
              <a:rPr lang="en-US" sz="1400" dirty="0">
                <a:solidFill>
                  <a:srgbClr val="3C5790"/>
                </a:solidFill>
              </a:rPr>
              <a:t>Flash Attention (speed &amp; memory optimization)</a:t>
            </a:r>
          </a:p>
          <a:p>
            <a:r>
              <a:rPr lang="en-US" sz="1400" b="1" dirty="0">
                <a:solidFill>
                  <a:srgbClr val="3C5790"/>
                </a:solidFill>
              </a:rPr>
              <a:t>AI Capabilities</a:t>
            </a:r>
          </a:p>
          <a:p>
            <a:pPr lvl="1"/>
            <a:r>
              <a:rPr lang="en-US" sz="1400" dirty="0">
                <a:solidFill>
                  <a:srgbClr val="3C5790"/>
                </a:solidFill>
              </a:rPr>
              <a:t>Supports agent-like workflows &amp; tool usage</a:t>
            </a:r>
          </a:p>
          <a:p>
            <a:pPr lvl="1"/>
            <a:r>
              <a:rPr lang="en-US" sz="1400" dirty="0">
                <a:solidFill>
                  <a:srgbClr val="3C5790"/>
                </a:solidFill>
              </a:rPr>
              <a:t>Structured outputs (JSON, etc.)</a:t>
            </a:r>
          </a:p>
          <a:p>
            <a:pPr lvl="1"/>
            <a:r>
              <a:rPr lang="en-US" sz="1400" dirty="0">
                <a:solidFill>
                  <a:srgbClr val="3C5790"/>
                </a:solidFill>
              </a:rPr>
              <a:t>Works with embedding models for RAG</a:t>
            </a:r>
          </a:p>
          <a:p>
            <a:pPr lvl="1"/>
            <a:r>
              <a:rPr lang="en-US" sz="1400" dirty="0">
                <a:solidFill>
                  <a:srgbClr val="3C5790"/>
                </a:solidFill>
              </a:rPr>
              <a:t>Enables local AI app development</a:t>
            </a:r>
          </a:p>
        </p:txBody>
      </p:sp>
    </p:spTree>
    <p:extLst>
      <p:ext uri="{BB962C8B-B14F-4D97-AF65-F5344CB8AC3E}">
        <p14:creationId xmlns:p14="http://schemas.microsoft.com/office/powerpoint/2010/main" val="3795690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0"/>
          </a:xfrm>
        </p:spPr>
        <p:txBody>
          <a:bodyPr/>
          <a:lstStyle/>
          <a:p>
            <a:r>
              <a:rPr lang="en-US" sz="1400" b="1" dirty="0">
                <a:solidFill>
                  <a:srgbClr val="3C5790"/>
                </a:solidFill>
              </a:rPr>
              <a:t>Privacy &amp; Control</a:t>
            </a:r>
          </a:p>
          <a:p>
            <a:pPr lvl="1"/>
            <a:r>
              <a:rPr lang="en-US" sz="1400" dirty="0">
                <a:solidFill>
                  <a:srgbClr val="3C5790"/>
                </a:solidFill>
              </a:rPr>
              <a:t>100% local processing (no data sent to cloud)</a:t>
            </a:r>
          </a:p>
          <a:p>
            <a:pPr lvl="1"/>
            <a:r>
              <a:rPr lang="en-US" sz="1400" dirty="0">
                <a:solidFill>
                  <a:srgbClr val="3C5790"/>
                </a:solidFill>
              </a:rPr>
              <a:t>No tracking or data collection</a:t>
            </a:r>
          </a:p>
          <a:p>
            <a:pPr lvl="1"/>
            <a:r>
              <a:rPr lang="en-US" sz="1400" dirty="0">
                <a:solidFill>
                  <a:srgbClr val="3C5790"/>
                </a:solidFill>
              </a:rPr>
              <a:t>Full control over models and data</a:t>
            </a:r>
          </a:p>
          <a:p>
            <a:r>
              <a:rPr lang="en-US" sz="1400" b="1" dirty="0">
                <a:solidFill>
                  <a:srgbClr val="3C5790"/>
                </a:solidFill>
              </a:rPr>
              <a:t>UI &amp; Usability</a:t>
            </a:r>
          </a:p>
          <a:p>
            <a:pPr lvl="1"/>
            <a:r>
              <a:rPr lang="en-US" sz="1400" dirty="0">
                <a:solidFill>
                  <a:srgbClr val="3C5790"/>
                </a:solidFill>
              </a:rPr>
              <a:t>Beginner-friendly Discover page for models</a:t>
            </a:r>
          </a:p>
          <a:p>
            <a:pPr lvl="1"/>
            <a:r>
              <a:rPr lang="en-US" sz="1400" dirty="0">
                <a:solidFill>
                  <a:srgbClr val="3C5790"/>
                </a:solidFill>
              </a:rPr>
              <a:t>Modern UI with split view &amp; controls</a:t>
            </a:r>
          </a:p>
          <a:p>
            <a:pPr lvl="1"/>
            <a:r>
              <a:rPr lang="en-US" sz="1400" dirty="0">
                <a:solidFill>
                  <a:srgbClr val="3C5790"/>
                </a:solidFill>
              </a:rPr>
              <a:t>Adjustable context length &amp; inference settings</a:t>
            </a:r>
          </a:p>
        </p:txBody>
      </p:sp>
    </p:spTree>
    <p:extLst>
      <p:ext uri="{BB962C8B-B14F-4D97-AF65-F5344CB8AC3E}">
        <p14:creationId xmlns:p14="http://schemas.microsoft.com/office/powerpoint/2010/main" val="2200236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Architecture</a:t>
            </a:r>
          </a:p>
        </p:txBody>
      </p:sp>
      <p:sp>
        <p:nvSpPr>
          <p:cNvPr id="4099" name="Espace réservé du contenu 4"/>
          <p:cNvSpPr>
            <a:spLocks noGrp="1"/>
          </p:cNvSpPr>
          <p:nvPr>
            <p:ph idx="1"/>
          </p:nvPr>
        </p:nvSpPr>
        <p:spPr>
          <a:xfrm>
            <a:off x="228600" y="2133600"/>
            <a:ext cx="8686800" cy="2971800"/>
          </a:xfrm>
        </p:spPr>
        <p:txBody>
          <a:bodyPr/>
          <a:lstStyle/>
          <a:p>
            <a:r>
              <a:rPr lang="en-US" sz="1400" dirty="0">
                <a:solidFill>
                  <a:srgbClr val="3C5790"/>
                </a:solidFill>
              </a:rPr>
              <a:t>LM Studio is designed with a layered architecture that enables local execution of large language models efficiently and privately.</a:t>
            </a:r>
          </a:p>
          <a:p>
            <a:r>
              <a:rPr lang="en-US" sz="1400" b="1" dirty="0">
                <a:solidFill>
                  <a:srgbClr val="3C5790"/>
                </a:solidFill>
              </a:rPr>
              <a:t>User Interface (UI)</a:t>
            </a:r>
          </a:p>
          <a:p>
            <a:pPr lvl="1"/>
            <a:r>
              <a:rPr lang="en-US" sz="1400" dirty="0">
                <a:solidFill>
                  <a:srgbClr val="3C5790"/>
                </a:solidFill>
              </a:rPr>
              <a:t>Desktop application (chat-style interface)</a:t>
            </a:r>
          </a:p>
          <a:p>
            <a:pPr lvl="1"/>
            <a:r>
              <a:rPr lang="en-US" sz="1400" dirty="0">
                <a:solidFill>
                  <a:srgbClr val="3C5790"/>
                </a:solidFill>
              </a:rPr>
              <a:t>Handles user input and displays responses</a:t>
            </a:r>
          </a:p>
          <a:p>
            <a:pPr lvl="1"/>
            <a:r>
              <a:rPr lang="en-US" sz="1400" dirty="0">
                <a:solidFill>
                  <a:srgbClr val="3C5790"/>
                </a:solidFill>
              </a:rPr>
              <a:t>Model selection and configuration tools</a:t>
            </a:r>
          </a:p>
          <a:p>
            <a:pPr lvl="1"/>
            <a:r>
              <a:rPr lang="en-US" sz="1400" dirty="0">
                <a:solidFill>
                  <a:srgbClr val="3C5790"/>
                </a:solidFill>
              </a:rPr>
              <a:t>Conversation history and prompt controls</a:t>
            </a:r>
          </a:p>
          <a:p>
            <a:r>
              <a:rPr lang="en-US" sz="1400" b="1" dirty="0">
                <a:solidFill>
                  <a:srgbClr val="3C5790"/>
                </a:solidFill>
              </a:rPr>
              <a:t>Application Core</a:t>
            </a:r>
          </a:p>
          <a:p>
            <a:pPr lvl="1"/>
            <a:r>
              <a:rPr lang="en-US" sz="1400" dirty="0">
                <a:solidFill>
                  <a:srgbClr val="3C5790"/>
                </a:solidFill>
              </a:rPr>
              <a:t>Manages workflow between UI and model engine</a:t>
            </a:r>
          </a:p>
          <a:p>
            <a:pPr lvl="1"/>
            <a:r>
              <a:rPr lang="en-US" sz="1400" dirty="0">
                <a:solidFill>
                  <a:srgbClr val="3C5790"/>
                </a:solidFill>
              </a:rPr>
              <a:t>Handles prompt processing and context management</a:t>
            </a:r>
          </a:p>
          <a:p>
            <a:pPr lvl="1"/>
            <a:r>
              <a:rPr lang="en-US" sz="1400" dirty="0">
                <a:solidFill>
                  <a:srgbClr val="3C5790"/>
                </a:solidFill>
              </a:rPr>
              <a:t>Controls sessions and response streaming</a:t>
            </a:r>
          </a:p>
        </p:txBody>
      </p:sp>
    </p:spTree>
    <p:extLst>
      <p:ext uri="{BB962C8B-B14F-4D97-AF65-F5344CB8AC3E}">
        <p14:creationId xmlns:p14="http://schemas.microsoft.com/office/powerpoint/2010/main" val="270083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Architecture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657600"/>
          </a:xfrm>
        </p:spPr>
        <p:txBody>
          <a:bodyPr/>
          <a:lstStyle/>
          <a:p>
            <a:r>
              <a:rPr lang="en-US" sz="1400" b="1" dirty="0">
                <a:solidFill>
                  <a:srgbClr val="3C5790"/>
                </a:solidFill>
              </a:rPr>
              <a:t>Inference Engine (Backend)</a:t>
            </a:r>
          </a:p>
          <a:p>
            <a:pPr lvl="1"/>
            <a:r>
              <a:rPr lang="en-US" sz="1400" dirty="0">
                <a:solidFill>
                  <a:srgbClr val="3C5790"/>
                </a:solidFill>
              </a:rPr>
              <a:t>Runs LLMs locally on CPU or GPU</a:t>
            </a:r>
          </a:p>
          <a:p>
            <a:pPr lvl="1"/>
            <a:r>
              <a:rPr lang="en-US" sz="1400" dirty="0">
                <a:solidFill>
                  <a:srgbClr val="3C5790"/>
                </a:solidFill>
              </a:rPr>
              <a:t>Built on optimized runtimes (e.g., llama.cpp)</a:t>
            </a:r>
          </a:p>
          <a:p>
            <a:pPr lvl="1"/>
            <a:r>
              <a:rPr lang="en-US" sz="1400" dirty="0">
                <a:solidFill>
                  <a:srgbClr val="3C5790"/>
                </a:solidFill>
              </a:rPr>
              <a:t>Generates tokens and streams responses in real time</a:t>
            </a:r>
          </a:p>
          <a:p>
            <a:pPr lvl="1"/>
            <a:r>
              <a:rPr lang="en-US" sz="1400" dirty="0">
                <a:solidFill>
                  <a:srgbClr val="3C5790"/>
                </a:solidFill>
              </a:rPr>
              <a:t>Optimizes performance based on hardware</a:t>
            </a:r>
          </a:p>
          <a:p>
            <a:r>
              <a:rPr lang="en-US" sz="1400" b="1" dirty="0">
                <a:solidFill>
                  <a:srgbClr val="3C5790"/>
                </a:solidFill>
              </a:rPr>
              <a:t>Model Layer</a:t>
            </a:r>
          </a:p>
          <a:p>
            <a:pPr lvl="1"/>
            <a:r>
              <a:rPr lang="en-US" sz="1400" dirty="0">
                <a:solidFill>
                  <a:srgbClr val="3C5790"/>
                </a:solidFill>
              </a:rPr>
              <a:t>Stores downloaded models locally (disk-based)</a:t>
            </a:r>
          </a:p>
          <a:p>
            <a:pPr lvl="1"/>
            <a:r>
              <a:rPr lang="en-US" sz="1400" dirty="0">
                <a:solidFill>
                  <a:srgbClr val="3C5790"/>
                </a:solidFill>
              </a:rPr>
              <a:t>Supports formats like GGUF</a:t>
            </a:r>
          </a:p>
          <a:p>
            <a:pPr lvl="1"/>
            <a:r>
              <a:rPr lang="en-US" sz="1400" dirty="0">
                <a:solidFill>
                  <a:srgbClr val="3C5790"/>
                </a:solidFill>
              </a:rPr>
              <a:t>Runs quantized open-source models (</a:t>
            </a:r>
            <a:r>
              <a:rPr lang="en-US" sz="1400" dirty="0" err="1">
                <a:solidFill>
                  <a:srgbClr val="3C5790"/>
                </a:solidFill>
              </a:rPr>
              <a:t>LLaMA</a:t>
            </a:r>
            <a:r>
              <a:rPr lang="en-US" sz="1400" dirty="0">
                <a:solidFill>
                  <a:srgbClr val="3C5790"/>
                </a:solidFill>
              </a:rPr>
              <a:t>, Mistral, etc.)</a:t>
            </a:r>
          </a:p>
          <a:p>
            <a:pPr lvl="1"/>
            <a:r>
              <a:rPr lang="en-US" sz="1400" dirty="0">
                <a:solidFill>
                  <a:srgbClr val="3C5790"/>
                </a:solidFill>
              </a:rPr>
              <a:t>Optimized for memory and speed efficiency</a:t>
            </a:r>
          </a:p>
          <a:p>
            <a:r>
              <a:rPr lang="en-US" sz="1400" b="1" dirty="0">
                <a:solidFill>
                  <a:srgbClr val="3C5790"/>
                </a:solidFill>
              </a:rPr>
              <a:t>Local API Server</a:t>
            </a:r>
          </a:p>
          <a:p>
            <a:pPr lvl="1"/>
            <a:r>
              <a:rPr lang="en-US" sz="1400" dirty="0" err="1">
                <a:solidFill>
                  <a:srgbClr val="3C5790"/>
                </a:solidFill>
              </a:rPr>
              <a:t>OpenAI</a:t>
            </a:r>
            <a:r>
              <a:rPr lang="en-US" sz="1400" dirty="0">
                <a:solidFill>
                  <a:srgbClr val="3C5790"/>
                </a:solidFill>
              </a:rPr>
              <a:t>-compatible REST API</a:t>
            </a:r>
          </a:p>
          <a:p>
            <a:pPr lvl="1"/>
            <a:r>
              <a:rPr lang="en-US" sz="1400" dirty="0">
                <a:solidFill>
                  <a:srgbClr val="3C5790"/>
                </a:solidFill>
              </a:rPr>
              <a:t>Enables integration with external applications</a:t>
            </a:r>
          </a:p>
          <a:p>
            <a:pPr lvl="1"/>
            <a:r>
              <a:rPr lang="en-US" sz="1400" dirty="0">
                <a:solidFill>
                  <a:srgbClr val="3C5790"/>
                </a:solidFill>
              </a:rPr>
              <a:t>Supports automation and custom AI workflows</a:t>
            </a:r>
          </a:p>
        </p:txBody>
      </p:sp>
    </p:spTree>
    <p:extLst>
      <p:ext uri="{BB962C8B-B14F-4D97-AF65-F5344CB8AC3E}">
        <p14:creationId xmlns:p14="http://schemas.microsoft.com/office/powerpoint/2010/main" val="577757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Models</a:t>
            </a:r>
            <a:endParaRPr lang="fr-CA" dirty="0">
              <a:solidFill>
                <a:schemeClr val="bg1"/>
              </a:solidFill>
            </a:endParaRPr>
          </a:p>
        </p:txBody>
      </p:sp>
      <p:sp>
        <p:nvSpPr>
          <p:cNvPr id="4099" name="Espace réservé du contenu 4"/>
          <p:cNvSpPr>
            <a:spLocks noGrp="1"/>
          </p:cNvSpPr>
          <p:nvPr>
            <p:ph idx="1"/>
          </p:nvPr>
        </p:nvSpPr>
        <p:spPr>
          <a:xfrm>
            <a:off x="228600" y="2133600"/>
            <a:ext cx="8686800" cy="4572000"/>
          </a:xfrm>
        </p:spPr>
        <p:txBody>
          <a:bodyPr/>
          <a:lstStyle/>
          <a:p>
            <a:r>
              <a:rPr lang="en-US" sz="1600" dirty="0">
                <a:solidFill>
                  <a:srgbClr val="3C5790"/>
                </a:solidFill>
              </a:rPr>
              <a:t>LM Studio supports a wide range of open-source large language models (LLMs) that can run locally on your computer. These models are typically optimized versions designed for efficiency and performance on consumer hardware.</a:t>
            </a:r>
          </a:p>
          <a:p>
            <a:r>
              <a:rPr lang="en-US" sz="1400" b="1" dirty="0" err="1">
                <a:solidFill>
                  <a:srgbClr val="3C5790"/>
                </a:solidFill>
              </a:rPr>
              <a:t>LLaMA</a:t>
            </a:r>
            <a:r>
              <a:rPr lang="en-US" sz="1400" b="1" dirty="0">
                <a:solidFill>
                  <a:srgbClr val="3C5790"/>
                </a:solidFill>
              </a:rPr>
              <a:t> family (Meta AI)</a:t>
            </a:r>
          </a:p>
          <a:p>
            <a:pPr lvl="1"/>
            <a:r>
              <a:rPr lang="en-US" sz="1400" dirty="0" err="1">
                <a:solidFill>
                  <a:srgbClr val="3C5790"/>
                </a:solidFill>
              </a:rPr>
              <a:t>LLaMA</a:t>
            </a:r>
            <a:r>
              <a:rPr lang="en-US" sz="1400" dirty="0">
                <a:solidFill>
                  <a:srgbClr val="3C5790"/>
                </a:solidFill>
              </a:rPr>
              <a:t> 2 and </a:t>
            </a:r>
            <a:r>
              <a:rPr lang="en-US" sz="1400" dirty="0" err="1">
                <a:solidFill>
                  <a:srgbClr val="3C5790"/>
                </a:solidFill>
              </a:rPr>
              <a:t>LLaMA</a:t>
            </a:r>
            <a:r>
              <a:rPr lang="en-US" sz="1400" dirty="0">
                <a:solidFill>
                  <a:srgbClr val="3C5790"/>
                </a:solidFill>
              </a:rPr>
              <a:t> 3 variants</a:t>
            </a:r>
          </a:p>
          <a:p>
            <a:pPr lvl="1"/>
            <a:r>
              <a:rPr lang="en-US" sz="1400" dirty="0">
                <a:solidFill>
                  <a:srgbClr val="3C5790"/>
                </a:solidFill>
              </a:rPr>
              <a:t>Strong general-purpose reasoning and chat ability</a:t>
            </a:r>
          </a:p>
          <a:p>
            <a:pPr lvl="1"/>
            <a:r>
              <a:rPr lang="en-US" sz="1400" dirty="0">
                <a:solidFill>
                  <a:srgbClr val="3C5790"/>
                </a:solidFill>
              </a:rPr>
              <a:t>Widely used benchmark models for local AI</a:t>
            </a:r>
          </a:p>
          <a:p>
            <a:r>
              <a:rPr lang="en-US" sz="1400" b="1" dirty="0">
                <a:solidFill>
                  <a:srgbClr val="3C5790"/>
                </a:solidFill>
              </a:rPr>
              <a:t>Mistral models</a:t>
            </a:r>
          </a:p>
          <a:p>
            <a:pPr lvl="1"/>
            <a:r>
              <a:rPr lang="en-US" sz="1400" dirty="0">
                <a:solidFill>
                  <a:srgbClr val="3C5790"/>
                </a:solidFill>
              </a:rPr>
              <a:t>Mistral 7B, </a:t>
            </a:r>
            <a:r>
              <a:rPr lang="en-US" sz="1400" dirty="0" err="1">
                <a:solidFill>
                  <a:srgbClr val="3C5790"/>
                </a:solidFill>
              </a:rPr>
              <a:t>Mixtral</a:t>
            </a:r>
            <a:r>
              <a:rPr lang="en-US" sz="1400" dirty="0">
                <a:solidFill>
                  <a:srgbClr val="3C5790"/>
                </a:solidFill>
              </a:rPr>
              <a:t> (Mixture-of-Experts)</a:t>
            </a:r>
          </a:p>
          <a:p>
            <a:pPr lvl="1"/>
            <a:r>
              <a:rPr lang="en-US" sz="1400" dirty="0">
                <a:solidFill>
                  <a:srgbClr val="3C5790"/>
                </a:solidFill>
              </a:rPr>
              <a:t>High performance with lower compute requirements</a:t>
            </a:r>
          </a:p>
          <a:p>
            <a:pPr lvl="1"/>
            <a:r>
              <a:rPr lang="en-US" sz="1400" dirty="0">
                <a:solidFill>
                  <a:srgbClr val="3C5790"/>
                </a:solidFill>
              </a:rPr>
              <a:t>Good balance between speed and quality</a:t>
            </a:r>
          </a:p>
          <a:p>
            <a:r>
              <a:rPr lang="en-US" sz="1400" b="1" dirty="0">
                <a:solidFill>
                  <a:srgbClr val="3C5790"/>
                </a:solidFill>
              </a:rPr>
              <a:t>Google open models</a:t>
            </a:r>
          </a:p>
          <a:p>
            <a:pPr lvl="1"/>
            <a:r>
              <a:rPr lang="en-US" sz="1400" dirty="0">
                <a:solidFill>
                  <a:srgbClr val="3C5790"/>
                </a:solidFill>
              </a:rPr>
              <a:t>Gemma models (2B, 7B, etc.)</a:t>
            </a:r>
          </a:p>
          <a:p>
            <a:pPr lvl="1"/>
            <a:r>
              <a:rPr lang="en-US" sz="1400" dirty="0">
                <a:solidFill>
                  <a:srgbClr val="3C5790"/>
                </a:solidFill>
              </a:rPr>
              <a:t>Lightweight and efficient</a:t>
            </a:r>
          </a:p>
          <a:p>
            <a:pPr lvl="1"/>
            <a:r>
              <a:rPr lang="en-US" sz="1400" dirty="0">
                <a:solidFill>
                  <a:srgbClr val="3C5790"/>
                </a:solidFill>
              </a:rPr>
              <a:t>Suitable for fast local inference</a:t>
            </a:r>
          </a:p>
        </p:txBody>
      </p:sp>
    </p:spTree>
    <p:extLst>
      <p:ext uri="{BB962C8B-B14F-4D97-AF65-F5344CB8AC3E}">
        <p14:creationId xmlns:p14="http://schemas.microsoft.com/office/powerpoint/2010/main" val="2497972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Models</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667000"/>
          </a:xfrm>
        </p:spPr>
        <p:txBody>
          <a:bodyPr/>
          <a:lstStyle/>
          <a:p>
            <a:r>
              <a:rPr lang="en-US" sz="1400" b="1" dirty="0">
                <a:solidFill>
                  <a:srgbClr val="3C5790"/>
                </a:solidFill>
              </a:rPr>
              <a:t>Multimodal models (limited support)</a:t>
            </a:r>
          </a:p>
          <a:p>
            <a:pPr lvl="1"/>
            <a:r>
              <a:rPr lang="en-US" sz="1400" dirty="0">
                <a:solidFill>
                  <a:srgbClr val="3C5790"/>
                </a:solidFill>
              </a:rPr>
              <a:t>Some models can handle text + images (experimental)</a:t>
            </a:r>
          </a:p>
          <a:p>
            <a:pPr lvl="1"/>
            <a:r>
              <a:rPr lang="en-US" sz="1400" dirty="0">
                <a:solidFill>
                  <a:srgbClr val="3C5790"/>
                </a:solidFill>
              </a:rPr>
              <a:t>Example families: </a:t>
            </a:r>
            <a:r>
              <a:rPr lang="en-US" sz="1400" dirty="0" err="1">
                <a:solidFill>
                  <a:srgbClr val="3C5790"/>
                </a:solidFill>
              </a:rPr>
              <a:t>LLaVA</a:t>
            </a:r>
            <a:r>
              <a:rPr lang="en-US" sz="1400" dirty="0">
                <a:solidFill>
                  <a:srgbClr val="3C5790"/>
                </a:solidFill>
              </a:rPr>
              <a:t>-based models</a:t>
            </a:r>
          </a:p>
          <a:p>
            <a:r>
              <a:rPr lang="en-US" sz="1400" b="1" dirty="0">
                <a:solidFill>
                  <a:srgbClr val="3C5790"/>
                </a:solidFill>
              </a:rPr>
              <a:t>Quantized models (important concept)</a:t>
            </a:r>
          </a:p>
          <a:p>
            <a:pPr lvl="1"/>
            <a:r>
              <a:rPr lang="en-US" sz="1400" dirty="0">
                <a:solidFill>
                  <a:srgbClr val="3C5790"/>
                </a:solidFill>
              </a:rPr>
              <a:t>GGUF format models (core format used in LM Studio)</a:t>
            </a:r>
          </a:p>
          <a:p>
            <a:pPr lvl="1"/>
            <a:r>
              <a:rPr lang="en-US" sz="1400" dirty="0">
                <a:solidFill>
                  <a:srgbClr val="3C5790"/>
                </a:solidFill>
              </a:rPr>
              <a:t>Smaller, faster versions of large models</a:t>
            </a:r>
          </a:p>
          <a:p>
            <a:pPr lvl="1"/>
            <a:r>
              <a:rPr lang="en-US" sz="1400" dirty="0">
                <a:solidFill>
                  <a:srgbClr val="3C5790"/>
                </a:solidFill>
              </a:rPr>
              <a:t>Allow running AI on laptops and consumer GPUs</a:t>
            </a:r>
          </a:p>
        </p:txBody>
      </p:sp>
    </p:spTree>
    <p:extLst>
      <p:ext uri="{BB962C8B-B14F-4D97-AF65-F5344CB8AC3E}">
        <p14:creationId xmlns:p14="http://schemas.microsoft.com/office/powerpoint/2010/main" val="2790218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Models</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667000"/>
          </a:xfrm>
        </p:spPr>
        <p:txBody>
          <a:bodyPr/>
          <a:lstStyle/>
          <a:p>
            <a:r>
              <a:rPr lang="en-US" sz="1400" b="1" dirty="0">
                <a:solidFill>
                  <a:srgbClr val="3C5790"/>
                </a:solidFill>
              </a:rPr>
              <a:t>Microsoft / Phi models</a:t>
            </a:r>
          </a:p>
          <a:p>
            <a:pPr lvl="1"/>
            <a:r>
              <a:rPr lang="en-US" sz="1400" dirty="0">
                <a:solidFill>
                  <a:srgbClr val="3C5790"/>
                </a:solidFill>
              </a:rPr>
              <a:t>Phi-2, Phi-3 family</a:t>
            </a:r>
          </a:p>
          <a:p>
            <a:pPr lvl="1"/>
            <a:r>
              <a:rPr lang="en-US" sz="1400" dirty="0">
                <a:solidFill>
                  <a:srgbClr val="3C5790"/>
                </a:solidFill>
              </a:rPr>
              <a:t>Small models with surprisingly strong reasoning</a:t>
            </a:r>
          </a:p>
          <a:p>
            <a:pPr lvl="1"/>
            <a:r>
              <a:rPr lang="en-US" sz="1400" dirty="0">
                <a:solidFill>
                  <a:srgbClr val="3C5790"/>
                </a:solidFill>
              </a:rPr>
              <a:t>Optimized for low-resource devices</a:t>
            </a:r>
          </a:p>
          <a:p>
            <a:r>
              <a:rPr lang="en-US" sz="1400" b="1" dirty="0">
                <a:solidFill>
                  <a:srgbClr val="3C5790"/>
                </a:solidFill>
              </a:rPr>
              <a:t>Code-focused models</a:t>
            </a:r>
          </a:p>
          <a:p>
            <a:pPr lvl="1"/>
            <a:r>
              <a:rPr lang="en-US" sz="1400" dirty="0">
                <a:solidFill>
                  <a:srgbClr val="3C5790"/>
                </a:solidFill>
              </a:rPr>
              <a:t>Code </a:t>
            </a:r>
            <a:r>
              <a:rPr lang="en-US" sz="1400" dirty="0" err="1">
                <a:solidFill>
                  <a:srgbClr val="3C5790"/>
                </a:solidFill>
              </a:rPr>
              <a:t>LLaMA</a:t>
            </a:r>
            <a:endParaRPr lang="en-US" sz="1400" dirty="0">
              <a:solidFill>
                <a:srgbClr val="3C5790"/>
              </a:solidFill>
            </a:endParaRPr>
          </a:p>
          <a:p>
            <a:pPr lvl="1"/>
            <a:r>
              <a:rPr lang="en-US" sz="1400" dirty="0" err="1">
                <a:solidFill>
                  <a:srgbClr val="3C5790"/>
                </a:solidFill>
              </a:rPr>
              <a:t>DeepSeek</a:t>
            </a:r>
            <a:r>
              <a:rPr lang="en-US" sz="1400" dirty="0">
                <a:solidFill>
                  <a:srgbClr val="3C5790"/>
                </a:solidFill>
              </a:rPr>
              <a:t> Coder</a:t>
            </a:r>
          </a:p>
          <a:p>
            <a:pPr lvl="1"/>
            <a:r>
              <a:rPr lang="en-US" sz="1400" dirty="0" err="1">
                <a:solidFill>
                  <a:srgbClr val="3C5790"/>
                </a:solidFill>
              </a:rPr>
              <a:t>StarCoder</a:t>
            </a:r>
            <a:r>
              <a:rPr lang="en-US" sz="1400" dirty="0">
                <a:solidFill>
                  <a:srgbClr val="3C5790"/>
                </a:solidFill>
              </a:rPr>
              <a:t> models</a:t>
            </a:r>
          </a:p>
          <a:p>
            <a:pPr lvl="1"/>
            <a:r>
              <a:rPr lang="en-US" sz="1400" dirty="0">
                <a:solidFill>
                  <a:srgbClr val="3C5790"/>
                </a:solidFill>
              </a:rPr>
              <a:t>Used for programming, code generation, debugging</a:t>
            </a:r>
          </a:p>
        </p:txBody>
      </p:sp>
    </p:spTree>
    <p:extLst>
      <p:ext uri="{BB962C8B-B14F-4D97-AF65-F5344CB8AC3E}">
        <p14:creationId xmlns:p14="http://schemas.microsoft.com/office/powerpoint/2010/main" val="1779311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endParaRPr lang="fr-CA" dirty="0">
              <a:solidFill>
                <a:schemeClr val="bg1"/>
              </a:solidFill>
            </a:endParaRPr>
          </a:p>
        </p:txBody>
      </p:sp>
      <p:sp>
        <p:nvSpPr>
          <p:cNvPr id="4099" name="Espace réservé du contenu 4"/>
          <p:cNvSpPr>
            <a:spLocks noGrp="1"/>
          </p:cNvSpPr>
          <p:nvPr>
            <p:ph idx="1"/>
          </p:nvPr>
        </p:nvSpPr>
        <p:spPr>
          <a:xfrm>
            <a:off x="228600" y="2133600"/>
            <a:ext cx="8686800" cy="457200"/>
          </a:xfrm>
        </p:spPr>
        <p:txBody>
          <a:bodyPr/>
          <a:lstStyle/>
          <a:p>
            <a:r>
              <a:rPr lang="en-US" sz="1600" dirty="0" err="1">
                <a:solidFill>
                  <a:srgbClr val="3C5790"/>
                </a:solidFill>
              </a:rPr>
              <a:t>LMStudio</a:t>
            </a:r>
            <a:r>
              <a:rPr lang="en-US" sz="1600" dirty="0">
                <a:solidFill>
                  <a:srgbClr val="3C5790"/>
                </a:solidFill>
              </a:rPr>
              <a:t> has a nice GUI but also can be used from CLI.</a:t>
            </a:r>
            <a:endParaRPr lang="fr-CA" sz="1600" dirty="0">
              <a:solidFill>
                <a:srgbClr val="3C5790"/>
              </a:solidFill>
            </a:endParaRPr>
          </a:p>
        </p:txBody>
      </p:sp>
      <p:pic>
        <p:nvPicPr>
          <p:cNvPr id="3" name="Picture 2">
            <a:extLst>
              <a:ext uri="{FF2B5EF4-FFF2-40B4-BE49-F238E27FC236}">
                <a16:creationId xmlns:a16="http://schemas.microsoft.com/office/drawing/2014/main" id="{A3FD6B81-86A4-4650-82C9-BB537FA34D22}"/>
              </a:ext>
            </a:extLst>
          </p:cNvPr>
          <p:cNvPicPr>
            <a:picLocks noChangeAspect="1"/>
          </p:cNvPicPr>
          <p:nvPr/>
        </p:nvPicPr>
        <p:blipFill>
          <a:blip r:embed="rId3"/>
          <a:stretch>
            <a:fillRect/>
          </a:stretch>
        </p:blipFill>
        <p:spPr>
          <a:xfrm>
            <a:off x="1524000" y="2590800"/>
            <a:ext cx="5562600" cy="4086083"/>
          </a:xfrm>
          <a:prstGeom prst="rect">
            <a:avLst/>
          </a:prstGeom>
        </p:spPr>
      </p:pic>
    </p:spTree>
    <p:extLst>
      <p:ext uri="{BB962C8B-B14F-4D97-AF65-F5344CB8AC3E}">
        <p14:creationId xmlns:p14="http://schemas.microsoft.com/office/powerpoint/2010/main" val="149711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600" dirty="0">
                <a:solidFill>
                  <a:srgbClr val="3C5790"/>
                </a:solidFill>
              </a:rPr>
              <a:t>We can start local Open AI alike server to be used, it will start on port 1234 </a:t>
            </a:r>
          </a:p>
          <a:p>
            <a:endParaRPr lang="en-US" sz="1600" dirty="0">
              <a:solidFill>
                <a:srgbClr val="3C5790"/>
              </a:solidFill>
            </a:endParaRPr>
          </a:p>
        </p:txBody>
      </p:sp>
      <p:pic>
        <p:nvPicPr>
          <p:cNvPr id="6" name="Picture 5">
            <a:extLst>
              <a:ext uri="{FF2B5EF4-FFF2-40B4-BE49-F238E27FC236}">
                <a16:creationId xmlns:a16="http://schemas.microsoft.com/office/drawing/2014/main" id="{86918F89-0577-479F-90A8-7E80A1B99557}"/>
              </a:ext>
            </a:extLst>
          </p:cNvPr>
          <p:cNvPicPr>
            <a:picLocks noChangeAspect="1"/>
          </p:cNvPicPr>
          <p:nvPr/>
        </p:nvPicPr>
        <p:blipFill>
          <a:blip r:embed="rId3"/>
          <a:stretch>
            <a:fillRect/>
          </a:stretch>
        </p:blipFill>
        <p:spPr>
          <a:xfrm>
            <a:off x="1524000" y="2438400"/>
            <a:ext cx="6781800" cy="4252573"/>
          </a:xfrm>
          <a:prstGeom prst="rect">
            <a:avLst/>
          </a:prstGeom>
        </p:spPr>
      </p:pic>
    </p:spTree>
    <p:extLst>
      <p:ext uri="{BB962C8B-B14F-4D97-AF65-F5344CB8AC3E}">
        <p14:creationId xmlns:p14="http://schemas.microsoft.com/office/powerpoint/2010/main" val="1856772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599" y="2133600"/>
            <a:ext cx="5791201" cy="3581400"/>
          </a:xfrm>
        </p:spPr>
        <p:txBody>
          <a:bodyPr/>
          <a:lstStyle/>
          <a:p>
            <a:r>
              <a:rPr lang="en-US" sz="1600" dirty="0">
                <a:solidFill>
                  <a:srgbClr val="3C5790"/>
                </a:solidFill>
              </a:rPr>
              <a:t>The local server in LM Studio exposes an </a:t>
            </a:r>
            <a:r>
              <a:rPr lang="en-US" sz="1600" b="1" dirty="0" err="1">
                <a:solidFill>
                  <a:srgbClr val="3C5790"/>
                </a:solidFill>
              </a:rPr>
              <a:t>OpenAI</a:t>
            </a:r>
            <a:r>
              <a:rPr lang="en-US" sz="1600" b="1" dirty="0">
                <a:solidFill>
                  <a:srgbClr val="3C5790"/>
                </a:solidFill>
              </a:rPr>
              <a:t>-compatible API</a:t>
            </a:r>
            <a:r>
              <a:rPr lang="en-US" sz="1600" dirty="0">
                <a:solidFill>
                  <a:srgbClr val="3C5790"/>
                </a:solidFill>
              </a:rPr>
              <a:t>, so most endpoints mirror </a:t>
            </a:r>
            <a:r>
              <a:rPr lang="en-US" sz="1600" dirty="0" err="1">
                <a:solidFill>
                  <a:srgbClr val="3C5790"/>
                </a:solidFill>
              </a:rPr>
              <a:t>OpenAI’s</a:t>
            </a:r>
            <a:r>
              <a:rPr lang="en-US" sz="1600" dirty="0">
                <a:solidFill>
                  <a:srgbClr val="3C5790"/>
                </a:solidFill>
              </a:rPr>
              <a:t> structure but run fully locally.</a:t>
            </a:r>
          </a:p>
          <a:p>
            <a:r>
              <a:rPr lang="en-US" sz="1600" dirty="0">
                <a:solidFill>
                  <a:srgbClr val="3C5790"/>
                </a:solidFill>
              </a:rPr>
              <a:t>Once the Open AI alike server is started we can access it’s endpoints from base URL </a:t>
            </a:r>
            <a:r>
              <a:rPr lang="en-US" sz="1600" dirty="0">
                <a:solidFill>
                  <a:srgbClr val="3C5790"/>
                </a:solidFill>
                <a:hlinkClick r:id="rId3"/>
              </a:rPr>
              <a:t>http://localhost:1234</a:t>
            </a:r>
            <a:r>
              <a:rPr lang="en-US" sz="1600" dirty="0">
                <a:solidFill>
                  <a:srgbClr val="3C5790"/>
                </a:solidFill>
              </a:rPr>
              <a:t> </a:t>
            </a:r>
          </a:p>
          <a:p>
            <a:endParaRPr lang="en-US" sz="1600" dirty="0">
              <a:solidFill>
                <a:srgbClr val="3C5790"/>
              </a:solidFill>
            </a:endParaRPr>
          </a:p>
        </p:txBody>
      </p:sp>
      <p:pic>
        <p:nvPicPr>
          <p:cNvPr id="5" name="Picture 4">
            <a:extLst>
              <a:ext uri="{FF2B5EF4-FFF2-40B4-BE49-F238E27FC236}">
                <a16:creationId xmlns:a16="http://schemas.microsoft.com/office/drawing/2014/main" id="{87BDC2A3-C7A5-4C17-BEFC-3DE9E8B6D852}"/>
              </a:ext>
            </a:extLst>
          </p:cNvPr>
          <p:cNvPicPr>
            <a:picLocks noChangeAspect="1"/>
          </p:cNvPicPr>
          <p:nvPr/>
        </p:nvPicPr>
        <p:blipFill>
          <a:blip r:embed="rId4"/>
          <a:stretch>
            <a:fillRect/>
          </a:stretch>
        </p:blipFill>
        <p:spPr>
          <a:xfrm>
            <a:off x="6231986" y="2209800"/>
            <a:ext cx="2683414" cy="4495800"/>
          </a:xfrm>
          <a:prstGeom prst="rect">
            <a:avLst/>
          </a:prstGeom>
        </p:spPr>
      </p:pic>
    </p:spTree>
    <p:extLst>
      <p:ext uri="{BB962C8B-B14F-4D97-AF65-F5344CB8AC3E}">
        <p14:creationId xmlns:p14="http://schemas.microsoft.com/office/powerpoint/2010/main" val="1904184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962400"/>
          </a:xfrm>
        </p:spPr>
        <p:txBody>
          <a:bodyPr/>
          <a:lstStyle/>
          <a:p>
            <a:r>
              <a:rPr lang="en-US" sz="1400" b="1" dirty="0">
                <a:solidFill>
                  <a:srgbClr val="3C5790"/>
                </a:solidFill>
              </a:rPr>
              <a:t>LM Studio Native API </a:t>
            </a:r>
            <a:r>
              <a:rPr lang="en-US" sz="1400" dirty="0">
                <a:solidFill>
                  <a:srgbClr val="3C5790"/>
                </a:solidFill>
              </a:rPr>
              <a:t>(Internal Control Layer)</a:t>
            </a:r>
          </a:p>
          <a:p>
            <a:pPr lvl="1"/>
            <a:r>
              <a:rPr lang="en-US" sz="1400" dirty="0">
                <a:solidFill>
                  <a:srgbClr val="3C5790"/>
                </a:solidFill>
              </a:rPr>
              <a:t>Used for full local system control and model management.</a:t>
            </a:r>
          </a:p>
          <a:p>
            <a:r>
              <a:rPr lang="en-US" sz="1400" dirty="0">
                <a:solidFill>
                  <a:srgbClr val="3C5790"/>
                </a:solidFill>
              </a:rPr>
              <a:t>GET /</a:t>
            </a:r>
            <a:r>
              <a:rPr lang="en-US" sz="1400" dirty="0" err="1">
                <a:solidFill>
                  <a:srgbClr val="3C5790"/>
                </a:solidFill>
              </a:rPr>
              <a:t>api</a:t>
            </a:r>
            <a:r>
              <a:rPr lang="en-US" sz="1400" dirty="0">
                <a:solidFill>
                  <a:srgbClr val="3C5790"/>
                </a:solidFill>
              </a:rPr>
              <a:t>/v1/models</a:t>
            </a:r>
          </a:p>
          <a:p>
            <a:pPr lvl="1"/>
            <a:r>
              <a:rPr lang="en-US" sz="1400" dirty="0">
                <a:solidFill>
                  <a:srgbClr val="3C5790"/>
                </a:solidFill>
              </a:rPr>
              <a:t>List all available models</a:t>
            </a:r>
          </a:p>
          <a:p>
            <a:r>
              <a:rPr lang="en-US" sz="1400" dirty="0">
                <a:solidFill>
                  <a:srgbClr val="3C5790"/>
                </a:solidFill>
              </a:rPr>
              <a:t>POST /</a:t>
            </a:r>
            <a:r>
              <a:rPr lang="en-US" sz="1400" dirty="0" err="1">
                <a:solidFill>
                  <a:srgbClr val="3C5790"/>
                </a:solidFill>
              </a:rPr>
              <a:t>api</a:t>
            </a:r>
            <a:r>
              <a:rPr lang="en-US" sz="1400" dirty="0">
                <a:solidFill>
                  <a:srgbClr val="3C5790"/>
                </a:solidFill>
              </a:rPr>
              <a:t>/v1/chat</a:t>
            </a:r>
          </a:p>
          <a:p>
            <a:pPr lvl="1"/>
            <a:r>
              <a:rPr lang="en-US" sz="1400" dirty="0">
                <a:solidFill>
                  <a:srgbClr val="3C5790"/>
                </a:solidFill>
              </a:rPr>
              <a:t>Native chat endpoint (LM Studio format)</a:t>
            </a:r>
          </a:p>
          <a:p>
            <a:r>
              <a:rPr lang="en-US" sz="1400" dirty="0">
                <a:solidFill>
                  <a:srgbClr val="3C5790"/>
                </a:solidFill>
              </a:rPr>
              <a:t>POST /</a:t>
            </a:r>
            <a:r>
              <a:rPr lang="en-US" sz="1400" dirty="0" err="1">
                <a:solidFill>
                  <a:srgbClr val="3C5790"/>
                </a:solidFill>
              </a:rPr>
              <a:t>api</a:t>
            </a:r>
            <a:r>
              <a:rPr lang="en-US" sz="1400" dirty="0">
                <a:solidFill>
                  <a:srgbClr val="3C5790"/>
                </a:solidFill>
              </a:rPr>
              <a:t>/v1/models/load</a:t>
            </a:r>
          </a:p>
          <a:p>
            <a:pPr lvl="1"/>
            <a:r>
              <a:rPr lang="en-US" sz="1400" dirty="0">
                <a:solidFill>
                  <a:srgbClr val="3C5790"/>
                </a:solidFill>
              </a:rPr>
              <a:t>Load a model into memory</a:t>
            </a:r>
          </a:p>
          <a:p>
            <a:r>
              <a:rPr lang="en-US" sz="1400" dirty="0">
                <a:solidFill>
                  <a:srgbClr val="3C5790"/>
                </a:solidFill>
              </a:rPr>
              <a:t>POST /</a:t>
            </a:r>
            <a:r>
              <a:rPr lang="en-US" sz="1400" dirty="0" err="1">
                <a:solidFill>
                  <a:srgbClr val="3C5790"/>
                </a:solidFill>
              </a:rPr>
              <a:t>api</a:t>
            </a:r>
            <a:r>
              <a:rPr lang="en-US" sz="1400" dirty="0">
                <a:solidFill>
                  <a:srgbClr val="3C5790"/>
                </a:solidFill>
              </a:rPr>
              <a:t>/v1/models/download</a:t>
            </a:r>
          </a:p>
          <a:p>
            <a:pPr lvl="1"/>
            <a:r>
              <a:rPr lang="en-US" sz="1400" dirty="0">
                <a:solidFill>
                  <a:srgbClr val="3C5790"/>
                </a:solidFill>
              </a:rPr>
              <a:t>Download a model from the library</a:t>
            </a:r>
          </a:p>
          <a:p>
            <a:r>
              <a:rPr lang="en-US" sz="1400" dirty="0">
                <a:solidFill>
                  <a:srgbClr val="3C5790"/>
                </a:solidFill>
              </a:rPr>
              <a:t>GET /</a:t>
            </a:r>
            <a:r>
              <a:rPr lang="en-US" sz="1400" dirty="0" err="1">
                <a:solidFill>
                  <a:srgbClr val="3C5790"/>
                </a:solidFill>
              </a:rPr>
              <a:t>api</a:t>
            </a:r>
            <a:r>
              <a:rPr lang="en-US" sz="1400" dirty="0">
                <a:solidFill>
                  <a:srgbClr val="3C5790"/>
                </a:solidFill>
              </a:rPr>
              <a:t>/v1/models/download/status/:</a:t>
            </a:r>
            <a:r>
              <a:rPr lang="en-US" sz="1400" dirty="0" err="1">
                <a:solidFill>
                  <a:srgbClr val="3C5790"/>
                </a:solidFill>
              </a:rPr>
              <a:t>job_id</a:t>
            </a:r>
            <a:endParaRPr lang="en-US" sz="1400" dirty="0">
              <a:solidFill>
                <a:srgbClr val="3C5790"/>
              </a:solidFill>
            </a:endParaRPr>
          </a:p>
          <a:p>
            <a:pPr lvl="1"/>
            <a:r>
              <a:rPr lang="en-US" sz="1400" dirty="0">
                <a:solidFill>
                  <a:srgbClr val="3C5790"/>
                </a:solidFill>
              </a:rPr>
              <a:t>Check download progress</a:t>
            </a:r>
          </a:p>
          <a:p>
            <a:r>
              <a:rPr lang="en-US" sz="1400" dirty="0">
                <a:solidFill>
                  <a:srgbClr val="3C5790"/>
                </a:solidFill>
              </a:rPr>
              <a:t>Purpose:</a:t>
            </a:r>
          </a:p>
          <a:p>
            <a:pPr lvl="1"/>
            <a:r>
              <a:rPr lang="en-US" sz="1400" dirty="0">
                <a:solidFill>
                  <a:srgbClr val="3C5790"/>
                </a:solidFill>
              </a:rPr>
              <a:t>Low-level control of models and runtime inside LM Studio.</a:t>
            </a:r>
          </a:p>
        </p:txBody>
      </p:sp>
      <p:pic>
        <p:nvPicPr>
          <p:cNvPr id="3" name="Picture 2">
            <a:extLst>
              <a:ext uri="{FF2B5EF4-FFF2-40B4-BE49-F238E27FC236}">
                <a16:creationId xmlns:a16="http://schemas.microsoft.com/office/drawing/2014/main" id="{2144A2F6-59F4-42AD-ACEB-83D3ACAC7455}"/>
              </a:ext>
            </a:extLst>
          </p:cNvPr>
          <p:cNvPicPr>
            <a:picLocks noChangeAspect="1"/>
          </p:cNvPicPr>
          <p:nvPr/>
        </p:nvPicPr>
        <p:blipFill>
          <a:blip r:embed="rId3"/>
          <a:stretch>
            <a:fillRect/>
          </a:stretch>
        </p:blipFill>
        <p:spPr>
          <a:xfrm>
            <a:off x="6105525" y="3124200"/>
            <a:ext cx="2581275" cy="2107163"/>
          </a:xfrm>
          <a:prstGeom prst="rect">
            <a:avLst/>
          </a:prstGeom>
        </p:spPr>
      </p:pic>
    </p:spTree>
    <p:extLst>
      <p:ext uri="{BB962C8B-B14F-4D97-AF65-F5344CB8AC3E}">
        <p14:creationId xmlns:p14="http://schemas.microsoft.com/office/powerpoint/2010/main" val="3798458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962400"/>
          </a:xfrm>
        </p:spPr>
        <p:txBody>
          <a:bodyPr/>
          <a:lstStyle/>
          <a:p>
            <a:r>
              <a:rPr lang="en-US" sz="1400" dirty="0">
                <a:solidFill>
                  <a:srgbClr val="3C5790"/>
                </a:solidFill>
              </a:rPr>
              <a:t> </a:t>
            </a:r>
            <a:r>
              <a:rPr lang="en-US" sz="1400" b="1" dirty="0" err="1">
                <a:solidFill>
                  <a:srgbClr val="3C5790"/>
                </a:solidFill>
              </a:rPr>
              <a:t>OpenAI</a:t>
            </a:r>
            <a:r>
              <a:rPr lang="en-US" sz="1400" b="1" dirty="0">
                <a:solidFill>
                  <a:srgbClr val="3C5790"/>
                </a:solidFill>
              </a:rPr>
              <a:t>-Compatible API (Developer Standard)</a:t>
            </a:r>
          </a:p>
          <a:p>
            <a:pPr lvl="1"/>
            <a:r>
              <a:rPr lang="en-US" sz="1400" dirty="0">
                <a:solidFill>
                  <a:srgbClr val="3C5790"/>
                </a:solidFill>
              </a:rPr>
              <a:t>Used to integrate with existing AI apps and frameworks.</a:t>
            </a:r>
          </a:p>
          <a:p>
            <a:r>
              <a:rPr lang="en-US" sz="1400" dirty="0">
                <a:solidFill>
                  <a:srgbClr val="3C5790"/>
                </a:solidFill>
              </a:rPr>
              <a:t>GET /v1/models</a:t>
            </a:r>
          </a:p>
          <a:p>
            <a:pPr lvl="1"/>
            <a:r>
              <a:rPr lang="en-US" sz="1400" dirty="0">
                <a:solidFill>
                  <a:srgbClr val="3C5790"/>
                </a:solidFill>
              </a:rPr>
              <a:t>List available models</a:t>
            </a:r>
          </a:p>
          <a:p>
            <a:r>
              <a:rPr lang="en-US" sz="1400" dirty="0">
                <a:solidFill>
                  <a:srgbClr val="3C5790"/>
                </a:solidFill>
              </a:rPr>
              <a:t>POST /v1/chat/completions</a:t>
            </a:r>
          </a:p>
          <a:p>
            <a:pPr lvl="1"/>
            <a:r>
              <a:rPr lang="en-US" sz="1400" dirty="0">
                <a:solidFill>
                  <a:srgbClr val="3C5790"/>
                </a:solidFill>
              </a:rPr>
              <a:t>Chat-based generation (</a:t>
            </a:r>
            <a:r>
              <a:rPr lang="en-US" sz="1400" dirty="0" err="1">
                <a:solidFill>
                  <a:srgbClr val="3C5790"/>
                </a:solidFill>
              </a:rPr>
              <a:t>ChatGPT</a:t>
            </a:r>
            <a:r>
              <a:rPr lang="en-US" sz="1400" dirty="0">
                <a:solidFill>
                  <a:srgbClr val="3C5790"/>
                </a:solidFill>
              </a:rPr>
              <a:t>-style)</a:t>
            </a:r>
          </a:p>
          <a:p>
            <a:r>
              <a:rPr lang="en-US" sz="1400" dirty="0">
                <a:solidFill>
                  <a:srgbClr val="3C5790"/>
                </a:solidFill>
              </a:rPr>
              <a:t>POST /v1/completions</a:t>
            </a:r>
          </a:p>
          <a:p>
            <a:pPr lvl="1"/>
            <a:r>
              <a:rPr lang="en-US" sz="1400" dirty="0">
                <a:solidFill>
                  <a:srgbClr val="3C5790"/>
                </a:solidFill>
              </a:rPr>
              <a:t>Classic text completion</a:t>
            </a:r>
          </a:p>
          <a:p>
            <a:r>
              <a:rPr lang="en-US" sz="1400" dirty="0">
                <a:solidFill>
                  <a:srgbClr val="3C5790"/>
                </a:solidFill>
              </a:rPr>
              <a:t>POST /v1/embeddings</a:t>
            </a:r>
          </a:p>
          <a:p>
            <a:pPr lvl="1"/>
            <a:r>
              <a:rPr lang="en-US" sz="1400" dirty="0">
                <a:solidFill>
                  <a:srgbClr val="3C5790"/>
                </a:solidFill>
              </a:rPr>
              <a:t>Generate vector embeddings</a:t>
            </a:r>
          </a:p>
          <a:p>
            <a:r>
              <a:rPr lang="en-US" sz="1400" dirty="0">
                <a:solidFill>
                  <a:srgbClr val="3C5790"/>
                </a:solidFill>
              </a:rPr>
              <a:t>POST /v1/responses (newer abstraction layer)</a:t>
            </a:r>
          </a:p>
          <a:p>
            <a:pPr lvl="1"/>
            <a:r>
              <a:rPr lang="en-US" sz="1400" dirty="0">
                <a:solidFill>
                  <a:srgbClr val="3C5790"/>
                </a:solidFill>
              </a:rPr>
              <a:t>Unified structured response format</a:t>
            </a:r>
          </a:p>
          <a:p>
            <a:r>
              <a:rPr lang="en-US" sz="1400" dirty="0">
                <a:solidFill>
                  <a:srgbClr val="3C5790"/>
                </a:solidFill>
              </a:rPr>
              <a:t>Purpose:</a:t>
            </a:r>
          </a:p>
          <a:p>
            <a:pPr lvl="1"/>
            <a:r>
              <a:rPr lang="en-US" sz="1400" dirty="0">
                <a:solidFill>
                  <a:srgbClr val="3C5790"/>
                </a:solidFill>
              </a:rPr>
              <a:t>Drop-in replacement for </a:t>
            </a:r>
            <a:r>
              <a:rPr lang="en-US" sz="1400" dirty="0" err="1">
                <a:solidFill>
                  <a:srgbClr val="3C5790"/>
                </a:solidFill>
              </a:rPr>
              <a:t>OpenAI</a:t>
            </a:r>
            <a:r>
              <a:rPr lang="en-US" sz="1400" dirty="0">
                <a:solidFill>
                  <a:srgbClr val="3C5790"/>
                </a:solidFill>
              </a:rPr>
              <a:t> API (local instead of cloud).</a:t>
            </a:r>
          </a:p>
        </p:txBody>
      </p:sp>
      <p:pic>
        <p:nvPicPr>
          <p:cNvPr id="3" name="Picture 2">
            <a:extLst>
              <a:ext uri="{FF2B5EF4-FFF2-40B4-BE49-F238E27FC236}">
                <a16:creationId xmlns:a16="http://schemas.microsoft.com/office/drawing/2014/main" id="{4C2A26C9-D73C-468E-9851-58646799A8CC}"/>
              </a:ext>
            </a:extLst>
          </p:cNvPr>
          <p:cNvPicPr>
            <a:picLocks noChangeAspect="1"/>
          </p:cNvPicPr>
          <p:nvPr/>
        </p:nvPicPr>
        <p:blipFill>
          <a:blip r:embed="rId3"/>
          <a:stretch>
            <a:fillRect/>
          </a:stretch>
        </p:blipFill>
        <p:spPr>
          <a:xfrm>
            <a:off x="5974764" y="2936081"/>
            <a:ext cx="2940636" cy="2357437"/>
          </a:xfrm>
          <a:prstGeom prst="rect">
            <a:avLst/>
          </a:prstGeom>
        </p:spPr>
      </p:pic>
    </p:spTree>
    <p:extLst>
      <p:ext uri="{BB962C8B-B14F-4D97-AF65-F5344CB8AC3E}">
        <p14:creationId xmlns:p14="http://schemas.microsoft.com/office/powerpoint/2010/main" val="2096226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962400"/>
          </a:xfrm>
        </p:spPr>
        <p:txBody>
          <a:bodyPr/>
          <a:lstStyle/>
          <a:p>
            <a:r>
              <a:rPr lang="en-US" sz="1400" b="1" dirty="0">
                <a:solidFill>
                  <a:srgbClr val="3C5790"/>
                </a:solidFill>
              </a:rPr>
              <a:t>Anthropic-Compatible API (Claude-style)</a:t>
            </a:r>
          </a:p>
          <a:p>
            <a:pPr lvl="1"/>
            <a:r>
              <a:rPr lang="en-US" sz="1400" dirty="0">
                <a:solidFill>
                  <a:srgbClr val="3C5790"/>
                </a:solidFill>
              </a:rPr>
              <a:t>Used for apps designed around Claude’s API format.</a:t>
            </a:r>
          </a:p>
          <a:p>
            <a:r>
              <a:rPr lang="en-US" sz="1400" dirty="0">
                <a:solidFill>
                  <a:srgbClr val="3C5790"/>
                </a:solidFill>
              </a:rPr>
              <a:t>POST /v1/messages</a:t>
            </a:r>
          </a:p>
          <a:p>
            <a:pPr lvl="1"/>
            <a:r>
              <a:rPr lang="en-US" sz="1400" dirty="0">
                <a:solidFill>
                  <a:srgbClr val="3C5790"/>
                </a:solidFill>
              </a:rPr>
              <a:t>Chat interaction using message-based format</a:t>
            </a:r>
          </a:p>
          <a:p>
            <a:r>
              <a:rPr lang="en-US" sz="1400" dirty="0">
                <a:solidFill>
                  <a:srgbClr val="3C5790"/>
                </a:solidFill>
              </a:rPr>
              <a:t>Purpose:</a:t>
            </a:r>
          </a:p>
          <a:p>
            <a:pPr lvl="1"/>
            <a:r>
              <a:rPr lang="en-US" sz="1400" dirty="0">
                <a:solidFill>
                  <a:srgbClr val="3C5790"/>
                </a:solidFill>
              </a:rPr>
              <a:t>Compatibility with Anthropic/Claude-based applications.</a:t>
            </a:r>
          </a:p>
        </p:txBody>
      </p:sp>
      <p:pic>
        <p:nvPicPr>
          <p:cNvPr id="3" name="Picture 2">
            <a:extLst>
              <a:ext uri="{FF2B5EF4-FFF2-40B4-BE49-F238E27FC236}">
                <a16:creationId xmlns:a16="http://schemas.microsoft.com/office/drawing/2014/main" id="{C7F60978-5948-4B09-80FF-F776C556AEA8}"/>
              </a:ext>
            </a:extLst>
          </p:cNvPr>
          <p:cNvPicPr>
            <a:picLocks noChangeAspect="1"/>
          </p:cNvPicPr>
          <p:nvPr/>
        </p:nvPicPr>
        <p:blipFill>
          <a:blip r:embed="rId3"/>
          <a:stretch>
            <a:fillRect/>
          </a:stretch>
        </p:blipFill>
        <p:spPr>
          <a:xfrm>
            <a:off x="2667000" y="4419600"/>
            <a:ext cx="3533775" cy="1390650"/>
          </a:xfrm>
          <a:prstGeom prst="rect">
            <a:avLst/>
          </a:prstGeom>
        </p:spPr>
      </p:pic>
    </p:spTree>
    <p:extLst>
      <p:ext uri="{BB962C8B-B14F-4D97-AF65-F5344CB8AC3E}">
        <p14:creationId xmlns:p14="http://schemas.microsoft.com/office/powerpoint/2010/main" val="2947926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600" dirty="0">
                <a:solidFill>
                  <a:srgbClr val="3C5790"/>
                </a:solidFill>
              </a:rPr>
              <a:t>We can choose what models to download and interact from the GUI.</a:t>
            </a:r>
          </a:p>
          <a:p>
            <a:endParaRPr lang="en-US" sz="1600" dirty="0">
              <a:solidFill>
                <a:srgbClr val="3C5790"/>
              </a:solidFill>
            </a:endParaRPr>
          </a:p>
        </p:txBody>
      </p:sp>
      <p:pic>
        <p:nvPicPr>
          <p:cNvPr id="4" name="Picture 3">
            <a:extLst>
              <a:ext uri="{FF2B5EF4-FFF2-40B4-BE49-F238E27FC236}">
                <a16:creationId xmlns:a16="http://schemas.microsoft.com/office/drawing/2014/main" id="{E3E878A9-D073-40A9-8213-38711E3B54AD}"/>
              </a:ext>
            </a:extLst>
          </p:cNvPr>
          <p:cNvPicPr>
            <a:picLocks noChangeAspect="1"/>
          </p:cNvPicPr>
          <p:nvPr/>
        </p:nvPicPr>
        <p:blipFill>
          <a:blip r:embed="rId3"/>
          <a:stretch>
            <a:fillRect/>
          </a:stretch>
        </p:blipFill>
        <p:spPr>
          <a:xfrm>
            <a:off x="1295400" y="2612089"/>
            <a:ext cx="7162800" cy="4004130"/>
          </a:xfrm>
          <a:prstGeom prst="rect">
            <a:avLst/>
          </a:prstGeom>
        </p:spPr>
      </p:pic>
    </p:spTree>
    <p:extLst>
      <p:ext uri="{BB962C8B-B14F-4D97-AF65-F5344CB8AC3E}">
        <p14:creationId xmlns:p14="http://schemas.microsoft.com/office/powerpoint/2010/main" val="256496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838200"/>
          </a:xfrm>
        </p:spPr>
        <p:txBody>
          <a:bodyPr/>
          <a:lstStyle/>
          <a:p>
            <a:r>
              <a:rPr lang="en-US" sz="1600" b="1" dirty="0" err="1">
                <a:solidFill>
                  <a:srgbClr val="3C5790"/>
                </a:solidFill>
              </a:rPr>
              <a:t>lms</a:t>
            </a:r>
            <a:r>
              <a:rPr lang="en-US" sz="1600" dirty="0">
                <a:solidFill>
                  <a:srgbClr val="3C5790"/>
                </a:solidFill>
              </a:rPr>
              <a:t> is the command-line interface tool used to control models, run inference, and manage the local server.</a:t>
            </a:r>
          </a:p>
        </p:txBody>
      </p:sp>
      <p:pic>
        <p:nvPicPr>
          <p:cNvPr id="3" name="Picture 2">
            <a:extLst>
              <a:ext uri="{FF2B5EF4-FFF2-40B4-BE49-F238E27FC236}">
                <a16:creationId xmlns:a16="http://schemas.microsoft.com/office/drawing/2014/main" id="{F9EF1C0E-8ED3-418B-9529-1787912CE2E0}"/>
              </a:ext>
            </a:extLst>
          </p:cNvPr>
          <p:cNvPicPr>
            <a:picLocks noChangeAspect="1"/>
          </p:cNvPicPr>
          <p:nvPr/>
        </p:nvPicPr>
        <p:blipFill>
          <a:blip r:embed="rId3"/>
          <a:stretch>
            <a:fillRect/>
          </a:stretch>
        </p:blipFill>
        <p:spPr>
          <a:xfrm>
            <a:off x="2438400" y="2552700"/>
            <a:ext cx="5284457" cy="4138612"/>
          </a:xfrm>
          <a:prstGeom prst="rect">
            <a:avLst/>
          </a:prstGeom>
        </p:spPr>
      </p:pic>
    </p:spTree>
    <p:extLst>
      <p:ext uri="{BB962C8B-B14F-4D97-AF65-F5344CB8AC3E}">
        <p14:creationId xmlns:p14="http://schemas.microsoft.com/office/powerpoint/2010/main" val="1918480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0"/>
          </a:xfrm>
        </p:spPr>
        <p:txBody>
          <a:bodyPr/>
          <a:lstStyle/>
          <a:p>
            <a:r>
              <a:rPr lang="en-US" sz="1400" b="1" dirty="0">
                <a:solidFill>
                  <a:srgbClr val="3C5790"/>
                </a:solidFill>
              </a:rPr>
              <a:t>Local Model Management</a:t>
            </a:r>
          </a:p>
          <a:p>
            <a:r>
              <a:rPr lang="en-US" sz="1400" dirty="0" err="1">
                <a:solidFill>
                  <a:srgbClr val="3C5790"/>
                </a:solidFill>
              </a:rPr>
              <a:t>lms</a:t>
            </a:r>
            <a:r>
              <a:rPr lang="en-US" sz="1400" dirty="0">
                <a:solidFill>
                  <a:srgbClr val="3C5790"/>
                </a:solidFill>
              </a:rPr>
              <a:t> chat</a:t>
            </a:r>
          </a:p>
          <a:p>
            <a:pPr lvl="1"/>
            <a:r>
              <a:rPr lang="en-US" sz="1400" dirty="0">
                <a:solidFill>
                  <a:srgbClr val="3C5790"/>
                </a:solidFill>
              </a:rPr>
              <a:t>Starts an interactive chat session with a selected model (terminal-based chat).</a:t>
            </a:r>
          </a:p>
          <a:p>
            <a:r>
              <a:rPr lang="en-US" sz="1400" dirty="0" err="1">
                <a:solidFill>
                  <a:srgbClr val="3C5790"/>
                </a:solidFill>
              </a:rPr>
              <a:t>lms</a:t>
            </a:r>
            <a:r>
              <a:rPr lang="en-US" sz="1400" dirty="0">
                <a:solidFill>
                  <a:srgbClr val="3C5790"/>
                </a:solidFill>
              </a:rPr>
              <a:t> get</a:t>
            </a:r>
          </a:p>
          <a:p>
            <a:pPr lvl="1"/>
            <a:r>
              <a:rPr lang="en-US" sz="1400" dirty="0">
                <a:solidFill>
                  <a:srgbClr val="3C5790"/>
                </a:solidFill>
              </a:rPr>
              <a:t>Searches and downloads models or presets from the LM Studio library.</a:t>
            </a:r>
          </a:p>
          <a:p>
            <a:r>
              <a:rPr lang="en-US" sz="1400" dirty="0" err="1">
                <a:solidFill>
                  <a:srgbClr val="3C5790"/>
                </a:solidFill>
              </a:rPr>
              <a:t>lms</a:t>
            </a:r>
            <a:r>
              <a:rPr lang="en-US" sz="1400" dirty="0">
                <a:solidFill>
                  <a:srgbClr val="3C5790"/>
                </a:solidFill>
              </a:rPr>
              <a:t> load</a:t>
            </a:r>
          </a:p>
          <a:p>
            <a:pPr lvl="1"/>
            <a:r>
              <a:rPr lang="en-US" sz="1400" dirty="0">
                <a:solidFill>
                  <a:srgbClr val="3C5790"/>
                </a:solidFill>
              </a:rPr>
              <a:t>Loads a model into memory so it can be used for inference.</a:t>
            </a:r>
          </a:p>
          <a:p>
            <a:r>
              <a:rPr lang="en-US" sz="1400" dirty="0" err="1">
                <a:solidFill>
                  <a:srgbClr val="3C5790"/>
                </a:solidFill>
              </a:rPr>
              <a:t>lms</a:t>
            </a:r>
            <a:r>
              <a:rPr lang="en-US" sz="1400" dirty="0">
                <a:solidFill>
                  <a:srgbClr val="3C5790"/>
                </a:solidFill>
              </a:rPr>
              <a:t> unload</a:t>
            </a:r>
          </a:p>
          <a:p>
            <a:pPr lvl="1"/>
            <a:r>
              <a:rPr lang="en-US" sz="1400" dirty="0">
                <a:solidFill>
                  <a:srgbClr val="3C5790"/>
                </a:solidFill>
              </a:rPr>
              <a:t>Removes a model from memory to free system resources.</a:t>
            </a:r>
          </a:p>
          <a:p>
            <a:r>
              <a:rPr lang="en-US" sz="1400" dirty="0" err="1">
                <a:solidFill>
                  <a:srgbClr val="3C5790"/>
                </a:solidFill>
              </a:rPr>
              <a:t>lms</a:t>
            </a:r>
            <a:r>
              <a:rPr lang="en-US" sz="1400" dirty="0">
                <a:solidFill>
                  <a:srgbClr val="3C5790"/>
                </a:solidFill>
              </a:rPr>
              <a:t> ls</a:t>
            </a:r>
          </a:p>
          <a:p>
            <a:pPr lvl="1"/>
            <a:r>
              <a:rPr lang="en-US" sz="1400" dirty="0">
                <a:solidFill>
                  <a:srgbClr val="3C5790"/>
                </a:solidFill>
              </a:rPr>
              <a:t>Lists all models stored on your device.</a:t>
            </a:r>
          </a:p>
          <a:p>
            <a:r>
              <a:rPr lang="en-US" sz="1400" dirty="0" err="1">
                <a:solidFill>
                  <a:srgbClr val="3C5790"/>
                </a:solidFill>
              </a:rPr>
              <a:t>lms</a:t>
            </a:r>
            <a:r>
              <a:rPr lang="en-US" sz="1400" dirty="0">
                <a:solidFill>
                  <a:srgbClr val="3C5790"/>
                </a:solidFill>
              </a:rPr>
              <a:t> </a:t>
            </a:r>
            <a:r>
              <a:rPr lang="en-US" sz="1400" dirty="0" err="1">
                <a:solidFill>
                  <a:srgbClr val="3C5790"/>
                </a:solidFill>
              </a:rPr>
              <a:t>ps</a:t>
            </a:r>
            <a:endParaRPr lang="en-US" sz="1400" dirty="0">
              <a:solidFill>
                <a:srgbClr val="3C5790"/>
              </a:solidFill>
            </a:endParaRPr>
          </a:p>
          <a:p>
            <a:pPr lvl="1"/>
            <a:r>
              <a:rPr lang="en-US" sz="1400" dirty="0">
                <a:solidFill>
                  <a:srgbClr val="3C5790"/>
                </a:solidFill>
              </a:rPr>
              <a:t>Shows models currently running in memory.</a:t>
            </a:r>
          </a:p>
          <a:p>
            <a:r>
              <a:rPr lang="en-US" sz="1400" dirty="0" err="1">
                <a:solidFill>
                  <a:srgbClr val="3C5790"/>
                </a:solidFill>
              </a:rPr>
              <a:t>lms</a:t>
            </a:r>
            <a:r>
              <a:rPr lang="en-US" sz="1400" dirty="0">
                <a:solidFill>
                  <a:srgbClr val="3C5790"/>
                </a:solidFill>
              </a:rPr>
              <a:t> import</a:t>
            </a:r>
          </a:p>
          <a:p>
            <a:pPr lvl="1"/>
            <a:r>
              <a:rPr lang="en-US" sz="1400" dirty="0">
                <a:solidFill>
                  <a:srgbClr val="3C5790"/>
                </a:solidFill>
              </a:rPr>
              <a:t>Imports a local model file into LM Studio.</a:t>
            </a:r>
          </a:p>
        </p:txBody>
      </p:sp>
    </p:spTree>
    <p:extLst>
      <p:ext uri="{BB962C8B-B14F-4D97-AF65-F5344CB8AC3E}">
        <p14:creationId xmlns:p14="http://schemas.microsoft.com/office/powerpoint/2010/main" val="3200892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0"/>
          </a:xfrm>
        </p:spPr>
        <p:txBody>
          <a:bodyPr/>
          <a:lstStyle/>
          <a:p>
            <a:r>
              <a:rPr lang="en-US" sz="1400" b="1" dirty="0">
                <a:solidFill>
                  <a:srgbClr val="3C5790"/>
                </a:solidFill>
              </a:rPr>
              <a:t>Server Management</a:t>
            </a:r>
          </a:p>
          <a:p>
            <a:r>
              <a:rPr lang="en-US" sz="1400" dirty="0" err="1">
                <a:solidFill>
                  <a:srgbClr val="3C5790"/>
                </a:solidFill>
              </a:rPr>
              <a:t>lms</a:t>
            </a:r>
            <a:r>
              <a:rPr lang="en-US" sz="1400" dirty="0">
                <a:solidFill>
                  <a:srgbClr val="3C5790"/>
                </a:solidFill>
              </a:rPr>
              <a:t> server</a:t>
            </a:r>
          </a:p>
          <a:p>
            <a:pPr lvl="1"/>
            <a:r>
              <a:rPr lang="en-US" sz="1400" dirty="0">
                <a:solidFill>
                  <a:srgbClr val="3C5790"/>
                </a:solidFill>
              </a:rPr>
              <a:t>Starts or manages the local API server (used for app integration).</a:t>
            </a:r>
          </a:p>
          <a:p>
            <a:r>
              <a:rPr lang="en-US" sz="1400" dirty="0" err="1">
                <a:solidFill>
                  <a:srgbClr val="3C5790"/>
                </a:solidFill>
              </a:rPr>
              <a:t>lms</a:t>
            </a:r>
            <a:r>
              <a:rPr lang="en-US" sz="1400" dirty="0">
                <a:solidFill>
                  <a:srgbClr val="3C5790"/>
                </a:solidFill>
              </a:rPr>
              <a:t> log</a:t>
            </a:r>
          </a:p>
          <a:p>
            <a:pPr lvl="1"/>
            <a:r>
              <a:rPr lang="en-US" sz="1400" dirty="0">
                <a:solidFill>
                  <a:srgbClr val="3C5790"/>
                </a:solidFill>
              </a:rPr>
              <a:t>Displays request/response logs from the server for debugging.</a:t>
            </a:r>
          </a:p>
          <a:p>
            <a:endParaRPr lang="en-US" sz="1400" b="1" dirty="0">
              <a:solidFill>
                <a:srgbClr val="3C5790"/>
              </a:solidFill>
            </a:endParaRPr>
          </a:p>
          <a:p>
            <a:r>
              <a:rPr lang="en-US" sz="1400" b="1" dirty="0">
                <a:solidFill>
                  <a:srgbClr val="3C5790"/>
                </a:solidFill>
              </a:rPr>
              <a:t>Runtime Control</a:t>
            </a:r>
          </a:p>
          <a:p>
            <a:r>
              <a:rPr lang="en-US" sz="1400" dirty="0" err="1">
                <a:solidFill>
                  <a:srgbClr val="3C5790"/>
                </a:solidFill>
              </a:rPr>
              <a:t>lms</a:t>
            </a:r>
            <a:r>
              <a:rPr lang="en-US" sz="1400" dirty="0">
                <a:solidFill>
                  <a:srgbClr val="3C5790"/>
                </a:solidFill>
              </a:rPr>
              <a:t> runtime</a:t>
            </a:r>
          </a:p>
          <a:p>
            <a:pPr lvl="1"/>
            <a:r>
              <a:rPr lang="en-US" sz="1400" dirty="0">
                <a:solidFill>
                  <a:srgbClr val="3C5790"/>
                </a:solidFill>
              </a:rPr>
              <a:t>Manages and updates the inference engine (model execution backend).</a:t>
            </a:r>
          </a:p>
          <a:p>
            <a:endParaRPr lang="en-US" sz="1400" b="1" dirty="0">
              <a:solidFill>
                <a:srgbClr val="3C5790"/>
              </a:solidFill>
            </a:endParaRPr>
          </a:p>
          <a:p>
            <a:r>
              <a:rPr lang="en-US" sz="1400" b="1" dirty="0">
                <a:solidFill>
                  <a:srgbClr val="3C5790"/>
                </a:solidFill>
              </a:rPr>
              <a:t>Remote / Cloud Features</a:t>
            </a:r>
          </a:p>
          <a:p>
            <a:r>
              <a:rPr lang="en-US" sz="1400" dirty="0" err="1">
                <a:solidFill>
                  <a:srgbClr val="3C5790"/>
                </a:solidFill>
              </a:rPr>
              <a:t>lms</a:t>
            </a:r>
            <a:r>
              <a:rPr lang="en-US" sz="1400" dirty="0">
                <a:solidFill>
                  <a:srgbClr val="3C5790"/>
                </a:solidFill>
              </a:rPr>
              <a:t> link</a:t>
            </a:r>
          </a:p>
          <a:p>
            <a:pPr lvl="1"/>
            <a:r>
              <a:rPr lang="en-US" sz="1400" dirty="0">
                <a:solidFill>
                  <a:srgbClr val="3C5790"/>
                </a:solidFill>
              </a:rPr>
              <a:t>Manages connections to LM Studio remote instances (LM Link).</a:t>
            </a:r>
          </a:p>
        </p:txBody>
      </p:sp>
    </p:spTree>
    <p:extLst>
      <p:ext uri="{BB962C8B-B14F-4D97-AF65-F5344CB8AC3E}">
        <p14:creationId xmlns:p14="http://schemas.microsoft.com/office/powerpoint/2010/main" val="766829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0"/>
          </a:xfrm>
        </p:spPr>
        <p:txBody>
          <a:bodyPr/>
          <a:lstStyle/>
          <a:p>
            <a:r>
              <a:rPr lang="en-US" sz="1400" b="1" dirty="0">
                <a:solidFill>
                  <a:srgbClr val="3C5790"/>
                </a:solidFill>
              </a:rPr>
              <a:t>Development &amp; Publishing (Advanced)</a:t>
            </a:r>
          </a:p>
          <a:p>
            <a:r>
              <a:rPr lang="en-US" sz="1400" dirty="0" err="1">
                <a:solidFill>
                  <a:srgbClr val="3C5790"/>
                </a:solidFill>
              </a:rPr>
              <a:t>lms</a:t>
            </a:r>
            <a:r>
              <a:rPr lang="en-US" sz="1400" dirty="0">
                <a:solidFill>
                  <a:srgbClr val="3C5790"/>
                </a:solidFill>
              </a:rPr>
              <a:t> clone</a:t>
            </a:r>
          </a:p>
          <a:p>
            <a:pPr lvl="1"/>
            <a:r>
              <a:rPr lang="en-US" sz="1400" dirty="0">
                <a:solidFill>
                  <a:srgbClr val="3C5790"/>
                </a:solidFill>
              </a:rPr>
              <a:t>Downloads projects or artifacts from LM Studio Hub.</a:t>
            </a:r>
          </a:p>
          <a:p>
            <a:r>
              <a:rPr lang="en-US" sz="1400" dirty="0" err="1">
                <a:solidFill>
                  <a:srgbClr val="3C5790"/>
                </a:solidFill>
              </a:rPr>
              <a:t>lms</a:t>
            </a:r>
            <a:r>
              <a:rPr lang="en-US" sz="1400" dirty="0">
                <a:solidFill>
                  <a:srgbClr val="3C5790"/>
                </a:solidFill>
              </a:rPr>
              <a:t> push</a:t>
            </a:r>
          </a:p>
          <a:p>
            <a:pPr lvl="1"/>
            <a:r>
              <a:rPr lang="en-US" sz="1400" dirty="0">
                <a:solidFill>
                  <a:srgbClr val="3C5790"/>
                </a:solidFill>
              </a:rPr>
              <a:t>Uploads local projects to LM Studio Hub.</a:t>
            </a:r>
          </a:p>
          <a:p>
            <a:r>
              <a:rPr lang="en-US" sz="1400" dirty="0" err="1">
                <a:solidFill>
                  <a:srgbClr val="3C5790"/>
                </a:solidFill>
              </a:rPr>
              <a:t>lms</a:t>
            </a:r>
            <a:r>
              <a:rPr lang="en-US" sz="1400" dirty="0">
                <a:solidFill>
                  <a:srgbClr val="3C5790"/>
                </a:solidFill>
              </a:rPr>
              <a:t> dev</a:t>
            </a:r>
          </a:p>
          <a:p>
            <a:pPr lvl="1"/>
            <a:r>
              <a:rPr lang="en-US" sz="1400" dirty="0">
                <a:solidFill>
                  <a:srgbClr val="3C5790"/>
                </a:solidFill>
              </a:rPr>
              <a:t>Starts a development server for plugin building.</a:t>
            </a:r>
          </a:p>
          <a:p>
            <a:endParaRPr lang="en-US" sz="1400" dirty="0">
              <a:solidFill>
                <a:srgbClr val="3C5790"/>
              </a:solidFill>
            </a:endParaRPr>
          </a:p>
          <a:p>
            <a:r>
              <a:rPr lang="en-US" sz="1400" b="1" dirty="0">
                <a:solidFill>
                  <a:srgbClr val="3C5790"/>
                </a:solidFill>
              </a:rPr>
              <a:t>Authentication</a:t>
            </a:r>
          </a:p>
          <a:p>
            <a:r>
              <a:rPr lang="en-US" sz="1400" dirty="0" err="1">
                <a:solidFill>
                  <a:srgbClr val="3C5790"/>
                </a:solidFill>
              </a:rPr>
              <a:t>lms</a:t>
            </a:r>
            <a:r>
              <a:rPr lang="en-US" sz="1400" dirty="0">
                <a:solidFill>
                  <a:srgbClr val="3C5790"/>
                </a:solidFill>
              </a:rPr>
              <a:t> login</a:t>
            </a:r>
          </a:p>
          <a:p>
            <a:pPr lvl="1"/>
            <a:r>
              <a:rPr lang="en-US" sz="1400" dirty="0">
                <a:solidFill>
                  <a:srgbClr val="3C5790"/>
                </a:solidFill>
              </a:rPr>
              <a:t>Logs into LM Studio account.</a:t>
            </a:r>
          </a:p>
          <a:p>
            <a:r>
              <a:rPr lang="en-US" sz="1400" dirty="0" err="1">
                <a:solidFill>
                  <a:srgbClr val="3C5790"/>
                </a:solidFill>
              </a:rPr>
              <a:t>lms</a:t>
            </a:r>
            <a:r>
              <a:rPr lang="en-US" sz="1400" dirty="0">
                <a:solidFill>
                  <a:srgbClr val="3C5790"/>
                </a:solidFill>
              </a:rPr>
              <a:t> logout</a:t>
            </a:r>
          </a:p>
          <a:p>
            <a:pPr lvl="1"/>
            <a:r>
              <a:rPr lang="en-US" sz="1400" dirty="0">
                <a:solidFill>
                  <a:srgbClr val="3C5790"/>
                </a:solidFill>
              </a:rPr>
              <a:t>Logs out of the account.</a:t>
            </a:r>
          </a:p>
          <a:p>
            <a:r>
              <a:rPr lang="en-US" sz="1400" dirty="0" err="1">
                <a:solidFill>
                  <a:srgbClr val="3C5790"/>
                </a:solidFill>
              </a:rPr>
              <a:t>lms</a:t>
            </a:r>
            <a:r>
              <a:rPr lang="en-US" sz="1400" dirty="0">
                <a:solidFill>
                  <a:srgbClr val="3C5790"/>
                </a:solidFill>
              </a:rPr>
              <a:t> </a:t>
            </a:r>
            <a:r>
              <a:rPr lang="en-US" sz="1400" dirty="0" err="1">
                <a:solidFill>
                  <a:srgbClr val="3C5790"/>
                </a:solidFill>
              </a:rPr>
              <a:t>whoami</a:t>
            </a:r>
            <a:endParaRPr lang="en-US" sz="1400" dirty="0">
              <a:solidFill>
                <a:srgbClr val="3C5790"/>
              </a:solidFill>
            </a:endParaRPr>
          </a:p>
          <a:p>
            <a:pPr lvl="1"/>
            <a:r>
              <a:rPr lang="en-US" sz="1400" dirty="0">
                <a:solidFill>
                  <a:srgbClr val="3C5790"/>
                </a:solidFill>
              </a:rPr>
              <a:t>Shows current logged-in user status.</a:t>
            </a:r>
          </a:p>
        </p:txBody>
      </p:sp>
    </p:spTree>
    <p:extLst>
      <p:ext uri="{BB962C8B-B14F-4D97-AF65-F5344CB8AC3E}">
        <p14:creationId xmlns:p14="http://schemas.microsoft.com/office/powerpoint/2010/main" val="2541721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85800"/>
          </a:xfrm>
        </p:spPr>
        <p:txBody>
          <a:bodyPr/>
          <a:lstStyle/>
          <a:p>
            <a:r>
              <a:rPr lang="en-US" sz="1400" dirty="0">
                <a:solidFill>
                  <a:srgbClr val="3C5790"/>
                </a:solidFill>
              </a:rPr>
              <a:t>We can use Spring AI to interact with LM Studio, </a:t>
            </a:r>
            <a:r>
              <a:rPr lang="en-US" sz="1400" dirty="0" err="1">
                <a:solidFill>
                  <a:srgbClr val="3C5790"/>
                </a:solidFill>
              </a:rPr>
              <a:t>OpenAI</a:t>
            </a:r>
            <a:r>
              <a:rPr lang="en-US" sz="1400" dirty="0">
                <a:solidFill>
                  <a:srgbClr val="3C5790"/>
                </a:solidFill>
              </a:rPr>
              <a:t> API compatible.</a:t>
            </a:r>
          </a:p>
          <a:p>
            <a:r>
              <a:rPr lang="en-US" sz="1400" dirty="0">
                <a:solidFill>
                  <a:srgbClr val="3C5790"/>
                </a:solidFill>
              </a:rPr>
              <a:t>We enforce HTTP1/1 protocol instead of default HTTP/2.</a:t>
            </a:r>
          </a:p>
          <a:p>
            <a:endParaRPr lang="en-US" sz="1400" dirty="0">
              <a:solidFill>
                <a:srgbClr val="3C5790"/>
              </a:solidFill>
            </a:endParaRPr>
          </a:p>
        </p:txBody>
      </p:sp>
      <p:pic>
        <p:nvPicPr>
          <p:cNvPr id="3" name="Picture 2">
            <a:extLst>
              <a:ext uri="{FF2B5EF4-FFF2-40B4-BE49-F238E27FC236}">
                <a16:creationId xmlns:a16="http://schemas.microsoft.com/office/drawing/2014/main" id="{31522CB8-A790-4E62-B212-5501BCFFF795}"/>
              </a:ext>
            </a:extLst>
          </p:cNvPr>
          <p:cNvPicPr>
            <a:picLocks noChangeAspect="1"/>
          </p:cNvPicPr>
          <p:nvPr/>
        </p:nvPicPr>
        <p:blipFill>
          <a:blip r:embed="rId3"/>
          <a:stretch>
            <a:fillRect/>
          </a:stretch>
        </p:blipFill>
        <p:spPr>
          <a:xfrm>
            <a:off x="457200" y="3209925"/>
            <a:ext cx="5172075" cy="1133475"/>
          </a:xfrm>
          <a:prstGeom prst="rect">
            <a:avLst/>
          </a:prstGeom>
        </p:spPr>
      </p:pic>
      <p:pic>
        <p:nvPicPr>
          <p:cNvPr id="5" name="Picture 4">
            <a:extLst>
              <a:ext uri="{FF2B5EF4-FFF2-40B4-BE49-F238E27FC236}">
                <a16:creationId xmlns:a16="http://schemas.microsoft.com/office/drawing/2014/main" id="{796389CB-FFE0-4ACB-9511-043F60E9FB73}"/>
              </a:ext>
            </a:extLst>
          </p:cNvPr>
          <p:cNvPicPr>
            <a:picLocks noChangeAspect="1"/>
          </p:cNvPicPr>
          <p:nvPr/>
        </p:nvPicPr>
        <p:blipFill>
          <a:blip r:embed="rId4"/>
          <a:stretch>
            <a:fillRect/>
          </a:stretch>
        </p:blipFill>
        <p:spPr>
          <a:xfrm>
            <a:off x="6172200" y="2286000"/>
            <a:ext cx="2656976" cy="4384296"/>
          </a:xfrm>
          <a:prstGeom prst="rect">
            <a:avLst/>
          </a:prstGeom>
        </p:spPr>
      </p:pic>
      <p:pic>
        <p:nvPicPr>
          <p:cNvPr id="7" name="Picture 6">
            <a:extLst>
              <a:ext uri="{FF2B5EF4-FFF2-40B4-BE49-F238E27FC236}">
                <a16:creationId xmlns:a16="http://schemas.microsoft.com/office/drawing/2014/main" id="{6F4944C5-C63E-4D46-B3EF-76C72C6D19A1}"/>
              </a:ext>
            </a:extLst>
          </p:cNvPr>
          <p:cNvPicPr>
            <a:picLocks noChangeAspect="1"/>
          </p:cNvPicPr>
          <p:nvPr/>
        </p:nvPicPr>
        <p:blipFill>
          <a:blip r:embed="rId5"/>
          <a:stretch>
            <a:fillRect/>
          </a:stretch>
        </p:blipFill>
        <p:spPr>
          <a:xfrm>
            <a:off x="531516" y="4777896"/>
            <a:ext cx="5172075" cy="1241904"/>
          </a:xfrm>
          <a:prstGeom prst="rect">
            <a:avLst/>
          </a:prstGeom>
        </p:spPr>
      </p:pic>
    </p:spTree>
    <p:extLst>
      <p:ext uri="{BB962C8B-B14F-4D97-AF65-F5344CB8AC3E}">
        <p14:creationId xmlns:p14="http://schemas.microsoft.com/office/powerpoint/2010/main" val="385647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85800"/>
          </a:xfrm>
        </p:spPr>
        <p:txBody>
          <a:bodyPr/>
          <a:lstStyle/>
          <a:p>
            <a:r>
              <a:rPr lang="en-US" sz="1400" dirty="0">
                <a:solidFill>
                  <a:srgbClr val="3C5790"/>
                </a:solidFill>
              </a:rPr>
              <a:t>We create an AI agent exposed via REST Controller.</a:t>
            </a:r>
          </a:p>
        </p:txBody>
      </p:sp>
      <p:pic>
        <p:nvPicPr>
          <p:cNvPr id="4" name="Picture 3">
            <a:extLst>
              <a:ext uri="{FF2B5EF4-FFF2-40B4-BE49-F238E27FC236}">
                <a16:creationId xmlns:a16="http://schemas.microsoft.com/office/drawing/2014/main" id="{A90071BC-2F32-4168-9F01-1B43DCEEEE51}"/>
              </a:ext>
            </a:extLst>
          </p:cNvPr>
          <p:cNvPicPr>
            <a:picLocks noChangeAspect="1"/>
          </p:cNvPicPr>
          <p:nvPr/>
        </p:nvPicPr>
        <p:blipFill>
          <a:blip r:embed="rId3"/>
          <a:stretch>
            <a:fillRect/>
          </a:stretch>
        </p:blipFill>
        <p:spPr>
          <a:xfrm>
            <a:off x="2447925" y="2743200"/>
            <a:ext cx="3876675" cy="1347275"/>
          </a:xfrm>
          <a:prstGeom prst="rect">
            <a:avLst/>
          </a:prstGeom>
        </p:spPr>
      </p:pic>
      <p:pic>
        <p:nvPicPr>
          <p:cNvPr id="8" name="Picture 7">
            <a:extLst>
              <a:ext uri="{FF2B5EF4-FFF2-40B4-BE49-F238E27FC236}">
                <a16:creationId xmlns:a16="http://schemas.microsoft.com/office/drawing/2014/main" id="{0FD57909-6D25-4CBD-87C5-B5A7F5C272D7}"/>
              </a:ext>
            </a:extLst>
          </p:cNvPr>
          <p:cNvPicPr>
            <a:picLocks noChangeAspect="1"/>
          </p:cNvPicPr>
          <p:nvPr/>
        </p:nvPicPr>
        <p:blipFill>
          <a:blip r:embed="rId4"/>
          <a:stretch>
            <a:fillRect/>
          </a:stretch>
        </p:blipFill>
        <p:spPr>
          <a:xfrm>
            <a:off x="2438400" y="4343400"/>
            <a:ext cx="5072062" cy="2110274"/>
          </a:xfrm>
          <a:prstGeom prst="rect">
            <a:avLst/>
          </a:prstGeom>
        </p:spPr>
      </p:pic>
    </p:spTree>
    <p:extLst>
      <p:ext uri="{BB962C8B-B14F-4D97-AF65-F5344CB8AC3E}">
        <p14:creationId xmlns:p14="http://schemas.microsoft.com/office/powerpoint/2010/main" val="4060284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Conclusion</a:t>
            </a:r>
          </a:p>
        </p:txBody>
      </p:sp>
      <p:sp>
        <p:nvSpPr>
          <p:cNvPr id="4099" name="Espace réservé du contenu 4"/>
          <p:cNvSpPr>
            <a:spLocks noGrp="1"/>
          </p:cNvSpPr>
          <p:nvPr>
            <p:ph idx="1"/>
          </p:nvPr>
        </p:nvSpPr>
        <p:spPr>
          <a:xfrm>
            <a:off x="228600" y="2133600"/>
            <a:ext cx="8686800" cy="3276600"/>
          </a:xfrm>
        </p:spPr>
        <p:txBody>
          <a:bodyPr/>
          <a:lstStyle/>
          <a:p>
            <a:r>
              <a:rPr lang="en-US" sz="1400" b="1" dirty="0">
                <a:solidFill>
                  <a:srgbClr val="3C5790"/>
                </a:solidFill>
              </a:rPr>
              <a:t>Pros</a:t>
            </a:r>
            <a:r>
              <a:rPr lang="en-US" sz="1400" dirty="0">
                <a:solidFill>
                  <a:srgbClr val="3C5790"/>
                </a:solidFill>
              </a:rPr>
              <a:t>:</a:t>
            </a:r>
          </a:p>
          <a:p>
            <a:pPr lvl="1"/>
            <a:r>
              <a:rPr lang="en-US" sz="1200" dirty="0">
                <a:solidFill>
                  <a:srgbClr val="3C5790"/>
                </a:solidFill>
              </a:rPr>
              <a:t>Runs fully offline (no internet required)</a:t>
            </a:r>
          </a:p>
          <a:p>
            <a:pPr lvl="1"/>
            <a:r>
              <a:rPr lang="en-US" sz="1200" dirty="0">
                <a:solidFill>
                  <a:srgbClr val="3C5790"/>
                </a:solidFill>
              </a:rPr>
              <a:t>Strong data privacy (nothing leaves your device)</a:t>
            </a:r>
          </a:p>
          <a:p>
            <a:pPr lvl="1"/>
            <a:r>
              <a:rPr lang="en-US" sz="1200" dirty="0">
                <a:solidFill>
                  <a:srgbClr val="3C5790"/>
                </a:solidFill>
              </a:rPr>
              <a:t>No API costs (free after setup)</a:t>
            </a:r>
          </a:p>
          <a:p>
            <a:pPr lvl="1"/>
            <a:r>
              <a:rPr lang="en-US" sz="1200" dirty="0">
                <a:solidFill>
                  <a:srgbClr val="3C5790"/>
                </a:solidFill>
              </a:rPr>
              <a:t>Easy to use with GUI (no coding needed)</a:t>
            </a:r>
          </a:p>
          <a:p>
            <a:pPr lvl="1"/>
            <a:r>
              <a:rPr lang="en-US" sz="1200" dirty="0">
                <a:solidFill>
                  <a:srgbClr val="3C5790"/>
                </a:solidFill>
              </a:rPr>
              <a:t>Supports many open-source LLMs</a:t>
            </a:r>
          </a:p>
          <a:p>
            <a:pPr lvl="1"/>
            <a:r>
              <a:rPr lang="en-US" sz="1200" dirty="0">
                <a:solidFill>
                  <a:srgbClr val="3C5790"/>
                </a:solidFill>
              </a:rPr>
              <a:t>Built-in chat interface + local API server</a:t>
            </a:r>
          </a:p>
          <a:p>
            <a:r>
              <a:rPr lang="en-US" sz="1400" b="1" dirty="0">
                <a:solidFill>
                  <a:srgbClr val="3C5790"/>
                </a:solidFill>
              </a:rPr>
              <a:t>Cons</a:t>
            </a:r>
            <a:r>
              <a:rPr lang="en-US" sz="1400" dirty="0">
                <a:solidFill>
                  <a:srgbClr val="3C5790"/>
                </a:solidFill>
              </a:rPr>
              <a:t>:</a:t>
            </a:r>
          </a:p>
          <a:p>
            <a:pPr lvl="1"/>
            <a:r>
              <a:rPr lang="en-US" sz="1200" dirty="0">
                <a:solidFill>
                  <a:srgbClr val="3C5790"/>
                </a:solidFill>
              </a:rPr>
              <a:t>Requires powerful hardware (RAM/GPU limitations)</a:t>
            </a:r>
          </a:p>
          <a:p>
            <a:pPr lvl="1"/>
            <a:r>
              <a:rPr lang="en-US" sz="1200" dirty="0">
                <a:solidFill>
                  <a:srgbClr val="3C5790"/>
                </a:solidFill>
              </a:rPr>
              <a:t>Models are often smaller/less capable than cloud models</a:t>
            </a:r>
          </a:p>
          <a:p>
            <a:pPr lvl="1"/>
            <a:r>
              <a:rPr lang="en-US" sz="1200" dirty="0">
                <a:solidFill>
                  <a:srgbClr val="3C5790"/>
                </a:solidFill>
              </a:rPr>
              <a:t>Setup &amp; model downloads can be large and slow</a:t>
            </a:r>
          </a:p>
          <a:p>
            <a:pPr lvl="1"/>
            <a:r>
              <a:rPr lang="en-US" sz="1200" dirty="0">
                <a:solidFill>
                  <a:srgbClr val="3C5790"/>
                </a:solidFill>
              </a:rPr>
              <a:t>Limited performance speed on weaker machines</a:t>
            </a:r>
          </a:p>
          <a:p>
            <a:pPr lvl="1"/>
            <a:r>
              <a:rPr lang="en-US" sz="1200" dirty="0">
                <a:solidFill>
                  <a:srgbClr val="3C5790"/>
                </a:solidFill>
              </a:rPr>
              <a:t>No automatic updates like cloud AI services</a:t>
            </a:r>
          </a:p>
          <a:p>
            <a:pPr lvl="1"/>
            <a:r>
              <a:rPr lang="en-US" sz="1200" dirty="0">
                <a:solidFill>
                  <a:srgbClr val="3C5790"/>
                </a:solidFill>
              </a:rPr>
              <a:t>Fewer advanced features compared to enterprise platforms</a:t>
            </a:r>
          </a:p>
        </p:txBody>
      </p:sp>
    </p:spTree>
    <p:extLst>
      <p:ext uri="{BB962C8B-B14F-4D97-AF65-F5344CB8AC3E}">
        <p14:creationId xmlns:p14="http://schemas.microsoft.com/office/powerpoint/2010/main" val="2422268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2" name="Titre 3"/>
          <p:cNvSpPr>
            <a:spLocks noGrp="1"/>
          </p:cNvSpPr>
          <p:nvPr>
            <p:ph type="title"/>
          </p:nvPr>
        </p:nvSpPr>
        <p:spPr/>
        <p:txBody>
          <a:bodyPr/>
          <a:lstStyle/>
          <a:p>
            <a:r>
              <a:rPr lang="fr-CA" sz="4000" dirty="0" err="1">
                <a:solidFill>
                  <a:schemeClr val="bg1">
                    <a:lumMod val="95000"/>
                  </a:schemeClr>
                </a:solidFill>
              </a:rPr>
              <a:t>Bibliography</a:t>
            </a:r>
            <a:endParaRPr lang="fr-CA" sz="4000" dirty="0">
              <a:solidFill>
                <a:schemeClr val="bg1">
                  <a:lumMod val="95000"/>
                </a:schemeClr>
              </a:solidFill>
            </a:endParaRPr>
          </a:p>
        </p:txBody>
      </p:sp>
      <p:sp>
        <p:nvSpPr>
          <p:cNvPr id="5123" name="Espace réservé du contenu 4"/>
          <p:cNvSpPr>
            <a:spLocks noGrp="1"/>
          </p:cNvSpPr>
          <p:nvPr>
            <p:ph idx="1"/>
          </p:nvPr>
        </p:nvSpPr>
        <p:spPr>
          <a:xfrm>
            <a:off x="457200" y="1676400"/>
            <a:ext cx="8458200" cy="4876800"/>
          </a:xfrm>
        </p:spPr>
        <p:txBody>
          <a:bodyPr/>
          <a:lstStyle/>
          <a:p>
            <a:r>
              <a:rPr lang="en-US" sz="1600" dirty="0">
                <a:solidFill>
                  <a:schemeClr val="bg1"/>
                </a:solidFill>
              </a:rPr>
              <a:t>https://lmstudio.ai/</a:t>
            </a:r>
          </a:p>
        </p:txBody>
      </p:sp>
    </p:spTree>
  </p:cSld>
  <p:clrMapOvr>
    <a:masterClrMapping/>
  </p:clrMapOvr>
</p:sld>
</file>

<file path=ppt/theme/theme1.xml><?xml version="1.0" encoding="utf-8"?>
<a:theme xmlns:a="http://schemas.openxmlformats.org/drawingml/2006/main" name="14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143</Template>
  <TotalTime>19032</TotalTime>
  <Words>1667</Words>
  <Application>Microsoft Office PowerPoint</Application>
  <PresentationFormat>On-screen Show (4:3)</PresentationFormat>
  <Paragraphs>239</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143</vt:lpstr>
      <vt:lpstr>LMStudio</vt:lpstr>
      <vt:lpstr>Contents</vt:lpstr>
      <vt:lpstr>What is LMStudio?</vt:lpstr>
      <vt:lpstr>History</vt:lpstr>
      <vt:lpstr>History (cont.)</vt:lpstr>
      <vt:lpstr>Features</vt:lpstr>
      <vt:lpstr>Features (cont.)</vt:lpstr>
      <vt:lpstr>Features (cont.)</vt:lpstr>
      <vt:lpstr>Architecture</vt:lpstr>
      <vt:lpstr>Architecture (cont.)</vt:lpstr>
      <vt:lpstr>Models</vt:lpstr>
      <vt:lpstr>Models (cont.)</vt:lpstr>
      <vt:lpstr>Models (cont.)</vt:lpstr>
      <vt:lpstr>Core</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Conclusion</vt:lpstr>
      <vt:lpstr>Bibliography</vt:lpstr>
    </vt:vector>
  </TitlesOfParts>
  <Company>Computaris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NAME</dc:title>
  <dc:creator>Ionut Dima</dc:creator>
  <cp:lastModifiedBy>1 2</cp:lastModifiedBy>
  <cp:revision>1179</cp:revision>
  <dcterms:created xsi:type="dcterms:W3CDTF">2012-04-12T06:19:17Z</dcterms:created>
  <dcterms:modified xsi:type="dcterms:W3CDTF">2026-05-18T16:45:36Z</dcterms:modified>
</cp:coreProperties>
</file>