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445" r:id="rId5"/>
    <p:sldId id="468" r:id="rId6"/>
    <p:sldId id="447" r:id="rId7"/>
    <p:sldId id="469" r:id="rId8"/>
    <p:sldId id="470" r:id="rId9"/>
    <p:sldId id="449" r:id="rId10"/>
    <p:sldId id="471" r:id="rId11"/>
    <p:sldId id="472" r:id="rId12"/>
    <p:sldId id="448" r:id="rId13"/>
    <p:sldId id="455" r:id="rId14"/>
    <p:sldId id="473" r:id="rId15"/>
    <p:sldId id="474" r:id="rId16"/>
    <p:sldId id="454" r:id="rId17"/>
    <p:sldId id="463" r:id="rId18"/>
    <p:sldId id="461" r:id="rId19"/>
    <p:sldId id="475" r:id="rId20"/>
    <p:sldId id="478" r:id="rId21"/>
    <p:sldId id="480" r:id="rId22"/>
    <p:sldId id="482" r:id="rId23"/>
    <p:sldId id="484" r:id="rId24"/>
    <p:sldId id="485" r:id="rId25"/>
    <p:sldId id="483" r:id="rId26"/>
    <p:sldId id="488" r:id="rId27"/>
    <p:sldId id="481" r:id="rId28"/>
    <p:sldId id="489" r:id="rId29"/>
    <p:sldId id="490" r:id="rId30"/>
    <p:sldId id="491" r:id="rId31"/>
    <p:sldId id="486" r:id="rId32"/>
    <p:sldId id="487" r:id="rId33"/>
    <p:sldId id="492" r:id="rId34"/>
    <p:sldId id="493" r:id="rId35"/>
    <p:sldId id="497" r:id="rId36"/>
    <p:sldId id="498" r:id="rId37"/>
    <p:sldId id="494" r:id="rId38"/>
    <p:sldId id="495" r:id="rId39"/>
    <p:sldId id="496" r:id="rId40"/>
    <p:sldId id="446" r:id="rId41"/>
    <p:sldId id="259" r:id="rId42"/>
  </p:sldIdLst>
  <p:sldSz cx="9144000" cy="6858000" type="screen4x3"/>
  <p:notesSz cx="6858000" cy="91440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57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52" autoAdjust="0"/>
    <p:restoredTop sz="91768" autoAdjust="0"/>
  </p:normalViewPr>
  <p:slideViewPr>
    <p:cSldViewPr>
      <p:cViewPr>
        <p:scale>
          <a:sx n="66" d="100"/>
          <a:sy n="66" d="100"/>
        </p:scale>
        <p:origin x="129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807098-A8DF-4714-B43F-DC882CB72C38}" type="datetimeFigureOut">
              <a:rPr lang="fr-FR"/>
              <a:pPr>
                <a:defRPr/>
              </a:pPr>
              <a:t>06/07/2026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F57D0A-305D-4A35-A608-B814A0BEDBC9}" type="slidenum">
              <a:rPr lang="fr-CA"/>
              <a:pPr>
                <a:defRPr/>
              </a:pPr>
              <a:t>‹#›</a:t>
            </a:fld>
            <a:endParaRPr lang="fr-C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80763A-51CB-4C09-97C6-6FDA1E354680}" type="datetimeFigureOut">
              <a:rPr lang="fr-FR"/>
              <a:pPr>
                <a:defRPr/>
              </a:pPr>
              <a:t>06/07/2026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92BCFE-7F07-4DEB-84D0-B6E069D09AB4}" type="slidenum">
              <a:rPr lang="fr-CA"/>
              <a:pPr>
                <a:defRPr/>
              </a:pPr>
              <a:t>‹#›</a:t>
            </a:fld>
            <a:endParaRPr lang="fr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034F85-C7AC-44D9-8041-DCE5F1910771}" type="datetimeFigureOut">
              <a:rPr lang="fr-FR"/>
              <a:pPr>
                <a:defRPr/>
              </a:pPr>
              <a:t>06/07/2026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9C1E6-5858-412D-B164-0E5729C1B013}" type="slidenum">
              <a:rPr lang="fr-CA"/>
              <a:pPr>
                <a:defRPr/>
              </a:pPr>
              <a:t>‹#›</a:t>
            </a:fld>
            <a:endParaRPr lang="fr-C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45984F-4687-4822-B90B-D2F0C053EC34}" type="datetimeFigureOut">
              <a:rPr lang="fr-FR"/>
              <a:pPr>
                <a:defRPr/>
              </a:pPr>
              <a:t>06/07/2026</a:t>
            </a:fld>
            <a:endParaRPr lang="fr-CA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F1BFA6-010D-431C-B551-A9D369DB37A1}" type="slidenum">
              <a:rPr lang="fr-CA"/>
              <a:pPr>
                <a:defRPr/>
              </a:pPr>
              <a:t>‹#›</a:t>
            </a:fld>
            <a:endParaRPr lang="fr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7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AEB407-0560-4B40-983D-A7D236E18EC5}" type="datetimeFigureOut">
              <a:rPr lang="fr-FR"/>
              <a:pPr>
                <a:defRPr/>
              </a:pPr>
              <a:t>06/07/2026</a:t>
            </a:fld>
            <a:endParaRPr lang="fr-CA"/>
          </a:p>
        </p:txBody>
      </p:sp>
      <p:sp>
        <p:nvSpPr>
          <p:cNvPr id="8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D0B0A2-27E0-4485-9168-8AA570A8DAFC}" type="slidenum">
              <a:rPr lang="fr-CA"/>
              <a:pPr>
                <a:defRPr/>
              </a:pPr>
              <a:t>‹#›</a:t>
            </a:fld>
            <a:endParaRPr lang="fr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E07EA0-14F2-420C-A475-0D18AFDA93B1}" type="datetimeFigureOut">
              <a:rPr lang="fr-FR"/>
              <a:pPr>
                <a:defRPr/>
              </a:pPr>
              <a:t>06/07/2026</a:t>
            </a:fld>
            <a:endParaRPr lang="fr-CA"/>
          </a:p>
        </p:txBody>
      </p:sp>
      <p:sp>
        <p:nvSpPr>
          <p:cNvPr id="4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B3AE74-2F99-4987-987A-6C3EA8F2668B}" type="slidenum">
              <a:rPr lang="fr-CA"/>
              <a:pPr>
                <a:defRPr/>
              </a:pPr>
              <a:t>‹#›</a:t>
            </a:fld>
            <a:endParaRPr lang="fr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DA1DD5-A17C-48EA-9412-EA98D6409207}" type="datetimeFigureOut">
              <a:rPr lang="fr-FR"/>
              <a:pPr>
                <a:defRPr/>
              </a:pPr>
              <a:t>06/07/2026</a:t>
            </a:fld>
            <a:endParaRPr lang="fr-CA"/>
          </a:p>
        </p:txBody>
      </p:sp>
      <p:sp>
        <p:nvSpPr>
          <p:cNvPr id="3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E848E-D45A-49C9-AF07-E8D1D5BE3B06}" type="slidenum">
              <a:rPr lang="fr-CA"/>
              <a:pPr>
                <a:defRPr/>
              </a:pPr>
              <a:t>‹#›</a:t>
            </a:fld>
            <a:endParaRPr lang="fr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002456-19D9-42BE-A6A4-31B0B2C0CD52}" type="datetimeFigureOut">
              <a:rPr lang="fr-FR"/>
              <a:pPr>
                <a:defRPr/>
              </a:pPr>
              <a:t>06/07/2026</a:t>
            </a:fld>
            <a:endParaRPr lang="fr-CA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AFF93D-3571-4F94-83EE-E5D41E95C87B}" type="slidenum">
              <a:rPr lang="fr-CA"/>
              <a:pPr>
                <a:defRPr/>
              </a:pPr>
              <a:t>‹#›</a:t>
            </a:fld>
            <a:endParaRPr lang="fr-C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fr-CA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FF835A-66CB-4758-9200-7B9C84F9639E}" type="datetimeFigureOut">
              <a:rPr lang="fr-FR"/>
              <a:pPr>
                <a:defRPr/>
              </a:pPr>
              <a:t>06/07/2026</a:t>
            </a:fld>
            <a:endParaRPr lang="fr-CA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7E2403-F942-4042-B87D-191FA9AEC4FC}" type="slidenum">
              <a:rPr lang="fr-CA"/>
              <a:pPr>
                <a:defRPr/>
              </a:pPr>
              <a:t>‹#›</a:t>
            </a:fld>
            <a:endParaRPr lang="fr-C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0CA72D-36E4-4393-9507-9CBDA1AC8F50}" type="datetimeFigureOut">
              <a:rPr lang="fr-FR"/>
              <a:pPr>
                <a:defRPr/>
              </a:pPr>
              <a:t>06/07/2026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488108-AC2B-469D-8E1A-8A1FC91F787D}" type="slidenum">
              <a:rPr lang="fr-CA"/>
              <a:pPr>
                <a:defRPr/>
              </a:pPr>
              <a:t>‹#›</a:t>
            </a:fld>
            <a:endParaRPr lang="fr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3A0D9B-B10A-4C2F-90C1-683BF0DFEB41}" type="datetimeFigureOut">
              <a:rPr lang="fr-FR"/>
              <a:pPr>
                <a:defRPr/>
              </a:pPr>
              <a:t>06/07/2026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44A544-6A6F-467F-AC6F-55FD44753437}" type="slidenum">
              <a:rPr lang="fr-CA"/>
              <a:pPr>
                <a:defRPr/>
              </a:pPr>
              <a:t>‹#›</a:t>
            </a:fld>
            <a:endParaRPr lang="fr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 style du titre</a:t>
            </a:r>
            <a:endParaRPr lang="fr-CA"/>
          </a:p>
        </p:txBody>
      </p:sp>
      <p:sp>
        <p:nvSpPr>
          <p:cNvPr id="102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2E20E43-3D58-4660-B8C5-0C3B8220668E}" type="datetimeFigureOut">
              <a:rPr lang="fr-FR"/>
              <a:pPr>
                <a:defRPr/>
              </a:pPr>
              <a:t>06/07/2026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19B76BF-C9E2-4657-92CA-F0808A608D01}" type="slidenum">
              <a:rPr lang="fr-CA"/>
              <a:pPr>
                <a:defRPr/>
              </a:pPr>
              <a:t>‹#›</a:t>
            </a:fld>
            <a:endParaRPr lang="fr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6333/dashboard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qdrant.github.io/java-client/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re 1"/>
          <p:cNvSpPr>
            <a:spLocks noGrp="1"/>
          </p:cNvSpPr>
          <p:nvPr>
            <p:ph type="ctrTitle"/>
          </p:nvPr>
        </p:nvSpPr>
        <p:spPr>
          <a:xfrm>
            <a:off x="685800" y="3373438"/>
            <a:ext cx="7772400" cy="1012825"/>
          </a:xfrm>
        </p:spPr>
        <p:txBody>
          <a:bodyPr/>
          <a:lstStyle/>
          <a:p>
            <a:r>
              <a:rPr lang="fr-CA" sz="4000" dirty="0" err="1">
                <a:solidFill>
                  <a:schemeClr val="bg1"/>
                </a:solidFill>
              </a:rPr>
              <a:t>Qdrant</a:t>
            </a:r>
            <a:endParaRPr lang="fr-CA" sz="3800" dirty="0">
              <a:solidFill>
                <a:schemeClr val="bg1"/>
              </a:solidFill>
            </a:endParaRPr>
          </a:p>
        </p:txBody>
      </p:sp>
      <p:sp>
        <p:nvSpPr>
          <p:cNvPr id="2051" name="Sous-titre 2"/>
          <p:cNvSpPr>
            <a:spLocks noGrp="1"/>
          </p:cNvSpPr>
          <p:nvPr>
            <p:ph type="subTitle" idx="1"/>
          </p:nvPr>
        </p:nvSpPr>
        <p:spPr>
          <a:xfrm>
            <a:off x="5715000" y="6091237"/>
            <a:ext cx="3124200" cy="614363"/>
          </a:xfrm>
        </p:spPr>
        <p:txBody>
          <a:bodyPr/>
          <a:lstStyle/>
          <a:p>
            <a:r>
              <a:rPr lang="fr-CA" sz="2600" dirty="0">
                <a:solidFill>
                  <a:schemeClr val="bg1"/>
                </a:solidFill>
              </a:rPr>
              <a:t>Dima Ionut Daniel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re 1"/>
          <p:cNvSpPr>
            <a:spLocks noGrp="1"/>
          </p:cNvSpPr>
          <p:nvPr>
            <p:ph type="title"/>
          </p:nvPr>
        </p:nvSpPr>
        <p:spPr>
          <a:xfrm>
            <a:off x="2071688" y="274638"/>
            <a:ext cx="6615112" cy="1143000"/>
          </a:xfrm>
        </p:spPr>
        <p:txBody>
          <a:bodyPr/>
          <a:lstStyle/>
          <a:p>
            <a:pPr algn="l"/>
            <a:r>
              <a:rPr lang="fr-CA" sz="4000" dirty="0">
                <a:solidFill>
                  <a:srgbClr val="3C5790"/>
                </a:solidFill>
              </a:rPr>
              <a:t>Contents</a:t>
            </a:r>
          </a:p>
        </p:txBody>
      </p:sp>
      <p:sp>
        <p:nvSpPr>
          <p:cNvPr id="3075" name="Espace réservé du contenu 2"/>
          <p:cNvSpPr>
            <a:spLocks noGrp="1"/>
          </p:cNvSpPr>
          <p:nvPr>
            <p:ph idx="1"/>
          </p:nvPr>
        </p:nvSpPr>
        <p:spPr>
          <a:xfrm>
            <a:off x="2224088" y="1600200"/>
            <a:ext cx="6615112" cy="5029200"/>
          </a:xfrm>
        </p:spPr>
        <p:txBody>
          <a:bodyPr/>
          <a:lstStyle/>
          <a:p>
            <a:r>
              <a:rPr lang="fr-CA" sz="1600" dirty="0" err="1">
                <a:solidFill>
                  <a:srgbClr val="3C5790"/>
                </a:solidFill>
              </a:rPr>
              <a:t>What</a:t>
            </a:r>
            <a:r>
              <a:rPr lang="fr-CA" sz="1600" dirty="0">
                <a:solidFill>
                  <a:srgbClr val="3C5790"/>
                </a:solidFill>
              </a:rPr>
              <a:t> </a:t>
            </a:r>
            <a:r>
              <a:rPr lang="fr-CA" sz="1600" dirty="0" err="1">
                <a:solidFill>
                  <a:srgbClr val="3C5790"/>
                </a:solidFill>
              </a:rPr>
              <a:t>is</a:t>
            </a:r>
            <a:r>
              <a:rPr lang="fr-CA" sz="1600" dirty="0">
                <a:solidFill>
                  <a:srgbClr val="3C5790"/>
                </a:solidFill>
              </a:rPr>
              <a:t> </a:t>
            </a:r>
            <a:r>
              <a:rPr lang="fr-CA" sz="1600" dirty="0" err="1">
                <a:solidFill>
                  <a:srgbClr val="3C5790"/>
                </a:solidFill>
              </a:rPr>
              <a:t>Qdrant</a:t>
            </a:r>
            <a:r>
              <a:rPr lang="fr-CA" sz="1600" dirty="0">
                <a:solidFill>
                  <a:srgbClr val="3C5790"/>
                </a:solidFill>
              </a:rPr>
              <a:t>?</a:t>
            </a:r>
          </a:p>
          <a:p>
            <a:r>
              <a:rPr lang="fr-CA" sz="1600" dirty="0" err="1">
                <a:solidFill>
                  <a:srgbClr val="3C5790"/>
                </a:solidFill>
              </a:rPr>
              <a:t>Features</a:t>
            </a:r>
            <a:endParaRPr lang="fr-CA" sz="1600" dirty="0">
              <a:solidFill>
                <a:srgbClr val="3C5790"/>
              </a:solidFill>
            </a:endParaRPr>
          </a:p>
          <a:p>
            <a:r>
              <a:rPr lang="fr-CA" sz="1600" dirty="0">
                <a:solidFill>
                  <a:srgbClr val="3C5790"/>
                </a:solidFill>
              </a:rPr>
              <a:t>Use Cases</a:t>
            </a:r>
          </a:p>
          <a:p>
            <a:r>
              <a:rPr lang="fr-CA" sz="1600" dirty="0" err="1">
                <a:solidFill>
                  <a:srgbClr val="3C5790"/>
                </a:solidFill>
              </a:rPr>
              <a:t>Arhitecture</a:t>
            </a:r>
            <a:endParaRPr lang="fr-CA" sz="1600" dirty="0">
              <a:solidFill>
                <a:srgbClr val="3C5790"/>
              </a:solidFill>
            </a:endParaRPr>
          </a:p>
          <a:p>
            <a:r>
              <a:rPr lang="fr-CA" sz="1600" dirty="0">
                <a:solidFill>
                  <a:srgbClr val="3C5790"/>
                </a:solidFill>
              </a:rPr>
              <a:t>Concepts</a:t>
            </a:r>
          </a:p>
          <a:p>
            <a:r>
              <a:rPr lang="fr-CA" sz="1600" dirty="0">
                <a:solidFill>
                  <a:srgbClr val="3C5790"/>
                </a:solidFill>
              </a:rPr>
              <a:t>Core</a:t>
            </a:r>
          </a:p>
          <a:p>
            <a:r>
              <a:rPr lang="fr-CA" sz="1600" dirty="0">
                <a:solidFill>
                  <a:srgbClr val="3C5790"/>
                </a:solidFill>
              </a:rPr>
              <a:t>Java Client</a:t>
            </a:r>
          </a:p>
          <a:p>
            <a:r>
              <a:rPr lang="fr-CA" sz="1600" dirty="0" err="1">
                <a:solidFill>
                  <a:srgbClr val="3C5790"/>
                </a:solidFill>
              </a:rPr>
              <a:t>Comparison</a:t>
            </a:r>
            <a:endParaRPr lang="fr-CA" sz="1600" dirty="0">
              <a:solidFill>
                <a:srgbClr val="3C5790"/>
              </a:solidFill>
            </a:endParaRPr>
          </a:p>
          <a:p>
            <a:r>
              <a:rPr lang="fr-CA" sz="1600" dirty="0">
                <a:solidFill>
                  <a:srgbClr val="3C5790"/>
                </a:solidFill>
              </a:rPr>
              <a:t>Best Practices</a:t>
            </a:r>
          </a:p>
          <a:p>
            <a:r>
              <a:rPr lang="en-US" sz="1600" dirty="0">
                <a:solidFill>
                  <a:srgbClr val="3C5790"/>
                </a:solidFill>
              </a:rPr>
              <a:t>Conclusion</a:t>
            </a:r>
          </a:p>
          <a:p>
            <a:r>
              <a:rPr lang="fr-CA" sz="1600" dirty="0">
                <a:solidFill>
                  <a:srgbClr val="3C5790"/>
                </a:solidFill>
              </a:rPr>
              <a:t>Bibliography</a:t>
            </a:r>
          </a:p>
          <a:p>
            <a:pPr>
              <a:buNone/>
            </a:pPr>
            <a:br>
              <a:rPr lang="fr-CA" sz="1600" dirty="0">
                <a:solidFill>
                  <a:srgbClr val="3C5790"/>
                </a:solidFill>
              </a:rPr>
            </a:br>
            <a:endParaRPr lang="fr-CA" sz="1600" dirty="0">
              <a:solidFill>
                <a:srgbClr val="3C579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>
                <a:solidFill>
                  <a:schemeClr val="bg1"/>
                </a:solidFill>
              </a:rPr>
              <a:t>What</a:t>
            </a:r>
            <a:r>
              <a:rPr lang="fr-CA" dirty="0">
                <a:solidFill>
                  <a:schemeClr val="bg1"/>
                </a:solidFill>
              </a:rPr>
              <a:t> </a:t>
            </a:r>
            <a:r>
              <a:rPr lang="fr-CA" dirty="0" err="1">
                <a:solidFill>
                  <a:schemeClr val="bg1"/>
                </a:solidFill>
              </a:rPr>
              <a:t>is</a:t>
            </a:r>
            <a:r>
              <a:rPr lang="fr-CA" dirty="0">
                <a:solidFill>
                  <a:schemeClr val="bg1"/>
                </a:solidFill>
              </a:rPr>
              <a:t> </a:t>
            </a:r>
            <a:r>
              <a:rPr lang="fr-CA" dirty="0" err="1">
                <a:solidFill>
                  <a:schemeClr val="bg1"/>
                </a:solidFill>
              </a:rPr>
              <a:t>Qdrant</a:t>
            </a:r>
            <a:r>
              <a:rPr lang="fr-CA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4419600"/>
          </a:xfrm>
        </p:spPr>
        <p:txBody>
          <a:bodyPr/>
          <a:lstStyle/>
          <a:p>
            <a:r>
              <a:rPr lang="en-US" sz="1500" b="1" dirty="0" err="1">
                <a:solidFill>
                  <a:srgbClr val="3C5790"/>
                </a:solidFill>
              </a:rPr>
              <a:t>Qdrant</a:t>
            </a:r>
            <a:r>
              <a:rPr lang="en-US" sz="1500" dirty="0">
                <a:solidFill>
                  <a:srgbClr val="3C5790"/>
                </a:solidFill>
              </a:rPr>
              <a:t> (read: quadrant) is a vector similarity search engine and vector database. </a:t>
            </a:r>
          </a:p>
          <a:p>
            <a:r>
              <a:rPr lang="en-US" sz="1500" dirty="0">
                <a:solidFill>
                  <a:srgbClr val="3C5790"/>
                </a:solidFill>
              </a:rPr>
              <a:t>It provides a production-ready service with a convenient API to store, search, and manage points—vectors with an additional payload </a:t>
            </a:r>
            <a:r>
              <a:rPr lang="en-US" sz="1500" dirty="0" err="1">
                <a:solidFill>
                  <a:srgbClr val="3C5790"/>
                </a:solidFill>
              </a:rPr>
              <a:t>Qdrant</a:t>
            </a:r>
            <a:r>
              <a:rPr lang="en-US" sz="1500" dirty="0">
                <a:solidFill>
                  <a:srgbClr val="3C5790"/>
                </a:solidFill>
              </a:rPr>
              <a:t> is tailored to extended filtering support. It makes it useful for all sorts of neural-network or semantic-based matching, faceted search, and other applications.</a:t>
            </a:r>
          </a:p>
          <a:p>
            <a:r>
              <a:rPr lang="en-US" sz="1500" dirty="0" err="1">
                <a:solidFill>
                  <a:srgbClr val="3C5790"/>
                </a:solidFill>
              </a:rPr>
              <a:t>Qdrant</a:t>
            </a:r>
            <a:r>
              <a:rPr lang="en-US" sz="1500" dirty="0">
                <a:solidFill>
                  <a:srgbClr val="3C5790"/>
                </a:solidFill>
              </a:rPr>
              <a:t> is written in Rust, which makes it fast and reliable even under high load.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>
                <a:solidFill>
                  <a:schemeClr val="bg1"/>
                </a:solidFill>
              </a:rPr>
              <a:t>Features</a:t>
            </a:r>
            <a:endParaRPr lang="fr-CA" dirty="0">
              <a:solidFill>
                <a:schemeClr val="bg1"/>
              </a:solidFill>
            </a:endParaRP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3657600"/>
          </a:xfrm>
        </p:spPr>
        <p:txBody>
          <a:bodyPr/>
          <a:lstStyle/>
          <a:p>
            <a:r>
              <a:rPr lang="en-US" sz="1400" b="1" dirty="0">
                <a:solidFill>
                  <a:srgbClr val="3C5790"/>
                </a:solidFill>
              </a:rPr>
              <a:t>Vector Search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High-performance similarity search for high-dimensional vectors.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Supports distance metrics: Cosine similarity, Euclidean (L2), and Dot product.</a:t>
            </a:r>
          </a:p>
          <a:p>
            <a:r>
              <a:rPr lang="en-US" sz="1400" b="1" dirty="0">
                <a:solidFill>
                  <a:srgbClr val="3C5790"/>
                </a:solidFill>
              </a:rPr>
              <a:t>Metadata Filtering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Store additional metadata (payload) with vectors.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Filter search results by metadata fields (tags, numeric ranges, categories).</a:t>
            </a:r>
          </a:p>
          <a:p>
            <a:r>
              <a:rPr lang="en-US" sz="1400" b="1" dirty="0">
                <a:solidFill>
                  <a:srgbClr val="3C5790"/>
                </a:solidFill>
              </a:rPr>
              <a:t>Persistence &amp; Storage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Data can be persisted to disk for durability.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Optional in-memory mode for fast testing.</a:t>
            </a:r>
          </a:p>
          <a:p>
            <a:r>
              <a:rPr lang="en-US" sz="1400" b="1" dirty="0">
                <a:solidFill>
                  <a:srgbClr val="3C5790"/>
                </a:solidFill>
              </a:rPr>
              <a:t>Scalability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Efficiently handles millions of vectors.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Horizontal scaling possible for larger workloads.  </a:t>
            </a:r>
          </a:p>
        </p:txBody>
      </p:sp>
    </p:spTree>
    <p:extLst>
      <p:ext uri="{BB962C8B-B14F-4D97-AF65-F5344CB8AC3E}">
        <p14:creationId xmlns:p14="http://schemas.microsoft.com/office/powerpoint/2010/main" val="2708943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>
                <a:solidFill>
                  <a:schemeClr val="bg1"/>
                </a:solidFill>
              </a:rPr>
              <a:t>Features</a:t>
            </a:r>
            <a:r>
              <a:rPr lang="fr-CA" dirty="0">
                <a:solidFill>
                  <a:schemeClr val="bg1"/>
                </a:solidFill>
              </a:rPr>
              <a:t> (</a:t>
            </a:r>
            <a:r>
              <a:rPr lang="fr-CA" dirty="0" err="1">
                <a:solidFill>
                  <a:schemeClr val="bg1"/>
                </a:solidFill>
              </a:rPr>
              <a:t>cont</a:t>
            </a:r>
            <a:r>
              <a:rPr lang="fr-CA" dirty="0">
                <a:solidFill>
                  <a:schemeClr val="bg1"/>
                </a:solidFill>
              </a:rPr>
              <a:t>.)</a:t>
            </a: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3657600"/>
          </a:xfrm>
        </p:spPr>
        <p:txBody>
          <a:bodyPr/>
          <a:lstStyle/>
          <a:p>
            <a:r>
              <a:rPr lang="en-US" sz="1400" b="1" dirty="0">
                <a:solidFill>
                  <a:srgbClr val="3C5790"/>
                </a:solidFill>
              </a:rPr>
              <a:t>SDKs &amp; APIs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Official clients in Python, Java, JavaScript, and Go.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Supports REST API and </a:t>
            </a:r>
            <a:r>
              <a:rPr lang="en-US" sz="1400" dirty="0" err="1">
                <a:solidFill>
                  <a:srgbClr val="3C5790"/>
                </a:solidFill>
              </a:rPr>
              <a:t>gRPC</a:t>
            </a:r>
            <a:r>
              <a:rPr lang="en-US" sz="1400" dirty="0">
                <a:solidFill>
                  <a:srgbClr val="3C5790"/>
                </a:solidFill>
              </a:rPr>
              <a:t> API for language-agnostic integration.</a:t>
            </a:r>
          </a:p>
          <a:p>
            <a:r>
              <a:rPr lang="en-US" sz="1400" b="1" dirty="0">
                <a:solidFill>
                  <a:srgbClr val="3C5790"/>
                </a:solidFill>
              </a:rPr>
              <a:t>Docker &amp; Cloud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Official Docker images for easy local deployment.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Managed </a:t>
            </a:r>
            <a:r>
              <a:rPr lang="en-US" sz="1400" dirty="0" err="1">
                <a:solidFill>
                  <a:srgbClr val="3C5790"/>
                </a:solidFill>
              </a:rPr>
              <a:t>Qdrant</a:t>
            </a:r>
            <a:r>
              <a:rPr lang="en-US" sz="1400" dirty="0">
                <a:solidFill>
                  <a:srgbClr val="3C5790"/>
                </a:solidFill>
              </a:rPr>
              <a:t> Cloud with free and paid tiers.</a:t>
            </a:r>
          </a:p>
          <a:p>
            <a:r>
              <a:rPr lang="en-US" sz="1400" b="1" dirty="0">
                <a:solidFill>
                  <a:srgbClr val="3C5790"/>
                </a:solidFill>
              </a:rPr>
              <a:t>Built-in Dashboard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Web UI for inspecting collections, points, and running searches.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Supports browsing vectors and metadata interactively.</a:t>
            </a:r>
          </a:p>
          <a:p>
            <a:r>
              <a:rPr lang="en-US" sz="1400" b="1" dirty="0">
                <a:solidFill>
                  <a:srgbClr val="3C5790"/>
                </a:solidFill>
              </a:rPr>
              <a:t>LLM &amp; Embedding Friendly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Perfect for RAG (retrieval-augmented generation) pipelines.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Stores embeddings from </a:t>
            </a:r>
            <a:r>
              <a:rPr lang="en-US" sz="1400" dirty="0" err="1">
                <a:solidFill>
                  <a:srgbClr val="3C5790"/>
                </a:solidFill>
              </a:rPr>
              <a:t>OpenAI</a:t>
            </a:r>
            <a:r>
              <a:rPr lang="en-US" sz="1400" dirty="0">
                <a:solidFill>
                  <a:srgbClr val="3C5790"/>
                </a:solidFill>
              </a:rPr>
              <a:t>, </a:t>
            </a:r>
            <a:r>
              <a:rPr lang="en-US" sz="1400" dirty="0" err="1">
                <a:solidFill>
                  <a:srgbClr val="3C5790"/>
                </a:solidFill>
              </a:rPr>
              <a:t>HuggingFace</a:t>
            </a:r>
            <a:r>
              <a:rPr lang="en-US" sz="1400" dirty="0">
                <a:solidFill>
                  <a:srgbClr val="3C5790"/>
                </a:solidFill>
              </a:rPr>
              <a:t>, or custom models.</a:t>
            </a:r>
          </a:p>
          <a:p>
            <a:r>
              <a:rPr lang="en-US" sz="1400" b="1" dirty="0">
                <a:solidFill>
                  <a:srgbClr val="3C5790"/>
                </a:solidFill>
              </a:rPr>
              <a:t>Batch Operations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Bulk </a:t>
            </a:r>
            <a:r>
              <a:rPr lang="en-US" sz="1400" dirty="0" err="1">
                <a:solidFill>
                  <a:srgbClr val="3C5790"/>
                </a:solidFill>
              </a:rPr>
              <a:t>upsert</a:t>
            </a:r>
            <a:r>
              <a:rPr lang="en-US" sz="1400" dirty="0">
                <a:solidFill>
                  <a:srgbClr val="3C5790"/>
                </a:solidFill>
              </a:rPr>
              <a:t> and delete points for efficient data management.</a:t>
            </a:r>
          </a:p>
        </p:txBody>
      </p:sp>
    </p:spTree>
    <p:extLst>
      <p:ext uri="{BB962C8B-B14F-4D97-AF65-F5344CB8AC3E}">
        <p14:creationId xmlns:p14="http://schemas.microsoft.com/office/powerpoint/2010/main" val="1500375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chemeClr val="bg1"/>
                </a:solidFill>
              </a:rPr>
              <a:t>Use Cases</a:t>
            </a: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3352800"/>
          </a:xfrm>
        </p:spPr>
        <p:txBody>
          <a:bodyPr/>
          <a:lstStyle/>
          <a:p>
            <a:r>
              <a:rPr lang="en-US" sz="1400" b="1" dirty="0">
                <a:solidFill>
                  <a:srgbClr val="3C5790"/>
                </a:solidFill>
              </a:rPr>
              <a:t>Semantic Search / Similarity Search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Store embeddings of documents, articles, or products.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Search by meaning rather than exact keywords.</a:t>
            </a:r>
          </a:p>
          <a:p>
            <a:r>
              <a:rPr lang="en-US" sz="1400" dirty="0">
                <a:solidFill>
                  <a:srgbClr val="3C5790"/>
                </a:solidFill>
              </a:rPr>
              <a:t>Example: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Find the most relevant FAQs for a user query.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Search similar research papers or legal documents.</a:t>
            </a:r>
          </a:p>
          <a:p>
            <a:r>
              <a:rPr lang="en-US" sz="1400" b="1" dirty="0">
                <a:solidFill>
                  <a:srgbClr val="3C5790"/>
                </a:solidFill>
              </a:rPr>
              <a:t>Retrieval-Augmented Generation (RAG)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Combine </a:t>
            </a:r>
            <a:r>
              <a:rPr lang="en-US" sz="1400" dirty="0" err="1">
                <a:solidFill>
                  <a:srgbClr val="3C5790"/>
                </a:solidFill>
              </a:rPr>
              <a:t>Qdrant</a:t>
            </a:r>
            <a:r>
              <a:rPr lang="en-US" sz="1400" dirty="0">
                <a:solidFill>
                  <a:srgbClr val="3C5790"/>
                </a:solidFill>
              </a:rPr>
              <a:t> with LLMs to provide context-aware answers.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Store embeddings of a knowledge base and retrieve relevant content for AI-generated responses.</a:t>
            </a:r>
          </a:p>
          <a:p>
            <a:r>
              <a:rPr lang="en-US" sz="1400" dirty="0">
                <a:solidFill>
                  <a:srgbClr val="3C5790"/>
                </a:solidFill>
              </a:rPr>
              <a:t>Example: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Customer support chatbots providing context from company docs.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AI assistants summarizing or answering questions using stored data.</a:t>
            </a:r>
          </a:p>
          <a:p>
            <a:endParaRPr lang="fr-CA" sz="1400" dirty="0">
              <a:solidFill>
                <a:srgbClr val="3C57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4434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chemeClr val="bg1"/>
                </a:solidFill>
              </a:rPr>
              <a:t>Use Cases (</a:t>
            </a:r>
            <a:r>
              <a:rPr lang="fr-CA" dirty="0" err="1">
                <a:solidFill>
                  <a:schemeClr val="bg1"/>
                </a:solidFill>
              </a:rPr>
              <a:t>cont</a:t>
            </a:r>
            <a:r>
              <a:rPr lang="fr-CA" dirty="0">
                <a:solidFill>
                  <a:schemeClr val="bg1"/>
                </a:solidFill>
              </a:rPr>
              <a:t>.)</a:t>
            </a: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2971800"/>
          </a:xfrm>
        </p:spPr>
        <p:txBody>
          <a:bodyPr/>
          <a:lstStyle/>
          <a:p>
            <a:r>
              <a:rPr lang="en-US" sz="1400" b="1" dirty="0">
                <a:solidFill>
                  <a:srgbClr val="3C5790"/>
                </a:solidFill>
              </a:rPr>
              <a:t>Recommendation Systems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Match users with items/products based on vector similarity.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Supports both content-based and embedding-based recommendations.</a:t>
            </a:r>
          </a:p>
          <a:p>
            <a:r>
              <a:rPr lang="en-US" sz="1400" dirty="0">
                <a:solidFill>
                  <a:srgbClr val="3C5790"/>
                </a:solidFill>
              </a:rPr>
              <a:t>Example: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Suggesting similar movies, products, or playlists.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Personalized learning content recommendations.</a:t>
            </a:r>
          </a:p>
          <a:p>
            <a:r>
              <a:rPr lang="en-US" sz="1400" b="1" dirty="0">
                <a:solidFill>
                  <a:srgbClr val="3C5790"/>
                </a:solidFill>
              </a:rPr>
              <a:t>Image &amp; Multimedia Search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Store image or audio embeddings generated by models like CLIP.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Perform similarity searches to find visually or aurally similar content.</a:t>
            </a:r>
          </a:p>
          <a:p>
            <a:r>
              <a:rPr lang="en-US" sz="1400" dirty="0">
                <a:solidFill>
                  <a:srgbClr val="3C5790"/>
                </a:solidFill>
              </a:rPr>
              <a:t>Example: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Search by image instead of text.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Find similar songs or visual patterns.</a:t>
            </a:r>
            <a:endParaRPr lang="fr-CA" sz="1400" dirty="0">
              <a:solidFill>
                <a:srgbClr val="3C57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7427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chemeClr val="bg1"/>
                </a:solidFill>
              </a:rPr>
              <a:t>Use Cases (</a:t>
            </a:r>
            <a:r>
              <a:rPr lang="fr-CA" dirty="0" err="1">
                <a:solidFill>
                  <a:schemeClr val="bg1"/>
                </a:solidFill>
              </a:rPr>
              <a:t>cont</a:t>
            </a:r>
            <a:r>
              <a:rPr lang="fr-CA" dirty="0">
                <a:solidFill>
                  <a:schemeClr val="bg1"/>
                </a:solidFill>
              </a:rPr>
              <a:t>.)</a:t>
            </a: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3276600"/>
          </a:xfrm>
        </p:spPr>
        <p:txBody>
          <a:bodyPr/>
          <a:lstStyle/>
          <a:p>
            <a:r>
              <a:rPr lang="en-US" sz="1600" b="1" dirty="0">
                <a:solidFill>
                  <a:srgbClr val="3C5790"/>
                </a:solidFill>
              </a:rPr>
              <a:t>Anomaly Detection</a:t>
            </a:r>
          </a:p>
          <a:p>
            <a:pPr lvl="1"/>
            <a:r>
              <a:rPr lang="en-US" sz="1600" dirty="0">
                <a:solidFill>
                  <a:srgbClr val="3C5790"/>
                </a:solidFill>
              </a:rPr>
              <a:t>Compare new vectors to a reference set to identify outliers.</a:t>
            </a:r>
          </a:p>
          <a:p>
            <a:r>
              <a:rPr lang="en-US" sz="1600" dirty="0">
                <a:solidFill>
                  <a:srgbClr val="3C5790"/>
                </a:solidFill>
              </a:rPr>
              <a:t>Example:</a:t>
            </a:r>
          </a:p>
          <a:p>
            <a:pPr lvl="1"/>
            <a:r>
              <a:rPr lang="en-US" sz="1600" dirty="0">
                <a:solidFill>
                  <a:srgbClr val="3C5790"/>
                </a:solidFill>
              </a:rPr>
              <a:t>Fraud detection based on transaction embeddings.</a:t>
            </a:r>
          </a:p>
          <a:p>
            <a:pPr lvl="1"/>
            <a:r>
              <a:rPr lang="en-US" sz="1600" dirty="0">
                <a:solidFill>
                  <a:srgbClr val="3C5790"/>
                </a:solidFill>
              </a:rPr>
              <a:t>Detect unusual behavior in IoT or logs.</a:t>
            </a:r>
          </a:p>
          <a:p>
            <a:r>
              <a:rPr lang="en-US" sz="1600" b="1" dirty="0">
                <a:solidFill>
                  <a:srgbClr val="3C5790"/>
                </a:solidFill>
              </a:rPr>
              <a:t>Personalization &amp; User Profiles</a:t>
            </a:r>
          </a:p>
          <a:p>
            <a:pPr lvl="1"/>
            <a:r>
              <a:rPr lang="en-US" sz="1600" dirty="0">
                <a:solidFill>
                  <a:srgbClr val="3C5790"/>
                </a:solidFill>
              </a:rPr>
              <a:t>Represent users as embeddings based on activity, preferences, or behavior.</a:t>
            </a:r>
          </a:p>
          <a:p>
            <a:pPr lvl="1"/>
            <a:r>
              <a:rPr lang="en-US" sz="1600" dirty="0">
                <a:solidFill>
                  <a:srgbClr val="3C5790"/>
                </a:solidFill>
              </a:rPr>
              <a:t>Match them with content or offers using vector similarity.</a:t>
            </a:r>
          </a:p>
          <a:p>
            <a:r>
              <a:rPr lang="en-US" sz="1600" dirty="0">
                <a:solidFill>
                  <a:srgbClr val="3C5790"/>
                </a:solidFill>
              </a:rPr>
              <a:t>Example:</a:t>
            </a:r>
          </a:p>
          <a:p>
            <a:pPr lvl="1"/>
            <a:r>
              <a:rPr lang="en-US" sz="1600" dirty="0">
                <a:solidFill>
                  <a:srgbClr val="3C5790"/>
                </a:solidFill>
              </a:rPr>
              <a:t>Personalized e-commerce recommendations.</a:t>
            </a:r>
          </a:p>
          <a:p>
            <a:pPr lvl="1"/>
            <a:r>
              <a:rPr lang="en-US" sz="1600" dirty="0">
                <a:solidFill>
                  <a:srgbClr val="3C5790"/>
                </a:solidFill>
              </a:rPr>
              <a:t>Tailored news feeds.</a:t>
            </a:r>
            <a:endParaRPr lang="fr-CA" sz="1600" dirty="0">
              <a:solidFill>
                <a:srgbClr val="3C57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5792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>
                <a:solidFill>
                  <a:schemeClr val="bg1"/>
                </a:solidFill>
              </a:rPr>
              <a:t>Arhitecture</a:t>
            </a:r>
            <a:endParaRPr lang="fr-CA" dirty="0">
              <a:solidFill>
                <a:schemeClr val="bg1"/>
              </a:solidFill>
            </a:endParaRP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3276600"/>
          </a:xfrm>
        </p:spPr>
        <p:txBody>
          <a:bodyPr/>
          <a:lstStyle/>
          <a:p>
            <a:r>
              <a:rPr lang="en-US" sz="1400" b="1" dirty="0" err="1">
                <a:solidFill>
                  <a:srgbClr val="3C5790"/>
                </a:solidFill>
              </a:rPr>
              <a:t>Qdrant</a:t>
            </a:r>
            <a:r>
              <a:rPr lang="en-US" sz="1400" dirty="0">
                <a:solidFill>
                  <a:srgbClr val="3C5790"/>
                </a:solidFill>
              </a:rPr>
              <a:t> is designed as a high-performance, vector search database with support for metadata filtering, persistence, and real-time updates. Its architecture can be understood in several layers:</a:t>
            </a:r>
          </a:p>
          <a:p>
            <a:r>
              <a:rPr lang="fr-CA" sz="1400" b="1" dirty="0" err="1">
                <a:solidFill>
                  <a:srgbClr val="3C5790"/>
                </a:solidFill>
              </a:rPr>
              <a:t>Vector</a:t>
            </a:r>
            <a:r>
              <a:rPr lang="fr-CA" sz="1400" b="1" dirty="0">
                <a:solidFill>
                  <a:srgbClr val="3C5790"/>
                </a:solidFill>
              </a:rPr>
              <a:t> Engine</a:t>
            </a:r>
            <a:r>
              <a:rPr lang="fr-CA" sz="1400" dirty="0">
                <a:solidFill>
                  <a:srgbClr val="3C5790"/>
                </a:solidFill>
              </a:rPr>
              <a:t>: </a:t>
            </a:r>
            <a:r>
              <a:rPr lang="en-US" sz="1400" dirty="0">
                <a:solidFill>
                  <a:srgbClr val="3C5790"/>
                </a:solidFill>
              </a:rPr>
              <a:t>stores and indexes high-dimensional vectors. Uses HNSW (Hierarchical Navigable Small World) graphs for fast nearest neighbor search.</a:t>
            </a:r>
          </a:p>
          <a:p>
            <a:r>
              <a:rPr lang="en-US" sz="1400" b="1" dirty="0">
                <a:solidFill>
                  <a:srgbClr val="3C5790"/>
                </a:solidFill>
              </a:rPr>
              <a:t>Collections</a:t>
            </a:r>
            <a:r>
              <a:rPr lang="en-US" sz="1400" dirty="0">
                <a:solidFill>
                  <a:srgbClr val="3C5790"/>
                </a:solidFill>
              </a:rPr>
              <a:t>: logical grouping of vectors, similar to tables in SQL. Each collection has a vector size, distance metric, and optional metadata schema.</a:t>
            </a:r>
          </a:p>
          <a:p>
            <a:r>
              <a:rPr lang="en-US" sz="1400" b="1" dirty="0">
                <a:solidFill>
                  <a:srgbClr val="3C5790"/>
                </a:solidFill>
              </a:rPr>
              <a:t>Points</a:t>
            </a:r>
            <a:r>
              <a:rPr lang="en-US" sz="1400" dirty="0">
                <a:solidFill>
                  <a:srgbClr val="3C5790"/>
                </a:solidFill>
              </a:rPr>
              <a:t>: Individual entries in a collection, consisting of:</a:t>
            </a:r>
          </a:p>
          <a:p>
            <a:pPr lvl="1"/>
            <a:r>
              <a:rPr lang="en-US" sz="1000" dirty="0">
                <a:solidFill>
                  <a:srgbClr val="3C5790"/>
                </a:solidFill>
              </a:rPr>
              <a:t>A vector (embedding)</a:t>
            </a:r>
          </a:p>
          <a:p>
            <a:pPr lvl="1"/>
            <a:r>
              <a:rPr lang="en-US" sz="1000" dirty="0">
                <a:solidFill>
                  <a:srgbClr val="3C5790"/>
                </a:solidFill>
              </a:rPr>
              <a:t>A payload (metadata like tags, text, numeric values)</a:t>
            </a:r>
          </a:p>
          <a:p>
            <a:pPr lvl="1"/>
            <a:r>
              <a:rPr lang="en-US" sz="1000" dirty="0">
                <a:solidFill>
                  <a:srgbClr val="3C5790"/>
                </a:solidFill>
              </a:rPr>
              <a:t>A unique ID</a:t>
            </a:r>
          </a:p>
          <a:p>
            <a:r>
              <a:rPr lang="en-US" sz="1400" b="1" dirty="0">
                <a:solidFill>
                  <a:srgbClr val="3C5790"/>
                </a:solidFill>
              </a:rPr>
              <a:t>Payload / Metadata Store</a:t>
            </a:r>
            <a:r>
              <a:rPr lang="en-US" sz="1400" dirty="0">
                <a:solidFill>
                  <a:srgbClr val="3C5790"/>
                </a:solidFill>
              </a:rPr>
              <a:t>: stores the associated metadata for filtering during searches. Supports structured queries.</a:t>
            </a:r>
          </a:p>
          <a:p>
            <a:r>
              <a:rPr lang="en-US" sz="1400" b="1" dirty="0">
                <a:solidFill>
                  <a:srgbClr val="3C5790"/>
                </a:solidFill>
              </a:rPr>
              <a:t>Persistence Layer</a:t>
            </a:r>
            <a:r>
              <a:rPr lang="en-US" sz="1400" dirty="0">
                <a:solidFill>
                  <a:srgbClr val="3C5790"/>
                </a:solidFill>
              </a:rPr>
              <a:t>: saves vectors and metadata to disk for durability. Supports recovery and safe shutdowns.</a:t>
            </a:r>
            <a:endParaRPr lang="fr-CA" sz="1400" dirty="0">
              <a:solidFill>
                <a:srgbClr val="3C57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24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>
                <a:solidFill>
                  <a:schemeClr val="bg1"/>
                </a:solidFill>
              </a:rPr>
              <a:t>Arhitecture</a:t>
            </a:r>
            <a:r>
              <a:rPr lang="fr-CA" dirty="0">
                <a:solidFill>
                  <a:schemeClr val="bg1"/>
                </a:solidFill>
              </a:rPr>
              <a:t> (</a:t>
            </a:r>
            <a:r>
              <a:rPr lang="fr-CA" dirty="0" err="1">
                <a:solidFill>
                  <a:schemeClr val="bg1"/>
                </a:solidFill>
              </a:rPr>
              <a:t>cont</a:t>
            </a:r>
            <a:r>
              <a:rPr lang="fr-CA" dirty="0">
                <a:solidFill>
                  <a:schemeClr val="bg1"/>
                </a:solidFill>
              </a:rPr>
              <a:t>.)</a:t>
            </a: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3962400"/>
          </a:xfrm>
        </p:spPr>
        <p:txBody>
          <a:bodyPr/>
          <a:lstStyle/>
          <a:p>
            <a:r>
              <a:rPr lang="en-US" sz="1400" b="1" dirty="0">
                <a:solidFill>
                  <a:srgbClr val="3C5790"/>
                </a:solidFill>
              </a:rPr>
              <a:t>Indexing &amp; Search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Uses HNSW graph for approximate nearest neighbor search (ANN):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Efficient for high-dimensional vectors.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Supports billions of vectors with sub-second latency.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Search is filtered by metadata if provided, using a separate filtering engine.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Supports dynamic inserts and deletes without rebuilding the entire index.</a:t>
            </a:r>
          </a:p>
          <a:p>
            <a:r>
              <a:rPr lang="fr-CA" sz="1400" u="sng" dirty="0">
                <a:solidFill>
                  <a:srgbClr val="3C5790"/>
                </a:solidFill>
              </a:rPr>
              <a:t>API Layer</a:t>
            </a:r>
          </a:p>
          <a:p>
            <a:pPr lvl="1"/>
            <a:r>
              <a:rPr lang="fr-CA" sz="1400" b="1" dirty="0">
                <a:solidFill>
                  <a:srgbClr val="3C5790"/>
                </a:solidFill>
              </a:rPr>
              <a:t>REST API</a:t>
            </a:r>
          </a:p>
          <a:p>
            <a:pPr lvl="2"/>
            <a:r>
              <a:rPr lang="fr-CA" sz="1400" dirty="0">
                <a:solidFill>
                  <a:srgbClr val="3C5790"/>
                </a:solidFill>
              </a:rPr>
              <a:t>Exposes </a:t>
            </a:r>
            <a:r>
              <a:rPr lang="fr-CA" sz="1400" dirty="0" err="1">
                <a:solidFill>
                  <a:srgbClr val="3C5790"/>
                </a:solidFill>
              </a:rPr>
              <a:t>endpoints</a:t>
            </a:r>
            <a:r>
              <a:rPr lang="fr-CA" sz="1400" dirty="0">
                <a:solidFill>
                  <a:srgbClr val="3C5790"/>
                </a:solidFill>
              </a:rPr>
              <a:t> for CRUD </a:t>
            </a:r>
            <a:r>
              <a:rPr lang="fr-CA" sz="1400" dirty="0" err="1">
                <a:solidFill>
                  <a:srgbClr val="3C5790"/>
                </a:solidFill>
              </a:rPr>
              <a:t>operations</a:t>
            </a:r>
            <a:r>
              <a:rPr lang="fr-CA" sz="1400" dirty="0">
                <a:solidFill>
                  <a:srgbClr val="3C5790"/>
                </a:solidFill>
              </a:rPr>
              <a:t>: </a:t>
            </a:r>
            <a:r>
              <a:rPr lang="fr-CA" sz="1400" dirty="0" err="1">
                <a:solidFill>
                  <a:srgbClr val="3C5790"/>
                </a:solidFill>
              </a:rPr>
              <a:t>create</a:t>
            </a:r>
            <a:r>
              <a:rPr lang="fr-CA" sz="1400" dirty="0">
                <a:solidFill>
                  <a:srgbClr val="3C5790"/>
                </a:solidFill>
              </a:rPr>
              <a:t> collections, </a:t>
            </a:r>
            <a:r>
              <a:rPr lang="fr-CA" sz="1400" dirty="0" err="1">
                <a:solidFill>
                  <a:srgbClr val="3C5790"/>
                </a:solidFill>
              </a:rPr>
              <a:t>upsert</a:t>
            </a:r>
            <a:r>
              <a:rPr lang="fr-CA" sz="1400" dirty="0">
                <a:solidFill>
                  <a:srgbClr val="3C5790"/>
                </a:solidFill>
              </a:rPr>
              <a:t> points, </a:t>
            </a:r>
            <a:r>
              <a:rPr lang="fr-CA" sz="1400" dirty="0" err="1">
                <a:solidFill>
                  <a:srgbClr val="3C5790"/>
                </a:solidFill>
              </a:rPr>
              <a:t>search</a:t>
            </a:r>
            <a:r>
              <a:rPr lang="fr-CA" sz="1400" dirty="0">
                <a:solidFill>
                  <a:srgbClr val="3C5790"/>
                </a:solidFill>
              </a:rPr>
              <a:t> </a:t>
            </a:r>
            <a:r>
              <a:rPr lang="fr-CA" sz="1400" dirty="0" err="1">
                <a:solidFill>
                  <a:srgbClr val="3C5790"/>
                </a:solidFill>
              </a:rPr>
              <a:t>vectors</a:t>
            </a:r>
            <a:r>
              <a:rPr lang="fr-CA" sz="1400" dirty="0">
                <a:solidFill>
                  <a:srgbClr val="3C5790"/>
                </a:solidFill>
              </a:rPr>
              <a:t>.</a:t>
            </a:r>
          </a:p>
          <a:p>
            <a:pPr lvl="1"/>
            <a:r>
              <a:rPr lang="fr-CA" sz="1400" b="1" dirty="0" err="1">
                <a:solidFill>
                  <a:srgbClr val="3C5790"/>
                </a:solidFill>
              </a:rPr>
              <a:t>gRPC</a:t>
            </a:r>
            <a:r>
              <a:rPr lang="fr-CA" sz="1400" b="1" dirty="0">
                <a:solidFill>
                  <a:srgbClr val="3C5790"/>
                </a:solidFill>
              </a:rPr>
              <a:t> API</a:t>
            </a:r>
          </a:p>
          <a:p>
            <a:pPr lvl="2"/>
            <a:r>
              <a:rPr lang="fr-CA" sz="1400" dirty="0" err="1">
                <a:solidFill>
                  <a:srgbClr val="3C5790"/>
                </a:solidFill>
              </a:rPr>
              <a:t>Faster</a:t>
            </a:r>
            <a:r>
              <a:rPr lang="fr-CA" sz="1400" dirty="0">
                <a:solidFill>
                  <a:srgbClr val="3C5790"/>
                </a:solidFill>
              </a:rPr>
              <a:t> and </a:t>
            </a:r>
            <a:r>
              <a:rPr lang="fr-CA" sz="1400" dirty="0" err="1">
                <a:solidFill>
                  <a:srgbClr val="3C5790"/>
                </a:solidFill>
              </a:rPr>
              <a:t>language-agnostic</a:t>
            </a:r>
            <a:r>
              <a:rPr lang="fr-CA" sz="1400" dirty="0">
                <a:solidFill>
                  <a:srgbClr val="3C5790"/>
                </a:solidFill>
              </a:rPr>
              <a:t> alternative for production </a:t>
            </a:r>
            <a:r>
              <a:rPr lang="fr-CA" sz="1400" dirty="0" err="1">
                <a:solidFill>
                  <a:srgbClr val="3C5790"/>
                </a:solidFill>
              </a:rPr>
              <a:t>workloads</a:t>
            </a:r>
            <a:r>
              <a:rPr lang="fr-CA" sz="1400" dirty="0">
                <a:solidFill>
                  <a:srgbClr val="3C5790"/>
                </a:solidFill>
              </a:rPr>
              <a:t>.</a:t>
            </a:r>
          </a:p>
          <a:p>
            <a:pPr lvl="1"/>
            <a:r>
              <a:rPr lang="fr-CA" sz="1400" b="1" dirty="0">
                <a:solidFill>
                  <a:srgbClr val="3C5790"/>
                </a:solidFill>
              </a:rPr>
              <a:t>SDKs</a:t>
            </a:r>
          </a:p>
          <a:p>
            <a:pPr lvl="2"/>
            <a:r>
              <a:rPr lang="fr-CA" sz="1400" dirty="0">
                <a:solidFill>
                  <a:srgbClr val="3C5790"/>
                </a:solidFill>
              </a:rPr>
              <a:t>Official clients for Python, Java, JavaScript, Go.</a:t>
            </a:r>
          </a:p>
          <a:p>
            <a:pPr lvl="2"/>
            <a:r>
              <a:rPr lang="fr-CA" sz="1400" dirty="0">
                <a:solidFill>
                  <a:srgbClr val="3C5790"/>
                </a:solidFill>
              </a:rPr>
              <a:t>Wrap API calls in </a:t>
            </a:r>
            <a:r>
              <a:rPr lang="fr-CA" sz="1400" dirty="0" err="1">
                <a:solidFill>
                  <a:srgbClr val="3C5790"/>
                </a:solidFill>
              </a:rPr>
              <a:t>idiomatic</a:t>
            </a:r>
            <a:r>
              <a:rPr lang="fr-CA" sz="1400" dirty="0">
                <a:solidFill>
                  <a:srgbClr val="3C5790"/>
                </a:solidFill>
              </a:rPr>
              <a:t> </a:t>
            </a:r>
            <a:r>
              <a:rPr lang="fr-CA" sz="1400" dirty="0" err="1">
                <a:solidFill>
                  <a:srgbClr val="3C5790"/>
                </a:solidFill>
              </a:rPr>
              <a:t>language</a:t>
            </a:r>
            <a:r>
              <a:rPr lang="fr-CA" sz="1400" dirty="0">
                <a:solidFill>
                  <a:srgbClr val="3C5790"/>
                </a:solidFill>
              </a:rPr>
              <a:t> interfaces.</a:t>
            </a:r>
          </a:p>
        </p:txBody>
      </p:sp>
    </p:spTree>
    <p:extLst>
      <p:ext uri="{BB962C8B-B14F-4D97-AF65-F5344CB8AC3E}">
        <p14:creationId xmlns:p14="http://schemas.microsoft.com/office/powerpoint/2010/main" val="2224065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>
                <a:solidFill>
                  <a:schemeClr val="bg1"/>
                </a:solidFill>
              </a:rPr>
              <a:t>Arhitecture</a:t>
            </a:r>
            <a:r>
              <a:rPr lang="fr-CA" dirty="0">
                <a:solidFill>
                  <a:schemeClr val="bg1"/>
                </a:solidFill>
              </a:rPr>
              <a:t> (</a:t>
            </a:r>
            <a:r>
              <a:rPr lang="fr-CA" dirty="0" err="1">
                <a:solidFill>
                  <a:schemeClr val="bg1"/>
                </a:solidFill>
              </a:rPr>
              <a:t>cont</a:t>
            </a:r>
            <a:r>
              <a:rPr lang="fr-CA" dirty="0">
                <a:solidFill>
                  <a:schemeClr val="bg1"/>
                </a:solidFill>
              </a:rPr>
              <a:t>.)</a:t>
            </a: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3276600"/>
          </a:xfrm>
        </p:spPr>
        <p:txBody>
          <a:bodyPr/>
          <a:lstStyle/>
          <a:p>
            <a:r>
              <a:rPr lang="en-US" sz="1400" u="sng" dirty="0">
                <a:solidFill>
                  <a:srgbClr val="3C5790"/>
                </a:solidFill>
              </a:rPr>
              <a:t>Deployment Architecture</a:t>
            </a:r>
          </a:p>
          <a:p>
            <a:r>
              <a:rPr lang="en-US" sz="1400" b="1" dirty="0">
                <a:solidFill>
                  <a:srgbClr val="3C5790"/>
                </a:solidFill>
              </a:rPr>
              <a:t>Single-node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Local or Docker deployment. Suitable for dev/testing and small workloads.</a:t>
            </a:r>
          </a:p>
          <a:p>
            <a:r>
              <a:rPr lang="en-US" sz="1400" b="1" dirty="0">
                <a:solidFill>
                  <a:srgbClr val="3C5790"/>
                </a:solidFill>
              </a:rPr>
              <a:t>Clustered / Multi-node</a:t>
            </a:r>
          </a:p>
          <a:p>
            <a:r>
              <a:rPr lang="en-US" sz="1400" dirty="0" err="1">
                <a:solidFill>
                  <a:srgbClr val="3C5790"/>
                </a:solidFill>
              </a:rPr>
              <a:t>Qdrant</a:t>
            </a:r>
            <a:r>
              <a:rPr lang="en-US" sz="1400" dirty="0">
                <a:solidFill>
                  <a:srgbClr val="3C5790"/>
                </a:solidFill>
              </a:rPr>
              <a:t> supports horizontal scaling for production:</a:t>
            </a:r>
          </a:p>
          <a:p>
            <a:pPr lvl="1"/>
            <a:r>
              <a:rPr lang="en-US" sz="1400" dirty="0" err="1">
                <a:solidFill>
                  <a:srgbClr val="3C5790"/>
                </a:solidFill>
              </a:rPr>
              <a:t>Sharding</a:t>
            </a:r>
            <a:r>
              <a:rPr lang="en-US" sz="1400" dirty="0">
                <a:solidFill>
                  <a:srgbClr val="3C5790"/>
                </a:solidFill>
              </a:rPr>
              <a:t>: splitting collections across nodes.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Replication: high availability and fault tolerance.</a:t>
            </a:r>
          </a:p>
          <a:p>
            <a:r>
              <a:rPr lang="en-US" sz="1400" dirty="0">
                <a:solidFill>
                  <a:srgbClr val="3C5790"/>
                </a:solidFill>
              </a:rPr>
              <a:t>Managed </a:t>
            </a:r>
            <a:r>
              <a:rPr lang="en-US" sz="1400" dirty="0" err="1">
                <a:solidFill>
                  <a:srgbClr val="3C5790"/>
                </a:solidFill>
              </a:rPr>
              <a:t>Qdrant</a:t>
            </a:r>
            <a:r>
              <a:rPr lang="en-US" sz="1400" dirty="0">
                <a:solidFill>
                  <a:srgbClr val="3C5790"/>
                </a:solidFill>
              </a:rPr>
              <a:t> Cloud provides clustering out of the box.</a:t>
            </a:r>
            <a:endParaRPr lang="fr-CA" sz="1400" dirty="0">
              <a:solidFill>
                <a:srgbClr val="3C57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8201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chemeClr val="bg1"/>
                </a:solidFill>
              </a:rPr>
              <a:t>Concepts</a:t>
            </a: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3581400"/>
          </a:xfrm>
        </p:spPr>
        <p:txBody>
          <a:bodyPr/>
          <a:lstStyle/>
          <a:p>
            <a:r>
              <a:rPr lang="en-US" sz="1400" b="1" dirty="0">
                <a:solidFill>
                  <a:srgbClr val="3C5790"/>
                </a:solidFill>
              </a:rPr>
              <a:t>Collections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A collection is like a “table” in a traditional database.</a:t>
            </a:r>
          </a:p>
          <a:p>
            <a:r>
              <a:rPr lang="en-US" sz="1400" dirty="0">
                <a:solidFill>
                  <a:srgbClr val="3C5790"/>
                </a:solidFill>
              </a:rPr>
              <a:t>Defines: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Vector size (dimension of embeddings)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Distance metric (Cosine, Euclidean, Dot product)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Optional metadata schema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All points (vectors + payloads) are stored in a collection.</a:t>
            </a:r>
          </a:p>
          <a:p>
            <a:r>
              <a:rPr lang="en-US" sz="1400" b="1" dirty="0">
                <a:solidFill>
                  <a:srgbClr val="3C5790"/>
                </a:solidFill>
              </a:rPr>
              <a:t>Points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The fundamental unit of data in </a:t>
            </a:r>
            <a:r>
              <a:rPr lang="en-US" sz="1400" dirty="0" err="1">
                <a:solidFill>
                  <a:srgbClr val="3C5790"/>
                </a:solidFill>
              </a:rPr>
              <a:t>Qdrant</a:t>
            </a:r>
            <a:r>
              <a:rPr lang="en-US" sz="1400" dirty="0">
                <a:solidFill>
                  <a:srgbClr val="3C5790"/>
                </a:solidFill>
              </a:rPr>
              <a:t>.</a:t>
            </a:r>
          </a:p>
          <a:p>
            <a:r>
              <a:rPr lang="en-US" sz="1400" dirty="0">
                <a:solidFill>
                  <a:srgbClr val="3C5790"/>
                </a:solidFill>
              </a:rPr>
              <a:t>Each point contains: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Vector – high-dimensional embedding representing the data.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Payload / Metadata – optional key-value pairs for filtering (e.g., category, timestamp).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ID – unique identifier for the point.</a:t>
            </a:r>
          </a:p>
        </p:txBody>
      </p:sp>
    </p:spTree>
    <p:extLst>
      <p:ext uri="{BB962C8B-B14F-4D97-AF65-F5344CB8AC3E}">
        <p14:creationId xmlns:p14="http://schemas.microsoft.com/office/powerpoint/2010/main" val="2981222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chemeClr val="bg1"/>
                </a:solidFill>
              </a:rPr>
              <a:t>Concepts (</a:t>
            </a:r>
            <a:r>
              <a:rPr lang="fr-CA" dirty="0" err="1">
                <a:solidFill>
                  <a:schemeClr val="bg1"/>
                </a:solidFill>
              </a:rPr>
              <a:t>cont</a:t>
            </a:r>
            <a:r>
              <a:rPr lang="fr-CA" dirty="0">
                <a:solidFill>
                  <a:schemeClr val="bg1"/>
                </a:solidFill>
              </a:rPr>
              <a:t>.)</a:t>
            </a: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3581400"/>
          </a:xfrm>
        </p:spPr>
        <p:txBody>
          <a:bodyPr/>
          <a:lstStyle/>
          <a:p>
            <a:r>
              <a:rPr lang="en-US" sz="1400" b="1" dirty="0">
                <a:solidFill>
                  <a:srgbClr val="3C5790"/>
                </a:solidFill>
              </a:rPr>
              <a:t>Payload / Metadata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Extra information attached to points.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Can be text, numeric, </a:t>
            </a:r>
            <a:r>
              <a:rPr lang="en-US" sz="1400" dirty="0" err="1">
                <a:solidFill>
                  <a:srgbClr val="3C5790"/>
                </a:solidFill>
              </a:rPr>
              <a:t>boolean</a:t>
            </a:r>
            <a:r>
              <a:rPr lang="en-US" sz="1400" dirty="0">
                <a:solidFill>
                  <a:srgbClr val="3C5790"/>
                </a:solidFill>
              </a:rPr>
              <a:t>, or structured objects.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Used for filtering results during searches.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Example: {"category": "science", "</a:t>
            </a:r>
            <a:r>
              <a:rPr lang="en-US" sz="1400" dirty="0" err="1">
                <a:solidFill>
                  <a:srgbClr val="3C5790"/>
                </a:solidFill>
              </a:rPr>
              <a:t>published_year</a:t>
            </a:r>
            <a:r>
              <a:rPr lang="en-US" sz="1400" dirty="0">
                <a:solidFill>
                  <a:srgbClr val="3C5790"/>
                </a:solidFill>
              </a:rPr>
              <a:t>": 2023}</a:t>
            </a:r>
          </a:p>
          <a:p>
            <a:r>
              <a:rPr lang="en-US" sz="1400" b="1" dirty="0">
                <a:solidFill>
                  <a:srgbClr val="3C5790"/>
                </a:solidFill>
              </a:rPr>
              <a:t>Vector Index (HNSW)</a:t>
            </a:r>
          </a:p>
          <a:p>
            <a:pPr lvl="1"/>
            <a:r>
              <a:rPr lang="en-US" sz="1400" dirty="0" err="1">
                <a:solidFill>
                  <a:srgbClr val="3C5790"/>
                </a:solidFill>
              </a:rPr>
              <a:t>Qdrant</a:t>
            </a:r>
            <a:r>
              <a:rPr lang="en-US" sz="1400" dirty="0">
                <a:solidFill>
                  <a:srgbClr val="3C5790"/>
                </a:solidFill>
              </a:rPr>
              <a:t> uses HNSW (Hierarchical Navigable Small World) graphs for indexing vectors.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Enables fast approximate nearest neighbor search (ANN) even with millions of points.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Supports dynamic insertions and deletions without rebuilding the index.</a:t>
            </a:r>
          </a:p>
          <a:p>
            <a:r>
              <a:rPr lang="fr-CA" sz="1400" b="1" dirty="0">
                <a:solidFill>
                  <a:srgbClr val="3C5790"/>
                </a:solidFill>
              </a:rPr>
              <a:t>Distance </a:t>
            </a:r>
            <a:r>
              <a:rPr lang="fr-CA" sz="1400" b="1" dirty="0" err="1">
                <a:solidFill>
                  <a:srgbClr val="3C5790"/>
                </a:solidFill>
              </a:rPr>
              <a:t>Metrics</a:t>
            </a:r>
            <a:endParaRPr lang="fr-CA" sz="1400" b="1" dirty="0">
              <a:solidFill>
                <a:srgbClr val="3C5790"/>
              </a:solidFill>
            </a:endParaRPr>
          </a:p>
          <a:p>
            <a:pPr lvl="1"/>
            <a:r>
              <a:rPr lang="fr-CA" sz="1400" dirty="0" err="1">
                <a:solidFill>
                  <a:srgbClr val="3C5790"/>
                </a:solidFill>
              </a:rPr>
              <a:t>Qdrant</a:t>
            </a:r>
            <a:r>
              <a:rPr lang="fr-CA" sz="1400" dirty="0">
                <a:solidFill>
                  <a:srgbClr val="3C5790"/>
                </a:solidFill>
              </a:rPr>
              <a:t> supports multiple distance </a:t>
            </a:r>
            <a:r>
              <a:rPr lang="fr-CA" sz="1400" dirty="0" err="1">
                <a:solidFill>
                  <a:srgbClr val="3C5790"/>
                </a:solidFill>
              </a:rPr>
              <a:t>metrics</a:t>
            </a:r>
            <a:r>
              <a:rPr lang="fr-CA" sz="1400" dirty="0">
                <a:solidFill>
                  <a:srgbClr val="3C5790"/>
                </a:solidFill>
              </a:rPr>
              <a:t> for </a:t>
            </a:r>
            <a:r>
              <a:rPr lang="fr-CA" sz="1400" dirty="0" err="1">
                <a:solidFill>
                  <a:srgbClr val="3C5790"/>
                </a:solidFill>
              </a:rPr>
              <a:t>vector</a:t>
            </a:r>
            <a:r>
              <a:rPr lang="fr-CA" sz="1400" dirty="0">
                <a:solidFill>
                  <a:srgbClr val="3C5790"/>
                </a:solidFill>
              </a:rPr>
              <a:t> </a:t>
            </a:r>
            <a:r>
              <a:rPr lang="fr-CA" sz="1400" dirty="0" err="1">
                <a:solidFill>
                  <a:srgbClr val="3C5790"/>
                </a:solidFill>
              </a:rPr>
              <a:t>similarity</a:t>
            </a:r>
            <a:r>
              <a:rPr lang="fr-CA" sz="1400" dirty="0">
                <a:solidFill>
                  <a:srgbClr val="3C5790"/>
                </a:solidFill>
              </a:rPr>
              <a:t>:</a:t>
            </a:r>
          </a:p>
          <a:p>
            <a:pPr lvl="1"/>
            <a:r>
              <a:rPr lang="fr-CA" sz="1400" dirty="0" err="1">
                <a:solidFill>
                  <a:srgbClr val="3C5790"/>
                </a:solidFill>
              </a:rPr>
              <a:t>Cosine</a:t>
            </a:r>
            <a:r>
              <a:rPr lang="fr-CA" sz="1400" dirty="0">
                <a:solidFill>
                  <a:srgbClr val="3C5790"/>
                </a:solidFill>
              </a:rPr>
              <a:t> – </a:t>
            </a:r>
            <a:r>
              <a:rPr lang="fr-CA" sz="1400" dirty="0" err="1">
                <a:solidFill>
                  <a:srgbClr val="3C5790"/>
                </a:solidFill>
              </a:rPr>
              <a:t>measures</a:t>
            </a:r>
            <a:r>
              <a:rPr lang="fr-CA" sz="1400" dirty="0">
                <a:solidFill>
                  <a:srgbClr val="3C5790"/>
                </a:solidFill>
              </a:rPr>
              <a:t> angle </a:t>
            </a:r>
            <a:r>
              <a:rPr lang="fr-CA" sz="1400" dirty="0" err="1">
                <a:solidFill>
                  <a:srgbClr val="3C5790"/>
                </a:solidFill>
              </a:rPr>
              <a:t>between</a:t>
            </a:r>
            <a:r>
              <a:rPr lang="fr-CA" sz="1400" dirty="0">
                <a:solidFill>
                  <a:srgbClr val="3C5790"/>
                </a:solidFill>
              </a:rPr>
              <a:t> </a:t>
            </a:r>
            <a:r>
              <a:rPr lang="fr-CA" sz="1400" dirty="0" err="1">
                <a:solidFill>
                  <a:srgbClr val="3C5790"/>
                </a:solidFill>
              </a:rPr>
              <a:t>vectors</a:t>
            </a:r>
            <a:r>
              <a:rPr lang="fr-CA" sz="1400" dirty="0">
                <a:solidFill>
                  <a:srgbClr val="3C5790"/>
                </a:solidFill>
              </a:rPr>
              <a:t>. Common for </a:t>
            </a:r>
            <a:r>
              <a:rPr lang="fr-CA" sz="1400" dirty="0" err="1">
                <a:solidFill>
                  <a:srgbClr val="3C5790"/>
                </a:solidFill>
              </a:rPr>
              <a:t>embeddings</a:t>
            </a:r>
            <a:r>
              <a:rPr lang="fr-CA" sz="1400" dirty="0">
                <a:solidFill>
                  <a:srgbClr val="3C5790"/>
                </a:solidFill>
              </a:rPr>
              <a:t>.</a:t>
            </a:r>
          </a:p>
          <a:p>
            <a:pPr lvl="1"/>
            <a:r>
              <a:rPr lang="fr-CA" sz="1400" dirty="0" err="1">
                <a:solidFill>
                  <a:srgbClr val="3C5790"/>
                </a:solidFill>
              </a:rPr>
              <a:t>Euclidean</a:t>
            </a:r>
            <a:r>
              <a:rPr lang="fr-CA" sz="1400" dirty="0">
                <a:solidFill>
                  <a:srgbClr val="3C5790"/>
                </a:solidFill>
              </a:rPr>
              <a:t> (L2) – </a:t>
            </a:r>
            <a:r>
              <a:rPr lang="fr-CA" sz="1400" dirty="0" err="1">
                <a:solidFill>
                  <a:srgbClr val="3C5790"/>
                </a:solidFill>
              </a:rPr>
              <a:t>measures</a:t>
            </a:r>
            <a:r>
              <a:rPr lang="fr-CA" sz="1400" dirty="0">
                <a:solidFill>
                  <a:srgbClr val="3C5790"/>
                </a:solidFill>
              </a:rPr>
              <a:t> straight-line distance.</a:t>
            </a:r>
          </a:p>
          <a:p>
            <a:pPr lvl="1"/>
            <a:r>
              <a:rPr lang="fr-CA" sz="1400" dirty="0">
                <a:solidFill>
                  <a:srgbClr val="3C5790"/>
                </a:solidFill>
              </a:rPr>
              <a:t>Dot Product – </a:t>
            </a:r>
            <a:r>
              <a:rPr lang="fr-CA" sz="1400" dirty="0" err="1">
                <a:solidFill>
                  <a:srgbClr val="3C5790"/>
                </a:solidFill>
              </a:rPr>
              <a:t>often</a:t>
            </a:r>
            <a:r>
              <a:rPr lang="fr-CA" sz="1400" dirty="0">
                <a:solidFill>
                  <a:srgbClr val="3C5790"/>
                </a:solidFill>
              </a:rPr>
              <a:t> </a:t>
            </a:r>
            <a:r>
              <a:rPr lang="fr-CA" sz="1400" dirty="0" err="1">
                <a:solidFill>
                  <a:srgbClr val="3C5790"/>
                </a:solidFill>
              </a:rPr>
              <a:t>used</a:t>
            </a:r>
            <a:r>
              <a:rPr lang="fr-CA" sz="1400" dirty="0">
                <a:solidFill>
                  <a:srgbClr val="3C5790"/>
                </a:solidFill>
              </a:rPr>
              <a:t> in neural networks for </a:t>
            </a:r>
            <a:r>
              <a:rPr lang="fr-CA" sz="1400" dirty="0" err="1">
                <a:solidFill>
                  <a:srgbClr val="3C5790"/>
                </a:solidFill>
              </a:rPr>
              <a:t>similarity</a:t>
            </a:r>
            <a:r>
              <a:rPr lang="fr-CA" sz="1400" dirty="0">
                <a:solidFill>
                  <a:srgbClr val="3C5790"/>
                </a:solidFill>
              </a:rPr>
              <a:t> </a:t>
            </a:r>
            <a:r>
              <a:rPr lang="fr-CA" sz="1400" dirty="0" err="1">
                <a:solidFill>
                  <a:srgbClr val="3C5790"/>
                </a:solidFill>
              </a:rPr>
              <a:t>scoring</a:t>
            </a:r>
            <a:r>
              <a:rPr lang="fr-CA" sz="1400" dirty="0">
                <a:solidFill>
                  <a:srgbClr val="3C579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3324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chemeClr val="bg1"/>
                </a:solidFill>
              </a:rPr>
              <a:t>Concepts (</a:t>
            </a:r>
            <a:r>
              <a:rPr lang="fr-CA" dirty="0" err="1">
                <a:solidFill>
                  <a:schemeClr val="bg1"/>
                </a:solidFill>
              </a:rPr>
              <a:t>cont</a:t>
            </a:r>
            <a:r>
              <a:rPr lang="fr-CA" dirty="0">
                <a:solidFill>
                  <a:schemeClr val="bg1"/>
                </a:solidFill>
              </a:rPr>
              <a:t>.)</a:t>
            </a: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2438400"/>
          </a:xfrm>
        </p:spPr>
        <p:txBody>
          <a:bodyPr/>
          <a:lstStyle/>
          <a:p>
            <a:r>
              <a:rPr lang="en-US" sz="1400" b="1" dirty="0" err="1">
                <a:solidFill>
                  <a:srgbClr val="3C5790"/>
                </a:solidFill>
              </a:rPr>
              <a:t>Upsert</a:t>
            </a:r>
            <a:endParaRPr lang="en-US" sz="1400" b="1" dirty="0">
              <a:solidFill>
                <a:srgbClr val="3C5790"/>
              </a:solidFill>
            </a:endParaRP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“</a:t>
            </a:r>
            <a:r>
              <a:rPr lang="en-US" sz="1400" dirty="0" err="1">
                <a:solidFill>
                  <a:srgbClr val="3C5790"/>
                </a:solidFill>
              </a:rPr>
              <a:t>Upsert</a:t>
            </a:r>
            <a:r>
              <a:rPr lang="en-US" sz="1400" dirty="0">
                <a:solidFill>
                  <a:srgbClr val="3C5790"/>
                </a:solidFill>
              </a:rPr>
              <a:t>” = Insert or Update.</a:t>
            </a:r>
          </a:p>
          <a:p>
            <a:pPr lvl="1"/>
            <a:r>
              <a:rPr lang="en-US" sz="1400" dirty="0" err="1">
                <a:solidFill>
                  <a:srgbClr val="3C5790"/>
                </a:solidFill>
              </a:rPr>
              <a:t>Qdrant</a:t>
            </a:r>
            <a:r>
              <a:rPr lang="en-US" sz="1400" dirty="0">
                <a:solidFill>
                  <a:srgbClr val="3C5790"/>
                </a:solidFill>
              </a:rPr>
              <a:t> allows adding new points or updating existing ones by ID.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Supports bulk </a:t>
            </a:r>
            <a:r>
              <a:rPr lang="en-US" sz="1400" dirty="0" err="1">
                <a:solidFill>
                  <a:srgbClr val="3C5790"/>
                </a:solidFill>
              </a:rPr>
              <a:t>upsert</a:t>
            </a:r>
            <a:r>
              <a:rPr lang="en-US" sz="1400" dirty="0">
                <a:solidFill>
                  <a:srgbClr val="3C5790"/>
                </a:solidFill>
              </a:rPr>
              <a:t> for efficiency.</a:t>
            </a:r>
          </a:p>
          <a:p>
            <a:r>
              <a:rPr lang="en-US" sz="1400" b="1" dirty="0">
                <a:solidFill>
                  <a:srgbClr val="3C5790"/>
                </a:solidFill>
              </a:rPr>
              <a:t>Filters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When searching, you can filter results using metadata conditions: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Example: only search vectors where category = "tech" and rating &gt; 4.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Allows hybrid search: vector similarity + structured filtering.</a:t>
            </a:r>
            <a:endParaRPr lang="fr-CA" sz="1400" b="1" dirty="0">
              <a:solidFill>
                <a:srgbClr val="3C57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2912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chemeClr val="bg1"/>
                </a:solidFill>
              </a:rPr>
              <a:t>Concepts (</a:t>
            </a:r>
            <a:r>
              <a:rPr lang="fr-CA" dirty="0" err="1">
                <a:solidFill>
                  <a:schemeClr val="bg1"/>
                </a:solidFill>
              </a:rPr>
              <a:t>cont</a:t>
            </a:r>
            <a:r>
              <a:rPr lang="fr-CA" dirty="0">
                <a:solidFill>
                  <a:schemeClr val="bg1"/>
                </a:solidFill>
              </a:rPr>
              <a:t>.)</a:t>
            </a: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2590800"/>
          </a:xfrm>
        </p:spPr>
        <p:txBody>
          <a:bodyPr/>
          <a:lstStyle/>
          <a:p>
            <a:r>
              <a:rPr lang="en-US" sz="1400" b="1" dirty="0">
                <a:solidFill>
                  <a:srgbClr val="3C5790"/>
                </a:solidFill>
              </a:rPr>
              <a:t>Collections Configurations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Vector Parameters: size, distance metric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Replication / </a:t>
            </a:r>
            <a:r>
              <a:rPr lang="en-US" sz="1400" dirty="0" err="1">
                <a:solidFill>
                  <a:srgbClr val="3C5790"/>
                </a:solidFill>
              </a:rPr>
              <a:t>Sharding</a:t>
            </a:r>
            <a:r>
              <a:rPr lang="en-US" sz="1400" dirty="0">
                <a:solidFill>
                  <a:srgbClr val="3C5790"/>
                </a:solidFill>
              </a:rPr>
              <a:t>: for scaling across nodes (advanced use)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Persistence settings: in-memory vs disk-backed storage</a:t>
            </a:r>
          </a:p>
          <a:p>
            <a:r>
              <a:rPr lang="en-US" sz="1400" b="1" dirty="0">
                <a:solidFill>
                  <a:srgbClr val="3C5790"/>
                </a:solidFill>
              </a:rPr>
              <a:t>Search / Query Concepts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Query Vector: the embedding you use to search.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Top-K Results: number of closest vectors to return.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Score: similarity metric returned with each result.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Payload filtering: optional, based on metadata.</a:t>
            </a:r>
            <a:r>
              <a:rPr lang="en-US" sz="1400" b="1" dirty="0">
                <a:solidFill>
                  <a:srgbClr val="3C5790"/>
                </a:solidFill>
              </a:rPr>
              <a:t>  </a:t>
            </a:r>
            <a:endParaRPr lang="fr-CA" sz="1400" b="1" dirty="0">
              <a:solidFill>
                <a:srgbClr val="3C57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34133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>
                <a:solidFill>
                  <a:schemeClr val="bg1"/>
                </a:solidFill>
              </a:rPr>
              <a:t>Core</a:t>
            </a:r>
            <a:endParaRPr lang="fr-CA" dirty="0">
              <a:solidFill>
                <a:schemeClr val="bg1"/>
              </a:solidFill>
            </a:endParaRP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1828800"/>
          </a:xfrm>
        </p:spPr>
        <p:txBody>
          <a:bodyPr/>
          <a:lstStyle/>
          <a:p>
            <a:r>
              <a:rPr lang="en-US" sz="1400" b="1" dirty="0">
                <a:solidFill>
                  <a:srgbClr val="3C5790"/>
                </a:solidFill>
              </a:rPr>
              <a:t>Vector search </a:t>
            </a:r>
            <a:r>
              <a:rPr lang="en-US" sz="1400" dirty="0">
                <a:solidFill>
                  <a:srgbClr val="3C5790"/>
                </a:solidFill>
              </a:rPr>
              <a:t>is an advanced retrieval method that finds data based on semantic meaning rather than exact keywords. </a:t>
            </a:r>
          </a:p>
          <a:p>
            <a:r>
              <a:rPr lang="en-US" sz="1400" dirty="0">
                <a:solidFill>
                  <a:srgbClr val="3C5790"/>
                </a:solidFill>
              </a:rPr>
              <a:t>It works by converting unstructured data (text, images, audio) into dense vector embeddings that capture their conceptual essence. </a:t>
            </a:r>
          </a:p>
          <a:p>
            <a:r>
              <a:rPr lang="en-US" sz="1400" dirty="0">
                <a:solidFill>
                  <a:srgbClr val="3C5790"/>
                </a:solidFill>
              </a:rPr>
              <a:t>These vectors are placed in a high-dimensional space, so items with similar meanings are near each other, enabling searches like “climate change” to also find content about “global warming” even without matching words.</a:t>
            </a:r>
            <a:endParaRPr lang="fr-CA" sz="1400" dirty="0">
              <a:solidFill>
                <a:srgbClr val="3C579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342F1A-C8ED-4E3D-A197-1041ED0D1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962400"/>
            <a:ext cx="76962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003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>
                <a:solidFill>
                  <a:schemeClr val="bg1"/>
                </a:solidFill>
              </a:rPr>
              <a:t>Core</a:t>
            </a:r>
            <a:r>
              <a:rPr lang="fr-CA" dirty="0">
                <a:solidFill>
                  <a:schemeClr val="bg1"/>
                </a:solidFill>
              </a:rPr>
              <a:t> (</a:t>
            </a:r>
            <a:r>
              <a:rPr lang="fr-CA" dirty="0" err="1">
                <a:solidFill>
                  <a:schemeClr val="bg1"/>
                </a:solidFill>
              </a:rPr>
              <a:t>cont</a:t>
            </a:r>
            <a:r>
              <a:rPr lang="fr-CA" dirty="0">
                <a:solidFill>
                  <a:schemeClr val="bg1"/>
                </a:solidFill>
              </a:rPr>
              <a:t>.)</a:t>
            </a: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1600200"/>
          </a:xfrm>
        </p:spPr>
        <p:txBody>
          <a:bodyPr/>
          <a:lstStyle/>
          <a:p>
            <a:r>
              <a:rPr lang="en-US" sz="1400" dirty="0">
                <a:solidFill>
                  <a:srgbClr val="3C5790"/>
                </a:solidFill>
              </a:rPr>
              <a:t>Vector search uses </a:t>
            </a:r>
            <a:r>
              <a:rPr lang="en-US" sz="1400" b="1" dirty="0">
                <a:solidFill>
                  <a:srgbClr val="3C5790"/>
                </a:solidFill>
              </a:rPr>
              <a:t>Top-K retrieval</a:t>
            </a:r>
            <a:r>
              <a:rPr lang="en-US" sz="1400" dirty="0">
                <a:solidFill>
                  <a:srgbClr val="3C5790"/>
                </a:solidFill>
              </a:rPr>
              <a:t>, where a user query is converted into a query vector. </a:t>
            </a:r>
          </a:p>
          <a:p>
            <a:r>
              <a:rPr lang="en-US" sz="1400" dirty="0">
                <a:solidFill>
                  <a:srgbClr val="3C5790"/>
                </a:solidFill>
              </a:rPr>
              <a:t>The engine finds the K most similar document vectors based on similarity scores. </a:t>
            </a:r>
          </a:p>
          <a:p>
            <a:r>
              <a:rPr lang="en-US" sz="1400" dirty="0">
                <a:solidFill>
                  <a:srgbClr val="3C5790"/>
                </a:solidFill>
              </a:rPr>
              <a:t>The value of K controls the trade-off between search breadth and precision, letting developers fine-tune results.</a:t>
            </a:r>
          </a:p>
          <a:p>
            <a:r>
              <a:rPr lang="en-US" sz="1400" dirty="0">
                <a:solidFill>
                  <a:srgbClr val="3C5790"/>
                </a:solidFill>
              </a:rPr>
              <a:t>To deliver the most robust search experience, </a:t>
            </a:r>
            <a:r>
              <a:rPr lang="en-US" sz="1400" dirty="0" err="1">
                <a:solidFill>
                  <a:srgbClr val="3C5790"/>
                </a:solidFill>
              </a:rPr>
              <a:t>Qdrant</a:t>
            </a:r>
            <a:r>
              <a:rPr lang="en-US" sz="1400" dirty="0">
                <a:solidFill>
                  <a:srgbClr val="3C5790"/>
                </a:solidFill>
              </a:rPr>
              <a:t> enables Hybrid Retrieval with semantic and lexical search.</a:t>
            </a:r>
            <a:endParaRPr lang="fr-CA" sz="1400" dirty="0">
              <a:solidFill>
                <a:srgbClr val="3C579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4FE6B6-6CE6-485B-AFCC-0C7F47498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87" y="3429000"/>
            <a:ext cx="7820025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2204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>
                <a:solidFill>
                  <a:schemeClr val="bg1"/>
                </a:solidFill>
              </a:rPr>
              <a:t>Core</a:t>
            </a:r>
            <a:r>
              <a:rPr lang="fr-CA" dirty="0">
                <a:solidFill>
                  <a:schemeClr val="bg1"/>
                </a:solidFill>
              </a:rPr>
              <a:t> (</a:t>
            </a:r>
            <a:r>
              <a:rPr lang="fr-CA" dirty="0" err="1">
                <a:solidFill>
                  <a:schemeClr val="bg1"/>
                </a:solidFill>
              </a:rPr>
              <a:t>cont</a:t>
            </a:r>
            <a:r>
              <a:rPr lang="fr-CA" dirty="0">
                <a:solidFill>
                  <a:schemeClr val="bg1"/>
                </a:solidFill>
              </a:rPr>
              <a:t>.)</a:t>
            </a: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1295400"/>
          </a:xfrm>
        </p:spPr>
        <p:txBody>
          <a:bodyPr/>
          <a:lstStyle/>
          <a:p>
            <a:r>
              <a:rPr lang="en-US" sz="1400" dirty="0" err="1">
                <a:solidFill>
                  <a:srgbClr val="3C5790"/>
                </a:solidFill>
              </a:rPr>
              <a:t>Qdrants</a:t>
            </a:r>
            <a:r>
              <a:rPr lang="en-US" sz="1400" dirty="0">
                <a:solidFill>
                  <a:srgbClr val="3C5790"/>
                </a:solidFill>
              </a:rPr>
              <a:t> operates in a client-server architecture, providing official client libraries for Python, JavaScript/TypeScript, Rust, Go, .NET, and Java. </a:t>
            </a:r>
          </a:p>
          <a:p>
            <a:r>
              <a:rPr lang="en-US" sz="1400" dirty="0">
                <a:solidFill>
                  <a:srgbClr val="3C5790"/>
                </a:solidFill>
              </a:rPr>
              <a:t>However, </a:t>
            </a:r>
            <a:r>
              <a:rPr lang="en-US" sz="1400" dirty="0" err="1">
                <a:solidFill>
                  <a:srgbClr val="3C5790"/>
                </a:solidFill>
              </a:rPr>
              <a:t>Qdrant</a:t>
            </a:r>
            <a:r>
              <a:rPr lang="en-US" sz="1400" dirty="0">
                <a:solidFill>
                  <a:srgbClr val="3C5790"/>
                </a:solidFill>
              </a:rPr>
              <a:t> exposes HTTP and </a:t>
            </a:r>
            <a:r>
              <a:rPr lang="en-US" sz="1400" dirty="0" err="1">
                <a:solidFill>
                  <a:srgbClr val="3C5790"/>
                </a:solidFill>
              </a:rPr>
              <a:t>gRPC</a:t>
            </a:r>
            <a:r>
              <a:rPr lang="en-US" sz="1400" dirty="0">
                <a:solidFill>
                  <a:srgbClr val="3C5790"/>
                </a:solidFill>
              </a:rPr>
              <a:t> interfaces to facilitate integration with virtually any programming language.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596377-BFC8-4F67-9A99-B8A95CDBA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3358660"/>
            <a:ext cx="6837028" cy="3224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6448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>
                <a:solidFill>
                  <a:schemeClr val="bg1"/>
                </a:solidFill>
              </a:rPr>
              <a:t>Core</a:t>
            </a:r>
            <a:r>
              <a:rPr lang="fr-CA" dirty="0">
                <a:solidFill>
                  <a:schemeClr val="bg1"/>
                </a:solidFill>
              </a:rPr>
              <a:t> (</a:t>
            </a:r>
            <a:r>
              <a:rPr lang="fr-CA" dirty="0" err="1">
                <a:solidFill>
                  <a:schemeClr val="bg1"/>
                </a:solidFill>
              </a:rPr>
              <a:t>cont</a:t>
            </a:r>
            <a:r>
              <a:rPr lang="fr-CA" dirty="0">
                <a:solidFill>
                  <a:schemeClr val="bg1"/>
                </a:solidFill>
              </a:rPr>
              <a:t>.)</a:t>
            </a: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2667000"/>
          </a:xfrm>
        </p:spPr>
        <p:txBody>
          <a:bodyPr/>
          <a:lstStyle/>
          <a:p>
            <a:r>
              <a:rPr lang="en-US" sz="1400" dirty="0">
                <a:solidFill>
                  <a:srgbClr val="3C5790"/>
                </a:solidFill>
              </a:rPr>
              <a:t>A </a:t>
            </a:r>
            <a:r>
              <a:rPr lang="en-US" sz="1400" b="1" dirty="0">
                <a:solidFill>
                  <a:srgbClr val="3C5790"/>
                </a:solidFill>
              </a:rPr>
              <a:t>collection</a:t>
            </a:r>
            <a:r>
              <a:rPr lang="en-US" sz="1400" dirty="0">
                <a:solidFill>
                  <a:srgbClr val="3C5790"/>
                </a:solidFill>
              </a:rPr>
              <a:t> is a named set of points (vectors with a payload) among which you can search. </a:t>
            </a:r>
          </a:p>
          <a:p>
            <a:r>
              <a:rPr lang="en-US" sz="1400" dirty="0">
                <a:solidFill>
                  <a:srgbClr val="3C5790"/>
                </a:solidFill>
              </a:rPr>
              <a:t>The vector of each point within the same collection must have the same dimensionality and be compared by a single metric. </a:t>
            </a:r>
          </a:p>
          <a:p>
            <a:r>
              <a:rPr lang="en-US" sz="1400" dirty="0">
                <a:solidFill>
                  <a:srgbClr val="3C5790"/>
                </a:solidFill>
              </a:rPr>
              <a:t>Named vectors can be used to have multiple vectors in a single point, each of which can have their own dimensionality and metric requirements.</a:t>
            </a:r>
          </a:p>
          <a:p>
            <a:r>
              <a:rPr lang="en-US" sz="1400" dirty="0" err="1">
                <a:solidFill>
                  <a:srgbClr val="3C5790"/>
                </a:solidFill>
              </a:rPr>
              <a:t>Qdrant</a:t>
            </a:r>
            <a:r>
              <a:rPr lang="en-US" sz="1400" dirty="0">
                <a:solidFill>
                  <a:srgbClr val="3C5790"/>
                </a:solidFill>
              </a:rPr>
              <a:t> supports these most popular types of metrics: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Dot product: Dot 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Cosine similarity: Cosine 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Euclidean distance: Euclid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Manhattan distance: Manhattan</a:t>
            </a:r>
            <a:endParaRPr lang="fr-CA" sz="1400" dirty="0">
              <a:solidFill>
                <a:srgbClr val="3C57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75796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>
                <a:solidFill>
                  <a:schemeClr val="bg1"/>
                </a:solidFill>
              </a:rPr>
              <a:t>Core</a:t>
            </a:r>
            <a:r>
              <a:rPr lang="fr-CA" dirty="0">
                <a:solidFill>
                  <a:schemeClr val="bg1"/>
                </a:solidFill>
              </a:rPr>
              <a:t> (</a:t>
            </a:r>
            <a:r>
              <a:rPr lang="fr-CA" dirty="0" err="1">
                <a:solidFill>
                  <a:schemeClr val="bg1"/>
                </a:solidFill>
              </a:rPr>
              <a:t>cont</a:t>
            </a:r>
            <a:r>
              <a:rPr lang="fr-CA" dirty="0">
                <a:solidFill>
                  <a:schemeClr val="bg1"/>
                </a:solidFill>
              </a:rPr>
              <a:t>.)</a:t>
            </a: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2209800"/>
          </a:xfrm>
        </p:spPr>
        <p:txBody>
          <a:bodyPr/>
          <a:lstStyle/>
          <a:p>
            <a:r>
              <a:rPr lang="en-US" sz="1400" dirty="0">
                <a:solidFill>
                  <a:srgbClr val="3C5790"/>
                </a:solidFill>
              </a:rPr>
              <a:t>The </a:t>
            </a:r>
            <a:r>
              <a:rPr lang="en-US" sz="1400" b="1" dirty="0">
                <a:solidFill>
                  <a:srgbClr val="3C5790"/>
                </a:solidFill>
              </a:rPr>
              <a:t>points</a:t>
            </a:r>
            <a:r>
              <a:rPr lang="en-US" sz="1400" dirty="0">
                <a:solidFill>
                  <a:srgbClr val="3C5790"/>
                </a:solidFill>
              </a:rPr>
              <a:t> are the central entity that </a:t>
            </a:r>
            <a:r>
              <a:rPr lang="en-US" sz="1400" dirty="0" err="1">
                <a:solidFill>
                  <a:srgbClr val="3C5790"/>
                </a:solidFill>
              </a:rPr>
              <a:t>Qdrant</a:t>
            </a:r>
            <a:r>
              <a:rPr lang="en-US" sz="1400" dirty="0">
                <a:solidFill>
                  <a:srgbClr val="3C5790"/>
                </a:solidFill>
              </a:rPr>
              <a:t> operates with. </a:t>
            </a:r>
          </a:p>
          <a:p>
            <a:r>
              <a:rPr lang="en-US" sz="1400" dirty="0">
                <a:solidFill>
                  <a:srgbClr val="3C5790"/>
                </a:solidFill>
              </a:rPr>
              <a:t>A point is a record consisting of a vector and an optional payload.</a:t>
            </a:r>
          </a:p>
          <a:p>
            <a:r>
              <a:rPr lang="en-US" sz="1400" dirty="0">
                <a:solidFill>
                  <a:srgbClr val="3C5790"/>
                </a:solidFill>
              </a:rPr>
              <a:t>We can search among the points grouped in one collection based on vector similarity.</a:t>
            </a:r>
          </a:p>
          <a:p>
            <a:r>
              <a:rPr lang="en-US" sz="1400" dirty="0" err="1">
                <a:solidFill>
                  <a:srgbClr val="3C5790"/>
                </a:solidFill>
              </a:rPr>
              <a:t>Qdrant</a:t>
            </a:r>
            <a:r>
              <a:rPr lang="en-US" sz="1400" dirty="0">
                <a:solidFill>
                  <a:srgbClr val="3C5790"/>
                </a:solidFill>
              </a:rPr>
              <a:t> supports using both 64-bit unsigned integers and UUID as identifiers for points.</a:t>
            </a:r>
          </a:p>
          <a:p>
            <a:r>
              <a:rPr lang="en-US" sz="1400" dirty="0">
                <a:solidFill>
                  <a:srgbClr val="3C5790"/>
                </a:solidFill>
              </a:rPr>
              <a:t>Examples of UUID string representations: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simple: 936DA01F9ABD4d9d80C702AF85C822A8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hyphenated: 550e8400-e29b-41d4-a716-446655440000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urn: urn:uuid:F9168C5E-CEB2-4faa-B6BF-329BF39FA1E4</a:t>
            </a:r>
            <a:endParaRPr lang="fr-CA" sz="1400" dirty="0">
              <a:solidFill>
                <a:srgbClr val="3C57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56370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>
                <a:solidFill>
                  <a:schemeClr val="bg1"/>
                </a:solidFill>
              </a:rPr>
              <a:t>Core</a:t>
            </a:r>
            <a:r>
              <a:rPr lang="fr-CA" dirty="0">
                <a:solidFill>
                  <a:schemeClr val="bg1"/>
                </a:solidFill>
              </a:rPr>
              <a:t> (</a:t>
            </a:r>
            <a:r>
              <a:rPr lang="fr-CA" dirty="0" err="1">
                <a:solidFill>
                  <a:schemeClr val="bg1"/>
                </a:solidFill>
              </a:rPr>
              <a:t>cont</a:t>
            </a:r>
            <a:r>
              <a:rPr lang="fr-CA" dirty="0">
                <a:solidFill>
                  <a:schemeClr val="bg1"/>
                </a:solidFill>
              </a:rPr>
              <a:t>.)</a:t>
            </a: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990600"/>
          </a:xfrm>
        </p:spPr>
        <p:txBody>
          <a:bodyPr/>
          <a:lstStyle/>
          <a:p>
            <a:r>
              <a:rPr lang="en-US" sz="1400" dirty="0" err="1">
                <a:solidFill>
                  <a:srgbClr val="3C5790"/>
                </a:solidFill>
              </a:rPr>
              <a:t>Qdrant</a:t>
            </a:r>
            <a:r>
              <a:rPr lang="en-US" sz="1400" dirty="0">
                <a:solidFill>
                  <a:srgbClr val="3C5790"/>
                </a:solidFill>
              </a:rPr>
              <a:t> combines vector and traditional (payload) </a:t>
            </a:r>
            <a:r>
              <a:rPr lang="en-US" sz="1400" b="1" dirty="0">
                <a:solidFill>
                  <a:srgbClr val="3C5790"/>
                </a:solidFill>
              </a:rPr>
              <a:t>indexes</a:t>
            </a:r>
            <a:r>
              <a:rPr lang="en-US" sz="1400" dirty="0">
                <a:solidFill>
                  <a:srgbClr val="3C5790"/>
                </a:solidFill>
              </a:rPr>
              <a:t> to enable fast semantic search with filtering. </a:t>
            </a:r>
          </a:p>
          <a:p>
            <a:r>
              <a:rPr lang="en-US" sz="1400" dirty="0">
                <a:solidFill>
                  <a:srgbClr val="3C5790"/>
                </a:solidFill>
              </a:rPr>
              <a:t>The vector index accelerates similarity search, while payload indexes speed up filtering. </a:t>
            </a:r>
          </a:p>
          <a:p>
            <a:r>
              <a:rPr lang="en-US" sz="1400" dirty="0">
                <a:solidFill>
                  <a:srgbClr val="3C5790"/>
                </a:solidFill>
              </a:rPr>
              <a:t>Indexes are configured at the collection level, but not every segment has them—whether a segment gets an index depends on the optimizer settings and the number of stored points.</a:t>
            </a:r>
            <a:endParaRPr lang="fr-CA" sz="1400" dirty="0">
              <a:solidFill>
                <a:srgbClr val="3C57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7108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>
                <a:solidFill>
                  <a:schemeClr val="bg1"/>
                </a:solidFill>
              </a:rPr>
              <a:t>Core</a:t>
            </a:r>
            <a:r>
              <a:rPr lang="fr-CA" dirty="0">
                <a:solidFill>
                  <a:schemeClr val="bg1"/>
                </a:solidFill>
              </a:rPr>
              <a:t> (</a:t>
            </a:r>
            <a:r>
              <a:rPr lang="fr-CA" dirty="0" err="1">
                <a:solidFill>
                  <a:schemeClr val="bg1"/>
                </a:solidFill>
              </a:rPr>
              <a:t>cont</a:t>
            </a:r>
            <a:r>
              <a:rPr lang="fr-CA" dirty="0">
                <a:solidFill>
                  <a:schemeClr val="bg1"/>
                </a:solidFill>
              </a:rPr>
              <a:t>.)</a:t>
            </a: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3200400"/>
          </a:xfrm>
        </p:spPr>
        <p:txBody>
          <a:bodyPr/>
          <a:lstStyle/>
          <a:p>
            <a:r>
              <a:rPr lang="en-US" sz="1400" dirty="0" err="1">
                <a:solidFill>
                  <a:srgbClr val="3C5790"/>
                </a:solidFill>
              </a:rPr>
              <a:t>Qdrant</a:t>
            </a:r>
            <a:r>
              <a:rPr lang="en-US" sz="1400" dirty="0">
                <a:solidFill>
                  <a:srgbClr val="3C5790"/>
                </a:solidFill>
              </a:rPr>
              <a:t> collections are divided into segments, each with independent vector and payload </a:t>
            </a:r>
            <a:r>
              <a:rPr lang="en-US" sz="1400" b="1" dirty="0">
                <a:solidFill>
                  <a:srgbClr val="3C5790"/>
                </a:solidFill>
              </a:rPr>
              <a:t>storage</a:t>
            </a:r>
            <a:r>
              <a:rPr lang="en-US" sz="1400" dirty="0">
                <a:solidFill>
                  <a:srgbClr val="3C5790"/>
                </a:solidFill>
              </a:rPr>
              <a:t>, indexes, and an ID mapper linking internal and external IDs. Segments usually store non-overlapping data, but duplicate points are handled by deduplication.</a:t>
            </a:r>
          </a:p>
          <a:p>
            <a:r>
              <a:rPr lang="en-US" sz="1400" dirty="0">
                <a:solidFill>
                  <a:srgbClr val="3C5790"/>
                </a:solidFill>
              </a:rPr>
              <a:t>Segments can be </a:t>
            </a:r>
            <a:r>
              <a:rPr lang="en-US" sz="1400" dirty="0" err="1">
                <a:solidFill>
                  <a:srgbClr val="3C5790"/>
                </a:solidFill>
              </a:rPr>
              <a:t>appendable</a:t>
            </a:r>
            <a:r>
              <a:rPr lang="en-US" sz="1400" dirty="0">
                <a:solidFill>
                  <a:srgbClr val="3C5790"/>
                </a:solidFill>
              </a:rPr>
              <a:t> (allowing add, delete, query) or non-</a:t>
            </a:r>
            <a:r>
              <a:rPr lang="en-US" sz="1400" dirty="0" err="1">
                <a:solidFill>
                  <a:srgbClr val="3C5790"/>
                </a:solidFill>
              </a:rPr>
              <a:t>appendable</a:t>
            </a:r>
            <a:r>
              <a:rPr lang="en-US" sz="1400" dirty="0">
                <a:solidFill>
                  <a:srgbClr val="3C5790"/>
                </a:solidFill>
              </a:rPr>
              <a:t> (read and delete only). Each collection must have at least one </a:t>
            </a:r>
            <a:r>
              <a:rPr lang="en-US" sz="1400" dirty="0" err="1">
                <a:solidFill>
                  <a:srgbClr val="3C5790"/>
                </a:solidFill>
              </a:rPr>
              <a:t>appendable</a:t>
            </a:r>
            <a:r>
              <a:rPr lang="en-US" sz="1400" dirty="0">
                <a:solidFill>
                  <a:srgbClr val="3C5790"/>
                </a:solidFill>
              </a:rPr>
              <a:t> segment, and segments can have different configurations.</a:t>
            </a:r>
          </a:p>
          <a:p>
            <a:r>
              <a:rPr lang="en-US" sz="1400" dirty="0">
                <a:solidFill>
                  <a:srgbClr val="3C5790"/>
                </a:solidFill>
              </a:rPr>
              <a:t>Vector storage options:</a:t>
            </a:r>
          </a:p>
          <a:p>
            <a:pPr lvl="1"/>
            <a:r>
              <a:rPr lang="en-US" sz="1400" b="1" dirty="0">
                <a:solidFill>
                  <a:srgbClr val="3C5790"/>
                </a:solidFill>
              </a:rPr>
              <a:t>In-memory</a:t>
            </a:r>
            <a:r>
              <a:rPr lang="en-US" sz="1400" dirty="0">
                <a:solidFill>
                  <a:srgbClr val="3C5790"/>
                </a:solidFill>
              </a:rPr>
              <a:t> – stores all vectors in RAM for maximum speed; disk used only for persistence.</a:t>
            </a:r>
          </a:p>
          <a:p>
            <a:pPr lvl="1"/>
            <a:r>
              <a:rPr lang="en-US" sz="1400" b="1" dirty="0">
                <a:solidFill>
                  <a:srgbClr val="3C5790"/>
                </a:solidFill>
              </a:rPr>
              <a:t>Memory-mapped (</a:t>
            </a:r>
            <a:r>
              <a:rPr lang="en-US" sz="1400" b="1" dirty="0" err="1">
                <a:solidFill>
                  <a:srgbClr val="3C5790"/>
                </a:solidFill>
              </a:rPr>
              <a:t>memmap</a:t>
            </a:r>
            <a:r>
              <a:rPr lang="en-US" sz="1400" b="1" dirty="0">
                <a:solidFill>
                  <a:srgbClr val="3C5790"/>
                </a:solidFill>
              </a:rPr>
              <a:t>) </a:t>
            </a:r>
            <a:r>
              <a:rPr lang="en-US" sz="1400" dirty="0">
                <a:solidFill>
                  <a:srgbClr val="3C5790"/>
                </a:solidFill>
              </a:rPr>
              <a:t>– maps disk files into virtual memory, using page cache; flexible on RAM usage and nearly as fast as in-memory with enough RAM.</a:t>
            </a:r>
          </a:p>
          <a:p>
            <a:r>
              <a:rPr lang="en-US" sz="1400" dirty="0">
                <a:solidFill>
                  <a:srgbClr val="3C5790"/>
                </a:solidFill>
              </a:rPr>
              <a:t>This design balances search speed, storage efficiency, and flexibility.</a:t>
            </a:r>
            <a:endParaRPr lang="fr-CA" sz="1400" dirty="0">
              <a:solidFill>
                <a:srgbClr val="3C57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26817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>
                <a:solidFill>
                  <a:schemeClr val="bg1"/>
                </a:solidFill>
              </a:rPr>
              <a:t>Core</a:t>
            </a:r>
            <a:r>
              <a:rPr lang="fr-CA" dirty="0">
                <a:solidFill>
                  <a:schemeClr val="bg1"/>
                </a:solidFill>
              </a:rPr>
              <a:t> (</a:t>
            </a:r>
            <a:r>
              <a:rPr lang="fr-CA" dirty="0" err="1">
                <a:solidFill>
                  <a:schemeClr val="bg1"/>
                </a:solidFill>
              </a:rPr>
              <a:t>cont</a:t>
            </a:r>
            <a:r>
              <a:rPr lang="fr-CA" dirty="0">
                <a:solidFill>
                  <a:schemeClr val="bg1"/>
                </a:solidFill>
              </a:rPr>
              <a:t>.)</a:t>
            </a: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1143000"/>
          </a:xfrm>
        </p:spPr>
        <p:txBody>
          <a:bodyPr/>
          <a:lstStyle/>
          <a:p>
            <a:r>
              <a:rPr lang="en-US" sz="1400" u="sng" dirty="0" err="1">
                <a:solidFill>
                  <a:srgbClr val="3C5790"/>
                </a:solidFill>
              </a:rPr>
              <a:t>Qdrant</a:t>
            </a:r>
            <a:r>
              <a:rPr lang="en-US" sz="1400" u="sng" dirty="0">
                <a:solidFill>
                  <a:srgbClr val="3C5790"/>
                </a:solidFill>
              </a:rPr>
              <a:t> Web UI</a:t>
            </a:r>
          </a:p>
          <a:p>
            <a:r>
              <a:rPr lang="en-US" sz="1400" dirty="0">
                <a:solidFill>
                  <a:srgbClr val="3C5790"/>
                </a:solidFill>
              </a:rPr>
              <a:t>You can manage both local and cloud </a:t>
            </a:r>
            <a:r>
              <a:rPr lang="en-US" sz="1400" dirty="0" err="1">
                <a:solidFill>
                  <a:srgbClr val="3C5790"/>
                </a:solidFill>
              </a:rPr>
              <a:t>Qdrant</a:t>
            </a:r>
            <a:r>
              <a:rPr lang="en-US" sz="1400" dirty="0">
                <a:solidFill>
                  <a:srgbClr val="3C5790"/>
                </a:solidFill>
              </a:rPr>
              <a:t> deployments through the Web UI.</a:t>
            </a:r>
          </a:p>
          <a:p>
            <a:r>
              <a:rPr lang="en-US" sz="1400" dirty="0">
                <a:solidFill>
                  <a:srgbClr val="3C5790"/>
                </a:solidFill>
              </a:rPr>
              <a:t>If we’ve set up a deployment locally with the </a:t>
            </a:r>
            <a:r>
              <a:rPr lang="en-US" sz="1400" dirty="0" err="1">
                <a:solidFill>
                  <a:srgbClr val="3C5790"/>
                </a:solidFill>
              </a:rPr>
              <a:t>Qdrant</a:t>
            </a:r>
            <a:r>
              <a:rPr lang="en-US" sz="1400" dirty="0">
                <a:solidFill>
                  <a:srgbClr val="3C5790"/>
                </a:solidFill>
              </a:rPr>
              <a:t> </a:t>
            </a:r>
            <a:r>
              <a:rPr lang="en-US" sz="1400" dirty="0" err="1">
                <a:solidFill>
                  <a:srgbClr val="3C5790"/>
                </a:solidFill>
              </a:rPr>
              <a:t>Quickstart</a:t>
            </a:r>
            <a:r>
              <a:rPr lang="en-US" sz="1400" dirty="0">
                <a:solidFill>
                  <a:srgbClr val="3C5790"/>
                </a:solidFill>
              </a:rPr>
              <a:t>, navigate to </a:t>
            </a:r>
            <a:r>
              <a:rPr lang="en-US" sz="1400" dirty="0">
                <a:solidFill>
                  <a:srgbClr val="3C5790"/>
                </a:solidFill>
                <a:hlinkClick r:id="rId3"/>
              </a:rPr>
              <a:t>http://localhost:6333/dashboard</a:t>
            </a:r>
            <a:r>
              <a:rPr lang="en-US" sz="1400" dirty="0">
                <a:solidFill>
                  <a:srgbClr val="3C5790"/>
                </a:solidFill>
              </a:rPr>
              <a:t> .</a:t>
            </a:r>
            <a:endParaRPr lang="fr-CA" sz="1400" dirty="0">
              <a:solidFill>
                <a:srgbClr val="3C579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E836DA-46FC-43AF-8557-69169B5A5E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15050"/>
            <a:ext cx="8458200" cy="2519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9821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>
                <a:solidFill>
                  <a:schemeClr val="bg1"/>
                </a:solidFill>
              </a:rPr>
              <a:t>Core</a:t>
            </a:r>
            <a:r>
              <a:rPr lang="fr-CA" dirty="0">
                <a:solidFill>
                  <a:schemeClr val="bg1"/>
                </a:solidFill>
              </a:rPr>
              <a:t> (</a:t>
            </a:r>
            <a:r>
              <a:rPr lang="fr-CA" dirty="0" err="1">
                <a:solidFill>
                  <a:schemeClr val="bg1"/>
                </a:solidFill>
              </a:rPr>
              <a:t>cont</a:t>
            </a:r>
            <a:r>
              <a:rPr lang="fr-CA" dirty="0">
                <a:solidFill>
                  <a:schemeClr val="bg1"/>
                </a:solidFill>
              </a:rPr>
              <a:t>.)</a:t>
            </a: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3048000"/>
          </a:xfrm>
        </p:spPr>
        <p:txBody>
          <a:bodyPr/>
          <a:lstStyle/>
          <a:p>
            <a:r>
              <a:rPr lang="en-US" sz="1400" dirty="0">
                <a:solidFill>
                  <a:srgbClr val="3C5790"/>
                </a:solidFill>
              </a:rPr>
              <a:t>In the </a:t>
            </a:r>
            <a:r>
              <a:rPr lang="en-US" sz="1400" dirty="0" err="1">
                <a:solidFill>
                  <a:srgbClr val="3C5790"/>
                </a:solidFill>
              </a:rPr>
              <a:t>Qdrant</a:t>
            </a:r>
            <a:r>
              <a:rPr lang="en-US" sz="1400" dirty="0">
                <a:solidFill>
                  <a:srgbClr val="3C5790"/>
                </a:solidFill>
              </a:rPr>
              <a:t> Web UI, we can: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Run HTTP-based calls from the console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List and search existing collections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Learn from our interactive tutorial</a:t>
            </a:r>
            <a:endParaRPr lang="fr-CA" sz="1400" dirty="0">
              <a:solidFill>
                <a:srgbClr val="3C57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98610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>
                <a:solidFill>
                  <a:schemeClr val="bg1"/>
                </a:solidFill>
              </a:rPr>
              <a:t>Core</a:t>
            </a:r>
            <a:r>
              <a:rPr lang="fr-CA" dirty="0">
                <a:solidFill>
                  <a:schemeClr val="bg1"/>
                </a:solidFill>
              </a:rPr>
              <a:t> (</a:t>
            </a:r>
            <a:r>
              <a:rPr lang="fr-CA" dirty="0" err="1">
                <a:solidFill>
                  <a:schemeClr val="bg1"/>
                </a:solidFill>
              </a:rPr>
              <a:t>cont</a:t>
            </a:r>
            <a:r>
              <a:rPr lang="fr-CA" dirty="0">
                <a:solidFill>
                  <a:schemeClr val="bg1"/>
                </a:solidFill>
              </a:rPr>
              <a:t>.)</a:t>
            </a: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3810000"/>
          </a:xfrm>
        </p:spPr>
        <p:txBody>
          <a:bodyPr/>
          <a:lstStyle/>
          <a:p>
            <a:r>
              <a:rPr lang="en-US" sz="1400" u="sng" dirty="0" err="1">
                <a:solidFill>
                  <a:srgbClr val="3C5790"/>
                </a:solidFill>
              </a:rPr>
              <a:t>Qdrant</a:t>
            </a:r>
            <a:r>
              <a:rPr lang="en-US" sz="1400" u="sng" dirty="0">
                <a:solidFill>
                  <a:srgbClr val="3C5790"/>
                </a:solidFill>
              </a:rPr>
              <a:t> Dashboard Features</a:t>
            </a:r>
          </a:p>
          <a:p>
            <a:r>
              <a:rPr lang="en-US" sz="1400" b="1" dirty="0">
                <a:solidFill>
                  <a:srgbClr val="3C5790"/>
                </a:solidFill>
              </a:rPr>
              <a:t>Collections Overview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View all collections in your </a:t>
            </a:r>
            <a:r>
              <a:rPr lang="en-US" sz="1400" dirty="0" err="1">
                <a:solidFill>
                  <a:srgbClr val="3C5790"/>
                </a:solidFill>
              </a:rPr>
              <a:t>Qdrant</a:t>
            </a:r>
            <a:r>
              <a:rPr lang="en-US" sz="1400" dirty="0">
                <a:solidFill>
                  <a:srgbClr val="3C5790"/>
                </a:solidFill>
              </a:rPr>
              <a:t> instance.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See collection names, vector size, distance metric, and number of points.</a:t>
            </a:r>
          </a:p>
          <a:p>
            <a:r>
              <a:rPr lang="en-US" sz="1400" b="1" dirty="0">
                <a:solidFill>
                  <a:srgbClr val="3C5790"/>
                </a:solidFill>
              </a:rPr>
              <a:t>Browse Points / Vectors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Inspect individual points (vectors) in a collection.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View associated metadata/payload and IDs.</a:t>
            </a:r>
          </a:p>
          <a:p>
            <a:r>
              <a:rPr lang="en-US" sz="1400" b="1" dirty="0">
                <a:solidFill>
                  <a:srgbClr val="3C5790"/>
                </a:solidFill>
              </a:rPr>
              <a:t>Vector Search / Query Testing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Run search queries directly from the dashboard.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Input a query vector (or text to embed via API) and get Top-K results.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Test similarity search and filtering interactively.</a:t>
            </a:r>
          </a:p>
          <a:p>
            <a:r>
              <a:rPr lang="en-US" sz="1400" b="1" dirty="0">
                <a:solidFill>
                  <a:srgbClr val="3C5790"/>
                </a:solidFill>
              </a:rPr>
              <a:t>Filtering and Hybrid Search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Apply payload/metadata filters when searching.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Combine semantic vector search with structured queries.</a:t>
            </a:r>
            <a:endParaRPr lang="fr-CA" sz="1400" dirty="0">
              <a:solidFill>
                <a:srgbClr val="3C57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87192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>
                <a:solidFill>
                  <a:schemeClr val="bg1"/>
                </a:solidFill>
              </a:rPr>
              <a:t>Core</a:t>
            </a:r>
            <a:r>
              <a:rPr lang="fr-CA" dirty="0">
                <a:solidFill>
                  <a:schemeClr val="bg1"/>
                </a:solidFill>
              </a:rPr>
              <a:t> (</a:t>
            </a:r>
            <a:r>
              <a:rPr lang="fr-CA" dirty="0" err="1">
                <a:solidFill>
                  <a:schemeClr val="bg1"/>
                </a:solidFill>
              </a:rPr>
              <a:t>cont</a:t>
            </a:r>
            <a:r>
              <a:rPr lang="fr-CA" dirty="0">
                <a:solidFill>
                  <a:schemeClr val="bg1"/>
                </a:solidFill>
              </a:rPr>
              <a:t>.)</a:t>
            </a: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3810000"/>
          </a:xfrm>
        </p:spPr>
        <p:txBody>
          <a:bodyPr/>
          <a:lstStyle/>
          <a:p>
            <a:r>
              <a:rPr lang="en-US" sz="1400" u="sng" dirty="0" err="1">
                <a:solidFill>
                  <a:srgbClr val="3C5790"/>
                </a:solidFill>
              </a:rPr>
              <a:t>Qdrant</a:t>
            </a:r>
            <a:r>
              <a:rPr lang="en-US" sz="1400" u="sng" dirty="0">
                <a:solidFill>
                  <a:srgbClr val="3C5790"/>
                </a:solidFill>
              </a:rPr>
              <a:t> Dashboard Features</a:t>
            </a:r>
          </a:p>
          <a:p>
            <a:r>
              <a:rPr lang="en-US" sz="1400" b="1" dirty="0">
                <a:solidFill>
                  <a:srgbClr val="3C5790"/>
                </a:solidFill>
              </a:rPr>
              <a:t>Collection Management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Create new collections with custom vector size, distance metric, and optimizer settings.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Delete collections or modify configurations (limited).</a:t>
            </a:r>
          </a:p>
          <a:p>
            <a:r>
              <a:rPr lang="en-US" sz="1400" b="1" dirty="0">
                <a:solidFill>
                  <a:srgbClr val="3C5790"/>
                </a:solidFill>
              </a:rPr>
              <a:t>Visualization &amp; Metrics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See number of points, index info, and storage usage per collection.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Quick insight into memory vs disk usage and segment distribution.</a:t>
            </a:r>
          </a:p>
          <a:p>
            <a:r>
              <a:rPr lang="en-US" sz="1400" b="1" dirty="0">
                <a:solidFill>
                  <a:srgbClr val="3C5790"/>
                </a:solidFill>
              </a:rPr>
              <a:t>API Playground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Built-in interface to send REST API requests to your </a:t>
            </a:r>
            <a:r>
              <a:rPr lang="en-US" sz="1400" dirty="0" err="1">
                <a:solidFill>
                  <a:srgbClr val="3C5790"/>
                </a:solidFill>
              </a:rPr>
              <a:t>Qdrant</a:t>
            </a:r>
            <a:r>
              <a:rPr lang="en-US" sz="1400" dirty="0">
                <a:solidFill>
                  <a:srgbClr val="3C5790"/>
                </a:solidFill>
              </a:rPr>
              <a:t> instance.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Helps test endpoints for inserts, searches, updates, and deletes.</a:t>
            </a:r>
          </a:p>
          <a:p>
            <a:r>
              <a:rPr lang="en-US" sz="1400" b="1" dirty="0">
                <a:solidFill>
                  <a:srgbClr val="3C5790"/>
                </a:solidFill>
              </a:rPr>
              <a:t>Quick Actions / Data Management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Bulk insert points.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Delete points or entire collections.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Inspect HNSW index properties and payload indexes.</a:t>
            </a:r>
            <a:endParaRPr lang="fr-CA" sz="1400" dirty="0">
              <a:solidFill>
                <a:srgbClr val="3C57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59457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chemeClr val="bg1"/>
                </a:solidFill>
              </a:rPr>
              <a:t>Java Client</a:t>
            </a: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2286000"/>
          </a:xfrm>
        </p:spPr>
        <p:txBody>
          <a:bodyPr/>
          <a:lstStyle/>
          <a:p>
            <a:r>
              <a:rPr lang="en-US" sz="1200" dirty="0">
                <a:solidFill>
                  <a:srgbClr val="3C5790"/>
                </a:solidFill>
              </a:rPr>
              <a:t>Maven dependency: io.qdrant:client:1.18.4</a:t>
            </a:r>
          </a:p>
          <a:p>
            <a:r>
              <a:rPr lang="en-US" sz="1200" dirty="0">
                <a:solidFill>
                  <a:srgbClr val="3C5790"/>
                </a:solidFill>
              </a:rPr>
              <a:t>Built on </a:t>
            </a:r>
            <a:r>
              <a:rPr lang="en-US" sz="1200" b="1" dirty="0" err="1">
                <a:solidFill>
                  <a:srgbClr val="3C5790"/>
                </a:solidFill>
              </a:rPr>
              <a:t>gRPC</a:t>
            </a:r>
            <a:r>
              <a:rPr lang="en-US" sz="1200" b="1" dirty="0">
                <a:solidFill>
                  <a:srgbClr val="3C5790"/>
                </a:solidFill>
              </a:rPr>
              <a:t> (port 6334)</a:t>
            </a:r>
            <a:r>
              <a:rPr lang="en-US" sz="1200" dirty="0">
                <a:solidFill>
                  <a:srgbClr val="3C5790"/>
                </a:solidFill>
              </a:rPr>
              <a:t> — high-performance binary protocol.</a:t>
            </a:r>
          </a:p>
          <a:p>
            <a:r>
              <a:rPr lang="en-US" sz="1200" dirty="0">
                <a:solidFill>
                  <a:srgbClr val="3C5790"/>
                </a:solidFill>
              </a:rPr>
              <a:t>Two-layer design:</a:t>
            </a:r>
          </a:p>
          <a:p>
            <a:pPr lvl="1"/>
            <a:r>
              <a:rPr lang="en-US" sz="1200" b="1" dirty="0" err="1">
                <a:solidFill>
                  <a:srgbClr val="3C5790"/>
                </a:solidFill>
              </a:rPr>
              <a:t>QdrantClient</a:t>
            </a:r>
            <a:r>
              <a:rPr lang="en-US" sz="1200" dirty="0">
                <a:solidFill>
                  <a:srgbClr val="3C5790"/>
                </a:solidFill>
              </a:rPr>
              <a:t> — high-level async API with convenience overloads</a:t>
            </a:r>
          </a:p>
          <a:p>
            <a:pPr lvl="1"/>
            <a:r>
              <a:rPr lang="en-US" sz="1200" b="1" dirty="0" err="1">
                <a:solidFill>
                  <a:srgbClr val="3C5790"/>
                </a:solidFill>
              </a:rPr>
              <a:t>QdrantGrpcClient</a:t>
            </a:r>
            <a:r>
              <a:rPr lang="en-US" sz="1200" dirty="0">
                <a:solidFill>
                  <a:srgbClr val="3C5790"/>
                </a:solidFill>
              </a:rPr>
              <a:t> — low-level </a:t>
            </a:r>
            <a:r>
              <a:rPr lang="en-US" sz="1200" dirty="0" err="1">
                <a:solidFill>
                  <a:srgbClr val="3C5790"/>
                </a:solidFill>
              </a:rPr>
              <a:t>gRPC</a:t>
            </a:r>
            <a:r>
              <a:rPr lang="en-US" sz="1200" dirty="0">
                <a:solidFill>
                  <a:srgbClr val="3C5790"/>
                </a:solidFill>
              </a:rPr>
              <a:t> (TLS, API key, channel config)</a:t>
            </a:r>
          </a:p>
          <a:p>
            <a:r>
              <a:rPr lang="en-US" sz="1200" dirty="0">
                <a:solidFill>
                  <a:srgbClr val="3C5790"/>
                </a:solidFill>
              </a:rPr>
              <a:t>All methods return </a:t>
            </a:r>
            <a:r>
              <a:rPr lang="en-US" sz="1200" b="1" dirty="0" err="1">
                <a:solidFill>
                  <a:srgbClr val="3C5790"/>
                </a:solidFill>
              </a:rPr>
              <a:t>ListenableFuture</a:t>
            </a:r>
            <a:r>
              <a:rPr lang="en-US" sz="1200" b="1" dirty="0">
                <a:solidFill>
                  <a:srgbClr val="3C5790"/>
                </a:solidFill>
              </a:rPr>
              <a:t>&lt;T&gt;</a:t>
            </a:r>
            <a:r>
              <a:rPr lang="en-US" sz="1200" dirty="0">
                <a:solidFill>
                  <a:srgbClr val="3C5790"/>
                </a:solidFill>
              </a:rPr>
              <a:t> (Guava) — fully asynchronous.</a:t>
            </a:r>
          </a:p>
          <a:p>
            <a:r>
              <a:rPr lang="en-US" sz="1200" dirty="0">
                <a:solidFill>
                  <a:srgbClr val="3C5790"/>
                </a:solidFill>
              </a:rPr>
              <a:t>Implements </a:t>
            </a:r>
            <a:r>
              <a:rPr lang="en-US" sz="1200" dirty="0" err="1">
                <a:solidFill>
                  <a:srgbClr val="3C5790"/>
                </a:solidFill>
              </a:rPr>
              <a:t>AutoCloseable</a:t>
            </a:r>
            <a:r>
              <a:rPr lang="en-US" sz="1200" dirty="0">
                <a:solidFill>
                  <a:srgbClr val="3C5790"/>
                </a:solidFill>
              </a:rPr>
              <a:t> — manages </a:t>
            </a:r>
            <a:r>
              <a:rPr lang="en-US" sz="1200" dirty="0" err="1">
                <a:solidFill>
                  <a:srgbClr val="3C5790"/>
                </a:solidFill>
              </a:rPr>
              <a:t>gRPC</a:t>
            </a:r>
            <a:r>
              <a:rPr lang="en-US" sz="1200" dirty="0">
                <a:solidFill>
                  <a:srgbClr val="3C5790"/>
                </a:solidFill>
              </a:rPr>
              <a:t> channel lifecycle.</a:t>
            </a:r>
          </a:p>
          <a:p>
            <a:r>
              <a:rPr lang="fr-CA" sz="1200" dirty="0" err="1">
                <a:solidFill>
                  <a:srgbClr val="3C5790"/>
                </a:solidFill>
              </a:rPr>
              <a:t>JavaDoc</a:t>
            </a:r>
            <a:r>
              <a:rPr lang="fr-CA" sz="1200" dirty="0">
                <a:solidFill>
                  <a:srgbClr val="3C5790"/>
                </a:solidFill>
              </a:rPr>
              <a:t>: </a:t>
            </a:r>
            <a:r>
              <a:rPr lang="fr-CA" sz="1200" dirty="0">
                <a:solidFill>
                  <a:srgbClr val="3C5790"/>
                </a:solidFill>
                <a:hlinkClick r:id="rId3"/>
              </a:rPr>
              <a:t>https://qdrant.github.io/java-client/</a:t>
            </a:r>
            <a:r>
              <a:rPr lang="fr-CA" sz="1200" dirty="0">
                <a:solidFill>
                  <a:srgbClr val="3C579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29221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16D5DB-DFE3-AE58-4E2B-0EFA347E1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>
            <a:extLst>
              <a:ext uri="{FF2B5EF4-FFF2-40B4-BE49-F238E27FC236}">
                <a16:creationId xmlns:a16="http://schemas.microsoft.com/office/drawing/2014/main" id="{9DC899AF-4996-2F69-D036-AE28CFD1E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chemeClr val="bg1"/>
                </a:solidFill>
              </a:rPr>
              <a:t>Java Client (</a:t>
            </a:r>
            <a:r>
              <a:rPr lang="fr-CA" dirty="0" err="1">
                <a:solidFill>
                  <a:schemeClr val="bg1"/>
                </a:solidFill>
              </a:rPr>
              <a:t>cont</a:t>
            </a:r>
            <a:r>
              <a:rPr lang="fr-CA" dirty="0">
                <a:solidFill>
                  <a:schemeClr val="bg1"/>
                </a:solidFill>
              </a:rPr>
              <a:t>.)</a:t>
            </a:r>
          </a:p>
        </p:txBody>
      </p:sp>
      <p:sp>
        <p:nvSpPr>
          <p:cNvPr id="4099" name="Espace réservé du contenu 4">
            <a:extLst>
              <a:ext uri="{FF2B5EF4-FFF2-40B4-BE49-F238E27FC236}">
                <a16:creationId xmlns:a16="http://schemas.microsoft.com/office/drawing/2014/main" id="{170C6CB0-BD22-65DE-C172-867A426F7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4449762"/>
          </a:xfrm>
        </p:spPr>
        <p:txBody>
          <a:bodyPr/>
          <a:lstStyle/>
          <a:p>
            <a:r>
              <a:rPr lang="en-US" sz="1400" b="1" dirty="0">
                <a:solidFill>
                  <a:srgbClr val="3C5790"/>
                </a:solidFill>
              </a:rPr>
              <a:t>Setup, authentication, and collection creation</a:t>
            </a:r>
          </a:p>
          <a:p>
            <a:r>
              <a:rPr lang="en-US" sz="1400" dirty="0">
                <a:solidFill>
                  <a:srgbClr val="3C5790"/>
                </a:solidFill>
              </a:rPr>
              <a:t>// Connection</a:t>
            </a:r>
          </a:p>
          <a:p>
            <a:r>
              <a:rPr lang="en-US" sz="1400" dirty="0" err="1">
                <a:solidFill>
                  <a:srgbClr val="3C5790"/>
                </a:solidFill>
              </a:rPr>
              <a:t>QdrantClient</a:t>
            </a:r>
            <a:r>
              <a:rPr lang="en-US" sz="1400" dirty="0">
                <a:solidFill>
                  <a:srgbClr val="3C5790"/>
                </a:solidFill>
              </a:rPr>
              <a:t> client = new </a:t>
            </a:r>
            <a:r>
              <a:rPr lang="en-US" sz="1400" dirty="0" err="1">
                <a:solidFill>
                  <a:srgbClr val="3C5790"/>
                </a:solidFill>
              </a:rPr>
              <a:t>QdrantClient</a:t>
            </a:r>
            <a:r>
              <a:rPr lang="en-US" sz="1400" dirty="0">
                <a:solidFill>
                  <a:srgbClr val="3C5790"/>
                </a:solidFill>
              </a:rPr>
              <a:t>(</a:t>
            </a:r>
          </a:p>
          <a:p>
            <a:r>
              <a:rPr lang="en-US" sz="1400" dirty="0">
                <a:solidFill>
                  <a:srgbClr val="3C5790"/>
                </a:solidFill>
              </a:rPr>
              <a:t>  </a:t>
            </a:r>
            <a:r>
              <a:rPr lang="en-US" sz="1400" dirty="0" err="1">
                <a:solidFill>
                  <a:srgbClr val="3C5790"/>
                </a:solidFill>
              </a:rPr>
              <a:t>QdrantGrpcClient.newBuilder</a:t>
            </a:r>
            <a:r>
              <a:rPr lang="en-US" sz="1400" dirty="0">
                <a:solidFill>
                  <a:srgbClr val="3C5790"/>
                </a:solidFill>
              </a:rPr>
              <a:t>("localhost", 6334, false).build());</a:t>
            </a:r>
          </a:p>
          <a:p>
            <a:r>
              <a:rPr lang="en-US" sz="1400" dirty="0">
                <a:solidFill>
                  <a:srgbClr val="3C5790"/>
                </a:solidFill>
              </a:rPr>
              <a:t> </a:t>
            </a:r>
          </a:p>
          <a:p>
            <a:r>
              <a:rPr lang="en-US" sz="1400" dirty="0">
                <a:solidFill>
                  <a:srgbClr val="3C5790"/>
                </a:solidFill>
              </a:rPr>
              <a:t>// TLS + API key (production)</a:t>
            </a:r>
          </a:p>
          <a:p>
            <a:r>
              <a:rPr lang="en-US" sz="1400" dirty="0" err="1">
                <a:solidFill>
                  <a:srgbClr val="3C5790"/>
                </a:solidFill>
              </a:rPr>
              <a:t>QdrantClient</a:t>
            </a:r>
            <a:r>
              <a:rPr lang="en-US" sz="1400" dirty="0">
                <a:solidFill>
                  <a:srgbClr val="3C5790"/>
                </a:solidFill>
              </a:rPr>
              <a:t> prod = new </a:t>
            </a:r>
            <a:r>
              <a:rPr lang="en-US" sz="1400" dirty="0" err="1">
                <a:solidFill>
                  <a:srgbClr val="3C5790"/>
                </a:solidFill>
              </a:rPr>
              <a:t>QdrantClient</a:t>
            </a:r>
            <a:r>
              <a:rPr lang="en-US" sz="1400" dirty="0">
                <a:solidFill>
                  <a:srgbClr val="3C5790"/>
                </a:solidFill>
              </a:rPr>
              <a:t>(</a:t>
            </a:r>
          </a:p>
          <a:p>
            <a:r>
              <a:rPr lang="en-US" sz="1400" dirty="0">
                <a:solidFill>
                  <a:srgbClr val="3C5790"/>
                </a:solidFill>
              </a:rPr>
              <a:t>  </a:t>
            </a:r>
            <a:r>
              <a:rPr lang="en-US" sz="1400" dirty="0" err="1">
                <a:solidFill>
                  <a:srgbClr val="3C5790"/>
                </a:solidFill>
              </a:rPr>
              <a:t>QdrantGrpcClient.newBuilder</a:t>
            </a:r>
            <a:r>
              <a:rPr lang="en-US" sz="1400" dirty="0">
                <a:solidFill>
                  <a:srgbClr val="3C5790"/>
                </a:solidFill>
              </a:rPr>
              <a:t>("cluster.qdrant.io", 6334, true)</a:t>
            </a:r>
          </a:p>
          <a:p>
            <a:r>
              <a:rPr lang="en-US" sz="1400" dirty="0">
                <a:solidFill>
                  <a:srgbClr val="3C5790"/>
                </a:solidFill>
              </a:rPr>
              <a:t>    .</a:t>
            </a:r>
            <a:r>
              <a:rPr lang="en-US" sz="1400" dirty="0" err="1">
                <a:solidFill>
                  <a:srgbClr val="3C5790"/>
                </a:solidFill>
              </a:rPr>
              <a:t>withApiKey</a:t>
            </a:r>
            <a:r>
              <a:rPr lang="en-US" sz="1400" dirty="0">
                <a:solidFill>
                  <a:srgbClr val="3C5790"/>
                </a:solidFill>
              </a:rPr>
              <a:t>("your-</a:t>
            </a:r>
            <a:r>
              <a:rPr lang="en-US" sz="1400" dirty="0" err="1">
                <a:solidFill>
                  <a:srgbClr val="3C5790"/>
                </a:solidFill>
              </a:rPr>
              <a:t>api</a:t>
            </a:r>
            <a:r>
              <a:rPr lang="en-US" sz="1400" dirty="0">
                <a:solidFill>
                  <a:srgbClr val="3C5790"/>
                </a:solidFill>
              </a:rPr>
              <a:t>-key").build());</a:t>
            </a:r>
          </a:p>
          <a:p>
            <a:r>
              <a:rPr lang="en-US" sz="1400" dirty="0">
                <a:solidFill>
                  <a:srgbClr val="3C5790"/>
                </a:solidFill>
              </a:rPr>
              <a:t> </a:t>
            </a:r>
          </a:p>
          <a:p>
            <a:r>
              <a:rPr lang="en-US" sz="1400" dirty="0">
                <a:solidFill>
                  <a:srgbClr val="3C5790"/>
                </a:solidFill>
              </a:rPr>
              <a:t>// Create collection (384-dim cosine)</a:t>
            </a:r>
          </a:p>
          <a:p>
            <a:r>
              <a:rPr lang="en-US" sz="1400" dirty="0" err="1">
                <a:solidFill>
                  <a:srgbClr val="3C5790"/>
                </a:solidFill>
              </a:rPr>
              <a:t>client.createCollectionAsync</a:t>
            </a:r>
            <a:r>
              <a:rPr lang="en-US" sz="1400" dirty="0">
                <a:solidFill>
                  <a:srgbClr val="3C5790"/>
                </a:solidFill>
              </a:rPr>
              <a:t>("</a:t>
            </a:r>
            <a:r>
              <a:rPr lang="en-US" sz="1400" dirty="0" err="1">
                <a:solidFill>
                  <a:srgbClr val="3C5790"/>
                </a:solidFill>
              </a:rPr>
              <a:t>my_collection</a:t>
            </a:r>
            <a:r>
              <a:rPr lang="en-US" sz="1400" dirty="0">
                <a:solidFill>
                  <a:srgbClr val="3C5790"/>
                </a:solidFill>
              </a:rPr>
              <a:t>",</a:t>
            </a:r>
          </a:p>
          <a:p>
            <a:r>
              <a:rPr lang="en-US" sz="1400" dirty="0">
                <a:solidFill>
                  <a:srgbClr val="3C5790"/>
                </a:solidFill>
              </a:rPr>
              <a:t>  </a:t>
            </a:r>
            <a:r>
              <a:rPr lang="en-US" sz="1400" dirty="0" err="1">
                <a:solidFill>
                  <a:srgbClr val="3C5790"/>
                </a:solidFill>
              </a:rPr>
              <a:t>VectorParams.newBuilder</a:t>
            </a:r>
            <a:r>
              <a:rPr lang="en-US" sz="1400" dirty="0">
                <a:solidFill>
                  <a:srgbClr val="3C5790"/>
                </a:solidFill>
              </a:rPr>
              <a:t>().</a:t>
            </a:r>
            <a:r>
              <a:rPr lang="en-US" sz="1400" dirty="0" err="1">
                <a:solidFill>
                  <a:srgbClr val="3C5790"/>
                </a:solidFill>
              </a:rPr>
              <a:t>setSize</a:t>
            </a:r>
            <a:r>
              <a:rPr lang="en-US" sz="1400" dirty="0">
                <a:solidFill>
                  <a:srgbClr val="3C5790"/>
                </a:solidFill>
              </a:rPr>
              <a:t>(384)</a:t>
            </a:r>
          </a:p>
          <a:p>
            <a:r>
              <a:rPr lang="en-US" sz="1400" dirty="0">
                <a:solidFill>
                  <a:srgbClr val="3C5790"/>
                </a:solidFill>
              </a:rPr>
              <a:t>    .</a:t>
            </a:r>
            <a:r>
              <a:rPr lang="en-US" sz="1400" dirty="0" err="1">
                <a:solidFill>
                  <a:srgbClr val="3C5790"/>
                </a:solidFill>
              </a:rPr>
              <a:t>setDistance</a:t>
            </a:r>
            <a:r>
              <a:rPr lang="en-US" sz="1400" dirty="0">
                <a:solidFill>
                  <a:srgbClr val="3C5790"/>
                </a:solidFill>
              </a:rPr>
              <a:t>(</a:t>
            </a:r>
            <a:r>
              <a:rPr lang="en-US" sz="1400" dirty="0" err="1">
                <a:solidFill>
                  <a:srgbClr val="3C5790"/>
                </a:solidFill>
              </a:rPr>
              <a:t>Distance.Cosine</a:t>
            </a:r>
            <a:r>
              <a:rPr lang="en-US" sz="1400" dirty="0">
                <a:solidFill>
                  <a:srgbClr val="3C5790"/>
                </a:solidFill>
              </a:rPr>
              <a:t>).build()).get();</a:t>
            </a:r>
          </a:p>
          <a:p>
            <a:r>
              <a:rPr lang="en-US" sz="1400" dirty="0">
                <a:solidFill>
                  <a:srgbClr val="3C5790"/>
                </a:solidFill>
              </a:rPr>
              <a:t> </a:t>
            </a:r>
          </a:p>
          <a:p>
            <a:r>
              <a:rPr lang="en-US" sz="1400" dirty="0">
                <a:solidFill>
                  <a:srgbClr val="3C5790"/>
                </a:solidFill>
              </a:rPr>
              <a:t>// Health check</a:t>
            </a:r>
          </a:p>
          <a:p>
            <a:r>
              <a:rPr lang="en-US" sz="1400" dirty="0">
                <a:solidFill>
                  <a:srgbClr val="3C5790"/>
                </a:solidFill>
              </a:rPr>
              <a:t>var health = </a:t>
            </a:r>
            <a:r>
              <a:rPr lang="en-US" sz="1400" dirty="0" err="1">
                <a:solidFill>
                  <a:srgbClr val="3C5790"/>
                </a:solidFill>
              </a:rPr>
              <a:t>client.healthCheckAsync</a:t>
            </a:r>
            <a:r>
              <a:rPr lang="en-US" sz="1400" dirty="0">
                <a:solidFill>
                  <a:srgbClr val="3C5790"/>
                </a:solidFill>
              </a:rPr>
              <a:t>().get();</a:t>
            </a:r>
            <a:endParaRPr lang="fr-CA" sz="1400" dirty="0">
              <a:solidFill>
                <a:srgbClr val="3C57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4274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019E7C-4546-07E1-755A-2D2100C66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>
            <a:extLst>
              <a:ext uri="{FF2B5EF4-FFF2-40B4-BE49-F238E27FC236}">
                <a16:creationId xmlns:a16="http://schemas.microsoft.com/office/drawing/2014/main" id="{5837BE0F-101D-C06F-0470-399DB19A9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chemeClr val="bg1"/>
                </a:solidFill>
              </a:rPr>
              <a:t>Java Client (</a:t>
            </a:r>
            <a:r>
              <a:rPr lang="fr-CA" dirty="0" err="1">
                <a:solidFill>
                  <a:schemeClr val="bg1"/>
                </a:solidFill>
              </a:rPr>
              <a:t>cont</a:t>
            </a:r>
            <a:r>
              <a:rPr lang="fr-CA" dirty="0">
                <a:solidFill>
                  <a:schemeClr val="bg1"/>
                </a:solidFill>
              </a:rPr>
              <a:t>.)</a:t>
            </a:r>
          </a:p>
        </p:txBody>
      </p:sp>
      <p:sp>
        <p:nvSpPr>
          <p:cNvPr id="4099" name="Espace réservé du contenu 4">
            <a:extLst>
              <a:ext uri="{FF2B5EF4-FFF2-40B4-BE49-F238E27FC236}">
                <a16:creationId xmlns:a16="http://schemas.microsoft.com/office/drawing/2014/main" id="{1131804A-E7A7-925B-51C0-5C2B5B06F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4572000"/>
          </a:xfrm>
        </p:spPr>
        <p:txBody>
          <a:bodyPr/>
          <a:lstStyle/>
          <a:p>
            <a:r>
              <a:rPr lang="en-US" sz="1100" b="1" dirty="0">
                <a:solidFill>
                  <a:srgbClr val="3C5790"/>
                </a:solidFill>
              </a:rPr>
              <a:t>Insert points and run similarity + filtered search</a:t>
            </a:r>
          </a:p>
          <a:p>
            <a:r>
              <a:rPr lang="en-US" sz="1100" dirty="0">
                <a:solidFill>
                  <a:srgbClr val="3C5790"/>
                </a:solidFill>
              </a:rPr>
              <a:t>// </a:t>
            </a:r>
            <a:r>
              <a:rPr lang="en-US" sz="1100" dirty="0" err="1">
                <a:solidFill>
                  <a:srgbClr val="3C5790"/>
                </a:solidFill>
              </a:rPr>
              <a:t>Upsert</a:t>
            </a:r>
            <a:r>
              <a:rPr lang="en-US" sz="1100" dirty="0">
                <a:solidFill>
                  <a:srgbClr val="3C5790"/>
                </a:solidFill>
              </a:rPr>
              <a:t> point with payload</a:t>
            </a:r>
          </a:p>
          <a:p>
            <a:r>
              <a:rPr lang="en-US" sz="1100" dirty="0" err="1">
                <a:solidFill>
                  <a:srgbClr val="3C5790"/>
                </a:solidFill>
              </a:rPr>
              <a:t>client.upsertAsync</a:t>
            </a:r>
            <a:r>
              <a:rPr lang="en-US" sz="1100" dirty="0">
                <a:solidFill>
                  <a:srgbClr val="3C5790"/>
                </a:solidFill>
              </a:rPr>
              <a:t>("</a:t>
            </a:r>
            <a:r>
              <a:rPr lang="en-US" sz="1100" dirty="0" err="1">
                <a:solidFill>
                  <a:srgbClr val="3C5790"/>
                </a:solidFill>
              </a:rPr>
              <a:t>my_collection</a:t>
            </a:r>
            <a:r>
              <a:rPr lang="en-US" sz="1100" dirty="0">
                <a:solidFill>
                  <a:srgbClr val="3C5790"/>
                </a:solidFill>
              </a:rPr>
              <a:t>", </a:t>
            </a:r>
            <a:r>
              <a:rPr lang="en-US" sz="1100" dirty="0" err="1">
                <a:solidFill>
                  <a:srgbClr val="3C5790"/>
                </a:solidFill>
              </a:rPr>
              <a:t>List.of</a:t>
            </a:r>
            <a:r>
              <a:rPr lang="en-US" sz="1100" dirty="0">
                <a:solidFill>
                  <a:srgbClr val="3C5790"/>
                </a:solidFill>
              </a:rPr>
              <a:t>(</a:t>
            </a:r>
          </a:p>
          <a:p>
            <a:r>
              <a:rPr lang="en-US" sz="1100" dirty="0">
                <a:solidFill>
                  <a:srgbClr val="3C5790"/>
                </a:solidFill>
              </a:rPr>
              <a:t>  </a:t>
            </a:r>
            <a:r>
              <a:rPr lang="en-US" sz="1100" dirty="0" err="1">
                <a:solidFill>
                  <a:srgbClr val="3C5790"/>
                </a:solidFill>
              </a:rPr>
              <a:t>PointStruct.newBuilder</a:t>
            </a:r>
            <a:r>
              <a:rPr lang="en-US" sz="1100" dirty="0">
                <a:solidFill>
                  <a:srgbClr val="3C5790"/>
                </a:solidFill>
              </a:rPr>
              <a:t>().</a:t>
            </a:r>
            <a:r>
              <a:rPr lang="en-US" sz="1100" dirty="0" err="1">
                <a:solidFill>
                  <a:srgbClr val="3C5790"/>
                </a:solidFill>
              </a:rPr>
              <a:t>setId</a:t>
            </a:r>
            <a:r>
              <a:rPr lang="en-US" sz="1100" dirty="0">
                <a:solidFill>
                  <a:srgbClr val="3C5790"/>
                </a:solidFill>
              </a:rPr>
              <a:t>(id(1))</a:t>
            </a:r>
          </a:p>
          <a:p>
            <a:r>
              <a:rPr lang="en-US" sz="1100" dirty="0">
                <a:solidFill>
                  <a:srgbClr val="3C5790"/>
                </a:solidFill>
              </a:rPr>
              <a:t>    .</a:t>
            </a:r>
            <a:r>
              <a:rPr lang="en-US" sz="1100" dirty="0" err="1">
                <a:solidFill>
                  <a:srgbClr val="3C5790"/>
                </a:solidFill>
              </a:rPr>
              <a:t>setVectors</a:t>
            </a:r>
            <a:r>
              <a:rPr lang="en-US" sz="1100" dirty="0">
                <a:solidFill>
                  <a:srgbClr val="3C5790"/>
                </a:solidFill>
              </a:rPr>
              <a:t>(vectors(0.05f, 0.61f, 0.76f))</a:t>
            </a:r>
          </a:p>
          <a:p>
            <a:r>
              <a:rPr lang="en-US" sz="1100" dirty="0">
                <a:solidFill>
                  <a:srgbClr val="3C5790"/>
                </a:solidFill>
              </a:rPr>
              <a:t>    .</a:t>
            </a:r>
            <a:r>
              <a:rPr lang="en-US" sz="1100" dirty="0" err="1">
                <a:solidFill>
                  <a:srgbClr val="3C5790"/>
                </a:solidFill>
              </a:rPr>
              <a:t>putAllPayload</a:t>
            </a:r>
            <a:r>
              <a:rPr lang="en-US" sz="1100" dirty="0">
                <a:solidFill>
                  <a:srgbClr val="3C5790"/>
                </a:solidFill>
              </a:rPr>
              <a:t>(</a:t>
            </a:r>
            <a:r>
              <a:rPr lang="en-US" sz="1100" dirty="0" err="1">
                <a:solidFill>
                  <a:srgbClr val="3C5790"/>
                </a:solidFill>
              </a:rPr>
              <a:t>Map.of</a:t>
            </a:r>
            <a:r>
              <a:rPr lang="en-US" sz="1100" dirty="0">
                <a:solidFill>
                  <a:srgbClr val="3C5790"/>
                </a:solidFill>
              </a:rPr>
              <a:t>("city", value("London"),</a:t>
            </a:r>
          </a:p>
          <a:p>
            <a:r>
              <a:rPr lang="en-US" sz="1100" dirty="0">
                <a:solidFill>
                  <a:srgbClr val="3C5790"/>
                </a:solidFill>
              </a:rPr>
              <a:t>      "price", value(1200))).build())).get();</a:t>
            </a:r>
          </a:p>
          <a:p>
            <a:r>
              <a:rPr lang="en-US" sz="1100" dirty="0">
                <a:solidFill>
                  <a:srgbClr val="3C5790"/>
                </a:solidFill>
              </a:rPr>
              <a:t> </a:t>
            </a:r>
          </a:p>
          <a:p>
            <a:r>
              <a:rPr lang="en-US" sz="1100" dirty="0">
                <a:solidFill>
                  <a:srgbClr val="3C5790"/>
                </a:solidFill>
              </a:rPr>
              <a:t>// Similarity search</a:t>
            </a:r>
          </a:p>
          <a:p>
            <a:r>
              <a:rPr lang="en-US" sz="1100" dirty="0">
                <a:solidFill>
                  <a:srgbClr val="3C5790"/>
                </a:solidFill>
              </a:rPr>
              <a:t>List&lt;</a:t>
            </a:r>
            <a:r>
              <a:rPr lang="en-US" sz="1100" dirty="0" err="1">
                <a:solidFill>
                  <a:srgbClr val="3C5790"/>
                </a:solidFill>
              </a:rPr>
              <a:t>ScoredPoint</a:t>
            </a:r>
            <a:r>
              <a:rPr lang="en-US" sz="1100" dirty="0">
                <a:solidFill>
                  <a:srgbClr val="3C5790"/>
                </a:solidFill>
              </a:rPr>
              <a:t>&gt; results = </a:t>
            </a:r>
            <a:r>
              <a:rPr lang="en-US" sz="1100" dirty="0" err="1">
                <a:solidFill>
                  <a:srgbClr val="3C5790"/>
                </a:solidFill>
              </a:rPr>
              <a:t>client.searchAsync</a:t>
            </a:r>
            <a:r>
              <a:rPr lang="en-US" sz="1100" dirty="0">
                <a:solidFill>
                  <a:srgbClr val="3C5790"/>
                </a:solidFill>
              </a:rPr>
              <a:t>(</a:t>
            </a:r>
          </a:p>
          <a:p>
            <a:r>
              <a:rPr lang="en-US" sz="1100" dirty="0">
                <a:solidFill>
                  <a:srgbClr val="3C5790"/>
                </a:solidFill>
              </a:rPr>
              <a:t>  </a:t>
            </a:r>
            <a:r>
              <a:rPr lang="en-US" sz="1100" dirty="0" err="1">
                <a:solidFill>
                  <a:srgbClr val="3C5790"/>
                </a:solidFill>
              </a:rPr>
              <a:t>SearchPoints.newBuilder</a:t>
            </a:r>
            <a:r>
              <a:rPr lang="en-US" sz="1100" dirty="0">
                <a:solidFill>
                  <a:srgbClr val="3C5790"/>
                </a:solidFill>
              </a:rPr>
              <a:t>().</a:t>
            </a:r>
            <a:r>
              <a:rPr lang="en-US" sz="1100" dirty="0" err="1">
                <a:solidFill>
                  <a:srgbClr val="3C5790"/>
                </a:solidFill>
              </a:rPr>
              <a:t>setCollectionName</a:t>
            </a:r>
            <a:r>
              <a:rPr lang="en-US" sz="1100" dirty="0">
                <a:solidFill>
                  <a:srgbClr val="3C5790"/>
                </a:solidFill>
              </a:rPr>
              <a:t>("</a:t>
            </a:r>
            <a:r>
              <a:rPr lang="en-US" sz="1100" dirty="0" err="1">
                <a:solidFill>
                  <a:srgbClr val="3C5790"/>
                </a:solidFill>
              </a:rPr>
              <a:t>my_collection</a:t>
            </a:r>
            <a:r>
              <a:rPr lang="en-US" sz="1100" dirty="0">
                <a:solidFill>
                  <a:srgbClr val="3C5790"/>
                </a:solidFill>
              </a:rPr>
              <a:t>")</a:t>
            </a:r>
          </a:p>
          <a:p>
            <a:r>
              <a:rPr lang="en-US" sz="1100" dirty="0">
                <a:solidFill>
                  <a:srgbClr val="3C5790"/>
                </a:solidFill>
              </a:rPr>
              <a:t>    .</a:t>
            </a:r>
            <a:r>
              <a:rPr lang="en-US" sz="1100" dirty="0" err="1">
                <a:solidFill>
                  <a:srgbClr val="3C5790"/>
                </a:solidFill>
              </a:rPr>
              <a:t>addAllVector</a:t>
            </a:r>
            <a:r>
              <a:rPr lang="en-US" sz="1100" dirty="0">
                <a:solidFill>
                  <a:srgbClr val="3C5790"/>
                </a:solidFill>
              </a:rPr>
              <a:t>(</a:t>
            </a:r>
            <a:r>
              <a:rPr lang="en-US" sz="1100" dirty="0" err="1">
                <a:solidFill>
                  <a:srgbClr val="3C5790"/>
                </a:solidFill>
              </a:rPr>
              <a:t>List.of</a:t>
            </a:r>
            <a:r>
              <a:rPr lang="en-US" sz="1100" dirty="0">
                <a:solidFill>
                  <a:srgbClr val="3C5790"/>
                </a:solidFill>
              </a:rPr>
              <a:t>(0.2f, 0.1f, 0.9f, 0.7f))</a:t>
            </a:r>
          </a:p>
          <a:p>
            <a:r>
              <a:rPr lang="en-US" sz="1100" dirty="0">
                <a:solidFill>
                  <a:srgbClr val="3C5790"/>
                </a:solidFill>
              </a:rPr>
              <a:t>    .</a:t>
            </a:r>
            <a:r>
              <a:rPr lang="en-US" sz="1100" dirty="0" err="1">
                <a:solidFill>
                  <a:srgbClr val="3C5790"/>
                </a:solidFill>
              </a:rPr>
              <a:t>setLimit</a:t>
            </a:r>
            <a:r>
              <a:rPr lang="en-US" sz="1100" dirty="0">
                <a:solidFill>
                  <a:srgbClr val="3C5790"/>
                </a:solidFill>
              </a:rPr>
              <a:t>(5).build()).get();</a:t>
            </a:r>
          </a:p>
          <a:p>
            <a:endParaRPr lang="en-US" sz="1100" dirty="0">
              <a:solidFill>
                <a:srgbClr val="3C5790"/>
              </a:solidFill>
            </a:endParaRPr>
          </a:p>
          <a:p>
            <a:r>
              <a:rPr lang="fr-CA" sz="1100" dirty="0">
                <a:solidFill>
                  <a:srgbClr val="3C5790"/>
                </a:solidFill>
              </a:rPr>
              <a:t>// </a:t>
            </a:r>
            <a:r>
              <a:rPr lang="fr-CA" sz="1100" dirty="0" err="1">
                <a:solidFill>
                  <a:srgbClr val="3C5790"/>
                </a:solidFill>
              </a:rPr>
              <a:t>Filtered</a:t>
            </a:r>
            <a:r>
              <a:rPr lang="fr-CA" sz="1100" dirty="0">
                <a:solidFill>
                  <a:srgbClr val="3C5790"/>
                </a:solidFill>
              </a:rPr>
              <a:t> </a:t>
            </a:r>
            <a:r>
              <a:rPr lang="fr-CA" sz="1100" dirty="0" err="1">
                <a:solidFill>
                  <a:srgbClr val="3C5790"/>
                </a:solidFill>
              </a:rPr>
              <a:t>search</a:t>
            </a:r>
            <a:endParaRPr lang="fr-CA" sz="1100" dirty="0">
              <a:solidFill>
                <a:srgbClr val="3C5790"/>
              </a:solidFill>
            </a:endParaRPr>
          </a:p>
          <a:p>
            <a:r>
              <a:rPr lang="fr-CA" sz="1100" dirty="0" err="1">
                <a:solidFill>
                  <a:srgbClr val="3C5790"/>
                </a:solidFill>
              </a:rPr>
              <a:t>client.searchAsync</a:t>
            </a:r>
            <a:r>
              <a:rPr lang="fr-CA" sz="1100" dirty="0">
                <a:solidFill>
                  <a:srgbClr val="3C5790"/>
                </a:solidFill>
              </a:rPr>
              <a:t>(</a:t>
            </a:r>
            <a:r>
              <a:rPr lang="fr-CA" sz="1100" dirty="0" err="1">
                <a:solidFill>
                  <a:srgbClr val="3C5790"/>
                </a:solidFill>
              </a:rPr>
              <a:t>SearchPoints.newBuilder</a:t>
            </a:r>
            <a:r>
              <a:rPr lang="fr-CA" sz="1100" dirty="0">
                <a:solidFill>
                  <a:srgbClr val="3C5790"/>
                </a:solidFill>
              </a:rPr>
              <a:t>()</a:t>
            </a:r>
          </a:p>
          <a:p>
            <a:r>
              <a:rPr lang="fr-CA" sz="1100" dirty="0">
                <a:solidFill>
                  <a:srgbClr val="3C5790"/>
                </a:solidFill>
              </a:rPr>
              <a:t>  .</a:t>
            </a:r>
            <a:r>
              <a:rPr lang="fr-CA" sz="1100" dirty="0" err="1">
                <a:solidFill>
                  <a:srgbClr val="3C5790"/>
                </a:solidFill>
              </a:rPr>
              <a:t>setCollectionName</a:t>
            </a:r>
            <a:r>
              <a:rPr lang="fr-CA" sz="1100" dirty="0">
                <a:solidFill>
                  <a:srgbClr val="3C5790"/>
                </a:solidFill>
              </a:rPr>
              <a:t>("</a:t>
            </a:r>
            <a:r>
              <a:rPr lang="fr-CA" sz="1100" dirty="0" err="1">
                <a:solidFill>
                  <a:srgbClr val="3C5790"/>
                </a:solidFill>
              </a:rPr>
              <a:t>my_collection</a:t>
            </a:r>
            <a:r>
              <a:rPr lang="fr-CA" sz="1100" dirty="0">
                <a:solidFill>
                  <a:srgbClr val="3C5790"/>
                </a:solidFill>
              </a:rPr>
              <a:t>")</a:t>
            </a:r>
          </a:p>
          <a:p>
            <a:r>
              <a:rPr lang="fr-CA" sz="1100" dirty="0">
                <a:solidFill>
                  <a:srgbClr val="3C5790"/>
                </a:solidFill>
              </a:rPr>
              <a:t>  .</a:t>
            </a:r>
            <a:r>
              <a:rPr lang="fr-CA" sz="1100" dirty="0" err="1">
                <a:solidFill>
                  <a:srgbClr val="3C5790"/>
                </a:solidFill>
              </a:rPr>
              <a:t>addAllVector</a:t>
            </a:r>
            <a:r>
              <a:rPr lang="fr-CA" sz="1100" dirty="0">
                <a:solidFill>
                  <a:srgbClr val="3C5790"/>
                </a:solidFill>
              </a:rPr>
              <a:t>(</a:t>
            </a:r>
            <a:r>
              <a:rPr lang="fr-CA" sz="1100" dirty="0" err="1">
                <a:solidFill>
                  <a:srgbClr val="3C5790"/>
                </a:solidFill>
              </a:rPr>
              <a:t>queryVector</a:t>
            </a:r>
            <a:r>
              <a:rPr lang="fr-CA" sz="1100" dirty="0">
                <a:solidFill>
                  <a:srgbClr val="3C5790"/>
                </a:solidFill>
              </a:rPr>
              <a:t>)</a:t>
            </a:r>
          </a:p>
          <a:p>
            <a:r>
              <a:rPr lang="fr-CA" sz="1100" dirty="0">
                <a:solidFill>
                  <a:srgbClr val="3C5790"/>
                </a:solidFill>
              </a:rPr>
              <a:t>  .</a:t>
            </a:r>
            <a:r>
              <a:rPr lang="fr-CA" sz="1100" dirty="0" err="1">
                <a:solidFill>
                  <a:srgbClr val="3C5790"/>
                </a:solidFill>
              </a:rPr>
              <a:t>setFilter</a:t>
            </a:r>
            <a:r>
              <a:rPr lang="fr-CA" sz="1100" dirty="0">
                <a:solidFill>
                  <a:srgbClr val="3C5790"/>
                </a:solidFill>
              </a:rPr>
              <a:t>(</a:t>
            </a:r>
            <a:r>
              <a:rPr lang="fr-CA" sz="1100" dirty="0" err="1">
                <a:solidFill>
                  <a:srgbClr val="3C5790"/>
                </a:solidFill>
              </a:rPr>
              <a:t>Filter.newBuilder</a:t>
            </a:r>
            <a:r>
              <a:rPr lang="fr-CA" sz="1100" dirty="0">
                <a:solidFill>
                  <a:srgbClr val="3C5790"/>
                </a:solidFill>
              </a:rPr>
              <a:t>()</a:t>
            </a:r>
          </a:p>
          <a:p>
            <a:r>
              <a:rPr lang="fr-CA" sz="1100" dirty="0">
                <a:solidFill>
                  <a:srgbClr val="3C5790"/>
                </a:solidFill>
              </a:rPr>
              <a:t>    .</a:t>
            </a:r>
            <a:r>
              <a:rPr lang="fr-CA" sz="1100" dirty="0" err="1">
                <a:solidFill>
                  <a:srgbClr val="3C5790"/>
                </a:solidFill>
              </a:rPr>
              <a:t>addMust</a:t>
            </a:r>
            <a:r>
              <a:rPr lang="fr-CA" sz="1100" dirty="0">
                <a:solidFill>
                  <a:srgbClr val="3C5790"/>
                </a:solidFill>
              </a:rPr>
              <a:t>(range("</a:t>
            </a:r>
            <a:r>
              <a:rPr lang="fr-CA" sz="1100" dirty="0" err="1">
                <a:solidFill>
                  <a:srgbClr val="3C5790"/>
                </a:solidFill>
              </a:rPr>
              <a:t>price</a:t>
            </a:r>
            <a:r>
              <a:rPr lang="fr-CA" sz="1100" dirty="0">
                <a:solidFill>
                  <a:srgbClr val="3C5790"/>
                </a:solidFill>
              </a:rPr>
              <a:t>", </a:t>
            </a:r>
            <a:r>
              <a:rPr lang="fr-CA" sz="1100" dirty="0" err="1">
                <a:solidFill>
                  <a:srgbClr val="3C5790"/>
                </a:solidFill>
              </a:rPr>
              <a:t>Range.newBuilder</a:t>
            </a:r>
            <a:r>
              <a:rPr lang="fr-CA" sz="1100" dirty="0">
                <a:solidFill>
                  <a:srgbClr val="3C5790"/>
                </a:solidFill>
              </a:rPr>
              <a:t>().</a:t>
            </a:r>
            <a:r>
              <a:rPr lang="fr-CA" sz="1100" dirty="0" err="1">
                <a:solidFill>
                  <a:srgbClr val="3C5790"/>
                </a:solidFill>
              </a:rPr>
              <a:t>setLte</a:t>
            </a:r>
            <a:r>
              <a:rPr lang="fr-CA" sz="1100" dirty="0">
                <a:solidFill>
                  <a:srgbClr val="3C5790"/>
                </a:solidFill>
              </a:rPr>
              <a:t>(1500)))</a:t>
            </a:r>
          </a:p>
          <a:p>
            <a:r>
              <a:rPr lang="fr-CA" sz="1100" dirty="0">
                <a:solidFill>
                  <a:srgbClr val="3C5790"/>
                </a:solidFill>
              </a:rPr>
              <a:t>    .</a:t>
            </a:r>
            <a:r>
              <a:rPr lang="fr-CA" sz="1100" dirty="0" err="1">
                <a:solidFill>
                  <a:srgbClr val="3C5790"/>
                </a:solidFill>
              </a:rPr>
              <a:t>addMust</a:t>
            </a:r>
            <a:r>
              <a:rPr lang="fr-CA" sz="1100" dirty="0">
                <a:solidFill>
                  <a:srgbClr val="3C5790"/>
                </a:solidFill>
              </a:rPr>
              <a:t>(</a:t>
            </a:r>
            <a:r>
              <a:rPr lang="fr-CA" sz="1100" dirty="0" err="1">
                <a:solidFill>
                  <a:srgbClr val="3C5790"/>
                </a:solidFill>
              </a:rPr>
              <a:t>matchKeyword</a:t>
            </a:r>
            <a:r>
              <a:rPr lang="fr-CA" sz="1100" dirty="0">
                <a:solidFill>
                  <a:srgbClr val="3C5790"/>
                </a:solidFill>
              </a:rPr>
              <a:t>("city", "London")).</a:t>
            </a:r>
            <a:r>
              <a:rPr lang="fr-CA" sz="1100" dirty="0" err="1">
                <a:solidFill>
                  <a:srgbClr val="3C5790"/>
                </a:solidFill>
              </a:rPr>
              <a:t>build</a:t>
            </a:r>
            <a:r>
              <a:rPr lang="fr-CA" sz="1100" dirty="0">
                <a:solidFill>
                  <a:srgbClr val="3C5790"/>
                </a:solidFill>
              </a:rPr>
              <a:t>())</a:t>
            </a:r>
          </a:p>
          <a:p>
            <a:r>
              <a:rPr lang="fr-CA" sz="1100" dirty="0">
                <a:solidFill>
                  <a:srgbClr val="3C5790"/>
                </a:solidFill>
              </a:rPr>
              <a:t>  .</a:t>
            </a:r>
            <a:r>
              <a:rPr lang="fr-CA" sz="1100" dirty="0" err="1">
                <a:solidFill>
                  <a:srgbClr val="3C5790"/>
                </a:solidFill>
              </a:rPr>
              <a:t>setLimit</a:t>
            </a:r>
            <a:r>
              <a:rPr lang="fr-CA" sz="1100" dirty="0">
                <a:solidFill>
                  <a:srgbClr val="3C5790"/>
                </a:solidFill>
              </a:rPr>
              <a:t>(10).</a:t>
            </a:r>
            <a:r>
              <a:rPr lang="fr-CA" sz="1100" dirty="0" err="1">
                <a:solidFill>
                  <a:srgbClr val="3C5790"/>
                </a:solidFill>
              </a:rPr>
              <a:t>build</a:t>
            </a:r>
            <a:r>
              <a:rPr lang="fr-CA" sz="1100" dirty="0">
                <a:solidFill>
                  <a:srgbClr val="3C5790"/>
                </a:solidFill>
              </a:rPr>
              <a:t>()).</a:t>
            </a:r>
            <a:r>
              <a:rPr lang="fr-CA" sz="1100" dirty="0" err="1">
                <a:solidFill>
                  <a:srgbClr val="3C5790"/>
                </a:solidFill>
              </a:rPr>
              <a:t>get</a:t>
            </a:r>
            <a:r>
              <a:rPr lang="fr-CA" sz="1100" dirty="0">
                <a:solidFill>
                  <a:srgbClr val="3C5790"/>
                </a:solidFill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0725441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70AB05-BC94-B9CC-60F3-9B30AA729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>
            <a:extLst>
              <a:ext uri="{FF2B5EF4-FFF2-40B4-BE49-F238E27FC236}">
                <a16:creationId xmlns:a16="http://schemas.microsoft.com/office/drawing/2014/main" id="{FFB4D892-CCAF-50BA-2F72-D22964C4B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chemeClr val="bg1"/>
                </a:solidFill>
              </a:rPr>
              <a:t>Java Client (</a:t>
            </a:r>
            <a:r>
              <a:rPr lang="fr-CA" dirty="0" err="1">
                <a:solidFill>
                  <a:schemeClr val="bg1"/>
                </a:solidFill>
              </a:rPr>
              <a:t>cont</a:t>
            </a:r>
            <a:r>
              <a:rPr lang="fr-CA" dirty="0">
                <a:solidFill>
                  <a:schemeClr val="bg1"/>
                </a:solidFill>
              </a:rPr>
              <a:t>.)</a:t>
            </a:r>
          </a:p>
        </p:txBody>
      </p:sp>
      <p:sp>
        <p:nvSpPr>
          <p:cNvPr id="4099" name="Espace réservé du contenu 4">
            <a:extLst>
              <a:ext uri="{FF2B5EF4-FFF2-40B4-BE49-F238E27FC236}">
                <a16:creationId xmlns:a16="http://schemas.microsoft.com/office/drawing/2014/main" id="{81B46AEF-7AAB-9286-70EB-B9CFBD0E5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4449762"/>
          </a:xfrm>
        </p:spPr>
        <p:txBody>
          <a:bodyPr/>
          <a:lstStyle/>
          <a:p>
            <a:r>
              <a:rPr lang="en-US" sz="1100" b="1" dirty="0">
                <a:solidFill>
                  <a:srgbClr val="3C5790"/>
                </a:solidFill>
              </a:rPr>
              <a:t>Unified Query API, hybrid search, recommendations</a:t>
            </a:r>
          </a:p>
          <a:p>
            <a:r>
              <a:rPr lang="en-US" sz="1100" dirty="0">
                <a:solidFill>
                  <a:srgbClr val="3C5790"/>
                </a:solidFill>
              </a:rPr>
              <a:t>import static </a:t>
            </a:r>
            <a:r>
              <a:rPr lang="en-US" sz="1100" dirty="0" err="1">
                <a:solidFill>
                  <a:srgbClr val="3C5790"/>
                </a:solidFill>
              </a:rPr>
              <a:t>io.qdrant.client.QueryFactory</a:t>
            </a:r>
            <a:r>
              <a:rPr lang="en-US" sz="1100" dirty="0">
                <a:solidFill>
                  <a:srgbClr val="3C5790"/>
                </a:solidFill>
              </a:rPr>
              <a:t>.*;</a:t>
            </a:r>
          </a:p>
          <a:p>
            <a:r>
              <a:rPr lang="en-US" sz="1100" dirty="0">
                <a:solidFill>
                  <a:srgbClr val="3C5790"/>
                </a:solidFill>
              </a:rPr>
              <a:t> </a:t>
            </a:r>
          </a:p>
          <a:p>
            <a:r>
              <a:rPr lang="en-US" sz="1100" dirty="0">
                <a:solidFill>
                  <a:srgbClr val="3C5790"/>
                </a:solidFill>
              </a:rPr>
              <a:t>// Nearest neighbor via unified Query API</a:t>
            </a:r>
          </a:p>
          <a:p>
            <a:r>
              <a:rPr lang="en-US" sz="1100" dirty="0" err="1">
                <a:solidFill>
                  <a:srgbClr val="3C5790"/>
                </a:solidFill>
              </a:rPr>
              <a:t>client.queryAsync</a:t>
            </a:r>
            <a:r>
              <a:rPr lang="en-US" sz="1100" dirty="0">
                <a:solidFill>
                  <a:srgbClr val="3C5790"/>
                </a:solidFill>
              </a:rPr>
              <a:t>(</a:t>
            </a:r>
            <a:r>
              <a:rPr lang="en-US" sz="1100" dirty="0" err="1">
                <a:solidFill>
                  <a:srgbClr val="3C5790"/>
                </a:solidFill>
              </a:rPr>
              <a:t>QueryPoints.newBuilder</a:t>
            </a:r>
            <a:r>
              <a:rPr lang="en-US" sz="1100" dirty="0">
                <a:solidFill>
                  <a:srgbClr val="3C5790"/>
                </a:solidFill>
              </a:rPr>
              <a:t>()</a:t>
            </a:r>
          </a:p>
          <a:p>
            <a:r>
              <a:rPr lang="en-US" sz="1100" dirty="0">
                <a:solidFill>
                  <a:srgbClr val="3C5790"/>
                </a:solidFill>
              </a:rPr>
              <a:t>  .</a:t>
            </a:r>
            <a:r>
              <a:rPr lang="en-US" sz="1100" dirty="0" err="1">
                <a:solidFill>
                  <a:srgbClr val="3C5790"/>
                </a:solidFill>
              </a:rPr>
              <a:t>setCollectionName</a:t>
            </a:r>
            <a:r>
              <a:rPr lang="en-US" sz="1100" dirty="0">
                <a:solidFill>
                  <a:srgbClr val="3C5790"/>
                </a:solidFill>
              </a:rPr>
              <a:t>("</a:t>
            </a:r>
            <a:r>
              <a:rPr lang="en-US" sz="1100" dirty="0" err="1">
                <a:solidFill>
                  <a:srgbClr val="3C5790"/>
                </a:solidFill>
              </a:rPr>
              <a:t>my_collection</a:t>
            </a:r>
            <a:r>
              <a:rPr lang="en-US" sz="1100" dirty="0">
                <a:solidFill>
                  <a:srgbClr val="3C5790"/>
                </a:solidFill>
              </a:rPr>
              <a:t>")</a:t>
            </a:r>
          </a:p>
          <a:p>
            <a:r>
              <a:rPr lang="en-US" sz="1100" dirty="0">
                <a:solidFill>
                  <a:srgbClr val="3C5790"/>
                </a:solidFill>
              </a:rPr>
              <a:t>  .</a:t>
            </a:r>
            <a:r>
              <a:rPr lang="en-US" sz="1100" dirty="0" err="1">
                <a:solidFill>
                  <a:srgbClr val="3C5790"/>
                </a:solidFill>
              </a:rPr>
              <a:t>setQuery</a:t>
            </a:r>
            <a:r>
              <a:rPr lang="en-US" sz="1100" dirty="0">
                <a:solidFill>
                  <a:srgbClr val="3C5790"/>
                </a:solidFill>
              </a:rPr>
              <a:t>(nearest(0.1f, 0.2f, 0.3f, 0.4f))</a:t>
            </a:r>
          </a:p>
          <a:p>
            <a:r>
              <a:rPr lang="en-US" sz="1100" dirty="0">
                <a:solidFill>
                  <a:srgbClr val="3C5790"/>
                </a:solidFill>
              </a:rPr>
              <a:t>  .</a:t>
            </a:r>
            <a:r>
              <a:rPr lang="en-US" sz="1100" dirty="0" err="1">
                <a:solidFill>
                  <a:srgbClr val="3C5790"/>
                </a:solidFill>
              </a:rPr>
              <a:t>setLimit</a:t>
            </a:r>
            <a:r>
              <a:rPr lang="en-US" sz="1100" dirty="0">
                <a:solidFill>
                  <a:srgbClr val="3C5790"/>
                </a:solidFill>
              </a:rPr>
              <a:t>(5).build()).get();</a:t>
            </a:r>
          </a:p>
          <a:p>
            <a:r>
              <a:rPr lang="en-US" sz="1100" dirty="0">
                <a:solidFill>
                  <a:srgbClr val="3C5790"/>
                </a:solidFill>
              </a:rPr>
              <a:t> </a:t>
            </a:r>
          </a:p>
          <a:p>
            <a:r>
              <a:rPr lang="en-US" sz="1100" dirty="0">
                <a:solidFill>
                  <a:srgbClr val="3C5790"/>
                </a:solidFill>
              </a:rPr>
              <a:t>// Hybrid: RRF fusion of dense + sparse</a:t>
            </a:r>
          </a:p>
          <a:p>
            <a:r>
              <a:rPr lang="en-US" sz="1100" dirty="0" err="1">
                <a:solidFill>
                  <a:srgbClr val="3C5790"/>
                </a:solidFill>
              </a:rPr>
              <a:t>client.queryAsync</a:t>
            </a:r>
            <a:r>
              <a:rPr lang="en-US" sz="1100" dirty="0">
                <a:solidFill>
                  <a:srgbClr val="3C5790"/>
                </a:solidFill>
              </a:rPr>
              <a:t>(</a:t>
            </a:r>
            <a:r>
              <a:rPr lang="en-US" sz="1100" dirty="0" err="1">
                <a:solidFill>
                  <a:srgbClr val="3C5790"/>
                </a:solidFill>
              </a:rPr>
              <a:t>QueryPoints.newBuilder</a:t>
            </a:r>
            <a:r>
              <a:rPr lang="en-US" sz="1100" dirty="0">
                <a:solidFill>
                  <a:srgbClr val="3C5790"/>
                </a:solidFill>
              </a:rPr>
              <a:t>()</a:t>
            </a:r>
          </a:p>
          <a:p>
            <a:r>
              <a:rPr lang="en-US" sz="1100" dirty="0">
                <a:solidFill>
                  <a:srgbClr val="3C5790"/>
                </a:solidFill>
              </a:rPr>
              <a:t>  .</a:t>
            </a:r>
            <a:r>
              <a:rPr lang="en-US" sz="1100" dirty="0" err="1">
                <a:solidFill>
                  <a:srgbClr val="3C5790"/>
                </a:solidFill>
              </a:rPr>
              <a:t>setCollectionName</a:t>
            </a:r>
            <a:r>
              <a:rPr lang="en-US" sz="1100" dirty="0">
                <a:solidFill>
                  <a:srgbClr val="3C5790"/>
                </a:solidFill>
              </a:rPr>
              <a:t>("</a:t>
            </a:r>
            <a:r>
              <a:rPr lang="en-US" sz="1100" dirty="0" err="1">
                <a:solidFill>
                  <a:srgbClr val="3C5790"/>
                </a:solidFill>
              </a:rPr>
              <a:t>my_collection</a:t>
            </a:r>
            <a:r>
              <a:rPr lang="en-US" sz="1100" dirty="0">
                <a:solidFill>
                  <a:srgbClr val="3C5790"/>
                </a:solidFill>
              </a:rPr>
              <a:t>")</a:t>
            </a:r>
          </a:p>
          <a:p>
            <a:r>
              <a:rPr lang="en-US" sz="1100" dirty="0">
                <a:solidFill>
                  <a:srgbClr val="3C5790"/>
                </a:solidFill>
              </a:rPr>
              <a:t>  .</a:t>
            </a:r>
            <a:r>
              <a:rPr lang="en-US" sz="1100" dirty="0" err="1">
                <a:solidFill>
                  <a:srgbClr val="3C5790"/>
                </a:solidFill>
              </a:rPr>
              <a:t>setQuery</a:t>
            </a:r>
            <a:r>
              <a:rPr lang="en-US" sz="1100" dirty="0">
                <a:solidFill>
                  <a:srgbClr val="3C5790"/>
                </a:solidFill>
              </a:rPr>
              <a:t>(fusion(</a:t>
            </a:r>
            <a:r>
              <a:rPr lang="en-US" sz="1100" dirty="0" err="1">
                <a:solidFill>
                  <a:srgbClr val="3C5790"/>
                </a:solidFill>
              </a:rPr>
              <a:t>Fusion.RRF</a:t>
            </a:r>
            <a:r>
              <a:rPr lang="en-US" sz="1100" dirty="0">
                <a:solidFill>
                  <a:srgbClr val="3C5790"/>
                </a:solidFill>
              </a:rPr>
              <a:t>))</a:t>
            </a:r>
          </a:p>
          <a:p>
            <a:r>
              <a:rPr lang="en-US" sz="1100" dirty="0">
                <a:solidFill>
                  <a:srgbClr val="3C5790"/>
                </a:solidFill>
              </a:rPr>
              <a:t>  .</a:t>
            </a:r>
            <a:r>
              <a:rPr lang="en-US" sz="1100" dirty="0" err="1">
                <a:solidFill>
                  <a:srgbClr val="3C5790"/>
                </a:solidFill>
              </a:rPr>
              <a:t>addPrefetch</a:t>
            </a:r>
            <a:r>
              <a:rPr lang="en-US" sz="1100" dirty="0">
                <a:solidFill>
                  <a:srgbClr val="3C5790"/>
                </a:solidFill>
              </a:rPr>
              <a:t>(...dense...).</a:t>
            </a:r>
            <a:r>
              <a:rPr lang="en-US" sz="1100" dirty="0" err="1">
                <a:solidFill>
                  <a:srgbClr val="3C5790"/>
                </a:solidFill>
              </a:rPr>
              <a:t>addPrefetch</a:t>
            </a:r>
            <a:r>
              <a:rPr lang="en-US" sz="1100" dirty="0">
                <a:solidFill>
                  <a:srgbClr val="3C5790"/>
                </a:solidFill>
              </a:rPr>
              <a:t>(...sparse...)</a:t>
            </a:r>
          </a:p>
          <a:p>
            <a:r>
              <a:rPr lang="en-US" sz="1100" dirty="0">
                <a:solidFill>
                  <a:srgbClr val="3C5790"/>
                </a:solidFill>
              </a:rPr>
              <a:t>  .</a:t>
            </a:r>
            <a:r>
              <a:rPr lang="en-US" sz="1100" dirty="0" err="1">
                <a:solidFill>
                  <a:srgbClr val="3C5790"/>
                </a:solidFill>
              </a:rPr>
              <a:t>setLimit</a:t>
            </a:r>
            <a:r>
              <a:rPr lang="en-US" sz="1100" dirty="0">
                <a:solidFill>
                  <a:srgbClr val="3C5790"/>
                </a:solidFill>
              </a:rPr>
              <a:t>(5).build()).get();</a:t>
            </a:r>
          </a:p>
          <a:p>
            <a:r>
              <a:rPr lang="en-US" sz="1100" dirty="0">
                <a:solidFill>
                  <a:srgbClr val="3C5790"/>
                </a:solidFill>
              </a:rPr>
              <a:t> </a:t>
            </a:r>
          </a:p>
          <a:p>
            <a:r>
              <a:rPr lang="en-US" sz="1100" dirty="0">
                <a:solidFill>
                  <a:srgbClr val="3C5790"/>
                </a:solidFill>
              </a:rPr>
              <a:t>// Recommend (positive/negative examples)</a:t>
            </a:r>
          </a:p>
          <a:p>
            <a:r>
              <a:rPr lang="en-US" sz="1100" dirty="0" err="1">
                <a:solidFill>
                  <a:srgbClr val="3C5790"/>
                </a:solidFill>
              </a:rPr>
              <a:t>client.recommendAsync</a:t>
            </a:r>
            <a:r>
              <a:rPr lang="en-US" sz="1100" dirty="0">
                <a:solidFill>
                  <a:srgbClr val="3C5790"/>
                </a:solidFill>
              </a:rPr>
              <a:t>(</a:t>
            </a:r>
            <a:r>
              <a:rPr lang="en-US" sz="1100" dirty="0" err="1">
                <a:solidFill>
                  <a:srgbClr val="3C5790"/>
                </a:solidFill>
              </a:rPr>
              <a:t>RecommendPoints.newBuilder</a:t>
            </a:r>
            <a:r>
              <a:rPr lang="en-US" sz="1100" dirty="0">
                <a:solidFill>
                  <a:srgbClr val="3C5790"/>
                </a:solidFill>
              </a:rPr>
              <a:t>()</a:t>
            </a:r>
          </a:p>
          <a:p>
            <a:r>
              <a:rPr lang="en-US" sz="1100" dirty="0">
                <a:solidFill>
                  <a:srgbClr val="3C5790"/>
                </a:solidFill>
              </a:rPr>
              <a:t>  .</a:t>
            </a:r>
            <a:r>
              <a:rPr lang="en-US" sz="1100" dirty="0" err="1">
                <a:solidFill>
                  <a:srgbClr val="3C5790"/>
                </a:solidFill>
              </a:rPr>
              <a:t>setCollectionName</a:t>
            </a:r>
            <a:r>
              <a:rPr lang="en-US" sz="1100" dirty="0">
                <a:solidFill>
                  <a:srgbClr val="3C5790"/>
                </a:solidFill>
              </a:rPr>
              <a:t>("</a:t>
            </a:r>
            <a:r>
              <a:rPr lang="en-US" sz="1100" dirty="0" err="1">
                <a:solidFill>
                  <a:srgbClr val="3C5790"/>
                </a:solidFill>
              </a:rPr>
              <a:t>my_collection</a:t>
            </a:r>
            <a:r>
              <a:rPr lang="en-US" sz="1100" dirty="0">
                <a:solidFill>
                  <a:srgbClr val="3C5790"/>
                </a:solidFill>
              </a:rPr>
              <a:t>")</a:t>
            </a:r>
          </a:p>
          <a:p>
            <a:r>
              <a:rPr lang="en-US" sz="1100" dirty="0">
                <a:solidFill>
                  <a:srgbClr val="3C5790"/>
                </a:solidFill>
              </a:rPr>
              <a:t>  .</a:t>
            </a:r>
            <a:r>
              <a:rPr lang="en-US" sz="1100" dirty="0" err="1">
                <a:solidFill>
                  <a:srgbClr val="3C5790"/>
                </a:solidFill>
              </a:rPr>
              <a:t>addPositive</a:t>
            </a:r>
            <a:r>
              <a:rPr lang="en-US" sz="1100" dirty="0">
                <a:solidFill>
                  <a:srgbClr val="3C5790"/>
                </a:solidFill>
              </a:rPr>
              <a:t>(id(100)).</a:t>
            </a:r>
            <a:r>
              <a:rPr lang="en-US" sz="1100" dirty="0" err="1">
                <a:solidFill>
                  <a:srgbClr val="3C5790"/>
                </a:solidFill>
              </a:rPr>
              <a:t>addNegative</a:t>
            </a:r>
            <a:r>
              <a:rPr lang="en-US" sz="1100" dirty="0">
                <a:solidFill>
                  <a:srgbClr val="3C5790"/>
                </a:solidFill>
              </a:rPr>
              <a:t>(id(50))</a:t>
            </a:r>
          </a:p>
          <a:p>
            <a:r>
              <a:rPr lang="en-US" sz="1100" dirty="0">
                <a:solidFill>
                  <a:srgbClr val="3C5790"/>
                </a:solidFill>
              </a:rPr>
              <a:t>  .</a:t>
            </a:r>
            <a:r>
              <a:rPr lang="en-US" sz="1100" dirty="0" err="1">
                <a:solidFill>
                  <a:srgbClr val="3C5790"/>
                </a:solidFill>
              </a:rPr>
              <a:t>setLimit</a:t>
            </a:r>
            <a:r>
              <a:rPr lang="en-US" sz="1100" dirty="0">
                <a:solidFill>
                  <a:srgbClr val="3C5790"/>
                </a:solidFill>
              </a:rPr>
              <a:t>(10).build()).get();</a:t>
            </a:r>
            <a:endParaRPr lang="fr-CA" sz="1100" dirty="0">
              <a:solidFill>
                <a:srgbClr val="3C57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20587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chemeClr val="bg1"/>
                </a:solidFill>
              </a:rPr>
              <a:t>Java Client (</a:t>
            </a:r>
            <a:r>
              <a:rPr lang="fr-CA" dirty="0" err="1">
                <a:solidFill>
                  <a:schemeClr val="bg1"/>
                </a:solidFill>
              </a:rPr>
              <a:t>cont</a:t>
            </a:r>
            <a:r>
              <a:rPr lang="fr-CA" dirty="0">
                <a:solidFill>
                  <a:schemeClr val="bg1"/>
                </a:solidFill>
              </a:rPr>
              <a:t>.)</a:t>
            </a: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4343400"/>
          </a:xfrm>
        </p:spPr>
        <p:txBody>
          <a:bodyPr/>
          <a:lstStyle/>
          <a:p>
            <a:r>
              <a:rPr lang="en-US" sz="1200" b="1" dirty="0">
                <a:solidFill>
                  <a:srgbClr val="3C5790"/>
                </a:solidFill>
              </a:rPr>
              <a:t>Payload CRUD, retrieve, update vectors, delete, count</a:t>
            </a:r>
          </a:p>
          <a:p>
            <a:r>
              <a:rPr lang="en-US" sz="1200" dirty="0">
                <a:solidFill>
                  <a:srgbClr val="3C5790"/>
                </a:solidFill>
              </a:rPr>
              <a:t>// Set / overwrite / delete payload</a:t>
            </a:r>
          </a:p>
          <a:p>
            <a:r>
              <a:rPr lang="en-US" sz="1200" dirty="0" err="1">
                <a:solidFill>
                  <a:srgbClr val="3C5790"/>
                </a:solidFill>
              </a:rPr>
              <a:t>client.setPayloadAsync</a:t>
            </a:r>
            <a:r>
              <a:rPr lang="en-US" sz="1200" dirty="0">
                <a:solidFill>
                  <a:srgbClr val="3C5790"/>
                </a:solidFill>
              </a:rPr>
              <a:t>("</a:t>
            </a:r>
            <a:r>
              <a:rPr lang="en-US" sz="1200" dirty="0" err="1">
                <a:solidFill>
                  <a:srgbClr val="3C5790"/>
                </a:solidFill>
              </a:rPr>
              <a:t>my_collection</a:t>
            </a:r>
            <a:r>
              <a:rPr lang="en-US" sz="1200" dirty="0">
                <a:solidFill>
                  <a:srgbClr val="3C5790"/>
                </a:solidFill>
              </a:rPr>
              <a:t>",</a:t>
            </a:r>
          </a:p>
          <a:p>
            <a:r>
              <a:rPr lang="en-US" sz="1200" dirty="0">
                <a:solidFill>
                  <a:srgbClr val="3C5790"/>
                </a:solidFill>
              </a:rPr>
              <a:t>  </a:t>
            </a:r>
            <a:r>
              <a:rPr lang="en-US" sz="1200" dirty="0" err="1">
                <a:solidFill>
                  <a:srgbClr val="3C5790"/>
                </a:solidFill>
              </a:rPr>
              <a:t>Map.of</a:t>
            </a:r>
            <a:r>
              <a:rPr lang="en-US" sz="1200" dirty="0">
                <a:solidFill>
                  <a:srgbClr val="3C5790"/>
                </a:solidFill>
              </a:rPr>
              <a:t>("status", value("active")), </a:t>
            </a:r>
            <a:r>
              <a:rPr lang="en-US" sz="1200" dirty="0" err="1">
                <a:solidFill>
                  <a:srgbClr val="3C5790"/>
                </a:solidFill>
              </a:rPr>
              <a:t>List.of</a:t>
            </a:r>
            <a:r>
              <a:rPr lang="en-US" sz="1200" dirty="0">
                <a:solidFill>
                  <a:srgbClr val="3C5790"/>
                </a:solidFill>
              </a:rPr>
              <a:t>(id(1)),</a:t>
            </a:r>
          </a:p>
          <a:p>
            <a:r>
              <a:rPr lang="en-US" sz="1200" dirty="0">
                <a:solidFill>
                  <a:srgbClr val="3C5790"/>
                </a:solidFill>
              </a:rPr>
              <a:t>  true, null, </a:t>
            </a:r>
            <a:r>
              <a:rPr lang="en-US" sz="1200" dirty="0" err="1">
                <a:solidFill>
                  <a:srgbClr val="3C5790"/>
                </a:solidFill>
              </a:rPr>
              <a:t>Duration.ofSeconds</a:t>
            </a:r>
            <a:r>
              <a:rPr lang="en-US" sz="1200" dirty="0">
                <a:solidFill>
                  <a:srgbClr val="3C5790"/>
                </a:solidFill>
              </a:rPr>
              <a:t>(5)).get();</a:t>
            </a:r>
          </a:p>
          <a:p>
            <a:r>
              <a:rPr lang="en-US" sz="1200" dirty="0">
                <a:solidFill>
                  <a:srgbClr val="3C5790"/>
                </a:solidFill>
              </a:rPr>
              <a:t> </a:t>
            </a:r>
          </a:p>
          <a:p>
            <a:r>
              <a:rPr lang="en-US" sz="1200" dirty="0" err="1">
                <a:solidFill>
                  <a:srgbClr val="3C5790"/>
                </a:solidFill>
              </a:rPr>
              <a:t>client.overwritePayloadAsync</a:t>
            </a:r>
            <a:r>
              <a:rPr lang="en-US" sz="1200" dirty="0">
                <a:solidFill>
                  <a:srgbClr val="3C5790"/>
                </a:solidFill>
              </a:rPr>
              <a:t>("</a:t>
            </a:r>
            <a:r>
              <a:rPr lang="en-US" sz="1200" dirty="0" err="1">
                <a:solidFill>
                  <a:srgbClr val="3C5790"/>
                </a:solidFill>
              </a:rPr>
              <a:t>my_collection</a:t>
            </a:r>
            <a:r>
              <a:rPr lang="en-US" sz="1200" dirty="0">
                <a:solidFill>
                  <a:srgbClr val="3C5790"/>
                </a:solidFill>
              </a:rPr>
              <a:t>",</a:t>
            </a:r>
          </a:p>
          <a:p>
            <a:r>
              <a:rPr lang="en-US" sz="1200" dirty="0">
                <a:solidFill>
                  <a:srgbClr val="3C5790"/>
                </a:solidFill>
              </a:rPr>
              <a:t>  </a:t>
            </a:r>
            <a:r>
              <a:rPr lang="en-US" sz="1200" dirty="0" err="1">
                <a:solidFill>
                  <a:srgbClr val="3C5790"/>
                </a:solidFill>
              </a:rPr>
              <a:t>Map.of</a:t>
            </a:r>
            <a:r>
              <a:rPr lang="en-US" sz="1200" dirty="0">
                <a:solidFill>
                  <a:srgbClr val="3C5790"/>
                </a:solidFill>
              </a:rPr>
              <a:t>("status", value("archived")), </a:t>
            </a:r>
            <a:r>
              <a:rPr lang="en-US" sz="1200" dirty="0" err="1">
                <a:solidFill>
                  <a:srgbClr val="3C5790"/>
                </a:solidFill>
              </a:rPr>
              <a:t>List.of</a:t>
            </a:r>
            <a:r>
              <a:rPr lang="en-US" sz="1200" dirty="0">
                <a:solidFill>
                  <a:srgbClr val="3C5790"/>
                </a:solidFill>
              </a:rPr>
              <a:t>(id(1)),</a:t>
            </a:r>
          </a:p>
          <a:p>
            <a:r>
              <a:rPr lang="en-US" sz="1200" dirty="0">
                <a:solidFill>
                  <a:srgbClr val="3C5790"/>
                </a:solidFill>
              </a:rPr>
              <a:t>  true, null, </a:t>
            </a:r>
            <a:r>
              <a:rPr lang="en-US" sz="1200" dirty="0" err="1">
                <a:solidFill>
                  <a:srgbClr val="3C5790"/>
                </a:solidFill>
              </a:rPr>
              <a:t>Duration.ofSeconds</a:t>
            </a:r>
            <a:r>
              <a:rPr lang="en-US" sz="1200" dirty="0">
                <a:solidFill>
                  <a:srgbClr val="3C5790"/>
                </a:solidFill>
              </a:rPr>
              <a:t>(5)).get();</a:t>
            </a:r>
          </a:p>
          <a:p>
            <a:r>
              <a:rPr lang="en-US" sz="1200" dirty="0">
                <a:solidFill>
                  <a:srgbClr val="3C5790"/>
                </a:solidFill>
              </a:rPr>
              <a:t> </a:t>
            </a:r>
          </a:p>
          <a:p>
            <a:r>
              <a:rPr lang="en-US" sz="1200" dirty="0">
                <a:solidFill>
                  <a:srgbClr val="3C5790"/>
                </a:solidFill>
              </a:rPr>
              <a:t>// Retrieve, update vectors, delete</a:t>
            </a:r>
          </a:p>
          <a:p>
            <a:r>
              <a:rPr lang="en-US" sz="1200" dirty="0">
                <a:solidFill>
                  <a:srgbClr val="3C5790"/>
                </a:solidFill>
              </a:rPr>
              <a:t>var points = </a:t>
            </a:r>
            <a:r>
              <a:rPr lang="en-US" sz="1200" dirty="0" err="1">
                <a:solidFill>
                  <a:srgbClr val="3C5790"/>
                </a:solidFill>
              </a:rPr>
              <a:t>client.retrieveAsync</a:t>
            </a:r>
            <a:r>
              <a:rPr lang="en-US" sz="1200" dirty="0">
                <a:solidFill>
                  <a:srgbClr val="3C5790"/>
                </a:solidFill>
              </a:rPr>
              <a:t>("</a:t>
            </a:r>
            <a:r>
              <a:rPr lang="en-US" sz="1200" dirty="0" err="1">
                <a:solidFill>
                  <a:srgbClr val="3C5790"/>
                </a:solidFill>
              </a:rPr>
              <a:t>my_collection</a:t>
            </a:r>
            <a:r>
              <a:rPr lang="en-US" sz="1200" dirty="0">
                <a:solidFill>
                  <a:srgbClr val="3C5790"/>
                </a:solidFill>
              </a:rPr>
              <a:t>",</a:t>
            </a:r>
          </a:p>
          <a:p>
            <a:r>
              <a:rPr lang="en-US" sz="1200" dirty="0">
                <a:solidFill>
                  <a:srgbClr val="3C5790"/>
                </a:solidFill>
              </a:rPr>
              <a:t>  </a:t>
            </a:r>
            <a:r>
              <a:rPr lang="en-US" sz="1200" dirty="0" err="1">
                <a:solidFill>
                  <a:srgbClr val="3C5790"/>
                </a:solidFill>
              </a:rPr>
              <a:t>List.of</a:t>
            </a:r>
            <a:r>
              <a:rPr lang="en-US" sz="1200" dirty="0">
                <a:solidFill>
                  <a:srgbClr val="3C5790"/>
                </a:solidFill>
              </a:rPr>
              <a:t>(id(1)), true, true, null).get();</a:t>
            </a:r>
          </a:p>
          <a:p>
            <a:r>
              <a:rPr lang="en-US" sz="1200" dirty="0">
                <a:solidFill>
                  <a:srgbClr val="3C5790"/>
                </a:solidFill>
              </a:rPr>
              <a:t> </a:t>
            </a:r>
          </a:p>
          <a:p>
            <a:r>
              <a:rPr lang="en-US" sz="1200" dirty="0" err="1">
                <a:solidFill>
                  <a:srgbClr val="3C5790"/>
                </a:solidFill>
              </a:rPr>
              <a:t>client.updateVectorsAsync</a:t>
            </a:r>
            <a:r>
              <a:rPr lang="en-US" sz="1200" dirty="0">
                <a:solidFill>
                  <a:srgbClr val="3C5790"/>
                </a:solidFill>
              </a:rPr>
              <a:t>("</a:t>
            </a:r>
            <a:r>
              <a:rPr lang="en-US" sz="1200" dirty="0" err="1">
                <a:solidFill>
                  <a:srgbClr val="3C5790"/>
                </a:solidFill>
              </a:rPr>
              <a:t>my_collection</a:t>
            </a:r>
            <a:r>
              <a:rPr lang="en-US" sz="1200" dirty="0">
                <a:solidFill>
                  <a:srgbClr val="3C5790"/>
                </a:solidFill>
              </a:rPr>
              <a:t>", </a:t>
            </a:r>
            <a:r>
              <a:rPr lang="en-US" sz="1200" dirty="0" err="1">
                <a:solidFill>
                  <a:srgbClr val="3C5790"/>
                </a:solidFill>
              </a:rPr>
              <a:t>pointVectors</a:t>
            </a:r>
            <a:r>
              <a:rPr lang="en-US" sz="1200" dirty="0">
                <a:solidFill>
                  <a:srgbClr val="3C5790"/>
                </a:solidFill>
              </a:rPr>
              <a:t>,</a:t>
            </a:r>
          </a:p>
          <a:p>
            <a:r>
              <a:rPr lang="en-US" sz="1200" dirty="0">
                <a:solidFill>
                  <a:srgbClr val="3C5790"/>
                </a:solidFill>
              </a:rPr>
              <a:t>  true, null, </a:t>
            </a:r>
            <a:r>
              <a:rPr lang="en-US" sz="1200" dirty="0" err="1">
                <a:solidFill>
                  <a:srgbClr val="3C5790"/>
                </a:solidFill>
              </a:rPr>
              <a:t>Duration.ofSeconds</a:t>
            </a:r>
            <a:r>
              <a:rPr lang="en-US" sz="1200" dirty="0">
                <a:solidFill>
                  <a:srgbClr val="3C5790"/>
                </a:solidFill>
              </a:rPr>
              <a:t>(5)).get();</a:t>
            </a:r>
          </a:p>
          <a:p>
            <a:r>
              <a:rPr lang="en-US" sz="1200" dirty="0">
                <a:solidFill>
                  <a:srgbClr val="3C5790"/>
                </a:solidFill>
              </a:rPr>
              <a:t> </a:t>
            </a:r>
          </a:p>
          <a:p>
            <a:r>
              <a:rPr lang="en-US" sz="1200" dirty="0" err="1">
                <a:solidFill>
                  <a:srgbClr val="3C5790"/>
                </a:solidFill>
              </a:rPr>
              <a:t>client.deleteAsync</a:t>
            </a:r>
            <a:r>
              <a:rPr lang="en-US" sz="1200" dirty="0">
                <a:solidFill>
                  <a:srgbClr val="3C5790"/>
                </a:solidFill>
              </a:rPr>
              <a:t>("</a:t>
            </a:r>
            <a:r>
              <a:rPr lang="en-US" sz="1200" dirty="0" err="1">
                <a:solidFill>
                  <a:srgbClr val="3C5790"/>
                </a:solidFill>
              </a:rPr>
              <a:t>my_collection</a:t>
            </a:r>
            <a:r>
              <a:rPr lang="en-US" sz="1200" dirty="0">
                <a:solidFill>
                  <a:srgbClr val="3C5790"/>
                </a:solidFill>
              </a:rPr>
              <a:t>", </a:t>
            </a:r>
            <a:r>
              <a:rPr lang="en-US" sz="1200" dirty="0" err="1">
                <a:solidFill>
                  <a:srgbClr val="3C5790"/>
                </a:solidFill>
              </a:rPr>
              <a:t>List.of</a:t>
            </a:r>
            <a:r>
              <a:rPr lang="en-US" sz="1200" dirty="0">
                <a:solidFill>
                  <a:srgbClr val="3C5790"/>
                </a:solidFill>
              </a:rPr>
              <a:t>(id(1))).get();</a:t>
            </a:r>
          </a:p>
          <a:p>
            <a:r>
              <a:rPr lang="en-US" sz="1200" dirty="0">
                <a:solidFill>
                  <a:srgbClr val="3C5790"/>
                </a:solidFill>
              </a:rPr>
              <a:t>long count = </a:t>
            </a:r>
            <a:r>
              <a:rPr lang="en-US" sz="1200" dirty="0" err="1">
                <a:solidFill>
                  <a:srgbClr val="3C5790"/>
                </a:solidFill>
              </a:rPr>
              <a:t>client.countAsync</a:t>
            </a:r>
            <a:r>
              <a:rPr lang="en-US" sz="1200" dirty="0">
                <a:solidFill>
                  <a:srgbClr val="3C5790"/>
                </a:solidFill>
              </a:rPr>
              <a:t>("</a:t>
            </a:r>
            <a:r>
              <a:rPr lang="en-US" sz="1200" dirty="0" err="1">
                <a:solidFill>
                  <a:srgbClr val="3C5790"/>
                </a:solidFill>
              </a:rPr>
              <a:t>my_collection</a:t>
            </a:r>
            <a:r>
              <a:rPr lang="en-US" sz="1200" dirty="0">
                <a:solidFill>
                  <a:srgbClr val="3C5790"/>
                </a:solidFill>
              </a:rPr>
              <a:t>", null, true).get();</a:t>
            </a:r>
            <a:endParaRPr lang="fr-CA" sz="1200" dirty="0">
              <a:solidFill>
                <a:srgbClr val="3C57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78236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chemeClr val="bg1"/>
                </a:solidFill>
              </a:rPr>
              <a:t>Java Client (</a:t>
            </a:r>
            <a:r>
              <a:rPr lang="fr-CA" dirty="0" err="1">
                <a:solidFill>
                  <a:schemeClr val="bg1"/>
                </a:solidFill>
              </a:rPr>
              <a:t>cont</a:t>
            </a:r>
            <a:r>
              <a:rPr lang="fr-CA" dirty="0">
                <a:solidFill>
                  <a:schemeClr val="bg1"/>
                </a:solidFill>
              </a:rPr>
              <a:t>.)</a:t>
            </a: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4724400"/>
          </a:xfrm>
        </p:spPr>
        <p:txBody>
          <a:bodyPr/>
          <a:lstStyle/>
          <a:p>
            <a:r>
              <a:rPr lang="en-US" sz="1400" b="1" dirty="0">
                <a:solidFill>
                  <a:srgbClr val="3C5790"/>
                </a:solidFill>
              </a:rPr>
              <a:t>Pagination, batch operations, payload indexes, facets</a:t>
            </a:r>
          </a:p>
          <a:p>
            <a:r>
              <a:rPr lang="en-US" sz="1400" dirty="0">
                <a:solidFill>
                  <a:srgbClr val="3C5790"/>
                </a:solidFill>
              </a:rPr>
              <a:t>// Scroll (paginate all points)</a:t>
            </a:r>
          </a:p>
          <a:p>
            <a:r>
              <a:rPr lang="en-US" sz="1400" dirty="0">
                <a:solidFill>
                  <a:srgbClr val="3C5790"/>
                </a:solidFill>
              </a:rPr>
              <a:t>var page = </a:t>
            </a:r>
            <a:r>
              <a:rPr lang="en-US" sz="1400" dirty="0" err="1">
                <a:solidFill>
                  <a:srgbClr val="3C5790"/>
                </a:solidFill>
              </a:rPr>
              <a:t>client.scrollAsync</a:t>
            </a:r>
            <a:r>
              <a:rPr lang="en-US" sz="1400" dirty="0">
                <a:solidFill>
                  <a:srgbClr val="3C5790"/>
                </a:solidFill>
              </a:rPr>
              <a:t>(</a:t>
            </a:r>
            <a:r>
              <a:rPr lang="en-US" sz="1400" dirty="0" err="1">
                <a:solidFill>
                  <a:srgbClr val="3C5790"/>
                </a:solidFill>
              </a:rPr>
              <a:t>ScrollPoints.newBuilder</a:t>
            </a:r>
            <a:r>
              <a:rPr lang="en-US" sz="1400" dirty="0">
                <a:solidFill>
                  <a:srgbClr val="3C5790"/>
                </a:solidFill>
              </a:rPr>
              <a:t>()</a:t>
            </a:r>
          </a:p>
          <a:p>
            <a:r>
              <a:rPr lang="en-US" sz="1400" dirty="0">
                <a:solidFill>
                  <a:srgbClr val="3C5790"/>
                </a:solidFill>
              </a:rPr>
              <a:t>  .</a:t>
            </a:r>
            <a:r>
              <a:rPr lang="en-US" sz="1400" dirty="0" err="1">
                <a:solidFill>
                  <a:srgbClr val="3C5790"/>
                </a:solidFill>
              </a:rPr>
              <a:t>setCollectionName</a:t>
            </a:r>
            <a:r>
              <a:rPr lang="en-US" sz="1400" dirty="0">
                <a:solidFill>
                  <a:srgbClr val="3C5790"/>
                </a:solidFill>
              </a:rPr>
              <a:t>("</a:t>
            </a:r>
            <a:r>
              <a:rPr lang="en-US" sz="1400" dirty="0" err="1">
                <a:solidFill>
                  <a:srgbClr val="3C5790"/>
                </a:solidFill>
              </a:rPr>
              <a:t>my_collection</a:t>
            </a:r>
            <a:r>
              <a:rPr lang="en-US" sz="1400" dirty="0">
                <a:solidFill>
                  <a:srgbClr val="3C5790"/>
                </a:solidFill>
              </a:rPr>
              <a:t>").</a:t>
            </a:r>
            <a:r>
              <a:rPr lang="en-US" sz="1400" dirty="0" err="1">
                <a:solidFill>
                  <a:srgbClr val="3C5790"/>
                </a:solidFill>
              </a:rPr>
              <a:t>setLimit</a:t>
            </a:r>
            <a:r>
              <a:rPr lang="en-US" sz="1400" dirty="0">
                <a:solidFill>
                  <a:srgbClr val="3C5790"/>
                </a:solidFill>
              </a:rPr>
              <a:t>(100).build()).get();</a:t>
            </a:r>
          </a:p>
          <a:p>
            <a:r>
              <a:rPr lang="en-US" sz="1400" dirty="0">
                <a:solidFill>
                  <a:srgbClr val="3C5790"/>
                </a:solidFill>
              </a:rPr>
              <a:t> </a:t>
            </a:r>
          </a:p>
          <a:p>
            <a:r>
              <a:rPr lang="en-US" sz="1400" dirty="0">
                <a:solidFill>
                  <a:srgbClr val="3C5790"/>
                </a:solidFill>
              </a:rPr>
              <a:t>// Batch search</a:t>
            </a:r>
          </a:p>
          <a:p>
            <a:r>
              <a:rPr lang="en-US" sz="1400" dirty="0" err="1">
                <a:solidFill>
                  <a:srgbClr val="3C5790"/>
                </a:solidFill>
              </a:rPr>
              <a:t>client.searchBatchAsync</a:t>
            </a:r>
            <a:r>
              <a:rPr lang="en-US" sz="1400" dirty="0">
                <a:solidFill>
                  <a:srgbClr val="3C5790"/>
                </a:solidFill>
              </a:rPr>
              <a:t>("</a:t>
            </a:r>
            <a:r>
              <a:rPr lang="en-US" sz="1400" dirty="0" err="1">
                <a:solidFill>
                  <a:srgbClr val="3C5790"/>
                </a:solidFill>
              </a:rPr>
              <a:t>my_collection</a:t>
            </a:r>
            <a:r>
              <a:rPr lang="en-US" sz="1400" dirty="0">
                <a:solidFill>
                  <a:srgbClr val="3C5790"/>
                </a:solidFill>
              </a:rPr>
              <a:t>",</a:t>
            </a:r>
          </a:p>
          <a:p>
            <a:r>
              <a:rPr lang="en-US" sz="1400" dirty="0">
                <a:solidFill>
                  <a:srgbClr val="3C5790"/>
                </a:solidFill>
              </a:rPr>
              <a:t>  </a:t>
            </a:r>
            <a:r>
              <a:rPr lang="en-US" sz="1400" dirty="0" err="1">
                <a:solidFill>
                  <a:srgbClr val="3C5790"/>
                </a:solidFill>
              </a:rPr>
              <a:t>List.of</a:t>
            </a:r>
            <a:r>
              <a:rPr lang="en-US" sz="1400" dirty="0">
                <a:solidFill>
                  <a:srgbClr val="3C5790"/>
                </a:solidFill>
              </a:rPr>
              <a:t>(search1, search2), null).get();</a:t>
            </a:r>
          </a:p>
          <a:p>
            <a:r>
              <a:rPr lang="en-US" sz="1400" dirty="0">
                <a:solidFill>
                  <a:srgbClr val="3C5790"/>
                </a:solidFill>
              </a:rPr>
              <a:t> </a:t>
            </a:r>
          </a:p>
          <a:p>
            <a:r>
              <a:rPr lang="en-US" sz="1400" dirty="0">
                <a:solidFill>
                  <a:srgbClr val="3C5790"/>
                </a:solidFill>
              </a:rPr>
              <a:t>// Payload index</a:t>
            </a:r>
          </a:p>
          <a:p>
            <a:r>
              <a:rPr lang="en-US" sz="1400" dirty="0" err="1">
                <a:solidFill>
                  <a:srgbClr val="3C5790"/>
                </a:solidFill>
              </a:rPr>
              <a:t>client.createPayloadIndexAsync</a:t>
            </a:r>
            <a:r>
              <a:rPr lang="en-US" sz="1400" dirty="0">
                <a:solidFill>
                  <a:srgbClr val="3C5790"/>
                </a:solidFill>
              </a:rPr>
              <a:t>("</a:t>
            </a:r>
            <a:r>
              <a:rPr lang="en-US" sz="1400" dirty="0" err="1">
                <a:solidFill>
                  <a:srgbClr val="3C5790"/>
                </a:solidFill>
              </a:rPr>
              <a:t>my_collection</a:t>
            </a:r>
            <a:r>
              <a:rPr lang="en-US" sz="1400" dirty="0">
                <a:solidFill>
                  <a:srgbClr val="3C5790"/>
                </a:solidFill>
              </a:rPr>
              <a:t>",</a:t>
            </a:r>
          </a:p>
          <a:p>
            <a:r>
              <a:rPr lang="en-US" sz="1400" dirty="0">
                <a:solidFill>
                  <a:srgbClr val="3C5790"/>
                </a:solidFill>
              </a:rPr>
              <a:t>  "category", </a:t>
            </a:r>
            <a:r>
              <a:rPr lang="en-US" sz="1400" dirty="0" err="1">
                <a:solidFill>
                  <a:srgbClr val="3C5790"/>
                </a:solidFill>
              </a:rPr>
              <a:t>PayloadSchemaType.Keyword</a:t>
            </a:r>
            <a:r>
              <a:rPr lang="en-US" sz="1400" dirty="0">
                <a:solidFill>
                  <a:srgbClr val="3C5790"/>
                </a:solidFill>
              </a:rPr>
              <a:t>,</a:t>
            </a:r>
          </a:p>
          <a:p>
            <a:r>
              <a:rPr lang="en-US" sz="1400" dirty="0">
                <a:solidFill>
                  <a:srgbClr val="3C5790"/>
                </a:solidFill>
              </a:rPr>
              <a:t>  null, true, null, </a:t>
            </a:r>
            <a:r>
              <a:rPr lang="en-US" sz="1400" dirty="0" err="1">
                <a:solidFill>
                  <a:srgbClr val="3C5790"/>
                </a:solidFill>
              </a:rPr>
              <a:t>Duration.ofSeconds</a:t>
            </a:r>
            <a:r>
              <a:rPr lang="en-US" sz="1400" dirty="0">
                <a:solidFill>
                  <a:srgbClr val="3C5790"/>
                </a:solidFill>
              </a:rPr>
              <a:t>(30)).get();</a:t>
            </a:r>
          </a:p>
          <a:p>
            <a:r>
              <a:rPr lang="en-US" sz="1400" dirty="0">
                <a:solidFill>
                  <a:srgbClr val="3C5790"/>
                </a:solidFill>
              </a:rPr>
              <a:t> </a:t>
            </a:r>
          </a:p>
          <a:p>
            <a:r>
              <a:rPr lang="en-US" sz="1400" dirty="0">
                <a:solidFill>
                  <a:srgbClr val="3C5790"/>
                </a:solidFill>
              </a:rPr>
              <a:t>// Facet counts</a:t>
            </a:r>
          </a:p>
          <a:p>
            <a:r>
              <a:rPr lang="en-US" sz="1400" dirty="0" err="1">
                <a:solidFill>
                  <a:srgbClr val="3C5790"/>
                </a:solidFill>
              </a:rPr>
              <a:t>client.facetAsync</a:t>
            </a:r>
            <a:r>
              <a:rPr lang="en-US" sz="1400" dirty="0">
                <a:solidFill>
                  <a:srgbClr val="3C5790"/>
                </a:solidFill>
              </a:rPr>
              <a:t>(</a:t>
            </a:r>
            <a:r>
              <a:rPr lang="en-US" sz="1400" dirty="0" err="1">
                <a:solidFill>
                  <a:srgbClr val="3C5790"/>
                </a:solidFill>
              </a:rPr>
              <a:t>FacetCounts.newBuilder</a:t>
            </a:r>
            <a:r>
              <a:rPr lang="en-US" sz="1400" dirty="0">
                <a:solidFill>
                  <a:srgbClr val="3C5790"/>
                </a:solidFill>
              </a:rPr>
              <a:t>()</a:t>
            </a:r>
          </a:p>
          <a:p>
            <a:r>
              <a:rPr lang="en-US" sz="1400" dirty="0">
                <a:solidFill>
                  <a:srgbClr val="3C5790"/>
                </a:solidFill>
              </a:rPr>
              <a:t>  .</a:t>
            </a:r>
            <a:r>
              <a:rPr lang="en-US" sz="1400" dirty="0" err="1">
                <a:solidFill>
                  <a:srgbClr val="3C5790"/>
                </a:solidFill>
              </a:rPr>
              <a:t>setCollectionName</a:t>
            </a:r>
            <a:r>
              <a:rPr lang="en-US" sz="1400" dirty="0">
                <a:solidFill>
                  <a:srgbClr val="3C5790"/>
                </a:solidFill>
              </a:rPr>
              <a:t>("</a:t>
            </a:r>
            <a:r>
              <a:rPr lang="en-US" sz="1400" dirty="0" err="1">
                <a:solidFill>
                  <a:srgbClr val="3C5790"/>
                </a:solidFill>
              </a:rPr>
              <a:t>my_collection</a:t>
            </a:r>
            <a:r>
              <a:rPr lang="en-US" sz="1400" dirty="0">
                <a:solidFill>
                  <a:srgbClr val="3C5790"/>
                </a:solidFill>
              </a:rPr>
              <a:t>")</a:t>
            </a:r>
          </a:p>
          <a:p>
            <a:r>
              <a:rPr lang="en-US" sz="1400" dirty="0">
                <a:solidFill>
                  <a:srgbClr val="3C5790"/>
                </a:solidFill>
              </a:rPr>
              <a:t>  .</a:t>
            </a:r>
            <a:r>
              <a:rPr lang="en-US" sz="1400" dirty="0" err="1">
                <a:solidFill>
                  <a:srgbClr val="3C5790"/>
                </a:solidFill>
              </a:rPr>
              <a:t>setKey</a:t>
            </a:r>
            <a:r>
              <a:rPr lang="en-US" sz="1400" dirty="0">
                <a:solidFill>
                  <a:srgbClr val="3C5790"/>
                </a:solidFill>
              </a:rPr>
              <a:t>("category").</a:t>
            </a:r>
            <a:r>
              <a:rPr lang="en-US" sz="1400" dirty="0" err="1">
                <a:solidFill>
                  <a:srgbClr val="3C5790"/>
                </a:solidFill>
              </a:rPr>
              <a:t>setLimit</a:t>
            </a:r>
            <a:r>
              <a:rPr lang="en-US" sz="1400" dirty="0">
                <a:solidFill>
                  <a:srgbClr val="3C5790"/>
                </a:solidFill>
              </a:rPr>
              <a:t>(10).build()).get();</a:t>
            </a:r>
            <a:endParaRPr lang="fr-CA" sz="1400" dirty="0">
              <a:solidFill>
                <a:srgbClr val="3C57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42460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A161C6-CB85-A37E-F19B-1BACBF2F3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>
            <a:extLst>
              <a:ext uri="{FF2B5EF4-FFF2-40B4-BE49-F238E27FC236}">
                <a16:creationId xmlns:a16="http://schemas.microsoft.com/office/drawing/2014/main" id="{0100A54D-4A6A-67D2-9792-15CDD03E3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chemeClr val="bg1"/>
                </a:solidFill>
              </a:rPr>
              <a:t>Java Client (</a:t>
            </a:r>
            <a:r>
              <a:rPr lang="fr-CA" dirty="0" err="1">
                <a:solidFill>
                  <a:schemeClr val="bg1"/>
                </a:solidFill>
              </a:rPr>
              <a:t>cont</a:t>
            </a:r>
            <a:r>
              <a:rPr lang="fr-CA" dirty="0">
                <a:solidFill>
                  <a:schemeClr val="bg1"/>
                </a:solidFill>
              </a:rPr>
              <a:t>.)</a:t>
            </a:r>
          </a:p>
        </p:txBody>
      </p:sp>
      <p:sp>
        <p:nvSpPr>
          <p:cNvPr id="4099" name="Espace réservé du contenu 4">
            <a:extLst>
              <a:ext uri="{FF2B5EF4-FFF2-40B4-BE49-F238E27FC236}">
                <a16:creationId xmlns:a16="http://schemas.microsoft.com/office/drawing/2014/main" id="{8075D5C0-8718-0C31-96B8-49C41331D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4449762"/>
          </a:xfrm>
        </p:spPr>
        <p:txBody>
          <a:bodyPr/>
          <a:lstStyle/>
          <a:p>
            <a:r>
              <a:rPr lang="en-US" sz="1400" b="1" dirty="0">
                <a:solidFill>
                  <a:srgbClr val="3C5790"/>
                </a:solidFill>
              </a:rPr>
              <a:t>Management, aliases, backups, distributed operations</a:t>
            </a:r>
          </a:p>
          <a:p>
            <a:r>
              <a:rPr lang="en-US" sz="1400" dirty="0">
                <a:solidFill>
                  <a:srgbClr val="3C5790"/>
                </a:solidFill>
              </a:rPr>
              <a:t>// Collection management</a:t>
            </a:r>
          </a:p>
          <a:p>
            <a:r>
              <a:rPr lang="en-US" sz="1400" dirty="0" err="1">
                <a:solidFill>
                  <a:srgbClr val="3C5790"/>
                </a:solidFill>
              </a:rPr>
              <a:t>client.listCollectionsAsync</a:t>
            </a:r>
            <a:r>
              <a:rPr lang="en-US" sz="1400" dirty="0">
                <a:solidFill>
                  <a:srgbClr val="3C5790"/>
                </a:solidFill>
              </a:rPr>
              <a:t>().get();</a:t>
            </a:r>
          </a:p>
          <a:p>
            <a:r>
              <a:rPr lang="en-US" sz="1400" dirty="0" err="1">
                <a:solidFill>
                  <a:srgbClr val="3C5790"/>
                </a:solidFill>
              </a:rPr>
              <a:t>client.getCollectionInfoAsync</a:t>
            </a:r>
            <a:r>
              <a:rPr lang="en-US" sz="1400" dirty="0">
                <a:solidFill>
                  <a:srgbClr val="3C5790"/>
                </a:solidFill>
              </a:rPr>
              <a:t>("</a:t>
            </a:r>
            <a:r>
              <a:rPr lang="en-US" sz="1400" dirty="0" err="1">
                <a:solidFill>
                  <a:srgbClr val="3C5790"/>
                </a:solidFill>
              </a:rPr>
              <a:t>my_collection</a:t>
            </a:r>
            <a:r>
              <a:rPr lang="en-US" sz="1400" dirty="0">
                <a:solidFill>
                  <a:srgbClr val="3C5790"/>
                </a:solidFill>
              </a:rPr>
              <a:t>").get();</a:t>
            </a:r>
          </a:p>
          <a:p>
            <a:r>
              <a:rPr lang="en-US" sz="1400" dirty="0" err="1">
                <a:solidFill>
                  <a:srgbClr val="3C5790"/>
                </a:solidFill>
              </a:rPr>
              <a:t>client.updateCollectionAsync</a:t>
            </a:r>
            <a:r>
              <a:rPr lang="en-US" sz="1400" dirty="0">
                <a:solidFill>
                  <a:srgbClr val="3C5790"/>
                </a:solidFill>
              </a:rPr>
              <a:t>(</a:t>
            </a:r>
            <a:r>
              <a:rPr lang="en-US" sz="1400" dirty="0" err="1">
                <a:solidFill>
                  <a:srgbClr val="3C5790"/>
                </a:solidFill>
              </a:rPr>
              <a:t>updateRequest</a:t>
            </a:r>
            <a:r>
              <a:rPr lang="en-US" sz="1400" dirty="0">
                <a:solidFill>
                  <a:srgbClr val="3C5790"/>
                </a:solidFill>
              </a:rPr>
              <a:t>).get();</a:t>
            </a:r>
          </a:p>
          <a:p>
            <a:r>
              <a:rPr lang="en-US" sz="1400" dirty="0" err="1">
                <a:solidFill>
                  <a:srgbClr val="3C5790"/>
                </a:solidFill>
              </a:rPr>
              <a:t>client.deleteCollectionAsync</a:t>
            </a:r>
            <a:r>
              <a:rPr lang="en-US" sz="1400" dirty="0">
                <a:solidFill>
                  <a:srgbClr val="3C5790"/>
                </a:solidFill>
              </a:rPr>
              <a:t>("</a:t>
            </a:r>
            <a:r>
              <a:rPr lang="en-US" sz="1400" dirty="0" err="1">
                <a:solidFill>
                  <a:srgbClr val="3C5790"/>
                </a:solidFill>
              </a:rPr>
              <a:t>my_collection</a:t>
            </a:r>
            <a:r>
              <a:rPr lang="en-US" sz="1400" dirty="0">
                <a:solidFill>
                  <a:srgbClr val="3C5790"/>
                </a:solidFill>
              </a:rPr>
              <a:t>").get();</a:t>
            </a:r>
          </a:p>
          <a:p>
            <a:r>
              <a:rPr lang="en-US" sz="1400" dirty="0">
                <a:solidFill>
                  <a:srgbClr val="3C5790"/>
                </a:solidFill>
              </a:rPr>
              <a:t> </a:t>
            </a:r>
          </a:p>
          <a:p>
            <a:r>
              <a:rPr lang="en-US" sz="1400" dirty="0">
                <a:solidFill>
                  <a:srgbClr val="3C5790"/>
                </a:solidFill>
              </a:rPr>
              <a:t>// Aliases (zero-downtime migration)</a:t>
            </a:r>
          </a:p>
          <a:p>
            <a:r>
              <a:rPr lang="en-US" sz="1400" dirty="0" err="1">
                <a:solidFill>
                  <a:srgbClr val="3C5790"/>
                </a:solidFill>
              </a:rPr>
              <a:t>client.createAliasAsync</a:t>
            </a:r>
            <a:r>
              <a:rPr lang="en-US" sz="1400" dirty="0">
                <a:solidFill>
                  <a:srgbClr val="3C5790"/>
                </a:solidFill>
              </a:rPr>
              <a:t>("production", "my_collection_v2").get();</a:t>
            </a:r>
          </a:p>
          <a:p>
            <a:r>
              <a:rPr lang="en-US" sz="1400" dirty="0">
                <a:solidFill>
                  <a:srgbClr val="3C5790"/>
                </a:solidFill>
              </a:rPr>
              <a:t> </a:t>
            </a:r>
          </a:p>
          <a:p>
            <a:r>
              <a:rPr lang="en-US" sz="1400" dirty="0">
                <a:solidFill>
                  <a:srgbClr val="3C5790"/>
                </a:solidFill>
              </a:rPr>
              <a:t>// Snapshots</a:t>
            </a:r>
          </a:p>
          <a:p>
            <a:r>
              <a:rPr lang="en-US" sz="1400" dirty="0" err="1">
                <a:solidFill>
                  <a:srgbClr val="3C5790"/>
                </a:solidFill>
              </a:rPr>
              <a:t>client.createSnapshotAsync</a:t>
            </a:r>
            <a:r>
              <a:rPr lang="en-US" sz="1400" dirty="0">
                <a:solidFill>
                  <a:srgbClr val="3C5790"/>
                </a:solidFill>
              </a:rPr>
              <a:t>("</a:t>
            </a:r>
            <a:r>
              <a:rPr lang="en-US" sz="1400" dirty="0" err="1">
                <a:solidFill>
                  <a:srgbClr val="3C5790"/>
                </a:solidFill>
              </a:rPr>
              <a:t>my_collection</a:t>
            </a:r>
            <a:r>
              <a:rPr lang="en-US" sz="1400" dirty="0">
                <a:solidFill>
                  <a:srgbClr val="3C5790"/>
                </a:solidFill>
              </a:rPr>
              <a:t>").get();</a:t>
            </a:r>
          </a:p>
          <a:p>
            <a:r>
              <a:rPr lang="en-US" sz="1400" dirty="0" err="1">
                <a:solidFill>
                  <a:srgbClr val="3C5790"/>
                </a:solidFill>
              </a:rPr>
              <a:t>client.createFullSnapshotAsync</a:t>
            </a:r>
            <a:r>
              <a:rPr lang="en-US" sz="1400" dirty="0">
                <a:solidFill>
                  <a:srgbClr val="3C5790"/>
                </a:solidFill>
              </a:rPr>
              <a:t>().get();</a:t>
            </a:r>
          </a:p>
          <a:p>
            <a:r>
              <a:rPr lang="en-US" sz="1400" dirty="0">
                <a:solidFill>
                  <a:srgbClr val="3C5790"/>
                </a:solidFill>
              </a:rPr>
              <a:t> </a:t>
            </a:r>
          </a:p>
          <a:p>
            <a:r>
              <a:rPr lang="en-US" sz="1400" dirty="0">
                <a:solidFill>
                  <a:srgbClr val="3C5790"/>
                </a:solidFill>
              </a:rPr>
              <a:t>// Cluster &amp; shard keys (multitenancy)</a:t>
            </a:r>
          </a:p>
          <a:p>
            <a:r>
              <a:rPr lang="en-US" sz="1400" dirty="0" err="1">
                <a:solidFill>
                  <a:srgbClr val="3C5790"/>
                </a:solidFill>
              </a:rPr>
              <a:t>client.createShardKeyAsync</a:t>
            </a:r>
            <a:r>
              <a:rPr lang="en-US" sz="1400" dirty="0">
                <a:solidFill>
                  <a:srgbClr val="3C5790"/>
                </a:solidFill>
              </a:rPr>
              <a:t>(</a:t>
            </a:r>
            <a:r>
              <a:rPr lang="en-US" sz="1400" dirty="0" err="1">
                <a:solidFill>
                  <a:srgbClr val="3C5790"/>
                </a:solidFill>
              </a:rPr>
              <a:t>shardKeyRequest</a:t>
            </a:r>
            <a:r>
              <a:rPr lang="en-US" sz="1400" dirty="0">
                <a:solidFill>
                  <a:srgbClr val="3C5790"/>
                </a:solidFill>
              </a:rPr>
              <a:t>).get();</a:t>
            </a:r>
          </a:p>
          <a:p>
            <a:r>
              <a:rPr lang="en-US" sz="1400" dirty="0" err="1">
                <a:solidFill>
                  <a:srgbClr val="3C5790"/>
                </a:solidFill>
              </a:rPr>
              <a:t>client.getCollectionClusterInfoAsync</a:t>
            </a:r>
            <a:r>
              <a:rPr lang="en-US" sz="1400" dirty="0">
                <a:solidFill>
                  <a:srgbClr val="3C5790"/>
                </a:solidFill>
              </a:rPr>
              <a:t>("</a:t>
            </a:r>
            <a:r>
              <a:rPr lang="en-US" sz="1400" dirty="0" err="1">
                <a:solidFill>
                  <a:srgbClr val="3C5790"/>
                </a:solidFill>
              </a:rPr>
              <a:t>my_collection</a:t>
            </a:r>
            <a:r>
              <a:rPr lang="en-US" sz="1400" dirty="0">
                <a:solidFill>
                  <a:srgbClr val="3C5790"/>
                </a:solidFill>
              </a:rPr>
              <a:t>").get();</a:t>
            </a:r>
            <a:endParaRPr lang="fr-CA" sz="1400" dirty="0">
              <a:solidFill>
                <a:srgbClr val="3C57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39172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339FD8-650B-996B-7CCA-05B4F6837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>
            <a:extLst>
              <a:ext uri="{FF2B5EF4-FFF2-40B4-BE49-F238E27FC236}">
                <a16:creationId xmlns:a16="http://schemas.microsoft.com/office/drawing/2014/main" id="{CE20428C-C1D1-DE67-FF7A-C482EEC04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chemeClr val="bg1"/>
                </a:solidFill>
              </a:rPr>
              <a:t>Java Client (</a:t>
            </a:r>
            <a:r>
              <a:rPr lang="fr-CA" dirty="0" err="1">
                <a:solidFill>
                  <a:schemeClr val="bg1"/>
                </a:solidFill>
              </a:rPr>
              <a:t>cont</a:t>
            </a:r>
            <a:r>
              <a:rPr lang="fr-CA" dirty="0">
                <a:solidFill>
                  <a:schemeClr val="bg1"/>
                </a:solidFill>
              </a:rPr>
              <a:t>.)</a:t>
            </a:r>
          </a:p>
        </p:txBody>
      </p:sp>
      <p:sp>
        <p:nvSpPr>
          <p:cNvPr id="4099" name="Espace réservé du contenu 4">
            <a:extLst>
              <a:ext uri="{FF2B5EF4-FFF2-40B4-BE49-F238E27FC236}">
                <a16:creationId xmlns:a16="http://schemas.microsoft.com/office/drawing/2014/main" id="{5E3AD373-9702-C9D4-478D-A58EB7420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4038600"/>
          </a:xfrm>
        </p:spPr>
        <p:txBody>
          <a:bodyPr/>
          <a:lstStyle/>
          <a:p>
            <a:r>
              <a:rPr lang="en-US" sz="1400" b="1" dirty="0">
                <a:solidFill>
                  <a:srgbClr val="3C5790"/>
                </a:solidFill>
              </a:rPr>
              <a:t>Collections</a:t>
            </a:r>
            <a:r>
              <a:rPr lang="en-US" sz="1400" dirty="0">
                <a:solidFill>
                  <a:srgbClr val="3C5790"/>
                </a:solidFill>
              </a:rPr>
              <a:t>: </a:t>
            </a:r>
          </a:p>
          <a:p>
            <a:pPr lvl="1"/>
            <a:r>
              <a:rPr lang="en-US" sz="1400" dirty="0" err="1">
                <a:solidFill>
                  <a:srgbClr val="3C5790"/>
                </a:solidFill>
              </a:rPr>
              <a:t>createCollectionAsync</a:t>
            </a:r>
            <a:endParaRPr lang="en-US" sz="1400" dirty="0">
              <a:solidFill>
                <a:srgbClr val="3C5790"/>
              </a:solidFill>
            </a:endParaRPr>
          </a:p>
          <a:p>
            <a:pPr lvl="1"/>
            <a:r>
              <a:rPr lang="en-US" sz="1400" dirty="0" err="1">
                <a:solidFill>
                  <a:srgbClr val="3C5790"/>
                </a:solidFill>
              </a:rPr>
              <a:t>recreateCollectionAsync</a:t>
            </a:r>
            <a:endParaRPr lang="en-US" sz="1400" dirty="0">
              <a:solidFill>
                <a:srgbClr val="3C5790"/>
              </a:solidFill>
            </a:endParaRPr>
          </a:p>
          <a:p>
            <a:pPr lvl="1"/>
            <a:r>
              <a:rPr lang="en-US" sz="1400" dirty="0" err="1">
                <a:solidFill>
                  <a:srgbClr val="3C5790"/>
                </a:solidFill>
              </a:rPr>
              <a:t>deleteCollectionAsync</a:t>
            </a:r>
            <a:endParaRPr lang="en-US" sz="1400" dirty="0">
              <a:solidFill>
                <a:srgbClr val="3C5790"/>
              </a:solidFill>
            </a:endParaRPr>
          </a:p>
          <a:p>
            <a:pPr lvl="1"/>
            <a:r>
              <a:rPr lang="en-US" sz="1400" dirty="0" err="1">
                <a:solidFill>
                  <a:srgbClr val="3C5790"/>
                </a:solidFill>
              </a:rPr>
              <a:t>updateCollectionAsync</a:t>
            </a:r>
            <a:endParaRPr lang="en-US" sz="1400" dirty="0">
              <a:solidFill>
                <a:srgbClr val="3C5790"/>
              </a:solidFill>
            </a:endParaRPr>
          </a:p>
          <a:p>
            <a:pPr lvl="1"/>
            <a:r>
              <a:rPr lang="en-US" sz="1400" dirty="0" err="1">
                <a:solidFill>
                  <a:srgbClr val="3C5790"/>
                </a:solidFill>
              </a:rPr>
              <a:t>listCollectionsAsync</a:t>
            </a:r>
            <a:endParaRPr lang="en-US" sz="1400" dirty="0">
              <a:solidFill>
                <a:srgbClr val="3C5790"/>
              </a:solidFill>
            </a:endParaRPr>
          </a:p>
          <a:p>
            <a:pPr lvl="1"/>
            <a:r>
              <a:rPr lang="en-US" sz="1400" dirty="0" err="1">
                <a:solidFill>
                  <a:srgbClr val="3C5790"/>
                </a:solidFill>
              </a:rPr>
              <a:t>getCollectionInfoAsync</a:t>
            </a:r>
            <a:endParaRPr lang="en-US" sz="1400" dirty="0">
              <a:solidFill>
                <a:srgbClr val="3C5790"/>
              </a:solidFill>
            </a:endParaRPr>
          </a:p>
          <a:p>
            <a:pPr lvl="1"/>
            <a:r>
              <a:rPr lang="en-US" sz="1400" dirty="0" err="1">
                <a:solidFill>
                  <a:srgbClr val="3C5790"/>
                </a:solidFill>
              </a:rPr>
              <a:t>collectionExistsAsync</a:t>
            </a:r>
            <a:endParaRPr lang="en-US" sz="1400" dirty="0">
              <a:solidFill>
                <a:srgbClr val="3C5790"/>
              </a:solidFill>
            </a:endParaRPr>
          </a:p>
          <a:p>
            <a:r>
              <a:rPr lang="fr-CA" sz="1400" b="1" dirty="0">
                <a:solidFill>
                  <a:srgbClr val="3C5790"/>
                </a:solidFill>
              </a:rPr>
              <a:t>Points</a:t>
            </a:r>
            <a:r>
              <a:rPr lang="fr-CA" sz="1400" dirty="0">
                <a:solidFill>
                  <a:srgbClr val="3C5790"/>
                </a:solidFill>
              </a:rPr>
              <a:t>: </a:t>
            </a:r>
          </a:p>
          <a:p>
            <a:pPr lvl="1"/>
            <a:r>
              <a:rPr lang="fr-CA" sz="1400" dirty="0" err="1">
                <a:solidFill>
                  <a:srgbClr val="3C5790"/>
                </a:solidFill>
              </a:rPr>
              <a:t>upsertAsync</a:t>
            </a:r>
            <a:endParaRPr lang="fr-CA" sz="1400" dirty="0">
              <a:solidFill>
                <a:srgbClr val="3C5790"/>
              </a:solidFill>
            </a:endParaRPr>
          </a:p>
          <a:p>
            <a:pPr lvl="1"/>
            <a:r>
              <a:rPr lang="fr-CA" sz="1400" dirty="0" err="1">
                <a:solidFill>
                  <a:srgbClr val="3C5790"/>
                </a:solidFill>
              </a:rPr>
              <a:t>retrieveAsync</a:t>
            </a:r>
            <a:endParaRPr lang="fr-CA" sz="1400" dirty="0">
              <a:solidFill>
                <a:srgbClr val="3C5790"/>
              </a:solidFill>
            </a:endParaRPr>
          </a:p>
          <a:p>
            <a:pPr lvl="1"/>
            <a:r>
              <a:rPr lang="fr-CA" sz="1400" dirty="0" err="1">
                <a:solidFill>
                  <a:srgbClr val="3C5790"/>
                </a:solidFill>
              </a:rPr>
              <a:t>deleteAsync</a:t>
            </a:r>
            <a:endParaRPr lang="fr-CA" sz="1400" dirty="0">
              <a:solidFill>
                <a:srgbClr val="3C5790"/>
              </a:solidFill>
            </a:endParaRPr>
          </a:p>
          <a:p>
            <a:pPr lvl="1"/>
            <a:r>
              <a:rPr lang="fr-CA" sz="1400" dirty="0" err="1">
                <a:solidFill>
                  <a:srgbClr val="3C5790"/>
                </a:solidFill>
              </a:rPr>
              <a:t>countAsync</a:t>
            </a:r>
            <a:endParaRPr lang="fr-CA" sz="1400" dirty="0">
              <a:solidFill>
                <a:srgbClr val="3C5790"/>
              </a:solidFill>
            </a:endParaRPr>
          </a:p>
          <a:p>
            <a:pPr lvl="1"/>
            <a:r>
              <a:rPr lang="fr-CA" sz="1400" dirty="0" err="1">
                <a:solidFill>
                  <a:srgbClr val="3C5790"/>
                </a:solidFill>
              </a:rPr>
              <a:t>scrollAsync</a:t>
            </a:r>
            <a:endParaRPr lang="fr-CA" sz="1400" dirty="0">
              <a:solidFill>
                <a:srgbClr val="3C5790"/>
              </a:solidFill>
            </a:endParaRPr>
          </a:p>
          <a:p>
            <a:pPr lvl="1"/>
            <a:r>
              <a:rPr lang="fr-CA" sz="1400" dirty="0" err="1">
                <a:solidFill>
                  <a:srgbClr val="3C5790"/>
                </a:solidFill>
              </a:rPr>
              <a:t>batchUpdateAsync</a:t>
            </a:r>
            <a:endParaRPr lang="fr-CA" sz="1400" dirty="0">
              <a:solidFill>
                <a:srgbClr val="3C57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34337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F313E0-06DF-FE54-DE97-CDFF9C6B5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>
            <a:extLst>
              <a:ext uri="{FF2B5EF4-FFF2-40B4-BE49-F238E27FC236}">
                <a16:creationId xmlns:a16="http://schemas.microsoft.com/office/drawing/2014/main" id="{DE100EDA-1DEC-B24A-EED9-C66B4E058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chemeClr val="bg1"/>
                </a:solidFill>
              </a:rPr>
              <a:t>Java Client (</a:t>
            </a:r>
            <a:r>
              <a:rPr lang="fr-CA" dirty="0" err="1">
                <a:solidFill>
                  <a:schemeClr val="bg1"/>
                </a:solidFill>
              </a:rPr>
              <a:t>cont</a:t>
            </a:r>
            <a:r>
              <a:rPr lang="fr-CA" dirty="0">
                <a:solidFill>
                  <a:schemeClr val="bg1"/>
                </a:solidFill>
              </a:rPr>
              <a:t>.)</a:t>
            </a:r>
          </a:p>
        </p:txBody>
      </p:sp>
      <p:sp>
        <p:nvSpPr>
          <p:cNvPr id="4099" name="Espace réservé du contenu 4">
            <a:extLst>
              <a:ext uri="{FF2B5EF4-FFF2-40B4-BE49-F238E27FC236}">
                <a16:creationId xmlns:a16="http://schemas.microsoft.com/office/drawing/2014/main" id="{4BBE89A4-4490-8196-B664-18F4E00D0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4267200"/>
          </a:xfrm>
        </p:spPr>
        <p:txBody>
          <a:bodyPr/>
          <a:lstStyle/>
          <a:p>
            <a:r>
              <a:rPr lang="en-US" sz="1400" b="1" dirty="0">
                <a:solidFill>
                  <a:srgbClr val="3C5790"/>
                </a:solidFill>
              </a:rPr>
              <a:t>Factories</a:t>
            </a:r>
            <a:r>
              <a:rPr lang="en-US" sz="1400" dirty="0">
                <a:solidFill>
                  <a:srgbClr val="3C5790"/>
                </a:solidFill>
              </a:rPr>
              <a:t>: </a:t>
            </a:r>
            <a:r>
              <a:rPr lang="en-US" sz="1400" dirty="0" err="1">
                <a:solidFill>
                  <a:srgbClr val="3C5790"/>
                </a:solidFill>
              </a:rPr>
              <a:t>QueryFactory</a:t>
            </a:r>
            <a:r>
              <a:rPr lang="en-US" sz="1400" dirty="0">
                <a:solidFill>
                  <a:srgbClr val="3C5790"/>
                </a:solidFill>
              </a:rPr>
              <a:t>, </a:t>
            </a:r>
            <a:r>
              <a:rPr lang="en-US" sz="1400" dirty="0" err="1">
                <a:solidFill>
                  <a:srgbClr val="3C5790"/>
                </a:solidFill>
              </a:rPr>
              <a:t>ConditionFactory</a:t>
            </a:r>
            <a:r>
              <a:rPr lang="en-US" sz="1400" dirty="0">
                <a:solidFill>
                  <a:srgbClr val="3C5790"/>
                </a:solidFill>
              </a:rPr>
              <a:t>, </a:t>
            </a:r>
            <a:r>
              <a:rPr lang="en-US" sz="1400" dirty="0" err="1">
                <a:solidFill>
                  <a:srgbClr val="3C5790"/>
                </a:solidFill>
              </a:rPr>
              <a:t>VectorFactory</a:t>
            </a:r>
            <a:r>
              <a:rPr lang="en-US" sz="1400" dirty="0">
                <a:solidFill>
                  <a:srgbClr val="3C5790"/>
                </a:solidFill>
              </a:rPr>
              <a:t>, </a:t>
            </a:r>
            <a:r>
              <a:rPr lang="en-US" sz="1400" dirty="0" err="1">
                <a:solidFill>
                  <a:srgbClr val="3C5790"/>
                </a:solidFill>
              </a:rPr>
              <a:t>ValueFactory</a:t>
            </a:r>
            <a:endParaRPr lang="en-US" sz="1400" dirty="0">
              <a:solidFill>
                <a:srgbClr val="3C5790"/>
              </a:solidFill>
            </a:endParaRPr>
          </a:p>
          <a:p>
            <a:r>
              <a:rPr lang="en-US" sz="1400" b="1" dirty="0">
                <a:solidFill>
                  <a:srgbClr val="3C5790"/>
                </a:solidFill>
              </a:rPr>
              <a:t>Snapshots &amp; Aliases: </a:t>
            </a:r>
          </a:p>
          <a:p>
            <a:pPr lvl="1"/>
            <a:r>
              <a:rPr lang="en-US" sz="1400" dirty="0" err="1">
                <a:solidFill>
                  <a:srgbClr val="3C5790"/>
                </a:solidFill>
              </a:rPr>
              <a:t>createSnapshotAsync</a:t>
            </a:r>
            <a:endParaRPr lang="en-US" sz="1400" dirty="0">
              <a:solidFill>
                <a:srgbClr val="3C5790"/>
              </a:solidFill>
            </a:endParaRPr>
          </a:p>
          <a:p>
            <a:pPr lvl="1"/>
            <a:r>
              <a:rPr lang="en-US" sz="1400" dirty="0" err="1">
                <a:solidFill>
                  <a:srgbClr val="3C5790"/>
                </a:solidFill>
              </a:rPr>
              <a:t>createAliasAsync</a:t>
            </a:r>
            <a:endParaRPr lang="en-US" sz="1400" dirty="0">
              <a:solidFill>
                <a:srgbClr val="3C5790"/>
              </a:solidFill>
            </a:endParaRPr>
          </a:p>
          <a:p>
            <a:pPr lvl="1"/>
            <a:r>
              <a:rPr lang="en-US" sz="1400" dirty="0" err="1">
                <a:solidFill>
                  <a:srgbClr val="3C5790"/>
                </a:solidFill>
              </a:rPr>
              <a:t>updateAliasesAsync</a:t>
            </a:r>
            <a:endParaRPr lang="en-US" sz="1400" dirty="0">
              <a:solidFill>
                <a:srgbClr val="3C5790"/>
              </a:solidFill>
            </a:endParaRPr>
          </a:p>
          <a:p>
            <a:pPr lvl="1"/>
            <a:r>
              <a:rPr lang="en-US" sz="1400" dirty="0" err="1">
                <a:solidFill>
                  <a:srgbClr val="3C5790"/>
                </a:solidFill>
              </a:rPr>
              <a:t>healthCheckAsync</a:t>
            </a:r>
            <a:endParaRPr lang="en-US" sz="1400" dirty="0">
              <a:solidFill>
                <a:srgbClr val="3C5790"/>
              </a:solidFill>
            </a:endParaRPr>
          </a:p>
          <a:p>
            <a:r>
              <a:rPr lang="en-US" sz="1400" b="1" dirty="0">
                <a:solidFill>
                  <a:srgbClr val="3C5790"/>
                </a:solidFill>
              </a:rPr>
              <a:t>Vectors</a:t>
            </a:r>
            <a:r>
              <a:rPr lang="en-US" sz="1400" dirty="0">
                <a:solidFill>
                  <a:srgbClr val="3C5790"/>
                </a:solidFill>
              </a:rPr>
              <a:t>: </a:t>
            </a:r>
          </a:p>
          <a:p>
            <a:pPr lvl="1"/>
            <a:r>
              <a:rPr lang="en-US" sz="1400" dirty="0" err="1">
                <a:solidFill>
                  <a:srgbClr val="3C5790"/>
                </a:solidFill>
              </a:rPr>
              <a:t>updateVectorsAsync</a:t>
            </a:r>
            <a:endParaRPr lang="en-US" sz="1400" dirty="0">
              <a:solidFill>
                <a:srgbClr val="3C5790"/>
              </a:solidFill>
            </a:endParaRPr>
          </a:p>
          <a:p>
            <a:pPr lvl="1"/>
            <a:r>
              <a:rPr lang="en-US" sz="1400" dirty="0" err="1">
                <a:solidFill>
                  <a:srgbClr val="3C5790"/>
                </a:solidFill>
              </a:rPr>
              <a:t>deleteVectorsAsync</a:t>
            </a:r>
            <a:endParaRPr lang="en-US" sz="1400" dirty="0">
              <a:solidFill>
                <a:srgbClr val="3C5790"/>
              </a:solidFill>
            </a:endParaRPr>
          </a:p>
          <a:p>
            <a:pPr lvl="1"/>
            <a:r>
              <a:rPr lang="en-US" sz="1400" dirty="0" err="1">
                <a:solidFill>
                  <a:srgbClr val="3C5790"/>
                </a:solidFill>
              </a:rPr>
              <a:t>createVectorNameAsync</a:t>
            </a:r>
            <a:endParaRPr lang="en-US" sz="1400" dirty="0">
              <a:solidFill>
                <a:srgbClr val="3C5790"/>
              </a:solidFill>
            </a:endParaRPr>
          </a:p>
          <a:p>
            <a:pPr lvl="1"/>
            <a:r>
              <a:rPr lang="en-US" sz="1400" dirty="0" err="1">
                <a:solidFill>
                  <a:srgbClr val="3C5790"/>
                </a:solidFill>
              </a:rPr>
              <a:t>deleteVectorNameAsync</a:t>
            </a:r>
            <a:endParaRPr lang="en-US" sz="1400" dirty="0">
              <a:solidFill>
                <a:srgbClr val="3C5790"/>
              </a:solidFill>
            </a:endParaRPr>
          </a:p>
          <a:p>
            <a:r>
              <a:rPr lang="en-US" sz="1400" b="1" dirty="0">
                <a:solidFill>
                  <a:srgbClr val="3C5790"/>
                </a:solidFill>
              </a:rPr>
              <a:t>Payload</a:t>
            </a:r>
            <a:r>
              <a:rPr lang="en-US" sz="1400" dirty="0">
                <a:solidFill>
                  <a:srgbClr val="3C5790"/>
                </a:solidFill>
              </a:rPr>
              <a:t>: </a:t>
            </a:r>
          </a:p>
          <a:p>
            <a:pPr lvl="1"/>
            <a:r>
              <a:rPr lang="en-US" sz="1400" dirty="0" err="1">
                <a:solidFill>
                  <a:srgbClr val="3C5790"/>
                </a:solidFill>
              </a:rPr>
              <a:t>setPayloadAsync</a:t>
            </a:r>
            <a:endParaRPr lang="en-US" sz="1400" dirty="0">
              <a:solidFill>
                <a:srgbClr val="3C5790"/>
              </a:solidFill>
            </a:endParaRPr>
          </a:p>
          <a:p>
            <a:pPr lvl="1"/>
            <a:r>
              <a:rPr lang="en-US" sz="1400" dirty="0" err="1">
                <a:solidFill>
                  <a:srgbClr val="3C5790"/>
                </a:solidFill>
              </a:rPr>
              <a:t>overwritePayloadAsync</a:t>
            </a:r>
            <a:endParaRPr lang="en-US" sz="1400" dirty="0">
              <a:solidFill>
                <a:srgbClr val="3C5790"/>
              </a:solidFill>
            </a:endParaRPr>
          </a:p>
          <a:p>
            <a:pPr lvl="1"/>
            <a:r>
              <a:rPr lang="en-US" sz="1400" dirty="0" err="1">
                <a:solidFill>
                  <a:srgbClr val="3C5790"/>
                </a:solidFill>
              </a:rPr>
              <a:t>deletePayloadAsync</a:t>
            </a:r>
            <a:endParaRPr lang="en-US" sz="1400" dirty="0">
              <a:solidFill>
                <a:srgbClr val="3C5790"/>
              </a:solidFill>
            </a:endParaRPr>
          </a:p>
          <a:p>
            <a:pPr lvl="1"/>
            <a:r>
              <a:rPr lang="en-US" sz="1400" dirty="0" err="1">
                <a:solidFill>
                  <a:srgbClr val="3C5790"/>
                </a:solidFill>
              </a:rPr>
              <a:t>clearPayloadAsync</a:t>
            </a:r>
            <a:endParaRPr lang="fr-CA" sz="1400" dirty="0">
              <a:solidFill>
                <a:srgbClr val="3C57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61907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9C4BF8-DC5F-EEB8-9AA1-E116F8AF5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>
            <a:extLst>
              <a:ext uri="{FF2B5EF4-FFF2-40B4-BE49-F238E27FC236}">
                <a16:creationId xmlns:a16="http://schemas.microsoft.com/office/drawing/2014/main" id="{60E2D3A5-CE28-AF50-F31E-E9095A95A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chemeClr val="bg1"/>
                </a:solidFill>
              </a:rPr>
              <a:t>Java Client (</a:t>
            </a:r>
            <a:r>
              <a:rPr lang="fr-CA" dirty="0" err="1">
                <a:solidFill>
                  <a:schemeClr val="bg1"/>
                </a:solidFill>
              </a:rPr>
              <a:t>cont</a:t>
            </a:r>
            <a:r>
              <a:rPr lang="fr-CA" dirty="0">
                <a:solidFill>
                  <a:schemeClr val="bg1"/>
                </a:solidFill>
              </a:rPr>
              <a:t>.)</a:t>
            </a:r>
          </a:p>
        </p:txBody>
      </p:sp>
      <p:sp>
        <p:nvSpPr>
          <p:cNvPr id="4099" name="Espace réservé du contenu 4">
            <a:extLst>
              <a:ext uri="{FF2B5EF4-FFF2-40B4-BE49-F238E27FC236}">
                <a16:creationId xmlns:a16="http://schemas.microsoft.com/office/drawing/2014/main" id="{AF15121F-3C07-D0AD-5406-7B13EDB6F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981200"/>
            <a:ext cx="8686800" cy="4724400"/>
          </a:xfrm>
        </p:spPr>
        <p:txBody>
          <a:bodyPr/>
          <a:lstStyle/>
          <a:p>
            <a:r>
              <a:rPr lang="en-US" sz="1400" b="1" dirty="0">
                <a:solidFill>
                  <a:srgbClr val="3C5790"/>
                </a:solidFill>
              </a:rPr>
              <a:t>Search: </a:t>
            </a:r>
          </a:p>
          <a:p>
            <a:pPr lvl="1"/>
            <a:r>
              <a:rPr lang="en-US" sz="1400" dirty="0" err="1">
                <a:solidFill>
                  <a:srgbClr val="3C5790"/>
                </a:solidFill>
              </a:rPr>
              <a:t>searchAsync</a:t>
            </a:r>
            <a:endParaRPr lang="en-US" sz="1400" dirty="0">
              <a:solidFill>
                <a:srgbClr val="3C5790"/>
              </a:solidFill>
            </a:endParaRPr>
          </a:p>
          <a:p>
            <a:pPr lvl="1"/>
            <a:r>
              <a:rPr lang="en-US" sz="1400" dirty="0" err="1">
                <a:solidFill>
                  <a:srgbClr val="3C5790"/>
                </a:solidFill>
              </a:rPr>
              <a:t>searchBatchAsync</a:t>
            </a:r>
            <a:endParaRPr lang="en-US" sz="1400" dirty="0">
              <a:solidFill>
                <a:srgbClr val="3C5790"/>
              </a:solidFill>
            </a:endParaRPr>
          </a:p>
          <a:p>
            <a:pPr lvl="1"/>
            <a:r>
              <a:rPr lang="en-US" sz="1400" dirty="0" err="1">
                <a:solidFill>
                  <a:srgbClr val="3C5790"/>
                </a:solidFill>
              </a:rPr>
              <a:t>searchGroupsAsync</a:t>
            </a:r>
            <a:endParaRPr lang="en-US" sz="1400" dirty="0">
              <a:solidFill>
                <a:srgbClr val="3C5790"/>
              </a:solidFill>
            </a:endParaRPr>
          </a:p>
          <a:p>
            <a:pPr lvl="1"/>
            <a:r>
              <a:rPr lang="en-US" sz="1400" dirty="0" err="1">
                <a:solidFill>
                  <a:srgbClr val="3C5790"/>
                </a:solidFill>
              </a:rPr>
              <a:t>queryAsync</a:t>
            </a:r>
            <a:endParaRPr lang="en-US" sz="1400" dirty="0">
              <a:solidFill>
                <a:srgbClr val="3C5790"/>
              </a:solidFill>
            </a:endParaRPr>
          </a:p>
          <a:p>
            <a:pPr lvl="1"/>
            <a:r>
              <a:rPr lang="en-US" sz="1400" dirty="0" err="1">
                <a:solidFill>
                  <a:srgbClr val="3C5790"/>
                </a:solidFill>
              </a:rPr>
              <a:t>queryBatchAsync</a:t>
            </a:r>
            <a:endParaRPr lang="en-US" sz="1400" dirty="0">
              <a:solidFill>
                <a:srgbClr val="3C5790"/>
              </a:solidFill>
            </a:endParaRPr>
          </a:p>
          <a:p>
            <a:pPr lvl="1"/>
            <a:r>
              <a:rPr lang="en-US" sz="1400" dirty="0" err="1">
                <a:solidFill>
                  <a:srgbClr val="3C5790"/>
                </a:solidFill>
              </a:rPr>
              <a:t>queryGroupsAsync</a:t>
            </a:r>
            <a:endParaRPr lang="en-US" sz="1400" dirty="0">
              <a:solidFill>
                <a:srgbClr val="3C5790"/>
              </a:solidFill>
            </a:endParaRPr>
          </a:p>
          <a:p>
            <a:r>
              <a:rPr lang="en-US" sz="1400" b="1" dirty="0">
                <a:solidFill>
                  <a:srgbClr val="3C5790"/>
                </a:solidFill>
              </a:rPr>
              <a:t>Cluster: </a:t>
            </a:r>
          </a:p>
          <a:p>
            <a:pPr lvl="1"/>
            <a:r>
              <a:rPr lang="en-US" sz="1400" dirty="0" err="1">
                <a:solidFill>
                  <a:srgbClr val="3C5790"/>
                </a:solidFill>
              </a:rPr>
              <a:t>getCollectionClusterInfoAsync</a:t>
            </a:r>
            <a:endParaRPr lang="en-US" sz="1400" dirty="0">
              <a:solidFill>
                <a:srgbClr val="3C5790"/>
              </a:solidFill>
            </a:endParaRPr>
          </a:p>
          <a:p>
            <a:pPr lvl="1"/>
            <a:r>
              <a:rPr lang="en-US" sz="1400" dirty="0" err="1">
                <a:solidFill>
                  <a:srgbClr val="3C5790"/>
                </a:solidFill>
              </a:rPr>
              <a:t>createShardKeyAsync</a:t>
            </a:r>
            <a:endParaRPr lang="en-US" sz="1400" dirty="0">
              <a:solidFill>
                <a:srgbClr val="3C5790"/>
              </a:solidFill>
            </a:endParaRPr>
          </a:p>
          <a:p>
            <a:pPr lvl="1"/>
            <a:r>
              <a:rPr lang="en-US" sz="1400" dirty="0" err="1">
                <a:solidFill>
                  <a:srgbClr val="3C5790"/>
                </a:solidFill>
              </a:rPr>
              <a:t>listShardKeysAsync</a:t>
            </a:r>
            <a:r>
              <a:rPr lang="en-US" sz="1400" dirty="0">
                <a:solidFill>
                  <a:srgbClr val="3C5790"/>
                </a:solidFill>
              </a:rPr>
              <a:t> </a:t>
            </a:r>
          </a:p>
          <a:p>
            <a:pPr lvl="1"/>
            <a:r>
              <a:rPr lang="en-US" sz="1400" dirty="0" err="1">
                <a:solidFill>
                  <a:srgbClr val="3C5790"/>
                </a:solidFill>
              </a:rPr>
              <a:t>deleteShardKeyAsync</a:t>
            </a:r>
            <a:endParaRPr lang="en-US" sz="1400" dirty="0">
              <a:solidFill>
                <a:srgbClr val="3C5790"/>
              </a:solidFill>
            </a:endParaRPr>
          </a:p>
          <a:p>
            <a:r>
              <a:rPr lang="en-US" sz="1400" b="1" dirty="0">
                <a:solidFill>
                  <a:srgbClr val="3C5790"/>
                </a:solidFill>
              </a:rPr>
              <a:t>Advanced</a:t>
            </a:r>
            <a:r>
              <a:rPr lang="en-US" sz="1400" dirty="0">
                <a:solidFill>
                  <a:srgbClr val="3C5790"/>
                </a:solidFill>
              </a:rPr>
              <a:t>: </a:t>
            </a:r>
          </a:p>
          <a:p>
            <a:pPr lvl="1"/>
            <a:r>
              <a:rPr lang="en-US" sz="1400" dirty="0" err="1">
                <a:solidFill>
                  <a:srgbClr val="3C5790"/>
                </a:solidFill>
              </a:rPr>
              <a:t>recommendAsync</a:t>
            </a:r>
            <a:endParaRPr lang="en-US" sz="1400" dirty="0">
              <a:solidFill>
                <a:srgbClr val="3C5790"/>
              </a:solidFill>
            </a:endParaRPr>
          </a:p>
          <a:p>
            <a:pPr lvl="1"/>
            <a:r>
              <a:rPr lang="en-US" sz="1400" dirty="0" err="1">
                <a:solidFill>
                  <a:srgbClr val="3C5790"/>
                </a:solidFill>
              </a:rPr>
              <a:t>discoverAsync</a:t>
            </a:r>
            <a:endParaRPr lang="en-US" sz="1400" dirty="0">
              <a:solidFill>
                <a:srgbClr val="3C5790"/>
              </a:solidFill>
            </a:endParaRPr>
          </a:p>
          <a:p>
            <a:pPr lvl="1"/>
            <a:r>
              <a:rPr lang="en-US" sz="1400" dirty="0" err="1">
                <a:solidFill>
                  <a:srgbClr val="3C5790"/>
                </a:solidFill>
              </a:rPr>
              <a:t>facetAsync</a:t>
            </a:r>
            <a:endParaRPr lang="en-US" sz="1400" dirty="0">
              <a:solidFill>
                <a:srgbClr val="3C5790"/>
              </a:solidFill>
            </a:endParaRPr>
          </a:p>
          <a:p>
            <a:pPr lvl="1"/>
            <a:r>
              <a:rPr lang="en-US" sz="1400" dirty="0" err="1">
                <a:solidFill>
                  <a:srgbClr val="3C5790"/>
                </a:solidFill>
              </a:rPr>
              <a:t>searchMatrixPairsAsync</a:t>
            </a:r>
            <a:endParaRPr lang="en-US" sz="1400" dirty="0">
              <a:solidFill>
                <a:srgbClr val="3C5790"/>
              </a:solidFill>
            </a:endParaRPr>
          </a:p>
          <a:p>
            <a:pPr lvl="1"/>
            <a:r>
              <a:rPr lang="en-US" sz="1400" dirty="0" err="1">
                <a:solidFill>
                  <a:srgbClr val="3C5790"/>
                </a:solidFill>
              </a:rPr>
              <a:t>searchMatrixOffsetsAsync</a:t>
            </a:r>
            <a:endParaRPr lang="en-US" sz="1400" dirty="0">
              <a:solidFill>
                <a:srgbClr val="3C57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64672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15AA66-6AFC-FAF2-890E-93E19E9DC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>
            <a:extLst>
              <a:ext uri="{FF2B5EF4-FFF2-40B4-BE49-F238E27FC236}">
                <a16:creationId xmlns:a16="http://schemas.microsoft.com/office/drawing/2014/main" id="{B2ED3531-2D08-4624-9459-112704E53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>
                <a:solidFill>
                  <a:schemeClr val="bg1"/>
                </a:solidFill>
              </a:rPr>
              <a:t>Comparison</a:t>
            </a:r>
            <a:endParaRPr lang="fr-CA" dirty="0">
              <a:solidFill>
                <a:schemeClr val="bg1"/>
              </a:solidFill>
            </a:endParaRPr>
          </a:p>
        </p:txBody>
      </p:sp>
      <p:sp>
        <p:nvSpPr>
          <p:cNvPr id="4099" name="Espace réservé du contenu 4">
            <a:extLst>
              <a:ext uri="{FF2B5EF4-FFF2-40B4-BE49-F238E27FC236}">
                <a16:creationId xmlns:a16="http://schemas.microsoft.com/office/drawing/2014/main" id="{E95C26DB-3FCC-687C-EBDD-F47D45B43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2743200"/>
          </a:xfrm>
        </p:spPr>
        <p:txBody>
          <a:bodyPr/>
          <a:lstStyle/>
          <a:p>
            <a:r>
              <a:rPr lang="en-US" sz="1400" dirty="0" err="1">
                <a:solidFill>
                  <a:srgbClr val="3C5790"/>
                </a:solidFill>
              </a:rPr>
              <a:t>Qdrant</a:t>
            </a:r>
            <a:r>
              <a:rPr lang="en-US" sz="1400" dirty="0">
                <a:solidFill>
                  <a:srgbClr val="3C5790"/>
                </a:solidFill>
              </a:rPr>
              <a:t> compares with vector databases and search engines:</a:t>
            </a:r>
          </a:p>
          <a:p>
            <a:r>
              <a:rPr lang="en-US" sz="1400" dirty="0">
                <a:solidFill>
                  <a:srgbClr val="3C5790"/>
                </a:solidFill>
              </a:rPr>
              <a:t>vs </a:t>
            </a:r>
            <a:r>
              <a:rPr lang="en-US" sz="1400" b="1" dirty="0">
                <a:solidFill>
                  <a:srgbClr val="3C5790"/>
                </a:solidFill>
              </a:rPr>
              <a:t>Pinecone</a:t>
            </a:r>
            <a:r>
              <a:rPr lang="en-US" sz="1400" dirty="0">
                <a:solidFill>
                  <a:srgbClr val="3C5790"/>
                </a:solidFill>
              </a:rPr>
              <a:t>: </a:t>
            </a:r>
            <a:r>
              <a:rPr lang="en-US" sz="1400" dirty="0" err="1">
                <a:solidFill>
                  <a:srgbClr val="3C5790"/>
                </a:solidFill>
              </a:rPr>
              <a:t>Qdrant</a:t>
            </a:r>
            <a:r>
              <a:rPr lang="en-US" sz="1400" dirty="0">
                <a:solidFill>
                  <a:srgbClr val="3C5790"/>
                </a:solidFill>
              </a:rPr>
              <a:t> is open-source &amp; self-hostable; Pinecone is SaaS-only</a:t>
            </a:r>
          </a:p>
          <a:p>
            <a:r>
              <a:rPr lang="en-US" sz="1400" dirty="0">
                <a:solidFill>
                  <a:srgbClr val="3C5790"/>
                </a:solidFill>
              </a:rPr>
              <a:t>vs </a:t>
            </a:r>
            <a:r>
              <a:rPr lang="en-US" sz="1400" b="1" dirty="0">
                <a:solidFill>
                  <a:srgbClr val="3C5790"/>
                </a:solidFill>
              </a:rPr>
              <a:t>Milvus</a:t>
            </a:r>
            <a:r>
              <a:rPr lang="en-US" sz="1400" dirty="0">
                <a:solidFill>
                  <a:srgbClr val="3C5790"/>
                </a:solidFill>
              </a:rPr>
              <a:t>: Both distributed; </a:t>
            </a:r>
            <a:r>
              <a:rPr lang="en-US" sz="1400" dirty="0" err="1">
                <a:solidFill>
                  <a:srgbClr val="3C5790"/>
                </a:solidFill>
              </a:rPr>
              <a:t>Qdrant</a:t>
            </a:r>
            <a:r>
              <a:rPr lang="en-US" sz="1400" dirty="0">
                <a:solidFill>
                  <a:srgbClr val="3C5790"/>
                </a:solidFill>
              </a:rPr>
              <a:t> has filterable HNSW built-in</a:t>
            </a:r>
          </a:p>
          <a:p>
            <a:r>
              <a:rPr lang="en-US" sz="1400" dirty="0">
                <a:solidFill>
                  <a:srgbClr val="3C5790"/>
                </a:solidFill>
              </a:rPr>
              <a:t>vs </a:t>
            </a:r>
            <a:r>
              <a:rPr lang="en-US" sz="1400" b="1" dirty="0" err="1">
                <a:solidFill>
                  <a:srgbClr val="3C5790"/>
                </a:solidFill>
              </a:rPr>
              <a:t>Weaviate</a:t>
            </a:r>
            <a:r>
              <a:rPr lang="en-US" sz="1400" dirty="0">
                <a:solidFill>
                  <a:srgbClr val="3C5790"/>
                </a:solidFill>
              </a:rPr>
              <a:t>: Both open-source; </a:t>
            </a:r>
            <a:r>
              <a:rPr lang="en-US" sz="1400" dirty="0" err="1">
                <a:solidFill>
                  <a:srgbClr val="3C5790"/>
                </a:solidFill>
              </a:rPr>
              <a:t>Qdrant</a:t>
            </a:r>
            <a:r>
              <a:rPr lang="en-US" sz="1400" dirty="0">
                <a:solidFill>
                  <a:srgbClr val="3C5790"/>
                </a:solidFill>
              </a:rPr>
              <a:t> excels at filtered ANN performance</a:t>
            </a:r>
          </a:p>
          <a:p>
            <a:r>
              <a:rPr lang="en-US" sz="1400" dirty="0">
                <a:solidFill>
                  <a:srgbClr val="3C5790"/>
                </a:solidFill>
              </a:rPr>
              <a:t>vs </a:t>
            </a:r>
            <a:r>
              <a:rPr lang="en-US" sz="1400" b="1" dirty="0">
                <a:solidFill>
                  <a:srgbClr val="3C5790"/>
                </a:solidFill>
              </a:rPr>
              <a:t>Chroma</a:t>
            </a:r>
            <a:r>
              <a:rPr lang="en-US" sz="1400" dirty="0">
                <a:solidFill>
                  <a:srgbClr val="3C5790"/>
                </a:solidFill>
              </a:rPr>
              <a:t>: </a:t>
            </a:r>
            <a:r>
              <a:rPr lang="en-US" sz="1400" dirty="0" err="1">
                <a:solidFill>
                  <a:srgbClr val="3C5790"/>
                </a:solidFill>
              </a:rPr>
              <a:t>Qdrant</a:t>
            </a:r>
            <a:r>
              <a:rPr lang="en-US" sz="1400" dirty="0">
                <a:solidFill>
                  <a:srgbClr val="3C5790"/>
                </a:solidFill>
              </a:rPr>
              <a:t> is production-grade at scale; Chroma is simpler/dev-focused</a:t>
            </a:r>
          </a:p>
          <a:p>
            <a:r>
              <a:rPr lang="en-US" sz="1400" dirty="0">
                <a:solidFill>
                  <a:srgbClr val="3C5790"/>
                </a:solidFill>
              </a:rPr>
              <a:t>vs </a:t>
            </a:r>
            <a:r>
              <a:rPr lang="en-US" sz="1400" b="1" dirty="0">
                <a:solidFill>
                  <a:srgbClr val="3C5790"/>
                </a:solidFill>
              </a:rPr>
              <a:t>Elasticsearch</a:t>
            </a:r>
            <a:r>
              <a:rPr lang="en-US" sz="1400" dirty="0">
                <a:solidFill>
                  <a:srgbClr val="3C5790"/>
                </a:solidFill>
              </a:rPr>
              <a:t>: ES is text-first; </a:t>
            </a:r>
            <a:r>
              <a:rPr lang="en-US" sz="1400" dirty="0" err="1">
                <a:solidFill>
                  <a:srgbClr val="3C5790"/>
                </a:solidFill>
              </a:rPr>
              <a:t>Qdrant</a:t>
            </a:r>
            <a:r>
              <a:rPr lang="en-US" sz="1400" dirty="0">
                <a:solidFill>
                  <a:srgbClr val="3C5790"/>
                </a:solidFill>
              </a:rPr>
              <a:t> is purpose-built for vectors</a:t>
            </a:r>
          </a:p>
          <a:p>
            <a:r>
              <a:rPr lang="en-US" sz="1400" dirty="0">
                <a:solidFill>
                  <a:srgbClr val="3C5790"/>
                </a:solidFill>
              </a:rPr>
              <a:t>vs </a:t>
            </a:r>
            <a:r>
              <a:rPr lang="en-US" sz="1400" b="1" dirty="0" err="1">
                <a:solidFill>
                  <a:srgbClr val="3C5790"/>
                </a:solidFill>
              </a:rPr>
              <a:t>pgvector</a:t>
            </a:r>
            <a:r>
              <a:rPr lang="en-US" sz="1400" dirty="0">
                <a:solidFill>
                  <a:srgbClr val="3C5790"/>
                </a:solidFill>
              </a:rPr>
              <a:t>: </a:t>
            </a:r>
            <a:r>
              <a:rPr lang="en-US" sz="1400" dirty="0" err="1">
                <a:solidFill>
                  <a:srgbClr val="3C5790"/>
                </a:solidFill>
              </a:rPr>
              <a:t>pgvector</a:t>
            </a:r>
            <a:r>
              <a:rPr lang="en-US" sz="1400" dirty="0">
                <a:solidFill>
                  <a:srgbClr val="3C5790"/>
                </a:solidFill>
              </a:rPr>
              <a:t> fits existing Postgres; </a:t>
            </a:r>
            <a:r>
              <a:rPr lang="en-US" sz="1400" dirty="0" err="1">
                <a:solidFill>
                  <a:srgbClr val="3C5790"/>
                </a:solidFill>
              </a:rPr>
              <a:t>Qdrant</a:t>
            </a:r>
            <a:r>
              <a:rPr lang="en-US" sz="1400" dirty="0">
                <a:solidFill>
                  <a:srgbClr val="3C5790"/>
                </a:solidFill>
              </a:rPr>
              <a:t> scales horizontally</a:t>
            </a:r>
          </a:p>
          <a:p>
            <a:r>
              <a:rPr lang="en-US" sz="1400" dirty="0">
                <a:solidFill>
                  <a:srgbClr val="3C5790"/>
                </a:solidFill>
              </a:rPr>
              <a:t>vs </a:t>
            </a:r>
            <a:r>
              <a:rPr lang="en-US" sz="1400" b="1" dirty="0">
                <a:solidFill>
                  <a:srgbClr val="3C5790"/>
                </a:solidFill>
              </a:rPr>
              <a:t>FAISS</a:t>
            </a:r>
            <a:r>
              <a:rPr lang="en-US" sz="1400" dirty="0">
                <a:solidFill>
                  <a:srgbClr val="3C5790"/>
                </a:solidFill>
              </a:rPr>
              <a:t>: FAISS is in-process library; </a:t>
            </a:r>
            <a:r>
              <a:rPr lang="en-US" sz="1400" dirty="0" err="1">
                <a:solidFill>
                  <a:srgbClr val="3C5790"/>
                </a:solidFill>
              </a:rPr>
              <a:t>Qdrant</a:t>
            </a:r>
            <a:r>
              <a:rPr lang="en-US" sz="1400" dirty="0">
                <a:solidFill>
                  <a:srgbClr val="3C5790"/>
                </a:solidFill>
              </a:rPr>
              <a:t> is a full server with API</a:t>
            </a:r>
          </a:p>
          <a:p>
            <a:r>
              <a:rPr lang="en-US" sz="1400" dirty="0" err="1">
                <a:solidFill>
                  <a:srgbClr val="3C5790"/>
                </a:solidFill>
              </a:rPr>
              <a:t>Qdrant</a:t>
            </a:r>
            <a:r>
              <a:rPr lang="en-US" sz="1400" dirty="0">
                <a:solidFill>
                  <a:srgbClr val="3C5790"/>
                </a:solidFill>
              </a:rPr>
              <a:t> strengths: Rust performance, hybrid search, quantization, Java </a:t>
            </a:r>
            <a:r>
              <a:rPr lang="en-US" sz="1400" dirty="0" err="1">
                <a:solidFill>
                  <a:srgbClr val="3C5790"/>
                </a:solidFill>
              </a:rPr>
              <a:t>gRPC</a:t>
            </a:r>
            <a:r>
              <a:rPr lang="en-US" sz="1400" dirty="0">
                <a:solidFill>
                  <a:srgbClr val="3C5790"/>
                </a:solidFill>
              </a:rPr>
              <a:t> client</a:t>
            </a:r>
            <a:endParaRPr lang="fr-CA" sz="1400" dirty="0">
              <a:solidFill>
                <a:srgbClr val="3C57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35039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23AB4B-3A23-674F-2188-EB3F4CDCE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>
            <a:extLst>
              <a:ext uri="{FF2B5EF4-FFF2-40B4-BE49-F238E27FC236}">
                <a16:creationId xmlns:a16="http://schemas.microsoft.com/office/drawing/2014/main" id="{E83D3685-A3D6-1745-A29E-DF6F24582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chemeClr val="bg1"/>
                </a:solidFill>
              </a:rPr>
              <a:t>Best Practices</a:t>
            </a:r>
          </a:p>
        </p:txBody>
      </p:sp>
      <p:sp>
        <p:nvSpPr>
          <p:cNvPr id="4099" name="Espace réservé du contenu 4">
            <a:extLst>
              <a:ext uri="{FF2B5EF4-FFF2-40B4-BE49-F238E27FC236}">
                <a16:creationId xmlns:a16="http://schemas.microsoft.com/office/drawing/2014/main" id="{42E65F83-B398-A274-3EA0-A42ED078A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2743200"/>
          </a:xfrm>
        </p:spPr>
        <p:txBody>
          <a:bodyPr/>
          <a:lstStyle/>
          <a:p>
            <a:r>
              <a:rPr lang="en-US" sz="1400" dirty="0">
                <a:solidFill>
                  <a:srgbClr val="3C5790"/>
                </a:solidFill>
              </a:rPr>
              <a:t>Best practices: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Create payload indexes BEFORE bulk </a:t>
            </a:r>
            <a:r>
              <a:rPr lang="en-US" sz="1400" dirty="0" err="1">
                <a:solidFill>
                  <a:srgbClr val="3C5790"/>
                </a:solidFill>
              </a:rPr>
              <a:t>upsert</a:t>
            </a:r>
            <a:endParaRPr lang="en-US" sz="1400" dirty="0">
              <a:solidFill>
                <a:srgbClr val="3C5790"/>
              </a:solidFill>
            </a:endParaRP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Replication factor ≥ 2 for production HA</a:t>
            </a:r>
          </a:p>
          <a:p>
            <a:pPr lvl="1"/>
            <a:r>
              <a:rPr lang="en-US" sz="1400" dirty="0" err="1">
                <a:solidFill>
                  <a:srgbClr val="3C5790"/>
                </a:solidFill>
              </a:rPr>
              <a:t>shard_number</a:t>
            </a:r>
            <a:r>
              <a:rPr lang="en-US" sz="1400" dirty="0">
                <a:solidFill>
                  <a:srgbClr val="3C5790"/>
                </a:solidFill>
              </a:rPr>
              <a:t> = node count for optimal throughput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Enable quantization when RAM is constrained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Use aliases for zero-downtime migrations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Reuse single </a:t>
            </a:r>
            <a:r>
              <a:rPr lang="en-US" sz="1400" dirty="0" err="1">
                <a:solidFill>
                  <a:srgbClr val="3C5790"/>
                </a:solidFill>
              </a:rPr>
              <a:t>QdrantClient</a:t>
            </a:r>
            <a:r>
              <a:rPr lang="en-US" sz="1400" dirty="0">
                <a:solidFill>
                  <a:srgbClr val="3C5790"/>
                </a:solidFill>
              </a:rPr>
              <a:t> instance in Java apps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Regular snapshots for disaster recovery</a:t>
            </a:r>
            <a:endParaRPr lang="fr-CA" sz="1400" dirty="0">
              <a:solidFill>
                <a:srgbClr val="3C57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50843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6E99A7-BECE-792A-C3C7-980D38B9B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>
            <a:extLst>
              <a:ext uri="{FF2B5EF4-FFF2-40B4-BE49-F238E27FC236}">
                <a16:creationId xmlns:a16="http://schemas.microsoft.com/office/drawing/2014/main" id="{1E671D8C-CD97-58E1-445C-541DAD0F1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chemeClr val="bg1"/>
                </a:solidFill>
              </a:rPr>
              <a:t>Best Practices (</a:t>
            </a:r>
            <a:r>
              <a:rPr lang="fr-CA" dirty="0" err="1">
                <a:solidFill>
                  <a:schemeClr val="bg1"/>
                </a:solidFill>
              </a:rPr>
              <a:t>cont</a:t>
            </a:r>
            <a:r>
              <a:rPr lang="fr-CA" dirty="0">
                <a:solidFill>
                  <a:schemeClr val="bg1"/>
                </a:solidFill>
              </a:rPr>
              <a:t>.)</a:t>
            </a:r>
          </a:p>
        </p:txBody>
      </p:sp>
      <p:sp>
        <p:nvSpPr>
          <p:cNvPr id="4099" name="Espace réservé du contenu 4">
            <a:extLst>
              <a:ext uri="{FF2B5EF4-FFF2-40B4-BE49-F238E27FC236}">
                <a16:creationId xmlns:a16="http://schemas.microsoft.com/office/drawing/2014/main" id="{290AE23B-5FA8-3F99-BDBA-779DD18B1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2743200"/>
          </a:xfrm>
        </p:spPr>
        <p:txBody>
          <a:bodyPr/>
          <a:lstStyle/>
          <a:p>
            <a:r>
              <a:rPr lang="en-US" sz="1400" dirty="0">
                <a:solidFill>
                  <a:srgbClr val="3C5790"/>
                </a:solidFill>
              </a:rPr>
              <a:t>Deployment options: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Open Source: Docker, Kubernetes, binary (docker run -p 6333:6333 -p 6334:6334 </a:t>
            </a:r>
            <a:r>
              <a:rPr lang="en-US" sz="1400" dirty="0" err="1">
                <a:solidFill>
                  <a:srgbClr val="3C5790"/>
                </a:solidFill>
              </a:rPr>
              <a:t>qdrant</a:t>
            </a:r>
            <a:r>
              <a:rPr lang="en-US" sz="1400" dirty="0">
                <a:solidFill>
                  <a:srgbClr val="3C5790"/>
                </a:solidFill>
              </a:rPr>
              <a:t>/</a:t>
            </a:r>
            <a:r>
              <a:rPr lang="en-US" sz="1400" dirty="0" err="1">
                <a:solidFill>
                  <a:srgbClr val="3C5790"/>
                </a:solidFill>
              </a:rPr>
              <a:t>qdrant</a:t>
            </a:r>
            <a:r>
              <a:rPr lang="en-US" sz="1400" dirty="0">
                <a:solidFill>
                  <a:srgbClr val="3C5790"/>
                </a:solidFill>
              </a:rPr>
              <a:t>)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Managed Cloud: AWS, GCP, Azure with auto-scaling &amp; backups</a:t>
            </a:r>
          </a:p>
          <a:p>
            <a:pPr lvl="1"/>
            <a:r>
              <a:rPr lang="en-US" sz="1400" dirty="0">
                <a:solidFill>
                  <a:srgbClr val="3C5790"/>
                </a:solidFill>
              </a:rPr>
              <a:t>Hybrid / Private Cloud: your K8s, </a:t>
            </a:r>
            <a:r>
              <a:rPr lang="en-US" sz="1400" dirty="0" err="1">
                <a:solidFill>
                  <a:srgbClr val="3C5790"/>
                </a:solidFill>
              </a:rPr>
              <a:t>Qdrant</a:t>
            </a:r>
            <a:r>
              <a:rPr lang="en-US" sz="1400" dirty="0">
                <a:solidFill>
                  <a:srgbClr val="3C5790"/>
                </a:solidFill>
              </a:rPr>
              <a:t>-managed or air-gapped</a:t>
            </a:r>
          </a:p>
          <a:p>
            <a:pPr lvl="1"/>
            <a:r>
              <a:rPr lang="en-US" sz="1400" dirty="0" err="1">
                <a:solidFill>
                  <a:srgbClr val="3C5790"/>
                </a:solidFill>
              </a:rPr>
              <a:t>Qdrant</a:t>
            </a:r>
            <a:r>
              <a:rPr lang="en-US" sz="1400" dirty="0">
                <a:solidFill>
                  <a:srgbClr val="3C5790"/>
                </a:solidFill>
              </a:rPr>
              <a:t> Edge: embedded search for edge devices</a:t>
            </a:r>
          </a:p>
          <a:p>
            <a:r>
              <a:rPr lang="fr-CA" sz="1400" dirty="0" err="1">
                <a:solidFill>
                  <a:srgbClr val="3C5790"/>
                </a:solidFill>
              </a:rPr>
              <a:t>Integrations</a:t>
            </a:r>
            <a:r>
              <a:rPr lang="fr-CA" sz="1400" dirty="0">
                <a:solidFill>
                  <a:srgbClr val="3C5790"/>
                </a:solidFill>
              </a:rPr>
              <a:t>: </a:t>
            </a:r>
            <a:r>
              <a:rPr lang="fr-CA" sz="1400" dirty="0" err="1">
                <a:solidFill>
                  <a:srgbClr val="3C5790"/>
                </a:solidFill>
              </a:rPr>
              <a:t>LangChain</a:t>
            </a:r>
            <a:r>
              <a:rPr lang="fr-CA" sz="1400" dirty="0">
                <a:solidFill>
                  <a:srgbClr val="3C5790"/>
                </a:solidFill>
              </a:rPr>
              <a:t>, </a:t>
            </a:r>
            <a:r>
              <a:rPr lang="fr-CA" sz="1400" dirty="0" err="1">
                <a:solidFill>
                  <a:srgbClr val="3C5790"/>
                </a:solidFill>
              </a:rPr>
              <a:t>LlamaIndex</a:t>
            </a:r>
            <a:r>
              <a:rPr lang="fr-CA" sz="1400" dirty="0">
                <a:solidFill>
                  <a:srgbClr val="3C5790"/>
                </a:solidFill>
              </a:rPr>
              <a:t>, Spring AI, </a:t>
            </a:r>
            <a:r>
              <a:rPr lang="fr-CA" sz="1400" dirty="0" err="1">
                <a:solidFill>
                  <a:srgbClr val="3C5790"/>
                </a:solidFill>
              </a:rPr>
              <a:t>Haystack</a:t>
            </a:r>
            <a:r>
              <a:rPr lang="fr-CA" sz="1400" dirty="0">
                <a:solidFill>
                  <a:srgbClr val="3C5790"/>
                </a:solidFill>
              </a:rPr>
              <a:t> (40+ </a:t>
            </a:r>
            <a:r>
              <a:rPr lang="fr-CA" sz="1400" dirty="0" err="1">
                <a:solidFill>
                  <a:srgbClr val="3C5790"/>
                </a:solidFill>
              </a:rPr>
              <a:t>frameworks</a:t>
            </a:r>
            <a:r>
              <a:rPr lang="fr-CA" sz="1400" dirty="0">
                <a:solidFill>
                  <a:srgbClr val="3C579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082509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4099" name="Espace réservé du contenu 4"/>
          <p:cNvSpPr>
            <a:spLocks noGrp="1"/>
          </p:cNvSpPr>
          <p:nvPr>
            <p:ph idx="1"/>
          </p:nvPr>
        </p:nvSpPr>
        <p:spPr>
          <a:xfrm>
            <a:off x="228600" y="2133600"/>
            <a:ext cx="8686800" cy="4267200"/>
          </a:xfrm>
        </p:spPr>
        <p:txBody>
          <a:bodyPr/>
          <a:lstStyle/>
          <a:p>
            <a:r>
              <a:rPr lang="en-US" sz="1400" b="1" dirty="0">
                <a:solidFill>
                  <a:srgbClr val="3C5790"/>
                </a:solidFill>
              </a:rPr>
              <a:t>Pros</a:t>
            </a:r>
            <a:r>
              <a:rPr lang="en-US" sz="1400" dirty="0">
                <a:solidFill>
                  <a:srgbClr val="3C5790"/>
                </a:solidFill>
              </a:rPr>
              <a:t>:</a:t>
            </a:r>
          </a:p>
          <a:p>
            <a:pPr lvl="1"/>
            <a:r>
              <a:rPr lang="en-US" sz="1200" dirty="0">
                <a:solidFill>
                  <a:srgbClr val="3C5790"/>
                </a:solidFill>
              </a:rPr>
              <a:t>Open-source &amp; free – Apache 2.0 license, self-hostable with persistent storage.</a:t>
            </a:r>
          </a:p>
          <a:p>
            <a:pPr lvl="1"/>
            <a:r>
              <a:rPr lang="en-US" sz="1200" dirty="0">
                <a:solidFill>
                  <a:srgbClr val="3C5790"/>
                </a:solidFill>
              </a:rPr>
              <a:t>High performance – Rust-based, optimized for fast similarity search on large datasets.</a:t>
            </a:r>
          </a:p>
          <a:p>
            <a:pPr lvl="1"/>
            <a:r>
              <a:rPr lang="en-US" sz="1200" dirty="0">
                <a:solidFill>
                  <a:srgbClr val="3C5790"/>
                </a:solidFill>
              </a:rPr>
              <a:t>Vector search support – Cosine similarity, dot product, Euclidean distance.</a:t>
            </a:r>
          </a:p>
          <a:p>
            <a:pPr lvl="1"/>
            <a:r>
              <a:rPr lang="en-US" sz="1200" dirty="0">
                <a:solidFill>
                  <a:srgbClr val="3C5790"/>
                </a:solidFill>
              </a:rPr>
              <a:t>Metadata filtering – Rich payload filtering alongside vector search.</a:t>
            </a:r>
          </a:p>
          <a:p>
            <a:pPr lvl="1"/>
            <a:r>
              <a:rPr lang="en-US" sz="1200" dirty="0">
                <a:solidFill>
                  <a:srgbClr val="3C5790"/>
                </a:solidFill>
              </a:rPr>
              <a:t>Scalable – Can handle millions of vectors efficiently; supports horizontal scaling.</a:t>
            </a:r>
          </a:p>
          <a:p>
            <a:pPr lvl="1"/>
            <a:r>
              <a:rPr lang="en-US" sz="1200" dirty="0">
                <a:solidFill>
                  <a:srgbClr val="3C5790"/>
                </a:solidFill>
              </a:rPr>
              <a:t>Multi-language SDKs – Official clients for Python, Java, JavaScript, Go.</a:t>
            </a:r>
          </a:p>
          <a:p>
            <a:pPr lvl="1"/>
            <a:r>
              <a:rPr lang="en-US" sz="1200" dirty="0">
                <a:solidFill>
                  <a:srgbClr val="3C5790"/>
                </a:solidFill>
              </a:rPr>
              <a:t>Docker-ready – Easy to run locally or in production.</a:t>
            </a:r>
          </a:p>
          <a:p>
            <a:pPr lvl="1"/>
            <a:r>
              <a:rPr lang="en-US" sz="1200" dirty="0">
                <a:solidFill>
                  <a:srgbClr val="3C5790"/>
                </a:solidFill>
              </a:rPr>
              <a:t>Cloud option – Free and paid managed </a:t>
            </a:r>
            <a:r>
              <a:rPr lang="en-US" sz="1200" dirty="0" err="1">
                <a:solidFill>
                  <a:srgbClr val="3C5790"/>
                </a:solidFill>
              </a:rPr>
              <a:t>Qdrant</a:t>
            </a:r>
            <a:r>
              <a:rPr lang="en-US" sz="1200" dirty="0">
                <a:solidFill>
                  <a:srgbClr val="3C5790"/>
                </a:solidFill>
              </a:rPr>
              <a:t> Cloud.</a:t>
            </a:r>
          </a:p>
          <a:p>
            <a:pPr lvl="1"/>
            <a:r>
              <a:rPr lang="en-US" sz="1200" dirty="0">
                <a:solidFill>
                  <a:srgbClr val="3C5790"/>
                </a:solidFill>
              </a:rPr>
              <a:t>Built-in dashboard – For browsing collections, points, and running queries.</a:t>
            </a:r>
          </a:p>
          <a:p>
            <a:pPr lvl="1"/>
            <a:r>
              <a:rPr lang="en-US" sz="1200" dirty="0">
                <a:solidFill>
                  <a:srgbClr val="3C5790"/>
                </a:solidFill>
              </a:rPr>
              <a:t>LLM-friendly – Works well for RAG pipelines and storing embeddings.</a:t>
            </a:r>
          </a:p>
          <a:p>
            <a:r>
              <a:rPr lang="en-US" sz="1400" b="1" dirty="0">
                <a:solidFill>
                  <a:srgbClr val="3C5790"/>
                </a:solidFill>
              </a:rPr>
              <a:t>Cons</a:t>
            </a:r>
            <a:r>
              <a:rPr lang="en-US" sz="1400" dirty="0">
                <a:solidFill>
                  <a:srgbClr val="3C5790"/>
                </a:solidFill>
              </a:rPr>
              <a:t>:</a:t>
            </a:r>
          </a:p>
          <a:p>
            <a:pPr lvl="1"/>
            <a:r>
              <a:rPr lang="en-US" sz="1200" dirty="0">
                <a:solidFill>
                  <a:srgbClr val="3C5790"/>
                </a:solidFill>
              </a:rPr>
              <a:t>No dedicated Spring AI starter – Integration with Spring Boot requires manual setup.</a:t>
            </a:r>
          </a:p>
          <a:p>
            <a:pPr lvl="1"/>
            <a:r>
              <a:rPr lang="en-US" sz="1200" dirty="0">
                <a:solidFill>
                  <a:srgbClr val="3C5790"/>
                </a:solidFill>
              </a:rPr>
              <a:t>Infrastructure needed – Self-hosting requires Docker or server setup.</a:t>
            </a:r>
          </a:p>
          <a:p>
            <a:pPr lvl="1"/>
            <a:r>
              <a:rPr lang="en-US" sz="1200" dirty="0">
                <a:solidFill>
                  <a:srgbClr val="3C5790"/>
                </a:solidFill>
              </a:rPr>
              <a:t>Dashboard is basic – Built-in UI is functional but not highly polished; richer visualization requires third-party tools like 1bench.</a:t>
            </a:r>
          </a:p>
          <a:p>
            <a:pPr lvl="1"/>
            <a:r>
              <a:rPr lang="en-US" sz="1200" dirty="0">
                <a:solidFill>
                  <a:srgbClr val="3C5790"/>
                </a:solidFill>
              </a:rPr>
              <a:t>Smaller ecosystem – Compared to Pinecone or </a:t>
            </a:r>
            <a:r>
              <a:rPr lang="en-US" sz="1200" dirty="0" err="1">
                <a:solidFill>
                  <a:srgbClr val="3C5790"/>
                </a:solidFill>
              </a:rPr>
              <a:t>Weaviate</a:t>
            </a:r>
            <a:r>
              <a:rPr lang="en-US" sz="1200" dirty="0">
                <a:solidFill>
                  <a:srgbClr val="3C5790"/>
                </a:solidFill>
              </a:rPr>
              <a:t>, fewer native integrations and plugins.</a:t>
            </a:r>
          </a:p>
          <a:p>
            <a:pPr lvl="1"/>
            <a:r>
              <a:rPr lang="en-US" sz="1200" dirty="0">
                <a:solidFill>
                  <a:srgbClr val="3C5790"/>
                </a:solidFill>
              </a:rPr>
              <a:t>Advanced clustering/replication – Requires more configuration for high availability at very large scale.</a:t>
            </a:r>
          </a:p>
          <a:p>
            <a:pPr lvl="1"/>
            <a:r>
              <a:rPr lang="en-US" sz="1200" dirty="0">
                <a:solidFill>
                  <a:srgbClr val="3C5790"/>
                </a:solidFill>
              </a:rPr>
              <a:t>Memory usage – Large collections require significant RAM if not using disk-backed storage.</a:t>
            </a:r>
          </a:p>
        </p:txBody>
      </p:sp>
    </p:spTree>
    <p:extLst>
      <p:ext uri="{BB962C8B-B14F-4D97-AF65-F5344CB8AC3E}">
        <p14:creationId xmlns:p14="http://schemas.microsoft.com/office/powerpoint/2010/main" val="24222689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z="4000" dirty="0" err="1">
                <a:solidFill>
                  <a:schemeClr val="bg1">
                    <a:lumMod val="95000"/>
                  </a:schemeClr>
                </a:solidFill>
              </a:rPr>
              <a:t>Bibliography</a:t>
            </a:r>
            <a:endParaRPr lang="fr-CA" sz="4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123" name="Espace réservé du contenu 4"/>
          <p:cNvSpPr>
            <a:spLocks noGrp="1"/>
          </p:cNvSpPr>
          <p:nvPr>
            <p:ph idx="1"/>
          </p:nvPr>
        </p:nvSpPr>
        <p:spPr>
          <a:xfrm>
            <a:off x="457200" y="1676400"/>
            <a:ext cx="8458200" cy="4876800"/>
          </a:xfrm>
        </p:spPr>
        <p:txBody>
          <a:bodyPr/>
          <a:lstStyle/>
          <a:p>
            <a:r>
              <a:rPr lang="en-US" sz="1600" dirty="0">
                <a:solidFill>
                  <a:schemeClr val="bg1"/>
                </a:solidFill>
              </a:rPr>
              <a:t>https://github.com/qdrant/qdrant</a:t>
            </a:r>
          </a:p>
          <a:p>
            <a:r>
              <a:rPr lang="en-US" sz="1600" dirty="0">
                <a:solidFill>
                  <a:schemeClr val="bg1"/>
                </a:solidFill>
              </a:rPr>
              <a:t>https://qdrant.tech/documentation</a:t>
            </a:r>
          </a:p>
          <a:p>
            <a:r>
              <a:rPr lang="en-US" sz="1600" dirty="0">
                <a:solidFill>
                  <a:schemeClr val="bg1"/>
                </a:solidFill>
              </a:rPr>
              <a:t>https://api.qdrant.tech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4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143</Template>
  <TotalTime>18821</TotalTime>
  <Words>3717</Words>
  <Application>Microsoft Office PowerPoint</Application>
  <PresentationFormat>On-screen Show (4:3)</PresentationFormat>
  <Paragraphs>477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143</vt:lpstr>
      <vt:lpstr>Qdrant</vt:lpstr>
      <vt:lpstr>Contents</vt:lpstr>
      <vt:lpstr>What is Qdrant?</vt:lpstr>
      <vt:lpstr>Features</vt:lpstr>
      <vt:lpstr>Features (cont.)</vt:lpstr>
      <vt:lpstr>Use Cases</vt:lpstr>
      <vt:lpstr>Use Cases (cont.)</vt:lpstr>
      <vt:lpstr>Use Cases (cont.)</vt:lpstr>
      <vt:lpstr>Arhitecture</vt:lpstr>
      <vt:lpstr>Arhitecture (cont.)</vt:lpstr>
      <vt:lpstr>Arhitecture (cont.)</vt:lpstr>
      <vt:lpstr>Concepts</vt:lpstr>
      <vt:lpstr>Concepts (cont.)</vt:lpstr>
      <vt:lpstr>Concepts (cont.)</vt:lpstr>
      <vt:lpstr>Concepts (cont.)</vt:lpstr>
      <vt:lpstr>Core</vt:lpstr>
      <vt:lpstr>Core (cont.)</vt:lpstr>
      <vt:lpstr>Core (cont.)</vt:lpstr>
      <vt:lpstr>Core (cont.)</vt:lpstr>
      <vt:lpstr>Core (cont.)</vt:lpstr>
      <vt:lpstr>Core (cont.)</vt:lpstr>
      <vt:lpstr>Core (cont.)</vt:lpstr>
      <vt:lpstr>Core (cont.)</vt:lpstr>
      <vt:lpstr>Core (cont.)</vt:lpstr>
      <vt:lpstr>Core (cont.)</vt:lpstr>
      <vt:lpstr>Core (cont.)</vt:lpstr>
      <vt:lpstr>Java Client</vt:lpstr>
      <vt:lpstr>Java Client (cont.)</vt:lpstr>
      <vt:lpstr>Java Client (cont.)</vt:lpstr>
      <vt:lpstr>Java Client (cont.)</vt:lpstr>
      <vt:lpstr>Java Client (cont.)</vt:lpstr>
      <vt:lpstr>Java Client (cont.)</vt:lpstr>
      <vt:lpstr>Java Client (cont.)</vt:lpstr>
      <vt:lpstr>Java Client (cont.)</vt:lpstr>
      <vt:lpstr>Java Client (cont.)</vt:lpstr>
      <vt:lpstr>Java Client (cont.)</vt:lpstr>
      <vt:lpstr>Comparison</vt:lpstr>
      <vt:lpstr>Best Practices</vt:lpstr>
      <vt:lpstr>Best Practices (cont.)</vt:lpstr>
      <vt:lpstr>Conclusion</vt:lpstr>
      <vt:lpstr>Bibliography</vt:lpstr>
    </vt:vector>
  </TitlesOfParts>
  <Company>Computaris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 NAME</dc:title>
  <dc:creator>Ionut Dima</dc:creator>
  <cp:lastModifiedBy>Ionut Dima</cp:lastModifiedBy>
  <cp:revision>1118</cp:revision>
  <dcterms:created xsi:type="dcterms:W3CDTF">2012-04-12T06:19:17Z</dcterms:created>
  <dcterms:modified xsi:type="dcterms:W3CDTF">2026-07-06T06:45:48Z</dcterms:modified>
</cp:coreProperties>
</file>