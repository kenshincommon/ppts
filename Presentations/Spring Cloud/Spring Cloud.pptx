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89" r:id="rId5"/>
    <p:sldId id="445" r:id="rId6"/>
    <p:sldId id="450" r:id="rId7"/>
    <p:sldId id="429" r:id="rId8"/>
    <p:sldId id="451" r:id="rId9"/>
    <p:sldId id="449" r:id="rId10"/>
    <p:sldId id="448" r:id="rId11"/>
    <p:sldId id="442" r:id="rId12"/>
    <p:sldId id="527" r:id="rId13"/>
    <p:sldId id="528" r:id="rId14"/>
    <p:sldId id="530" r:id="rId15"/>
    <p:sldId id="529" r:id="rId16"/>
    <p:sldId id="536" r:id="rId17"/>
    <p:sldId id="531" r:id="rId18"/>
    <p:sldId id="534" r:id="rId19"/>
    <p:sldId id="532" r:id="rId20"/>
    <p:sldId id="533" r:id="rId21"/>
    <p:sldId id="453" r:id="rId22"/>
    <p:sldId id="454" r:id="rId23"/>
    <p:sldId id="455" r:id="rId24"/>
    <p:sldId id="456" r:id="rId25"/>
    <p:sldId id="458" r:id="rId26"/>
    <p:sldId id="461" r:id="rId27"/>
    <p:sldId id="457" r:id="rId28"/>
    <p:sldId id="459" r:id="rId29"/>
    <p:sldId id="460" r:id="rId30"/>
    <p:sldId id="462" r:id="rId31"/>
    <p:sldId id="463" r:id="rId32"/>
    <p:sldId id="464" r:id="rId33"/>
    <p:sldId id="468" r:id="rId34"/>
    <p:sldId id="467" r:id="rId35"/>
    <p:sldId id="466" r:id="rId36"/>
    <p:sldId id="471" r:id="rId37"/>
    <p:sldId id="469" r:id="rId38"/>
    <p:sldId id="465" r:id="rId39"/>
    <p:sldId id="473" r:id="rId40"/>
    <p:sldId id="470" r:id="rId41"/>
    <p:sldId id="472" r:id="rId42"/>
    <p:sldId id="474" r:id="rId43"/>
    <p:sldId id="478" r:id="rId44"/>
    <p:sldId id="475" r:id="rId45"/>
    <p:sldId id="480" r:id="rId46"/>
    <p:sldId id="479" r:id="rId47"/>
    <p:sldId id="477" r:id="rId48"/>
    <p:sldId id="481" r:id="rId49"/>
    <p:sldId id="482" r:id="rId50"/>
    <p:sldId id="483" r:id="rId51"/>
    <p:sldId id="487" r:id="rId52"/>
    <p:sldId id="488" r:id="rId53"/>
    <p:sldId id="484" r:id="rId54"/>
    <p:sldId id="485" r:id="rId55"/>
    <p:sldId id="490" r:id="rId56"/>
    <p:sldId id="495" r:id="rId57"/>
    <p:sldId id="489" r:id="rId58"/>
    <p:sldId id="491" r:id="rId59"/>
    <p:sldId id="492" r:id="rId60"/>
    <p:sldId id="493" r:id="rId61"/>
    <p:sldId id="516" r:id="rId62"/>
    <p:sldId id="517" r:id="rId63"/>
    <p:sldId id="519" r:id="rId64"/>
    <p:sldId id="520" r:id="rId65"/>
    <p:sldId id="521" r:id="rId66"/>
    <p:sldId id="522" r:id="rId67"/>
    <p:sldId id="523" r:id="rId68"/>
    <p:sldId id="518" r:id="rId69"/>
    <p:sldId id="524" r:id="rId70"/>
    <p:sldId id="525" r:id="rId71"/>
    <p:sldId id="515" r:id="rId72"/>
    <p:sldId id="514" r:id="rId73"/>
    <p:sldId id="511" r:id="rId74"/>
    <p:sldId id="512" r:id="rId75"/>
    <p:sldId id="535" r:id="rId76"/>
    <p:sldId id="513" r:id="rId77"/>
    <p:sldId id="526" r:id="rId78"/>
    <p:sldId id="537" r:id="rId79"/>
    <p:sldId id="510" r:id="rId80"/>
    <p:sldId id="496" r:id="rId81"/>
    <p:sldId id="498" r:id="rId82"/>
    <p:sldId id="499" r:id="rId83"/>
    <p:sldId id="497" r:id="rId84"/>
    <p:sldId id="500" r:id="rId85"/>
    <p:sldId id="501" r:id="rId86"/>
    <p:sldId id="503" r:id="rId87"/>
    <p:sldId id="504" r:id="rId88"/>
    <p:sldId id="505" r:id="rId89"/>
    <p:sldId id="506" r:id="rId90"/>
    <p:sldId id="446" r:id="rId91"/>
    <p:sldId id="259" r:id="rId92"/>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57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1768" autoAdjust="0"/>
  </p:normalViewPr>
  <p:slideViewPr>
    <p:cSldViewPr>
      <p:cViewPr varScale="1">
        <p:scale>
          <a:sx n="114" d="100"/>
          <a:sy n="114" d="100"/>
        </p:scale>
        <p:origin x="155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en-US"/>
              <a:t>Click to edit Master title style</a:t>
            </a:r>
            <a:endParaRPr lang="fr-CA"/>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fr-CA"/>
          </a:p>
        </p:txBody>
      </p:sp>
      <p:sp>
        <p:nvSpPr>
          <p:cNvPr id="4" name="Espace réservé de la date 3"/>
          <p:cNvSpPr>
            <a:spLocks noGrp="1"/>
          </p:cNvSpPr>
          <p:nvPr>
            <p:ph type="dt" sz="half" idx="10"/>
          </p:nvPr>
        </p:nvSpPr>
        <p:spPr/>
        <p:txBody>
          <a:bodyPr/>
          <a:lstStyle>
            <a:lvl1pPr>
              <a:defRPr/>
            </a:lvl1pPr>
          </a:lstStyle>
          <a:p>
            <a:pPr>
              <a:defRPr/>
            </a:pPr>
            <a:fld id="{22807098-A8DF-4714-B43F-DC882CB72C38}" type="datetimeFigureOut">
              <a:rPr lang="fr-FR"/>
              <a:pPr>
                <a:defRPr/>
              </a:pPr>
              <a:t>29/09/2025</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4CF57D0A-305D-4A35-A608-B814A0BEDBC9}" type="slidenum">
              <a:rPr lang="fr-CA"/>
              <a:pPr>
                <a:defRPr/>
              </a:pPr>
              <a:t>‹#›</a:t>
            </a:fld>
            <a:endParaRPr lang="fr-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C580763A-51CB-4C09-97C6-6FDA1E354680}" type="datetimeFigureOut">
              <a:rPr lang="fr-FR"/>
              <a:pPr>
                <a:defRPr/>
              </a:pPr>
              <a:t>29/09/2025</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F192BCFE-7F07-4DEB-84D0-B6E069D09AB4}" type="slidenum">
              <a:rPr lang="fr-CA"/>
              <a:pPr>
                <a:defRPr/>
              </a:pPr>
              <a:t>‹#›</a:t>
            </a:fld>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fr-CA"/>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Espace réservé de la date 3"/>
          <p:cNvSpPr>
            <a:spLocks noGrp="1"/>
          </p:cNvSpPr>
          <p:nvPr>
            <p:ph type="dt" sz="half" idx="10"/>
          </p:nvPr>
        </p:nvSpPr>
        <p:spPr/>
        <p:txBody>
          <a:bodyPr/>
          <a:lstStyle>
            <a:lvl1pPr>
              <a:defRPr/>
            </a:lvl1pPr>
          </a:lstStyle>
          <a:p>
            <a:pPr>
              <a:defRPr/>
            </a:pPr>
            <a:fld id="{64034F85-C7AC-44D9-8041-DCE5F1910771}" type="datetimeFigureOut">
              <a:rPr lang="fr-FR"/>
              <a:pPr>
                <a:defRPr/>
              </a:pPr>
              <a:t>29/09/2025</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B539C1E6-5858-412D-B164-0E5729C1B013}" type="slidenum">
              <a:rPr lang="fr-CA"/>
              <a:pPr>
                <a:defRPr/>
              </a:pPr>
              <a:t>‹#›</a:t>
            </a:fld>
            <a:endParaRPr lang="fr-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e la date 3"/>
          <p:cNvSpPr>
            <a:spLocks noGrp="1"/>
          </p:cNvSpPr>
          <p:nvPr>
            <p:ph type="dt" sz="half" idx="10"/>
          </p:nvPr>
        </p:nvSpPr>
        <p:spPr/>
        <p:txBody>
          <a:bodyPr/>
          <a:lstStyle>
            <a:lvl1pPr>
              <a:defRPr/>
            </a:lvl1pPr>
          </a:lstStyle>
          <a:p>
            <a:pPr>
              <a:defRPr/>
            </a:pPr>
            <a:fld id="{5F45984F-4687-4822-B90B-D2F0C053EC34}" type="datetimeFigureOut">
              <a:rPr lang="fr-FR"/>
              <a:pPr>
                <a:defRPr/>
              </a:pPr>
              <a:t>29/09/2025</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F9F1BFA6-010D-431C-B551-A9D369DB37A1}" type="slidenum">
              <a:rPr lang="fr-CA"/>
              <a:pPr>
                <a:defRPr/>
              </a:pPr>
              <a:t>‹#›</a:t>
            </a:fld>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en-US"/>
              <a:t>Click to edit Master title style</a:t>
            </a:r>
            <a:endParaRPr lang="fr-CA"/>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Espace réservé de la date 3"/>
          <p:cNvSpPr>
            <a:spLocks noGrp="1"/>
          </p:cNvSpPr>
          <p:nvPr>
            <p:ph type="dt" sz="half" idx="10"/>
          </p:nvPr>
        </p:nvSpPr>
        <p:spPr/>
        <p:txBody>
          <a:bodyPr/>
          <a:lstStyle>
            <a:lvl1pPr>
              <a:defRPr/>
            </a:lvl1pPr>
          </a:lstStyle>
          <a:p>
            <a:pPr>
              <a:defRPr/>
            </a:pPr>
            <a:fld id="{1AAEB407-0560-4B40-983D-A7D236E18EC5}" type="datetimeFigureOut">
              <a:rPr lang="fr-FR"/>
              <a:pPr>
                <a:defRPr/>
              </a:pPr>
              <a:t>29/09/2025</a:t>
            </a:fld>
            <a:endParaRPr lang="fr-CA"/>
          </a:p>
        </p:txBody>
      </p:sp>
      <p:sp>
        <p:nvSpPr>
          <p:cNvPr id="8" name="Espace réservé du pied de page 4"/>
          <p:cNvSpPr>
            <a:spLocks noGrp="1"/>
          </p:cNvSpPr>
          <p:nvPr>
            <p:ph type="ftr" sz="quarter" idx="11"/>
          </p:nvPr>
        </p:nvSpPr>
        <p:spPr/>
        <p:txBody>
          <a:bodyPr/>
          <a:lstStyle>
            <a:lvl1pPr>
              <a:defRPr/>
            </a:lvl1pPr>
          </a:lstStyle>
          <a:p>
            <a:pPr>
              <a:defRPr/>
            </a:pPr>
            <a:endParaRPr lang="fr-CA"/>
          </a:p>
        </p:txBody>
      </p:sp>
      <p:sp>
        <p:nvSpPr>
          <p:cNvPr id="9" name="Espace réservé du numéro de diapositive 5"/>
          <p:cNvSpPr>
            <a:spLocks noGrp="1"/>
          </p:cNvSpPr>
          <p:nvPr>
            <p:ph type="sldNum" sz="quarter" idx="12"/>
          </p:nvPr>
        </p:nvSpPr>
        <p:spPr/>
        <p:txBody>
          <a:bodyPr/>
          <a:lstStyle>
            <a:lvl1pPr>
              <a:defRPr/>
            </a:lvl1pPr>
          </a:lstStyle>
          <a:p>
            <a:pPr>
              <a:defRPr/>
            </a:pPr>
            <a:fld id="{E3D0B0A2-27E0-4485-9168-8AA570A8DAFC}" type="slidenum">
              <a:rPr lang="fr-CA"/>
              <a:pPr>
                <a:defRPr/>
              </a:pPr>
              <a:t>‹#›</a:t>
            </a:fld>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e la date 3"/>
          <p:cNvSpPr>
            <a:spLocks noGrp="1"/>
          </p:cNvSpPr>
          <p:nvPr>
            <p:ph type="dt" sz="half" idx="10"/>
          </p:nvPr>
        </p:nvSpPr>
        <p:spPr/>
        <p:txBody>
          <a:bodyPr/>
          <a:lstStyle>
            <a:lvl1pPr>
              <a:defRPr/>
            </a:lvl1pPr>
          </a:lstStyle>
          <a:p>
            <a:pPr>
              <a:defRPr/>
            </a:pPr>
            <a:fld id="{31E07EA0-14F2-420C-A475-0D18AFDA93B1}" type="datetimeFigureOut">
              <a:rPr lang="fr-FR"/>
              <a:pPr>
                <a:defRPr/>
              </a:pPr>
              <a:t>29/09/2025</a:t>
            </a:fld>
            <a:endParaRPr lang="fr-CA"/>
          </a:p>
        </p:txBody>
      </p:sp>
      <p:sp>
        <p:nvSpPr>
          <p:cNvPr id="4" name="Espace réservé du pied de page 4"/>
          <p:cNvSpPr>
            <a:spLocks noGrp="1"/>
          </p:cNvSpPr>
          <p:nvPr>
            <p:ph type="ftr" sz="quarter" idx="11"/>
          </p:nvPr>
        </p:nvSpPr>
        <p:spPr/>
        <p:txBody>
          <a:bodyPr/>
          <a:lstStyle>
            <a:lvl1pPr>
              <a:defRPr/>
            </a:lvl1pPr>
          </a:lstStyle>
          <a:p>
            <a:pPr>
              <a:defRPr/>
            </a:pPr>
            <a:endParaRPr lang="fr-CA"/>
          </a:p>
        </p:txBody>
      </p:sp>
      <p:sp>
        <p:nvSpPr>
          <p:cNvPr id="5" name="Espace réservé du numéro de diapositive 5"/>
          <p:cNvSpPr>
            <a:spLocks noGrp="1"/>
          </p:cNvSpPr>
          <p:nvPr>
            <p:ph type="sldNum" sz="quarter" idx="12"/>
          </p:nvPr>
        </p:nvSpPr>
        <p:spPr/>
        <p:txBody>
          <a:bodyPr/>
          <a:lstStyle>
            <a:lvl1pPr>
              <a:defRPr/>
            </a:lvl1pPr>
          </a:lstStyle>
          <a:p>
            <a:pPr>
              <a:defRPr/>
            </a:pPr>
            <a:fld id="{F0B3AE74-2F99-4987-987A-6C3EA8F2668B}" type="slidenum">
              <a:rPr lang="fr-CA"/>
              <a:pPr>
                <a:defRPr/>
              </a:pPr>
              <a:t>‹#›</a:t>
            </a:fld>
            <a:endParaRPr lang="fr-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5DDA1DD5-A17C-48EA-9412-EA98D6409207}" type="datetimeFigureOut">
              <a:rPr lang="fr-FR"/>
              <a:pPr>
                <a:defRPr/>
              </a:pPr>
              <a:t>29/09/2025</a:t>
            </a:fld>
            <a:endParaRPr lang="fr-CA"/>
          </a:p>
        </p:txBody>
      </p:sp>
      <p:sp>
        <p:nvSpPr>
          <p:cNvPr id="3" name="Espace réservé du pied de page 4"/>
          <p:cNvSpPr>
            <a:spLocks noGrp="1"/>
          </p:cNvSpPr>
          <p:nvPr>
            <p:ph type="ftr" sz="quarter" idx="11"/>
          </p:nvPr>
        </p:nvSpPr>
        <p:spPr/>
        <p:txBody>
          <a:bodyPr/>
          <a:lstStyle>
            <a:lvl1pPr>
              <a:defRPr/>
            </a:lvl1pPr>
          </a:lstStyle>
          <a:p>
            <a:pPr>
              <a:defRPr/>
            </a:pPr>
            <a:endParaRPr lang="fr-CA"/>
          </a:p>
        </p:txBody>
      </p:sp>
      <p:sp>
        <p:nvSpPr>
          <p:cNvPr id="4" name="Espace réservé du numéro de diapositive 5"/>
          <p:cNvSpPr>
            <a:spLocks noGrp="1"/>
          </p:cNvSpPr>
          <p:nvPr>
            <p:ph type="sldNum" sz="quarter" idx="12"/>
          </p:nvPr>
        </p:nvSpPr>
        <p:spPr/>
        <p:txBody>
          <a:bodyPr/>
          <a:lstStyle>
            <a:lvl1pPr>
              <a:defRPr/>
            </a:lvl1pPr>
          </a:lstStyle>
          <a:p>
            <a:pPr>
              <a:defRPr/>
            </a:pPr>
            <a:fld id="{880E848E-D45A-49C9-AF07-E8D1D5BE3B06}" type="slidenum">
              <a:rPr lang="fr-CA"/>
              <a:pPr>
                <a:defRPr/>
              </a:pPr>
              <a:t>‹#›</a:t>
            </a:fld>
            <a:endParaRPr lang="fr-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fr-CA"/>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00002456-19D9-42BE-A6A4-31B0B2C0CD52}" type="datetimeFigureOut">
              <a:rPr lang="fr-FR"/>
              <a:pPr>
                <a:defRPr/>
              </a:pPr>
              <a:t>29/09/2025</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4AFF93D-3571-4F94-83EE-E5D41E95C87B}" type="slidenum">
              <a:rPr lang="fr-CA"/>
              <a:pPr>
                <a:defRPr/>
              </a:pPr>
              <a:t>‹#›</a:t>
            </a:fld>
            <a:endParaRPr lang="fr-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fr-CA"/>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fr-CA"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Espace réservé de la date 3"/>
          <p:cNvSpPr>
            <a:spLocks noGrp="1"/>
          </p:cNvSpPr>
          <p:nvPr>
            <p:ph type="dt" sz="half" idx="10"/>
          </p:nvPr>
        </p:nvSpPr>
        <p:spPr/>
        <p:txBody>
          <a:bodyPr/>
          <a:lstStyle>
            <a:lvl1pPr>
              <a:defRPr/>
            </a:lvl1pPr>
          </a:lstStyle>
          <a:p>
            <a:pPr>
              <a:defRPr/>
            </a:pPr>
            <a:fld id="{1AFF835A-66CB-4758-9200-7B9C84F9639E}" type="datetimeFigureOut">
              <a:rPr lang="fr-FR"/>
              <a:pPr>
                <a:defRPr/>
              </a:pPr>
              <a:t>29/09/2025</a:t>
            </a:fld>
            <a:endParaRPr lang="fr-CA"/>
          </a:p>
        </p:txBody>
      </p:sp>
      <p:sp>
        <p:nvSpPr>
          <p:cNvPr id="6" name="Espace réservé du pied de page 4"/>
          <p:cNvSpPr>
            <a:spLocks noGrp="1"/>
          </p:cNvSpPr>
          <p:nvPr>
            <p:ph type="ftr" sz="quarter" idx="11"/>
          </p:nvPr>
        </p:nvSpPr>
        <p:spPr/>
        <p:txBody>
          <a:bodyPr/>
          <a:lstStyle>
            <a:lvl1pPr>
              <a:defRPr/>
            </a:lvl1pPr>
          </a:lstStyle>
          <a:p>
            <a:pPr>
              <a:defRPr/>
            </a:pPr>
            <a:endParaRPr lang="fr-CA"/>
          </a:p>
        </p:txBody>
      </p:sp>
      <p:sp>
        <p:nvSpPr>
          <p:cNvPr id="7" name="Espace réservé du numéro de diapositive 5"/>
          <p:cNvSpPr>
            <a:spLocks noGrp="1"/>
          </p:cNvSpPr>
          <p:nvPr>
            <p:ph type="sldNum" sz="quarter" idx="12"/>
          </p:nvPr>
        </p:nvSpPr>
        <p:spPr/>
        <p:txBody>
          <a:bodyPr/>
          <a:lstStyle>
            <a:lvl1pPr>
              <a:defRPr/>
            </a:lvl1pPr>
          </a:lstStyle>
          <a:p>
            <a:pPr>
              <a:defRPr/>
            </a:pPr>
            <a:fld id="{457E2403-F942-4042-B87D-191FA9AEC4FC}" type="slidenum">
              <a:rPr lang="fr-CA"/>
              <a:pPr>
                <a:defRPr/>
              </a:pPr>
              <a:t>‹#›</a:t>
            </a:fld>
            <a:endParaRPr lang="fr-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CA"/>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890CA72D-36E4-4393-9507-9CBDA1AC8F50}" type="datetimeFigureOut">
              <a:rPr lang="fr-FR"/>
              <a:pPr>
                <a:defRPr/>
              </a:pPr>
              <a:t>29/09/2025</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3F488108-AC2B-469D-8E1A-8A1FC91F787D}" type="slidenum">
              <a:rPr lang="fr-CA"/>
              <a:pPr>
                <a:defRPr/>
              </a:pPr>
              <a:t>‹#›</a:t>
            </a:fld>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en-US"/>
              <a:t>Click to edit Master title style</a:t>
            </a:r>
            <a:endParaRPr lang="fr-CA"/>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Espace réservé de la date 3"/>
          <p:cNvSpPr>
            <a:spLocks noGrp="1"/>
          </p:cNvSpPr>
          <p:nvPr>
            <p:ph type="dt" sz="half" idx="10"/>
          </p:nvPr>
        </p:nvSpPr>
        <p:spPr/>
        <p:txBody>
          <a:bodyPr/>
          <a:lstStyle>
            <a:lvl1pPr>
              <a:defRPr/>
            </a:lvl1pPr>
          </a:lstStyle>
          <a:p>
            <a:pPr>
              <a:defRPr/>
            </a:pPr>
            <a:fld id="{343A0D9B-B10A-4C2F-90C1-683BF0DFEB41}" type="datetimeFigureOut">
              <a:rPr lang="fr-FR"/>
              <a:pPr>
                <a:defRPr/>
              </a:pPr>
              <a:t>29/09/2025</a:t>
            </a:fld>
            <a:endParaRPr lang="fr-CA"/>
          </a:p>
        </p:txBody>
      </p:sp>
      <p:sp>
        <p:nvSpPr>
          <p:cNvPr id="5" name="Espace réservé du pied de page 4"/>
          <p:cNvSpPr>
            <a:spLocks noGrp="1"/>
          </p:cNvSpPr>
          <p:nvPr>
            <p:ph type="ftr" sz="quarter" idx="11"/>
          </p:nvPr>
        </p:nvSpPr>
        <p:spPr/>
        <p:txBody>
          <a:bodyPr/>
          <a:lstStyle>
            <a:lvl1pPr>
              <a:defRPr/>
            </a:lvl1pPr>
          </a:lstStyle>
          <a:p>
            <a:pPr>
              <a:defRPr/>
            </a:pPr>
            <a:endParaRPr lang="fr-CA"/>
          </a:p>
        </p:txBody>
      </p:sp>
      <p:sp>
        <p:nvSpPr>
          <p:cNvPr id="6" name="Espace réservé du numéro de diapositive 5"/>
          <p:cNvSpPr>
            <a:spLocks noGrp="1"/>
          </p:cNvSpPr>
          <p:nvPr>
            <p:ph type="sldNum" sz="quarter" idx="12"/>
          </p:nvPr>
        </p:nvSpPr>
        <p:spPr/>
        <p:txBody>
          <a:bodyPr/>
          <a:lstStyle>
            <a:lvl1pPr>
              <a:defRPr/>
            </a:lvl1pPr>
          </a:lstStyle>
          <a:p>
            <a:pPr>
              <a:defRPr/>
            </a:pPr>
            <a:fld id="{C044A544-6A6F-467F-AC6F-55FD44753437}" type="slidenum">
              <a:rPr lang="fr-CA"/>
              <a:pPr>
                <a:defRPr/>
              </a:pPr>
              <a:t>‹#›</a:t>
            </a:fld>
            <a:endParaRPr lang="fr-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Espace réservé du titre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a:t>Cliquez pour modifier le style du titre</a:t>
            </a:r>
            <a:endParaRPr lang="fr-CA"/>
          </a:p>
        </p:txBody>
      </p:sp>
      <p:sp>
        <p:nvSpPr>
          <p:cNvPr id="1027" name="Espace réservé du texte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22E20E43-3D58-4660-B8C5-0C3B8220668E}" type="datetimeFigureOut">
              <a:rPr lang="fr-FR"/>
              <a:pPr>
                <a:defRPr/>
              </a:pPr>
              <a:t>29/09/2025</a:t>
            </a:fld>
            <a:endParaRPr lang="fr-CA"/>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fr-CA"/>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019B76BF-C9E2-4657-92CA-F0808A608D01}" type="slidenum">
              <a:rPr lang="fr-CA"/>
              <a:pPr>
                <a:defRPr/>
              </a:pPr>
              <a:t>‹#›</a:t>
            </a:fld>
            <a:endParaRPr lang="fr-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8761/" TargetMode="External"/><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69.xml.rels><?xml version="1.0" encoding="UTF-8" standalone="yes"?>
<Relationships xmlns="http://schemas.openxmlformats.org/package/2006/relationships"><Relationship Id="rId3" Type="http://schemas.openxmlformats.org/officeDocument/2006/relationships/hyperlink" Target="http://localhost:8888/hello-service/default" TargetMode="External"/><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7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50" name="Titre 1"/>
          <p:cNvSpPr>
            <a:spLocks noGrp="1"/>
          </p:cNvSpPr>
          <p:nvPr>
            <p:ph type="ctrTitle"/>
          </p:nvPr>
        </p:nvSpPr>
        <p:spPr>
          <a:xfrm>
            <a:off x="685800" y="3373438"/>
            <a:ext cx="7772400" cy="1012825"/>
          </a:xfrm>
        </p:spPr>
        <p:txBody>
          <a:bodyPr/>
          <a:lstStyle/>
          <a:p>
            <a:r>
              <a:rPr lang="fr-CA" sz="4000" dirty="0">
                <a:solidFill>
                  <a:schemeClr val="bg1"/>
                </a:solidFill>
              </a:rPr>
              <a:t>Spring Cloud</a:t>
            </a:r>
            <a:endParaRPr lang="fr-CA" sz="3800" dirty="0">
              <a:solidFill>
                <a:schemeClr val="bg1"/>
              </a:solidFill>
            </a:endParaRPr>
          </a:p>
        </p:txBody>
      </p:sp>
      <p:sp>
        <p:nvSpPr>
          <p:cNvPr id="2051" name="Sous-titre 2"/>
          <p:cNvSpPr>
            <a:spLocks noGrp="1"/>
          </p:cNvSpPr>
          <p:nvPr>
            <p:ph type="subTitle" idx="1"/>
          </p:nvPr>
        </p:nvSpPr>
        <p:spPr>
          <a:xfrm>
            <a:off x="5715000" y="6091237"/>
            <a:ext cx="3124200" cy="614363"/>
          </a:xfrm>
        </p:spPr>
        <p:txBody>
          <a:bodyPr/>
          <a:lstStyle/>
          <a:p>
            <a:r>
              <a:rPr lang="fr-CA" sz="2600" dirty="0">
                <a:solidFill>
                  <a:schemeClr val="bg1"/>
                </a:solidFill>
              </a:rPr>
              <a:t>Dima Ionut Daniel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re 1"/>
          <p:cNvSpPr>
            <a:spLocks noGrp="1"/>
          </p:cNvSpPr>
          <p:nvPr>
            <p:ph type="title"/>
          </p:nvPr>
        </p:nvSpPr>
        <p:spPr>
          <a:xfrm>
            <a:off x="2071688" y="274638"/>
            <a:ext cx="6615112" cy="1143000"/>
          </a:xfrm>
        </p:spPr>
        <p:txBody>
          <a:bodyPr/>
          <a:lstStyle/>
          <a:p>
            <a:pPr algn="l"/>
            <a:r>
              <a:rPr lang="fr-CA" sz="4000" dirty="0">
                <a:solidFill>
                  <a:srgbClr val="3C5790"/>
                </a:solidFill>
              </a:rPr>
              <a:t>Contents</a:t>
            </a:r>
          </a:p>
        </p:txBody>
      </p:sp>
      <p:sp>
        <p:nvSpPr>
          <p:cNvPr id="3075" name="Espace réservé du contenu 2"/>
          <p:cNvSpPr>
            <a:spLocks noGrp="1"/>
          </p:cNvSpPr>
          <p:nvPr>
            <p:ph idx="1"/>
          </p:nvPr>
        </p:nvSpPr>
        <p:spPr>
          <a:xfrm>
            <a:off x="2224088" y="1600200"/>
            <a:ext cx="6615112" cy="5257800"/>
          </a:xfrm>
        </p:spPr>
        <p:txBody>
          <a:bodyPr/>
          <a:lstStyle/>
          <a:p>
            <a:r>
              <a:rPr lang="fr-CA" sz="1400" dirty="0" err="1">
                <a:solidFill>
                  <a:srgbClr val="3C5790"/>
                </a:solidFill>
              </a:rPr>
              <a:t>What</a:t>
            </a:r>
            <a:r>
              <a:rPr lang="fr-CA" sz="1400" dirty="0">
                <a:solidFill>
                  <a:srgbClr val="3C5790"/>
                </a:solidFill>
              </a:rPr>
              <a:t> </a:t>
            </a:r>
            <a:r>
              <a:rPr lang="fr-CA" sz="1400" dirty="0" err="1">
                <a:solidFill>
                  <a:srgbClr val="3C5790"/>
                </a:solidFill>
              </a:rPr>
              <a:t>is</a:t>
            </a:r>
            <a:r>
              <a:rPr lang="fr-CA" sz="1400" dirty="0">
                <a:solidFill>
                  <a:srgbClr val="3C5790"/>
                </a:solidFill>
              </a:rPr>
              <a:t> Spring Cloud?</a:t>
            </a:r>
          </a:p>
          <a:p>
            <a:r>
              <a:rPr lang="fr-CA" sz="1400" dirty="0" err="1">
                <a:solidFill>
                  <a:srgbClr val="3C5790"/>
                </a:solidFill>
              </a:rPr>
              <a:t>History</a:t>
            </a:r>
            <a:endParaRPr lang="fr-CA" sz="1400" dirty="0">
              <a:solidFill>
                <a:srgbClr val="3C5790"/>
              </a:solidFill>
            </a:endParaRPr>
          </a:p>
          <a:p>
            <a:r>
              <a:rPr lang="fr-CA" sz="1400" dirty="0" err="1">
                <a:solidFill>
                  <a:srgbClr val="3C5790"/>
                </a:solidFill>
              </a:rPr>
              <a:t>Features</a:t>
            </a:r>
            <a:endParaRPr lang="fr-CA" sz="1400" dirty="0">
              <a:solidFill>
                <a:srgbClr val="3C5790"/>
              </a:solidFill>
            </a:endParaRPr>
          </a:p>
          <a:p>
            <a:r>
              <a:rPr lang="fr-CA" sz="1400" dirty="0">
                <a:solidFill>
                  <a:srgbClr val="3C5790"/>
                </a:solidFill>
              </a:rPr>
              <a:t>Goals</a:t>
            </a:r>
          </a:p>
          <a:p>
            <a:r>
              <a:rPr lang="fr-CA" sz="1400" dirty="0">
                <a:solidFill>
                  <a:srgbClr val="3C5790"/>
                </a:solidFill>
              </a:rPr>
              <a:t>Architecture</a:t>
            </a:r>
          </a:p>
          <a:p>
            <a:r>
              <a:rPr lang="fr-CA" sz="1400" dirty="0" err="1">
                <a:solidFill>
                  <a:srgbClr val="3C5790"/>
                </a:solidFill>
              </a:rPr>
              <a:t>Core</a:t>
            </a:r>
            <a:endParaRPr lang="fr-CA" sz="1400" dirty="0">
              <a:solidFill>
                <a:srgbClr val="3C5790"/>
              </a:solidFill>
            </a:endParaRPr>
          </a:p>
          <a:p>
            <a:r>
              <a:rPr lang="fr-CA" sz="1400" dirty="0">
                <a:solidFill>
                  <a:srgbClr val="3C5790"/>
                </a:solidFill>
              </a:rPr>
              <a:t>Spring Boot </a:t>
            </a:r>
            <a:r>
              <a:rPr lang="fr-CA" sz="1400" dirty="0" err="1">
                <a:solidFill>
                  <a:srgbClr val="3C5790"/>
                </a:solidFill>
              </a:rPr>
              <a:t>Actuator</a:t>
            </a:r>
            <a:endParaRPr lang="fr-CA" sz="1400" dirty="0">
              <a:solidFill>
                <a:srgbClr val="3C5790"/>
              </a:solidFill>
            </a:endParaRPr>
          </a:p>
          <a:p>
            <a:r>
              <a:rPr lang="fr-CA" sz="1400" dirty="0">
                <a:solidFill>
                  <a:srgbClr val="3C5790"/>
                </a:solidFill>
              </a:rPr>
              <a:t>Service Registration &amp; Discovery</a:t>
            </a:r>
          </a:p>
          <a:p>
            <a:r>
              <a:rPr lang="fr-CA" sz="1400" dirty="0">
                <a:solidFill>
                  <a:srgbClr val="3C5790"/>
                </a:solidFill>
              </a:rPr>
              <a:t>REST client </a:t>
            </a:r>
            <a:r>
              <a:rPr lang="fr-CA" sz="1400" dirty="0" err="1">
                <a:solidFill>
                  <a:srgbClr val="3C5790"/>
                </a:solidFill>
              </a:rPr>
              <a:t>Feign</a:t>
            </a:r>
            <a:endParaRPr lang="fr-CA" sz="1400" dirty="0">
              <a:solidFill>
                <a:srgbClr val="3C5790"/>
              </a:solidFill>
            </a:endParaRPr>
          </a:p>
          <a:p>
            <a:r>
              <a:rPr lang="fr-CA" sz="1400" dirty="0" err="1">
                <a:solidFill>
                  <a:srgbClr val="3C5790"/>
                </a:solidFill>
              </a:rPr>
              <a:t>Load</a:t>
            </a:r>
            <a:r>
              <a:rPr lang="fr-CA" sz="1400" dirty="0">
                <a:solidFill>
                  <a:srgbClr val="3C5790"/>
                </a:solidFill>
              </a:rPr>
              <a:t> Balancing</a:t>
            </a:r>
          </a:p>
          <a:p>
            <a:r>
              <a:rPr lang="fr-CA" sz="1400" dirty="0">
                <a:solidFill>
                  <a:srgbClr val="3C5790"/>
                </a:solidFill>
              </a:rPr>
              <a:t>Gateway</a:t>
            </a:r>
          </a:p>
          <a:p>
            <a:r>
              <a:rPr lang="fr-CA" sz="1400" dirty="0">
                <a:solidFill>
                  <a:srgbClr val="3C5790"/>
                </a:solidFill>
              </a:rPr>
              <a:t>Resilience4j</a:t>
            </a:r>
          </a:p>
          <a:p>
            <a:r>
              <a:rPr lang="fr-CA" sz="1400" dirty="0" err="1">
                <a:solidFill>
                  <a:srgbClr val="3C5790"/>
                </a:solidFill>
              </a:rPr>
              <a:t>Sleuth</a:t>
            </a:r>
            <a:r>
              <a:rPr lang="fr-CA" sz="1400" dirty="0">
                <a:solidFill>
                  <a:srgbClr val="3C5790"/>
                </a:solidFill>
              </a:rPr>
              <a:t> and </a:t>
            </a:r>
            <a:r>
              <a:rPr lang="fr-CA" sz="1400" dirty="0" err="1">
                <a:solidFill>
                  <a:srgbClr val="3C5790"/>
                </a:solidFill>
              </a:rPr>
              <a:t>Zipkin</a:t>
            </a:r>
            <a:endParaRPr lang="fr-CA" sz="1400" dirty="0">
              <a:solidFill>
                <a:srgbClr val="3C5790"/>
              </a:solidFill>
            </a:endParaRPr>
          </a:p>
          <a:p>
            <a:r>
              <a:rPr lang="fr-CA" sz="1400" dirty="0">
                <a:solidFill>
                  <a:srgbClr val="3C5790"/>
                </a:solidFill>
              </a:rPr>
              <a:t>Spring Config Server</a:t>
            </a:r>
          </a:p>
          <a:p>
            <a:r>
              <a:rPr lang="fr-CA" sz="1400" dirty="0">
                <a:solidFill>
                  <a:srgbClr val="3C5790"/>
                </a:solidFill>
              </a:rPr>
              <a:t>Spring Cloud Bus</a:t>
            </a:r>
          </a:p>
          <a:p>
            <a:r>
              <a:rPr lang="fr-CA" sz="1400" dirty="0" err="1">
                <a:solidFill>
                  <a:srgbClr val="3C5790"/>
                </a:solidFill>
              </a:rPr>
              <a:t>Ribbon</a:t>
            </a:r>
            <a:endParaRPr lang="fr-CA" sz="1400" dirty="0">
              <a:solidFill>
                <a:srgbClr val="3C5790"/>
              </a:solidFill>
            </a:endParaRPr>
          </a:p>
          <a:p>
            <a:r>
              <a:rPr lang="fr-CA" sz="1400" dirty="0" err="1">
                <a:solidFill>
                  <a:srgbClr val="3C5790"/>
                </a:solidFill>
              </a:rPr>
              <a:t>Zuul</a:t>
            </a:r>
            <a:endParaRPr lang="fr-CA" sz="1400" dirty="0">
              <a:solidFill>
                <a:srgbClr val="3C5790"/>
              </a:solidFill>
            </a:endParaRPr>
          </a:p>
          <a:p>
            <a:r>
              <a:rPr lang="fr-CA" sz="1400" dirty="0">
                <a:solidFill>
                  <a:srgbClr val="3C5790"/>
                </a:solidFill>
              </a:rPr>
              <a:t>Hystrix</a:t>
            </a:r>
          </a:p>
          <a:p>
            <a:r>
              <a:rPr lang="en-US" sz="1400" dirty="0">
                <a:solidFill>
                  <a:srgbClr val="3C5790"/>
                </a:solidFill>
              </a:rPr>
              <a:t>Conclusion</a:t>
            </a:r>
          </a:p>
          <a:p>
            <a:r>
              <a:rPr lang="fr-CA" sz="1400" dirty="0">
                <a:solidFill>
                  <a:srgbClr val="3C5790"/>
                </a:solidFill>
              </a:rPr>
              <a:t>Bibliography</a:t>
            </a:r>
          </a:p>
          <a:p>
            <a:pPr>
              <a:buNone/>
            </a:pPr>
            <a:br>
              <a:rPr lang="fr-CA" sz="1600" dirty="0">
                <a:solidFill>
                  <a:srgbClr val="3C5790"/>
                </a:solidFill>
              </a:rPr>
            </a:br>
            <a:endParaRPr lang="fr-CA" sz="1600" dirty="0">
              <a:solidFill>
                <a:srgbClr val="3C579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What</a:t>
            </a:r>
            <a:r>
              <a:rPr lang="fr-CA" dirty="0">
                <a:solidFill>
                  <a:schemeClr val="bg1"/>
                </a:solidFill>
              </a:rPr>
              <a:t> </a:t>
            </a:r>
            <a:r>
              <a:rPr lang="fr-CA" dirty="0" err="1">
                <a:solidFill>
                  <a:schemeClr val="bg1"/>
                </a:solidFill>
              </a:rPr>
              <a:t>is</a:t>
            </a:r>
            <a:r>
              <a:rPr lang="fr-CA" dirty="0">
                <a:solidFill>
                  <a:schemeClr val="bg1"/>
                </a:solidFill>
              </a:rPr>
              <a:t> Spring Cloud?</a:t>
            </a:r>
          </a:p>
        </p:txBody>
      </p:sp>
      <p:sp>
        <p:nvSpPr>
          <p:cNvPr id="4099" name="Espace réservé du contenu 4"/>
          <p:cNvSpPr>
            <a:spLocks noGrp="1"/>
          </p:cNvSpPr>
          <p:nvPr>
            <p:ph idx="1"/>
          </p:nvPr>
        </p:nvSpPr>
        <p:spPr>
          <a:xfrm>
            <a:off x="228600" y="2133600"/>
            <a:ext cx="8686800" cy="4419600"/>
          </a:xfrm>
        </p:spPr>
        <p:txBody>
          <a:bodyPr/>
          <a:lstStyle/>
          <a:p>
            <a:r>
              <a:rPr lang="en-US" sz="1500" b="1" dirty="0">
                <a:solidFill>
                  <a:srgbClr val="3C5790"/>
                </a:solidFill>
              </a:rPr>
              <a:t>Spring Cloud </a:t>
            </a:r>
            <a:r>
              <a:rPr lang="en-US" sz="1500" dirty="0">
                <a:solidFill>
                  <a:srgbClr val="3C5790"/>
                </a:solidFill>
              </a:rPr>
              <a:t>is an extension of the Spring Framework designed specifically to simplify the development of distributed systems and microservices architectures.</a:t>
            </a:r>
          </a:p>
          <a:p>
            <a:r>
              <a:rPr lang="en-US" sz="1500" dirty="0">
                <a:solidFill>
                  <a:srgbClr val="3C5790"/>
                </a:solidFill>
              </a:rPr>
              <a:t>It builds on Spring Boot's ease of use and provides a collection of tools and libraries that help developers quickly implement common patterns in cloud-native applications. </a:t>
            </a:r>
          </a:p>
          <a:p>
            <a:r>
              <a:rPr lang="en-US" sz="1500" dirty="0">
                <a:solidFill>
                  <a:srgbClr val="3C5790"/>
                </a:solidFill>
              </a:rPr>
              <a:t>These include centralized configuration management, service discovery, intelligent routing, load balancing, fault tolerance through circuit breakers, distributed tracing, API gateways, and integration with messaging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History</a:t>
            </a:r>
            <a:endParaRPr lang="fr-CA" dirty="0">
              <a:solidFill>
                <a:schemeClr val="bg1"/>
              </a:solidFill>
            </a:endParaRPr>
          </a:p>
        </p:txBody>
      </p:sp>
      <p:sp>
        <p:nvSpPr>
          <p:cNvPr id="4099" name="Espace réservé du contenu 4"/>
          <p:cNvSpPr>
            <a:spLocks noGrp="1"/>
          </p:cNvSpPr>
          <p:nvPr>
            <p:ph idx="1"/>
          </p:nvPr>
        </p:nvSpPr>
        <p:spPr>
          <a:xfrm>
            <a:off x="228600" y="2133600"/>
            <a:ext cx="8686800" cy="2895600"/>
          </a:xfrm>
        </p:spPr>
        <p:txBody>
          <a:bodyPr/>
          <a:lstStyle/>
          <a:p>
            <a:r>
              <a:rPr lang="en-US" sz="1500" b="1" dirty="0">
                <a:solidFill>
                  <a:srgbClr val="3C5790"/>
                </a:solidFill>
              </a:rPr>
              <a:t>Spring Framework </a:t>
            </a:r>
            <a:r>
              <a:rPr lang="en-US" sz="1500" dirty="0">
                <a:solidFill>
                  <a:srgbClr val="3C5790"/>
                </a:solidFill>
              </a:rPr>
              <a:t>began in 2002, created by Rod Johnson, initially focusing on simplifying enterprise Java development with Dependency Injection (DI) and Inversion of Control (IoC).</a:t>
            </a:r>
          </a:p>
          <a:p>
            <a:r>
              <a:rPr lang="en-US" sz="1500" b="1" dirty="0">
                <a:solidFill>
                  <a:srgbClr val="3C5790"/>
                </a:solidFill>
              </a:rPr>
              <a:t>Spring Boot </a:t>
            </a:r>
            <a:r>
              <a:rPr lang="en-US" sz="1500" dirty="0">
                <a:solidFill>
                  <a:srgbClr val="3C5790"/>
                </a:solidFill>
              </a:rPr>
              <a:t>was introduced in 2013-2014, significantly simplifying Spring application setup and configurations.</a:t>
            </a:r>
          </a:p>
          <a:p>
            <a:r>
              <a:rPr lang="en-US" sz="1500" b="1" dirty="0">
                <a:solidFill>
                  <a:srgbClr val="3C5790"/>
                </a:solidFill>
              </a:rPr>
              <a:t>Spring Cloud </a:t>
            </a:r>
            <a:r>
              <a:rPr lang="en-US" sz="1500" dirty="0">
                <a:solidFill>
                  <a:srgbClr val="3C5790"/>
                </a:solidFill>
              </a:rPr>
              <a:t>was announced around 2015 by Pivotal (then custodians of Spring technology) as a set of tools specifically aimed at addressing common challenges in building distributed microservices systems using Spring Boot.</a:t>
            </a:r>
          </a:p>
          <a:p>
            <a:r>
              <a:rPr lang="en-US" sz="1500" dirty="0">
                <a:solidFill>
                  <a:srgbClr val="3C5790"/>
                </a:solidFill>
              </a:rPr>
              <a:t>Spring Cloud introduced support for service discovery, configuration management, load balancing, circuit breakers, distributed messaging, and cloud platform integrations.</a:t>
            </a:r>
          </a:p>
          <a:p>
            <a:r>
              <a:rPr lang="en-US" sz="1500" dirty="0">
                <a:solidFill>
                  <a:srgbClr val="3C5790"/>
                </a:solidFill>
              </a:rPr>
              <a:t>The framework has matured alongside other Spring projects like Spring Data, Spring Security, and Spring Boot to provide a comprehensive platform for modern enterprise cloud applications.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endParaRPr lang="fr-CA" dirty="0">
              <a:solidFill>
                <a:schemeClr val="bg1"/>
              </a:solidFill>
            </a:endParaRPr>
          </a:p>
        </p:txBody>
      </p:sp>
      <p:sp>
        <p:nvSpPr>
          <p:cNvPr id="4099" name="Espace réservé du contenu 4"/>
          <p:cNvSpPr>
            <a:spLocks noGrp="1"/>
          </p:cNvSpPr>
          <p:nvPr>
            <p:ph idx="1"/>
          </p:nvPr>
        </p:nvSpPr>
        <p:spPr>
          <a:xfrm>
            <a:off x="228600" y="2133600"/>
            <a:ext cx="8686800" cy="3657600"/>
          </a:xfrm>
        </p:spPr>
        <p:txBody>
          <a:bodyPr/>
          <a:lstStyle/>
          <a:p>
            <a:r>
              <a:rPr lang="en-US" sz="1400" b="1" dirty="0">
                <a:solidFill>
                  <a:srgbClr val="3C5790"/>
                </a:solidFill>
              </a:rPr>
              <a:t>Distributed and Versioned Configuration</a:t>
            </a:r>
            <a:r>
              <a:rPr lang="en-US" sz="1400" dirty="0">
                <a:solidFill>
                  <a:srgbClr val="3C5790"/>
                </a:solidFill>
              </a:rPr>
              <a:t>: Centralized configuration management for all services, often backed by Git, making it easier to maintain consistent configuration across environments.</a:t>
            </a:r>
          </a:p>
          <a:p>
            <a:r>
              <a:rPr lang="en-US" sz="1400" b="1" dirty="0">
                <a:solidFill>
                  <a:srgbClr val="3C5790"/>
                </a:solidFill>
              </a:rPr>
              <a:t>Service Registration and Discovery</a:t>
            </a:r>
            <a:r>
              <a:rPr lang="en-US" sz="1400" dirty="0">
                <a:solidFill>
                  <a:srgbClr val="3C5790"/>
                </a:solidFill>
              </a:rPr>
              <a:t>: Integration with tools like Netflix Eureka and Consul to allow microservices to dynamically register with and discover each other.</a:t>
            </a:r>
          </a:p>
          <a:p>
            <a:r>
              <a:rPr lang="en-US" sz="1400" b="1" dirty="0">
                <a:solidFill>
                  <a:srgbClr val="3C5790"/>
                </a:solidFill>
              </a:rPr>
              <a:t>Intelligent Routing and API Gateway</a:t>
            </a:r>
            <a:r>
              <a:rPr lang="en-US" sz="1400" dirty="0">
                <a:solidFill>
                  <a:srgbClr val="3C5790"/>
                </a:solidFill>
              </a:rPr>
              <a:t>: Spring Cloud Gateway acts as a programmable router, managing and routing external requests to internal services.</a:t>
            </a:r>
          </a:p>
          <a:p>
            <a:r>
              <a:rPr lang="en-US" sz="1400" b="1" dirty="0">
                <a:solidFill>
                  <a:srgbClr val="3C5790"/>
                </a:solidFill>
              </a:rPr>
              <a:t>Load Balancing</a:t>
            </a:r>
            <a:r>
              <a:rPr lang="en-US" sz="1400" dirty="0">
                <a:solidFill>
                  <a:srgbClr val="3C5790"/>
                </a:solidFill>
              </a:rPr>
              <a:t>: Client-side load balancing with tools like Ribbon to distribute requests evenly across instances and improve fault tolerance.</a:t>
            </a:r>
          </a:p>
          <a:p>
            <a:r>
              <a:rPr lang="en-US" sz="1400" b="1" dirty="0">
                <a:solidFill>
                  <a:srgbClr val="3C5790"/>
                </a:solidFill>
              </a:rPr>
              <a:t>Circuit Breakers</a:t>
            </a:r>
            <a:r>
              <a:rPr lang="en-US" sz="1400" dirty="0">
                <a:solidFill>
                  <a:srgbClr val="3C5790"/>
                </a:solidFill>
              </a:rPr>
              <a:t>: Fault tolerance patterns (e.g., </a:t>
            </a:r>
            <a:r>
              <a:rPr lang="en-US" sz="1400" dirty="0" err="1">
                <a:solidFill>
                  <a:srgbClr val="3C5790"/>
                </a:solidFill>
              </a:rPr>
              <a:t>Hystrix</a:t>
            </a:r>
            <a:r>
              <a:rPr lang="en-US" sz="1400" dirty="0">
                <a:solidFill>
                  <a:srgbClr val="3C5790"/>
                </a:solidFill>
              </a:rPr>
              <a:t>) to handle service failures gracefully by isolating faults and providing fallbacks.</a:t>
            </a:r>
          </a:p>
          <a:p>
            <a:r>
              <a:rPr lang="en-US" sz="1400" b="1" dirty="0">
                <a:solidFill>
                  <a:srgbClr val="3C5790"/>
                </a:solidFill>
              </a:rPr>
              <a:t>Service-to-Service Calls</a:t>
            </a:r>
            <a:r>
              <a:rPr lang="en-US" sz="1400" dirty="0">
                <a:solidFill>
                  <a:srgbClr val="3C5790"/>
                </a:solidFill>
              </a:rPr>
              <a:t>: Simplifies inter-service communication via declarative REST clients and messaging.</a:t>
            </a:r>
          </a:p>
        </p:txBody>
      </p:sp>
    </p:spTree>
    <p:extLst>
      <p:ext uri="{BB962C8B-B14F-4D97-AF65-F5344CB8AC3E}">
        <p14:creationId xmlns:p14="http://schemas.microsoft.com/office/powerpoint/2010/main" val="2708943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Features</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657600"/>
          </a:xfrm>
        </p:spPr>
        <p:txBody>
          <a:bodyPr/>
          <a:lstStyle/>
          <a:p>
            <a:r>
              <a:rPr lang="en-US" sz="1400" b="1" dirty="0">
                <a:solidFill>
                  <a:srgbClr val="3C5790"/>
                </a:solidFill>
              </a:rPr>
              <a:t>Distributed Messaging</a:t>
            </a:r>
            <a:r>
              <a:rPr lang="en-US" sz="1400" dirty="0">
                <a:solidFill>
                  <a:srgbClr val="3C5790"/>
                </a:solidFill>
              </a:rPr>
              <a:t>: Event-driven communication using Spring Cloud Stream's abstraction over middleware such as Apache Kafka or RabbitMQ.</a:t>
            </a:r>
          </a:p>
          <a:p>
            <a:r>
              <a:rPr lang="en-US" sz="1400" b="1" dirty="0">
                <a:solidFill>
                  <a:srgbClr val="3C5790"/>
                </a:solidFill>
              </a:rPr>
              <a:t>Kubernetes Integration</a:t>
            </a:r>
            <a:r>
              <a:rPr lang="en-US" sz="1400" dirty="0">
                <a:solidFill>
                  <a:srgbClr val="3C5790"/>
                </a:solidFill>
              </a:rPr>
              <a:t>: Support for running in Kubernetes environments with discovery and configuration components.</a:t>
            </a:r>
          </a:p>
          <a:p>
            <a:r>
              <a:rPr lang="en-US" sz="1400" b="1" dirty="0">
                <a:solidFill>
                  <a:srgbClr val="3C5790"/>
                </a:solidFill>
              </a:rPr>
              <a:t>Spring Cloud Function and Task</a:t>
            </a:r>
            <a:r>
              <a:rPr lang="en-US" sz="1400" dirty="0">
                <a:solidFill>
                  <a:srgbClr val="3C5790"/>
                </a:solidFill>
              </a:rPr>
              <a:t>: Supports business logic as functions for serverless and finite task execution models.</a:t>
            </a:r>
          </a:p>
          <a:p>
            <a:r>
              <a:rPr lang="en-US" sz="1400" b="1" dirty="0">
                <a:solidFill>
                  <a:srgbClr val="3C5790"/>
                </a:solidFill>
              </a:rPr>
              <a:t>Centralized Logging and Distributed Tracing</a:t>
            </a:r>
            <a:r>
              <a:rPr lang="en-US" sz="1400" dirty="0">
                <a:solidFill>
                  <a:srgbClr val="3C5790"/>
                </a:solidFill>
              </a:rPr>
              <a:t>: Monitoring tools for tracking requests across microservices.</a:t>
            </a:r>
          </a:p>
          <a:p>
            <a:r>
              <a:rPr lang="en-US" sz="1400" b="1" dirty="0">
                <a:solidFill>
                  <a:srgbClr val="3C5790"/>
                </a:solidFill>
              </a:rPr>
              <a:t>Security Features</a:t>
            </a:r>
            <a:r>
              <a:rPr lang="en-US" sz="1400" dirty="0">
                <a:solidFill>
                  <a:srgbClr val="3C5790"/>
                </a:solidFill>
              </a:rPr>
              <a:t>: Support for securing services and communication.</a:t>
            </a:r>
          </a:p>
        </p:txBody>
      </p:sp>
    </p:spTree>
    <p:extLst>
      <p:ext uri="{BB962C8B-B14F-4D97-AF65-F5344CB8AC3E}">
        <p14:creationId xmlns:p14="http://schemas.microsoft.com/office/powerpoint/2010/main" val="1469077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Goals</a:t>
            </a:r>
          </a:p>
        </p:txBody>
      </p:sp>
      <p:sp>
        <p:nvSpPr>
          <p:cNvPr id="4099" name="Espace réservé du contenu 4"/>
          <p:cNvSpPr>
            <a:spLocks noGrp="1"/>
          </p:cNvSpPr>
          <p:nvPr>
            <p:ph idx="1"/>
          </p:nvPr>
        </p:nvSpPr>
        <p:spPr>
          <a:xfrm>
            <a:off x="228600" y="2133600"/>
            <a:ext cx="8686800" cy="2362200"/>
          </a:xfrm>
        </p:spPr>
        <p:txBody>
          <a:bodyPr/>
          <a:lstStyle/>
          <a:p>
            <a:r>
              <a:rPr lang="en-US" sz="1400" dirty="0">
                <a:solidFill>
                  <a:srgbClr val="3C5790"/>
                </a:solidFill>
              </a:rPr>
              <a:t>Managing distributed and versioned configuration centrally to simplify configuration management across multiple services.</a:t>
            </a:r>
          </a:p>
          <a:p>
            <a:r>
              <a:rPr lang="en-US" sz="1400" dirty="0">
                <a:solidFill>
                  <a:srgbClr val="3C5790"/>
                </a:solidFill>
              </a:rPr>
              <a:t>Enabling service registration and discovery so microservices can find and communicate with each other dynamically.</a:t>
            </a:r>
          </a:p>
          <a:p>
            <a:r>
              <a:rPr lang="en-US" sz="1400" dirty="0">
                <a:solidFill>
                  <a:srgbClr val="3C5790"/>
                </a:solidFill>
              </a:rPr>
              <a:t>Providing intelligent routing and load balancing to handle incoming requests efficiently and distribute load across service instances.</a:t>
            </a:r>
          </a:p>
          <a:p>
            <a:r>
              <a:rPr lang="en-US" sz="1400" dirty="0">
                <a:solidFill>
                  <a:srgbClr val="3C5790"/>
                </a:solidFill>
              </a:rPr>
              <a:t>Supporting fault tolerance with circuit breaker patterns to isolate failures and prevent cascading issues.</a:t>
            </a:r>
          </a:p>
          <a:p>
            <a:r>
              <a:rPr lang="en-US" sz="1400" dirty="0">
                <a:solidFill>
                  <a:srgbClr val="3C5790"/>
                </a:solidFill>
              </a:rPr>
              <a:t>Facilitating service-to-service calls with REST clients and integration support.</a:t>
            </a:r>
          </a:p>
        </p:txBody>
      </p:sp>
    </p:spTree>
    <p:extLst>
      <p:ext uri="{BB962C8B-B14F-4D97-AF65-F5344CB8AC3E}">
        <p14:creationId xmlns:p14="http://schemas.microsoft.com/office/powerpoint/2010/main" val="3821931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Goals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362200"/>
          </a:xfrm>
        </p:spPr>
        <p:txBody>
          <a:bodyPr/>
          <a:lstStyle/>
          <a:p>
            <a:r>
              <a:rPr lang="en-US" sz="1400" dirty="0">
                <a:solidFill>
                  <a:srgbClr val="3C5790"/>
                </a:solidFill>
              </a:rPr>
              <a:t>Enabling distributed messaging for event-driven and asynchronous microservices communication.</a:t>
            </a:r>
          </a:p>
          <a:p>
            <a:r>
              <a:rPr lang="en-US" sz="1400" dirty="0">
                <a:solidFill>
                  <a:srgbClr val="3C5790"/>
                </a:solidFill>
              </a:rPr>
              <a:t>Offering distributed tracing and centralized logging to monitor and trace requests across services.</a:t>
            </a:r>
          </a:p>
          <a:p>
            <a:r>
              <a:rPr lang="en-US" sz="1400" dirty="0">
                <a:solidFill>
                  <a:srgbClr val="3C5790"/>
                </a:solidFill>
              </a:rPr>
              <a:t>Allowing secure microservices communication with integrated security features.</a:t>
            </a:r>
          </a:p>
          <a:p>
            <a:r>
              <a:rPr lang="en-US" sz="1400" dirty="0">
                <a:solidFill>
                  <a:srgbClr val="3C5790"/>
                </a:solidFill>
              </a:rPr>
              <a:t>Supporting API gateways and micro-proxies for routing external requests into the microservices system.</a:t>
            </a:r>
          </a:p>
        </p:txBody>
      </p:sp>
    </p:spTree>
    <p:extLst>
      <p:ext uri="{BB962C8B-B14F-4D97-AF65-F5344CB8AC3E}">
        <p14:creationId xmlns:p14="http://schemas.microsoft.com/office/powerpoint/2010/main" val="3401791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Architecture</a:t>
            </a:r>
          </a:p>
        </p:txBody>
      </p:sp>
      <p:sp>
        <p:nvSpPr>
          <p:cNvPr id="4099" name="Espace réservé du contenu 4"/>
          <p:cNvSpPr>
            <a:spLocks noGrp="1"/>
          </p:cNvSpPr>
          <p:nvPr>
            <p:ph idx="1"/>
          </p:nvPr>
        </p:nvSpPr>
        <p:spPr>
          <a:xfrm>
            <a:off x="228600" y="2133600"/>
            <a:ext cx="8686800" cy="533400"/>
          </a:xfrm>
        </p:spPr>
        <p:txBody>
          <a:bodyPr/>
          <a:lstStyle/>
          <a:p>
            <a:r>
              <a:rPr lang="en-US" sz="1400" dirty="0">
                <a:solidFill>
                  <a:srgbClr val="3C5790"/>
                </a:solidFill>
              </a:rPr>
              <a:t>With several ready-to-run cloud patterns, </a:t>
            </a:r>
            <a:r>
              <a:rPr lang="en-US" sz="1400" b="1" dirty="0">
                <a:solidFill>
                  <a:srgbClr val="3C5790"/>
                </a:solidFill>
              </a:rPr>
              <a:t>Spring Cloud</a:t>
            </a:r>
            <a:r>
              <a:rPr lang="en-US" sz="1400" dirty="0">
                <a:solidFill>
                  <a:srgbClr val="3C5790"/>
                </a:solidFill>
              </a:rPr>
              <a:t> can help with service discovery, load-balancing, circuit-breaking, distributed tracing, and monitoring. It can even act as an API gateway. </a:t>
            </a:r>
            <a:endParaRPr lang="fr-CA" sz="1400" dirty="0">
              <a:solidFill>
                <a:srgbClr val="3C5790"/>
              </a:solidFill>
            </a:endParaRPr>
          </a:p>
        </p:txBody>
      </p:sp>
      <p:pic>
        <p:nvPicPr>
          <p:cNvPr id="3" name="Picture 2">
            <a:extLst>
              <a:ext uri="{FF2B5EF4-FFF2-40B4-BE49-F238E27FC236}">
                <a16:creationId xmlns:a16="http://schemas.microsoft.com/office/drawing/2014/main" id="{96F610DA-19D4-46E7-A352-D12AA70768A7}"/>
              </a:ext>
            </a:extLst>
          </p:cNvPr>
          <p:cNvPicPr>
            <a:picLocks noChangeAspect="1"/>
          </p:cNvPicPr>
          <p:nvPr/>
        </p:nvPicPr>
        <p:blipFill>
          <a:blip r:embed="rId3"/>
          <a:stretch>
            <a:fillRect/>
          </a:stretch>
        </p:blipFill>
        <p:spPr>
          <a:xfrm>
            <a:off x="1724025" y="2860377"/>
            <a:ext cx="5695950" cy="3721587"/>
          </a:xfrm>
          <a:prstGeom prst="rect">
            <a:avLst/>
          </a:prstGeom>
        </p:spPr>
      </p:pic>
    </p:spTree>
    <p:extLst>
      <p:ext uri="{BB962C8B-B14F-4D97-AF65-F5344CB8AC3E}">
        <p14:creationId xmlns:p14="http://schemas.microsoft.com/office/powerpoint/2010/main" val="19124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endParaRPr lang="fr-CA" dirty="0">
              <a:solidFill>
                <a:schemeClr val="bg1"/>
              </a:solidFill>
            </a:endParaRPr>
          </a:p>
        </p:txBody>
      </p:sp>
      <p:sp>
        <p:nvSpPr>
          <p:cNvPr id="4099" name="Espace réservé du contenu 4"/>
          <p:cNvSpPr>
            <a:spLocks noGrp="1"/>
          </p:cNvSpPr>
          <p:nvPr>
            <p:ph idx="1"/>
          </p:nvPr>
        </p:nvSpPr>
        <p:spPr>
          <a:xfrm>
            <a:off x="228600" y="2133600"/>
            <a:ext cx="8686800" cy="914400"/>
          </a:xfrm>
        </p:spPr>
        <p:txBody>
          <a:bodyPr/>
          <a:lstStyle/>
          <a:p>
            <a:r>
              <a:rPr lang="en-US" sz="1400" dirty="0">
                <a:solidFill>
                  <a:srgbClr val="3C5790"/>
                </a:solidFill>
              </a:rPr>
              <a:t>Spring Cloud provides tools for developers to quickly build some of the common patterns in distributed systems (e.g. configuration management, service discovery, circuit breakers, intelligent routing, micro-proxy, control bus, short lived microservices and contract testing).</a:t>
            </a:r>
          </a:p>
        </p:txBody>
      </p:sp>
      <p:pic>
        <p:nvPicPr>
          <p:cNvPr id="3" name="Picture 2">
            <a:extLst>
              <a:ext uri="{FF2B5EF4-FFF2-40B4-BE49-F238E27FC236}">
                <a16:creationId xmlns:a16="http://schemas.microsoft.com/office/drawing/2014/main" id="{6EF56752-306D-4517-8E55-63C3B7FD1694}"/>
              </a:ext>
            </a:extLst>
          </p:cNvPr>
          <p:cNvPicPr>
            <a:picLocks noChangeAspect="1"/>
          </p:cNvPicPr>
          <p:nvPr/>
        </p:nvPicPr>
        <p:blipFill>
          <a:blip r:embed="rId3"/>
          <a:stretch>
            <a:fillRect/>
          </a:stretch>
        </p:blipFill>
        <p:spPr>
          <a:xfrm>
            <a:off x="1676400" y="3064079"/>
            <a:ext cx="6096000" cy="3498065"/>
          </a:xfrm>
          <a:prstGeom prst="rect">
            <a:avLst/>
          </a:prstGeom>
        </p:spPr>
      </p:pic>
    </p:spTree>
    <p:extLst>
      <p:ext uri="{BB962C8B-B14F-4D97-AF65-F5344CB8AC3E}">
        <p14:creationId xmlns:p14="http://schemas.microsoft.com/office/powerpoint/2010/main" val="2981222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Core</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05000"/>
            <a:ext cx="8686800" cy="381000"/>
          </a:xfrm>
        </p:spPr>
        <p:txBody>
          <a:bodyPr/>
          <a:lstStyle/>
          <a:p>
            <a:r>
              <a:rPr lang="en-US" sz="1400" dirty="0">
                <a:solidFill>
                  <a:srgbClr val="3C5790"/>
                </a:solidFill>
              </a:rPr>
              <a:t>The table below outlines which version of Spring Cloud maps to which version of Spring Boot.:</a:t>
            </a:r>
            <a:endParaRPr lang="fr-CA" sz="1400" dirty="0">
              <a:solidFill>
                <a:srgbClr val="3C5790"/>
              </a:solidFill>
            </a:endParaRPr>
          </a:p>
        </p:txBody>
      </p:sp>
      <p:graphicFrame>
        <p:nvGraphicFramePr>
          <p:cNvPr id="4" name="Table 2">
            <a:extLst>
              <a:ext uri="{FF2B5EF4-FFF2-40B4-BE49-F238E27FC236}">
                <a16:creationId xmlns:a16="http://schemas.microsoft.com/office/drawing/2014/main" id="{1B7A211C-DFEF-48EA-8A45-028B8201BA98}"/>
              </a:ext>
            </a:extLst>
          </p:cNvPr>
          <p:cNvGraphicFramePr>
            <a:graphicFrameLocks noGrp="1"/>
          </p:cNvGraphicFramePr>
          <p:nvPr>
            <p:extLst>
              <p:ext uri="{D42A27DB-BD31-4B8C-83A1-F6EECF244321}">
                <p14:modId xmlns:p14="http://schemas.microsoft.com/office/powerpoint/2010/main" val="3735574211"/>
              </p:ext>
            </p:extLst>
          </p:nvPr>
        </p:nvGraphicFramePr>
        <p:xfrm>
          <a:off x="2057400" y="2209800"/>
          <a:ext cx="4495800" cy="4505317"/>
        </p:xfrm>
        <a:graphic>
          <a:graphicData uri="http://schemas.openxmlformats.org/drawingml/2006/table">
            <a:tbl>
              <a:tblPr firstRow="1" bandRow="1">
                <a:tableStyleId>{5C22544A-7EE6-4342-B048-85BDC9FD1C3A}</a:tableStyleId>
              </a:tblPr>
              <a:tblGrid>
                <a:gridCol w="1902070">
                  <a:extLst>
                    <a:ext uri="{9D8B030D-6E8A-4147-A177-3AD203B41FA5}">
                      <a16:colId xmlns:a16="http://schemas.microsoft.com/office/drawing/2014/main" val="2589151108"/>
                    </a:ext>
                  </a:extLst>
                </a:gridCol>
                <a:gridCol w="2593730">
                  <a:extLst>
                    <a:ext uri="{9D8B030D-6E8A-4147-A177-3AD203B41FA5}">
                      <a16:colId xmlns:a16="http://schemas.microsoft.com/office/drawing/2014/main" val="4035097610"/>
                    </a:ext>
                  </a:extLst>
                </a:gridCol>
              </a:tblGrid>
              <a:tr h="283548">
                <a:tc>
                  <a:txBody>
                    <a:bodyPr/>
                    <a:lstStyle/>
                    <a:p>
                      <a:r>
                        <a:rPr lang="en-US" sz="1200" dirty="0"/>
                        <a:t>Spring Cloud</a:t>
                      </a:r>
                    </a:p>
                  </a:txBody>
                  <a:tcPr/>
                </a:tc>
                <a:tc>
                  <a:txBody>
                    <a:bodyPr/>
                    <a:lstStyle/>
                    <a:p>
                      <a:r>
                        <a:rPr lang="en-US" sz="1200" dirty="0"/>
                        <a:t>Spring Boot</a:t>
                      </a:r>
                    </a:p>
                  </a:txBody>
                  <a:tcPr/>
                </a:tc>
                <a:extLst>
                  <a:ext uri="{0D108BD9-81ED-4DB2-BD59-A6C34878D82A}">
                    <a16:rowId xmlns:a16="http://schemas.microsoft.com/office/drawing/2014/main" val="1438961077"/>
                  </a:ext>
                </a:extLst>
              </a:tr>
              <a:tr h="399905">
                <a:tc>
                  <a:txBody>
                    <a:bodyPr/>
                    <a:lstStyle/>
                    <a:p>
                      <a:r>
                        <a:rPr lang="en-US" sz="1200" dirty="0"/>
                        <a:t>2025.0.x aka Northfields</a:t>
                      </a:r>
                    </a:p>
                  </a:txBody>
                  <a:tcPr/>
                </a:tc>
                <a:tc>
                  <a:txBody>
                    <a:bodyPr/>
                    <a:lstStyle/>
                    <a:p>
                      <a:r>
                        <a:rPr lang="en-US" sz="1200" b="0" i="0" kern="1200" dirty="0">
                          <a:solidFill>
                            <a:schemeClr val="dk1"/>
                          </a:solidFill>
                          <a:effectLst/>
                          <a:latin typeface="+mn-lt"/>
                          <a:ea typeface="+mn-ea"/>
                          <a:cs typeface="+mn-cs"/>
                        </a:rPr>
                        <a:t>3.5.x</a:t>
                      </a:r>
                      <a:endParaRPr lang="en-US" sz="1200" dirty="0"/>
                    </a:p>
                  </a:txBody>
                  <a:tcPr/>
                </a:tc>
                <a:extLst>
                  <a:ext uri="{0D108BD9-81ED-4DB2-BD59-A6C34878D82A}">
                    <a16:rowId xmlns:a16="http://schemas.microsoft.com/office/drawing/2014/main" val="2324881647"/>
                  </a:ext>
                </a:extLst>
              </a:tr>
              <a:tr h="399905">
                <a:tc>
                  <a:txBody>
                    <a:bodyPr/>
                    <a:lstStyle/>
                    <a:p>
                      <a:r>
                        <a:rPr lang="en-US" sz="1200" dirty="0"/>
                        <a:t>2024.0.x aka Moorgate	</a:t>
                      </a:r>
                    </a:p>
                  </a:txBody>
                  <a:tcPr/>
                </a:tc>
                <a:tc>
                  <a:txBody>
                    <a:bodyPr/>
                    <a:lstStyle/>
                    <a:p>
                      <a:r>
                        <a:rPr lang="en-US" sz="1200" dirty="0"/>
                        <a:t>3.4.x</a:t>
                      </a:r>
                    </a:p>
                  </a:txBody>
                  <a:tcPr/>
                </a:tc>
                <a:extLst>
                  <a:ext uri="{0D108BD9-81ED-4DB2-BD59-A6C34878D82A}">
                    <a16:rowId xmlns:a16="http://schemas.microsoft.com/office/drawing/2014/main" val="1568501300"/>
                  </a:ext>
                </a:extLst>
              </a:tr>
              <a:tr h="399905">
                <a:tc>
                  <a:txBody>
                    <a:bodyPr/>
                    <a:lstStyle/>
                    <a:p>
                      <a:r>
                        <a:rPr lang="en-US" sz="1200"/>
                        <a:t>2023.0.x aka Leyton	</a:t>
                      </a:r>
                      <a:endParaRPr lang="en-US" sz="1200" dirty="0"/>
                    </a:p>
                  </a:txBody>
                  <a:tcPr/>
                </a:tc>
                <a:tc>
                  <a:txBody>
                    <a:bodyPr/>
                    <a:lstStyle/>
                    <a:p>
                      <a:r>
                        <a:rPr lang="en-US" sz="1200" b="0" i="0" kern="1200" dirty="0">
                          <a:solidFill>
                            <a:schemeClr val="dk1"/>
                          </a:solidFill>
                          <a:effectLst/>
                          <a:latin typeface="+mn-lt"/>
                          <a:ea typeface="+mn-ea"/>
                          <a:cs typeface="+mn-cs"/>
                        </a:rPr>
                        <a:t>3.3.x, 3.2.x</a:t>
                      </a:r>
                      <a:endParaRPr lang="en-US" sz="1200" dirty="0"/>
                    </a:p>
                  </a:txBody>
                  <a:tcPr/>
                </a:tc>
                <a:extLst>
                  <a:ext uri="{0D108BD9-81ED-4DB2-BD59-A6C34878D82A}">
                    <a16:rowId xmlns:a16="http://schemas.microsoft.com/office/drawing/2014/main" val="3041417831"/>
                  </a:ext>
                </a:extLst>
              </a:tr>
              <a:tr h="399905">
                <a:tc>
                  <a:txBody>
                    <a:bodyPr/>
                    <a:lstStyle/>
                    <a:p>
                      <a:r>
                        <a:rPr lang="en-US" sz="1200" dirty="0"/>
                        <a:t>2022.0.x aka </a:t>
                      </a:r>
                      <a:r>
                        <a:rPr lang="en-US" sz="1200" dirty="0" err="1"/>
                        <a:t>Kilbur</a:t>
                      </a:r>
                      <a:endParaRPr lang="en-US" sz="1200" dirty="0"/>
                    </a:p>
                  </a:txBody>
                  <a:tcPr/>
                </a:tc>
                <a:tc>
                  <a:txBody>
                    <a:bodyPr/>
                    <a:lstStyle/>
                    <a:p>
                      <a:pPr algn="l" fontAlgn="t"/>
                      <a:r>
                        <a:rPr lang="en-US" sz="1200" dirty="0">
                          <a:effectLst/>
                        </a:rPr>
                        <a:t>3.0.x, 3.1.x (Starting with 2022.0.3)</a:t>
                      </a:r>
                    </a:p>
                  </a:txBody>
                  <a:tcPr/>
                </a:tc>
                <a:extLst>
                  <a:ext uri="{0D108BD9-81ED-4DB2-BD59-A6C34878D82A}">
                    <a16:rowId xmlns:a16="http://schemas.microsoft.com/office/drawing/2014/main" val="934360143"/>
                  </a:ext>
                </a:extLst>
              </a:tr>
              <a:tr h="399905">
                <a:tc>
                  <a:txBody>
                    <a:bodyPr/>
                    <a:lstStyle/>
                    <a:p>
                      <a:r>
                        <a:rPr lang="en-US" sz="1200" dirty="0"/>
                        <a:t>2021.0.x aka Jubilee</a:t>
                      </a:r>
                    </a:p>
                  </a:txBody>
                  <a:tcPr/>
                </a:tc>
                <a:tc>
                  <a:txBody>
                    <a:bodyPr/>
                    <a:lstStyle/>
                    <a:p>
                      <a:pPr algn="l" fontAlgn="t"/>
                      <a:r>
                        <a:rPr lang="en-US" sz="1200" dirty="0">
                          <a:effectLst/>
                        </a:rPr>
                        <a:t>2.6.x, 2.7.x (Starting with 2021.0.3)</a:t>
                      </a:r>
                    </a:p>
                  </a:txBody>
                  <a:tcPr/>
                </a:tc>
                <a:extLst>
                  <a:ext uri="{0D108BD9-81ED-4DB2-BD59-A6C34878D82A}">
                    <a16:rowId xmlns:a16="http://schemas.microsoft.com/office/drawing/2014/main" val="1906485577"/>
                  </a:ext>
                </a:extLst>
              </a:tr>
              <a:tr h="399905">
                <a:tc>
                  <a:txBody>
                    <a:bodyPr/>
                    <a:lstStyle/>
                    <a:p>
                      <a:r>
                        <a:rPr lang="en-US" sz="1200" dirty="0"/>
                        <a:t>2020.0.x aka </a:t>
                      </a:r>
                      <a:r>
                        <a:rPr lang="en-US" sz="1200" dirty="0" err="1"/>
                        <a:t>Ilford</a:t>
                      </a:r>
                      <a:endParaRPr lang="en-US" sz="1200" dirty="0"/>
                    </a:p>
                  </a:txBody>
                  <a:tcPr/>
                </a:tc>
                <a:tc>
                  <a:txBody>
                    <a:bodyPr/>
                    <a:lstStyle/>
                    <a:p>
                      <a:pPr algn="l" fontAlgn="t"/>
                      <a:r>
                        <a:rPr lang="en-US" sz="1200" dirty="0">
                          <a:effectLst/>
                        </a:rPr>
                        <a:t>2.4.x, 2.5.x (Starting with 2020.0.3)</a:t>
                      </a:r>
                    </a:p>
                  </a:txBody>
                  <a:tcPr/>
                </a:tc>
                <a:extLst>
                  <a:ext uri="{0D108BD9-81ED-4DB2-BD59-A6C34878D82A}">
                    <a16:rowId xmlns:a16="http://schemas.microsoft.com/office/drawing/2014/main" val="2452299204"/>
                  </a:ext>
                </a:extLst>
              </a:tr>
              <a:tr h="399905">
                <a:tc>
                  <a:txBody>
                    <a:bodyPr/>
                    <a:lstStyle/>
                    <a:p>
                      <a:r>
                        <a:rPr lang="en-US" sz="1200" dirty="0"/>
                        <a:t>Hoxton	</a:t>
                      </a:r>
                    </a:p>
                  </a:txBody>
                  <a:tcPr/>
                </a:tc>
                <a:tc>
                  <a:txBody>
                    <a:bodyPr/>
                    <a:lstStyle/>
                    <a:p>
                      <a:pPr algn="l" fontAlgn="t"/>
                      <a:r>
                        <a:rPr lang="en-US" sz="1200" dirty="0">
                          <a:effectLst/>
                        </a:rPr>
                        <a:t>2.2.x, 2.3.x (Starting with SR5)</a:t>
                      </a:r>
                    </a:p>
                  </a:txBody>
                  <a:tcPr/>
                </a:tc>
                <a:extLst>
                  <a:ext uri="{0D108BD9-81ED-4DB2-BD59-A6C34878D82A}">
                    <a16:rowId xmlns:a16="http://schemas.microsoft.com/office/drawing/2014/main" val="879982103"/>
                  </a:ext>
                </a:extLst>
              </a:tr>
              <a:tr h="283548">
                <a:tc>
                  <a:txBody>
                    <a:bodyPr/>
                    <a:lstStyle/>
                    <a:p>
                      <a:r>
                        <a:rPr lang="en-US" sz="1200" dirty="0"/>
                        <a:t>Greenwich</a:t>
                      </a:r>
                    </a:p>
                  </a:txBody>
                  <a:tcPr/>
                </a:tc>
                <a:tc>
                  <a:txBody>
                    <a:bodyPr/>
                    <a:lstStyle/>
                    <a:p>
                      <a:pPr algn="l" fontAlgn="t"/>
                      <a:r>
                        <a:rPr lang="en-US" sz="1200" dirty="0">
                          <a:effectLst/>
                        </a:rPr>
                        <a:t>2.1.x</a:t>
                      </a:r>
                    </a:p>
                  </a:txBody>
                  <a:tcPr/>
                </a:tc>
                <a:extLst>
                  <a:ext uri="{0D108BD9-81ED-4DB2-BD59-A6C34878D82A}">
                    <a16:rowId xmlns:a16="http://schemas.microsoft.com/office/drawing/2014/main" val="2744963670"/>
                  </a:ext>
                </a:extLst>
              </a:tr>
              <a:tr h="283548">
                <a:tc>
                  <a:txBody>
                    <a:bodyPr/>
                    <a:lstStyle/>
                    <a:p>
                      <a:r>
                        <a:rPr lang="en-US" sz="1200" dirty="0" err="1"/>
                        <a:t>Finchley</a:t>
                      </a:r>
                      <a:endParaRPr lang="en-US" sz="1200" dirty="0"/>
                    </a:p>
                  </a:txBody>
                  <a:tcPr/>
                </a:tc>
                <a:tc>
                  <a:txBody>
                    <a:bodyPr/>
                    <a:lstStyle/>
                    <a:p>
                      <a:pPr algn="l" fontAlgn="t"/>
                      <a:r>
                        <a:rPr lang="en-US" sz="1200" dirty="0">
                          <a:effectLst/>
                        </a:rPr>
                        <a:t>2.0.x</a:t>
                      </a:r>
                    </a:p>
                  </a:txBody>
                  <a:tcPr/>
                </a:tc>
                <a:extLst>
                  <a:ext uri="{0D108BD9-81ED-4DB2-BD59-A6C34878D82A}">
                    <a16:rowId xmlns:a16="http://schemas.microsoft.com/office/drawing/2014/main" val="251704767"/>
                  </a:ext>
                </a:extLst>
              </a:tr>
              <a:tr h="283548">
                <a:tc>
                  <a:txBody>
                    <a:bodyPr/>
                    <a:lstStyle/>
                    <a:p>
                      <a:r>
                        <a:rPr lang="en-US" sz="1200" dirty="0" err="1"/>
                        <a:t>Edgware</a:t>
                      </a:r>
                      <a:endParaRPr lang="en-US" sz="1200" dirty="0"/>
                    </a:p>
                  </a:txBody>
                  <a:tcPr/>
                </a:tc>
                <a:tc>
                  <a:txBody>
                    <a:bodyPr/>
                    <a:lstStyle/>
                    <a:p>
                      <a:pPr algn="l" fontAlgn="t"/>
                      <a:r>
                        <a:rPr lang="en-US" sz="1200" dirty="0">
                          <a:effectLst/>
                        </a:rPr>
                        <a:t>1.5.x</a:t>
                      </a:r>
                    </a:p>
                  </a:txBody>
                  <a:tcPr/>
                </a:tc>
                <a:extLst>
                  <a:ext uri="{0D108BD9-81ED-4DB2-BD59-A6C34878D82A}">
                    <a16:rowId xmlns:a16="http://schemas.microsoft.com/office/drawing/2014/main" val="229824580"/>
                  </a:ext>
                </a:extLst>
              </a:tr>
              <a:tr h="283548">
                <a:tc>
                  <a:txBody>
                    <a:bodyPr/>
                    <a:lstStyle/>
                    <a:p>
                      <a:r>
                        <a:rPr lang="en-US" sz="1200" dirty="0"/>
                        <a:t>Dalston</a:t>
                      </a:r>
                    </a:p>
                  </a:txBody>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dirty="0">
                          <a:effectLst/>
                        </a:rPr>
                        <a:t>1.5.x</a:t>
                      </a:r>
                    </a:p>
                    <a:p>
                      <a:pPr algn="l" fontAlgn="t"/>
                      <a:endParaRPr lang="en-US" sz="1200" dirty="0">
                        <a:effectLst/>
                      </a:endParaRPr>
                    </a:p>
                  </a:txBody>
                  <a:tcPr/>
                </a:tc>
                <a:extLst>
                  <a:ext uri="{0D108BD9-81ED-4DB2-BD59-A6C34878D82A}">
                    <a16:rowId xmlns:a16="http://schemas.microsoft.com/office/drawing/2014/main" val="1785361884"/>
                  </a:ext>
                </a:extLst>
              </a:tr>
            </a:tbl>
          </a:graphicData>
        </a:graphic>
      </p:graphicFrame>
    </p:spTree>
    <p:extLst>
      <p:ext uri="{BB962C8B-B14F-4D97-AF65-F5344CB8AC3E}">
        <p14:creationId xmlns:p14="http://schemas.microsoft.com/office/powerpoint/2010/main" val="385763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endParaRPr lang="fr-CA" dirty="0">
              <a:solidFill>
                <a:schemeClr val="bg1"/>
              </a:solidFill>
            </a:endParaRPr>
          </a:p>
        </p:txBody>
      </p:sp>
      <p:sp>
        <p:nvSpPr>
          <p:cNvPr id="4099" name="Espace réservé du contenu 4"/>
          <p:cNvSpPr>
            <a:spLocks noGrp="1"/>
          </p:cNvSpPr>
          <p:nvPr>
            <p:ph idx="1"/>
          </p:nvPr>
        </p:nvSpPr>
        <p:spPr>
          <a:xfrm>
            <a:off x="228600" y="2133600"/>
            <a:ext cx="8686800" cy="990600"/>
          </a:xfrm>
        </p:spPr>
        <p:txBody>
          <a:bodyPr/>
          <a:lstStyle/>
          <a:p>
            <a:r>
              <a:rPr lang="en-US" sz="1400" b="1" dirty="0">
                <a:solidFill>
                  <a:srgbClr val="3C5790"/>
                </a:solidFill>
              </a:rPr>
              <a:t>Spring Boot Actuator </a:t>
            </a:r>
            <a:r>
              <a:rPr lang="en-US" sz="1400" dirty="0">
                <a:solidFill>
                  <a:srgbClr val="3C5790"/>
                </a:solidFill>
              </a:rPr>
              <a:t>is a sub-project of Spring Boot that provides production-ready features to help monitor and manage your application. </a:t>
            </a:r>
          </a:p>
          <a:p>
            <a:r>
              <a:rPr lang="en-US" sz="1400" dirty="0">
                <a:solidFill>
                  <a:srgbClr val="3C5790"/>
                </a:solidFill>
              </a:rPr>
              <a:t>It offers a set of built-in endpoints accessible via HTTP or JMX, which give insights into your application's health, metrics, environment, and more, enabling operational tasks and troubleshooting.</a:t>
            </a:r>
            <a:endParaRPr lang="fr-CA" sz="1400" dirty="0">
              <a:solidFill>
                <a:srgbClr val="3C5790"/>
              </a:solidFill>
            </a:endParaRPr>
          </a:p>
        </p:txBody>
      </p:sp>
    </p:spTree>
    <p:extLst>
      <p:ext uri="{BB962C8B-B14F-4D97-AF65-F5344CB8AC3E}">
        <p14:creationId xmlns:p14="http://schemas.microsoft.com/office/powerpoint/2010/main" val="2388260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733800"/>
          </a:xfrm>
        </p:spPr>
        <p:txBody>
          <a:bodyPr/>
          <a:lstStyle/>
          <a:p>
            <a:r>
              <a:rPr lang="en-US" sz="1400" u="sng" dirty="0">
                <a:solidFill>
                  <a:srgbClr val="3C5790"/>
                </a:solidFill>
              </a:rPr>
              <a:t>Key Points</a:t>
            </a:r>
          </a:p>
          <a:p>
            <a:pPr lvl="1"/>
            <a:r>
              <a:rPr lang="en-US" sz="1400" b="1" dirty="0">
                <a:solidFill>
                  <a:srgbClr val="3C5790"/>
                </a:solidFill>
              </a:rPr>
              <a:t>Health Checks</a:t>
            </a:r>
            <a:r>
              <a:rPr lang="en-US" sz="1400" dirty="0">
                <a:solidFill>
                  <a:srgbClr val="3C5790"/>
                </a:solidFill>
              </a:rPr>
              <a:t>: Monitor the health status of your application and its dependencies (e.g., databases, disk space).</a:t>
            </a:r>
          </a:p>
          <a:p>
            <a:pPr lvl="1"/>
            <a:r>
              <a:rPr lang="en-US" sz="1400" b="1" dirty="0">
                <a:solidFill>
                  <a:srgbClr val="3C5790"/>
                </a:solidFill>
              </a:rPr>
              <a:t>Metrics Collection</a:t>
            </a:r>
            <a:r>
              <a:rPr lang="en-US" sz="1400" dirty="0">
                <a:solidFill>
                  <a:srgbClr val="3C5790"/>
                </a:solidFill>
              </a:rPr>
              <a:t>: Collect various metrics like memory usage, garbage collection, HTTP request statistics, and custom application metrics via Micrometer.</a:t>
            </a:r>
          </a:p>
          <a:p>
            <a:pPr lvl="1"/>
            <a:r>
              <a:rPr lang="en-US" sz="1400" b="1" dirty="0">
                <a:solidFill>
                  <a:srgbClr val="3C5790"/>
                </a:solidFill>
              </a:rPr>
              <a:t>Environment Info</a:t>
            </a:r>
            <a:r>
              <a:rPr lang="en-US" sz="1400" dirty="0">
                <a:solidFill>
                  <a:srgbClr val="3C5790"/>
                </a:solidFill>
              </a:rPr>
              <a:t>: Access detailed information about application environment and configuration properties.</a:t>
            </a:r>
          </a:p>
          <a:p>
            <a:pPr lvl="1"/>
            <a:r>
              <a:rPr lang="en-US" sz="1400" b="1" dirty="0">
                <a:solidFill>
                  <a:srgbClr val="3C5790"/>
                </a:solidFill>
              </a:rPr>
              <a:t>Application Info</a:t>
            </a:r>
            <a:r>
              <a:rPr lang="en-US" sz="1400" dirty="0">
                <a:solidFill>
                  <a:srgbClr val="3C5790"/>
                </a:solidFill>
              </a:rPr>
              <a:t>: Retrieve metadata about your app such as version, description, and build information.</a:t>
            </a:r>
          </a:p>
          <a:p>
            <a:endParaRPr lang="fr-CA" sz="1400" dirty="0">
              <a:solidFill>
                <a:srgbClr val="3C5790"/>
              </a:solidFill>
            </a:endParaRPr>
          </a:p>
        </p:txBody>
      </p:sp>
    </p:spTree>
    <p:extLst>
      <p:ext uri="{BB962C8B-B14F-4D97-AF65-F5344CB8AC3E}">
        <p14:creationId xmlns:p14="http://schemas.microsoft.com/office/powerpoint/2010/main" val="3846176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733800"/>
          </a:xfrm>
        </p:spPr>
        <p:txBody>
          <a:bodyPr/>
          <a:lstStyle/>
          <a:p>
            <a:r>
              <a:rPr lang="en-US" sz="1400" u="sng" dirty="0">
                <a:solidFill>
                  <a:srgbClr val="3C5790"/>
                </a:solidFill>
              </a:rPr>
              <a:t>Key Points</a:t>
            </a:r>
          </a:p>
          <a:p>
            <a:pPr lvl="1"/>
            <a:r>
              <a:rPr lang="en-US" sz="1400" b="1" dirty="0">
                <a:solidFill>
                  <a:srgbClr val="3C5790"/>
                </a:solidFill>
              </a:rPr>
              <a:t>Dynamic Log Levels</a:t>
            </a:r>
            <a:r>
              <a:rPr lang="en-US" sz="1400" dirty="0">
                <a:solidFill>
                  <a:srgbClr val="3C5790"/>
                </a:solidFill>
              </a:rPr>
              <a:t>: Change logging levels on-the-fly without restarting the application.</a:t>
            </a:r>
          </a:p>
          <a:p>
            <a:pPr lvl="1"/>
            <a:r>
              <a:rPr lang="en-US" sz="1400" b="1" dirty="0">
                <a:solidFill>
                  <a:srgbClr val="3C5790"/>
                </a:solidFill>
              </a:rPr>
              <a:t>Tracing and HTTP Request Details</a:t>
            </a:r>
            <a:r>
              <a:rPr lang="en-US" sz="1400" dirty="0">
                <a:solidFill>
                  <a:srgbClr val="3C5790"/>
                </a:solidFill>
              </a:rPr>
              <a:t>: Trace requests for debugging and monitoring.</a:t>
            </a:r>
          </a:p>
          <a:p>
            <a:pPr lvl="1"/>
            <a:r>
              <a:rPr lang="en-US" sz="1400" b="1" dirty="0">
                <a:solidFill>
                  <a:srgbClr val="3C5790"/>
                </a:solidFill>
              </a:rPr>
              <a:t>Endpoint Exposure</a:t>
            </a:r>
            <a:r>
              <a:rPr lang="en-US" sz="1400" dirty="0">
                <a:solidFill>
                  <a:srgbClr val="3C5790"/>
                </a:solidFill>
              </a:rPr>
              <a:t>: Provides HTTP endpoints (default prefix /actuator) for interacting with the application remotely.</a:t>
            </a:r>
          </a:p>
          <a:p>
            <a:pPr lvl="1"/>
            <a:r>
              <a:rPr lang="en-US" sz="1400" b="1" dirty="0">
                <a:solidFill>
                  <a:srgbClr val="3C5790"/>
                </a:solidFill>
              </a:rPr>
              <a:t>Integration</a:t>
            </a:r>
            <a:r>
              <a:rPr lang="en-US" sz="1400" dirty="0">
                <a:solidFill>
                  <a:srgbClr val="3C5790"/>
                </a:solidFill>
              </a:rPr>
              <a:t>: Easily integrates with monitoring systems like Prometheus, Grafana, New Relic, Datadog, and others.</a:t>
            </a:r>
          </a:p>
          <a:p>
            <a:pPr lvl="1"/>
            <a:r>
              <a:rPr lang="en-US" sz="1400" b="1" dirty="0">
                <a:solidFill>
                  <a:srgbClr val="3C5790"/>
                </a:solidFill>
              </a:rPr>
              <a:t>Custom Endpoints</a:t>
            </a:r>
            <a:r>
              <a:rPr lang="en-US" sz="1400" dirty="0">
                <a:solidFill>
                  <a:srgbClr val="3C5790"/>
                </a:solidFill>
              </a:rPr>
              <a:t>: Allows creating custom management endpoints.</a:t>
            </a:r>
          </a:p>
          <a:p>
            <a:endParaRPr lang="fr-CA" sz="1400" dirty="0">
              <a:solidFill>
                <a:srgbClr val="3C5790"/>
              </a:solidFill>
            </a:endParaRPr>
          </a:p>
        </p:txBody>
      </p:sp>
    </p:spTree>
    <p:extLst>
      <p:ext uri="{BB962C8B-B14F-4D97-AF65-F5344CB8AC3E}">
        <p14:creationId xmlns:p14="http://schemas.microsoft.com/office/powerpoint/2010/main" val="511011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81000"/>
          </a:xfrm>
        </p:spPr>
        <p:txBody>
          <a:bodyPr/>
          <a:lstStyle/>
          <a:p>
            <a:r>
              <a:rPr lang="en-US" sz="1400" u="sng" dirty="0">
                <a:solidFill>
                  <a:srgbClr val="3C5790"/>
                </a:solidFill>
              </a:rPr>
              <a:t>Common Actuator Endpoints</a:t>
            </a:r>
            <a:r>
              <a:rPr lang="en-US" sz="1400" dirty="0">
                <a:solidFill>
                  <a:srgbClr val="3C5790"/>
                </a:solidFill>
              </a:rPr>
              <a:t>: /actuator/${name}</a:t>
            </a:r>
            <a:endParaRPr lang="en-US" sz="1400" u="sng" dirty="0">
              <a:solidFill>
                <a:srgbClr val="3C5790"/>
              </a:solidFill>
            </a:endParaRPr>
          </a:p>
        </p:txBody>
      </p:sp>
      <p:graphicFrame>
        <p:nvGraphicFramePr>
          <p:cNvPr id="4" name="Table 2">
            <a:extLst>
              <a:ext uri="{FF2B5EF4-FFF2-40B4-BE49-F238E27FC236}">
                <a16:creationId xmlns:a16="http://schemas.microsoft.com/office/drawing/2014/main" id="{2EAF9B73-9EAA-4D59-952A-8A24A9C136A1}"/>
              </a:ext>
            </a:extLst>
          </p:cNvPr>
          <p:cNvGraphicFramePr>
            <a:graphicFrameLocks noGrp="1"/>
          </p:cNvGraphicFramePr>
          <p:nvPr>
            <p:extLst>
              <p:ext uri="{D42A27DB-BD31-4B8C-83A1-F6EECF244321}">
                <p14:modId xmlns:p14="http://schemas.microsoft.com/office/powerpoint/2010/main" val="3027399919"/>
              </p:ext>
            </p:extLst>
          </p:nvPr>
        </p:nvGraphicFramePr>
        <p:xfrm>
          <a:off x="228600" y="2514600"/>
          <a:ext cx="8839200" cy="333756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589151108"/>
                    </a:ext>
                  </a:extLst>
                </a:gridCol>
                <a:gridCol w="4648200">
                  <a:extLst>
                    <a:ext uri="{9D8B030D-6E8A-4147-A177-3AD203B41FA5}">
                      <a16:colId xmlns:a16="http://schemas.microsoft.com/office/drawing/2014/main" val="4035097610"/>
                    </a:ext>
                  </a:extLst>
                </a:gridCol>
                <a:gridCol w="2895600">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Description</a:t>
                      </a:r>
                    </a:p>
                  </a:txBody>
                  <a:tcPr/>
                </a:tc>
                <a:tc>
                  <a:txBody>
                    <a:bodyPr/>
                    <a:lstStyle/>
                    <a:p>
                      <a:r>
                        <a:rPr lang="en-US" dirty="0"/>
                        <a:t>Enabled by default</a:t>
                      </a:r>
                    </a:p>
                  </a:txBody>
                  <a:tcPr/>
                </a:tc>
                <a:extLst>
                  <a:ext uri="{0D108BD9-81ED-4DB2-BD59-A6C34878D82A}">
                    <a16:rowId xmlns:a16="http://schemas.microsoft.com/office/drawing/2014/main" val="1438961077"/>
                  </a:ext>
                </a:extLst>
              </a:tr>
              <a:tr h="370840">
                <a:tc>
                  <a:txBody>
                    <a:bodyPr/>
                    <a:lstStyle/>
                    <a:p>
                      <a:r>
                        <a:rPr lang="en-US" sz="1200" dirty="0"/>
                        <a:t>Health</a:t>
                      </a:r>
                    </a:p>
                  </a:txBody>
                  <a:tcPr/>
                </a:tc>
                <a:tc>
                  <a:txBody>
                    <a:bodyPr/>
                    <a:lstStyle/>
                    <a:p>
                      <a:r>
                        <a:rPr lang="en-US" sz="1200" dirty="0"/>
                        <a:t>Shows application health status and details</a:t>
                      </a:r>
                    </a:p>
                  </a:txBody>
                  <a:tcPr/>
                </a:tc>
                <a:tc>
                  <a:txBody>
                    <a:bodyPr/>
                    <a:lstStyle/>
                    <a:p>
                      <a:r>
                        <a:rPr lang="en-US" sz="1200" dirty="0"/>
                        <a:t>Yes</a:t>
                      </a:r>
                    </a:p>
                  </a:txBody>
                  <a:tcPr/>
                </a:tc>
                <a:extLst>
                  <a:ext uri="{0D108BD9-81ED-4DB2-BD59-A6C34878D82A}">
                    <a16:rowId xmlns:a16="http://schemas.microsoft.com/office/drawing/2014/main" val="2324881647"/>
                  </a:ext>
                </a:extLst>
              </a:tr>
              <a:tr h="370840">
                <a:tc>
                  <a:txBody>
                    <a:bodyPr/>
                    <a:lstStyle/>
                    <a:p>
                      <a:r>
                        <a:rPr lang="en-US" sz="1200" dirty="0"/>
                        <a:t>info</a:t>
                      </a:r>
                    </a:p>
                  </a:txBody>
                  <a:tcPr/>
                </a:tc>
                <a:tc>
                  <a:txBody>
                    <a:bodyPr/>
                    <a:lstStyle/>
                    <a:p>
                      <a:r>
                        <a:rPr lang="en-US" sz="1200" dirty="0"/>
                        <a:t>Displays arbitrary application info (version, description)</a:t>
                      </a:r>
                    </a:p>
                  </a:txBody>
                  <a:tcPr/>
                </a:tc>
                <a:tc>
                  <a:txBody>
                    <a:bodyPr/>
                    <a:lstStyle/>
                    <a:p>
                      <a:r>
                        <a:rPr lang="en-US" sz="1200" dirty="0"/>
                        <a:t>Yes</a:t>
                      </a:r>
                    </a:p>
                  </a:txBody>
                  <a:tcPr/>
                </a:tc>
                <a:extLst>
                  <a:ext uri="{0D108BD9-81ED-4DB2-BD59-A6C34878D82A}">
                    <a16:rowId xmlns:a16="http://schemas.microsoft.com/office/drawing/2014/main" val="1568501300"/>
                  </a:ext>
                </a:extLst>
              </a:tr>
              <a:tr h="370840">
                <a:tc>
                  <a:txBody>
                    <a:bodyPr/>
                    <a:lstStyle/>
                    <a:p>
                      <a:r>
                        <a:rPr lang="en-US" sz="1200" dirty="0"/>
                        <a:t>metrics</a:t>
                      </a:r>
                    </a:p>
                  </a:txBody>
                  <a:tcPr/>
                </a:tc>
                <a:tc>
                  <a:txBody>
                    <a:bodyPr/>
                    <a:lstStyle/>
                    <a:p>
                      <a:r>
                        <a:rPr lang="en-US" sz="1200" dirty="0"/>
                        <a:t>Exposes metrics collected by Micrometer</a:t>
                      </a:r>
                    </a:p>
                  </a:txBody>
                  <a:tcPr/>
                </a:tc>
                <a:tc>
                  <a:txBody>
                    <a:bodyPr/>
                    <a:lstStyle/>
                    <a:p>
                      <a:r>
                        <a:rPr lang="en-US" sz="1200" dirty="0"/>
                        <a:t>Yes</a:t>
                      </a:r>
                    </a:p>
                  </a:txBody>
                  <a:tcPr/>
                </a:tc>
                <a:extLst>
                  <a:ext uri="{0D108BD9-81ED-4DB2-BD59-A6C34878D82A}">
                    <a16:rowId xmlns:a16="http://schemas.microsoft.com/office/drawing/2014/main" val="3041417831"/>
                  </a:ext>
                </a:extLst>
              </a:tr>
              <a:tr h="370840">
                <a:tc>
                  <a:txBody>
                    <a:bodyPr/>
                    <a:lstStyle/>
                    <a:p>
                      <a:r>
                        <a:rPr lang="en-US" sz="1200" dirty="0"/>
                        <a:t>beans</a:t>
                      </a:r>
                    </a:p>
                  </a:txBody>
                  <a:tcPr/>
                </a:tc>
                <a:tc>
                  <a:txBody>
                    <a:bodyPr/>
                    <a:lstStyle/>
                    <a:p>
                      <a:r>
                        <a:rPr lang="en-US" sz="1200" dirty="0"/>
                        <a:t>Lists all Spring beans in the application context</a:t>
                      </a:r>
                    </a:p>
                  </a:txBody>
                  <a:tcPr/>
                </a:tc>
                <a:tc>
                  <a:txBody>
                    <a:bodyPr/>
                    <a:lstStyle/>
                    <a:p>
                      <a:r>
                        <a:rPr lang="en-US" sz="1200" dirty="0"/>
                        <a:t>Yes</a:t>
                      </a:r>
                    </a:p>
                  </a:txBody>
                  <a:tcPr/>
                </a:tc>
                <a:extLst>
                  <a:ext uri="{0D108BD9-81ED-4DB2-BD59-A6C34878D82A}">
                    <a16:rowId xmlns:a16="http://schemas.microsoft.com/office/drawing/2014/main" val="934360143"/>
                  </a:ext>
                </a:extLst>
              </a:tr>
              <a:tr h="370840">
                <a:tc>
                  <a:txBody>
                    <a:bodyPr/>
                    <a:lstStyle/>
                    <a:p>
                      <a:r>
                        <a:rPr lang="en-US" sz="1200" dirty="0"/>
                        <a:t>env</a:t>
                      </a:r>
                    </a:p>
                  </a:txBody>
                  <a:tcPr/>
                </a:tc>
                <a:tc>
                  <a:txBody>
                    <a:bodyPr/>
                    <a:lstStyle/>
                    <a:p>
                      <a:r>
                        <a:rPr lang="en-US" sz="1200" dirty="0"/>
                        <a:t>Shows environment properties and configurations</a:t>
                      </a:r>
                    </a:p>
                  </a:txBody>
                  <a:tcPr/>
                </a:tc>
                <a:tc>
                  <a:txBody>
                    <a:bodyPr/>
                    <a:lstStyle/>
                    <a:p>
                      <a:r>
                        <a:rPr lang="en-US" sz="1200" dirty="0"/>
                        <a:t>Yes</a:t>
                      </a:r>
                    </a:p>
                  </a:txBody>
                  <a:tcPr/>
                </a:tc>
                <a:extLst>
                  <a:ext uri="{0D108BD9-81ED-4DB2-BD59-A6C34878D82A}">
                    <a16:rowId xmlns:a16="http://schemas.microsoft.com/office/drawing/2014/main" val="1906485577"/>
                  </a:ext>
                </a:extLst>
              </a:tr>
              <a:tr h="370840">
                <a:tc>
                  <a:txBody>
                    <a:bodyPr/>
                    <a:lstStyle/>
                    <a:p>
                      <a:r>
                        <a:rPr lang="en-US" sz="1200" dirty="0"/>
                        <a:t>loggers</a:t>
                      </a:r>
                    </a:p>
                  </a:txBody>
                  <a:tcPr/>
                </a:tc>
                <a:tc>
                  <a:txBody>
                    <a:bodyPr/>
                    <a:lstStyle/>
                    <a:p>
                      <a:r>
                        <a:rPr lang="en-US" sz="1200" dirty="0"/>
                        <a:t>Shows and allows modification of log levels</a:t>
                      </a:r>
                    </a:p>
                  </a:txBody>
                  <a:tcPr/>
                </a:tc>
                <a:tc>
                  <a:txBody>
                    <a:bodyPr/>
                    <a:lstStyle/>
                    <a:p>
                      <a:r>
                        <a:rPr lang="en-US" sz="1200" dirty="0"/>
                        <a:t>Yes</a:t>
                      </a:r>
                    </a:p>
                  </a:txBody>
                  <a:tcPr/>
                </a:tc>
                <a:extLst>
                  <a:ext uri="{0D108BD9-81ED-4DB2-BD59-A6C34878D82A}">
                    <a16:rowId xmlns:a16="http://schemas.microsoft.com/office/drawing/2014/main" val="2452299204"/>
                  </a:ext>
                </a:extLst>
              </a:tr>
              <a:tr h="370840">
                <a:tc>
                  <a:txBody>
                    <a:bodyPr/>
                    <a:lstStyle/>
                    <a:p>
                      <a:r>
                        <a:rPr lang="en-US" sz="1200" dirty="0"/>
                        <a:t>mappings</a:t>
                      </a:r>
                    </a:p>
                  </a:txBody>
                  <a:tcPr/>
                </a:tc>
                <a:tc>
                  <a:txBody>
                    <a:bodyPr/>
                    <a:lstStyle/>
                    <a:p>
                      <a:r>
                        <a:rPr lang="en-US" sz="1200" dirty="0"/>
                        <a:t>Exposes all HTTP request mappings</a:t>
                      </a:r>
                    </a:p>
                  </a:txBody>
                  <a:tcPr/>
                </a:tc>
                <a:tc>
                  <a:txBody>
                    <a:bodyPr/>
                    <a:lstStyle/>
                    <a:p>
                      <a:r>
                        <a:rPr lang="en-US" sz="1200" dirty="0"/>
                        <a:t>No</a:t>
                      </a:r>
                    </a:p>
                  </a:txBody>
                  <a:tcPr/>
                </a:tc>
                <a:extLst>
                  <a:ext uri="{0D108BD9-81ED-4DB2-BD59-A6C34878D82A}">
                    <a16:rowId xmlns:a16="http://schemas.microsoft.com/office/drawing/2014/main" val="879982103"/>
                  </a:ext>
                </a:extLst>
              </a:tr>
              <a:tr h="370840">
                <a:tc>
                  <a:txBody>
                    <a:bodyPr/>
                    <a:lstStyle/>
                    <a:p>
                      <a:r>
                        <a:rPr lang="en-US" sz="1200" dirty="0" err="1"/>
                        <a:t>threaddump</a:t>
                      </a:r>
                      <a:endParaRPr lang="en-US" sz="1200" dirty="0"/>
                    </a:p>
                  </a:txBody>
                  <a:tcPr/>
                </a:tc>
                <a:tc>
                  <a:txBody>
                    <a:bodyPr/>
                    <a:lstStyle/>
                    <a:p>
                      <a:r>
                        <a:rPr lang="en-US" sz="1200" dirty="0"/>
                        <a:t>Provides a thread dump of the JVM</a:t>
                      </a:r>
                    </a:p>
                  </a:txBody>
                  <a:tcPr/>
                </a:tc>
                <a:tc>
                  <a:txBody>
                    <a:bodyPr/>
                    <a:lstStyle/>
                    <a:p>
                      <a:r>
                        <a:rPr lang="en-US" sz="1200" dirty="0"/>
                        <a:t>Yes</a:t>
                      </a:r>
                    </a:p>
                  </a:txBody>
                  <a:tcPr/>
                </a:tc>
                <a:extLst>
                  <a:ext uri="{0D108BD9-81ED-4DB2-BD59-A6C34878D82A}">
                    <a16:rowId xmlns:a16="http://schemas.microsoft.com/office/drawing/2014/main" val="57339400"/>
                  </a:ext>
                </a:extLst>
              </a:tr>
            </a:tbl>
          </a:graphicData>
        </a:graphic>
      </p:graphicFrame>
    </p:spTree>
    <p:extLst>
      <p:ext uri="{BB962C8B-B14F-4D97-AF65-F5344CB8AC3E}">
        <p14:creationId xmlns:p14="http://schemas.microsoft.com/office/powerpoint/2010/main" val="2793594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81000"/>
          </a:xfrm>
        </p:spPr>
        <p:txBody>
          <a:bodyPr/>
          <a:lstStyle/>
          <a:p>
            <a:r>
              <a:rPr lang="en-US" sz="1400" u="sng" dirty="0">
                <a:solidFill>
                  <a:srgbClr val="3C5790"/>
                </a:solidFill>
              </a:rPr>
              <a:t>Common Actuator Endpoints</a:t>
            </a:r>
            <a:r>
              <a:rPr lang="en-US" sz="1400" dirty="0">
                <a:solidFill>
                  <a:srgbClr val="3C5790"/>
                </a:solidFill>
              </a:rPr>
              <a:t>: /actuator/${name}</a:t>
            </a:r>
            <a:endParaRPr lang="en-US" sz="1400" u="sng" dirty="0">
              <a:solidFill>
                <a:srgbClr val="3C5790"/>
              </a:solidFill>
            </a:endParaRPr>
          </a:p>
        </p:txBody>
      </p:sp>
      <p:graphicFrame>
        <p:nvGraphicFramePr>
          <p:cNvPr id="4" name="Table 2">
            <a:extLst>
              <a:ext uri="{FF2B5EF4-FFF2-40B4-BE49-F238E27FC236}">
                <a16:creationId xmlns:a16="http://schemas.microsoft.com/office/drawing/2014/main" id="{2EAF9B73-9EAA-4D59-952A-8A24A9C136A1}"/>
              </a:ext>
            </a:extLst>
          </p:cNvPr>
          <p:cNvGraphicFramePr>
            <a:graphicFrameLocks noGrp="1"/>
          </p:cNvGraphicFramePr>
          <p:nvPr>
            <p:extLst>
              <p:ext uri="{D42A27DB-BD31-4B8C-83A1-F6EECF244321}">
                <p14:modId xmlns:p14="http://schemas.microsoft.com/office/powerpoint/2010/main" val="1588377927"/>
              </p:ext>
            </p:extLst>
          </p:nvPr>
        </p:nvGraphicFramePr>
        <p:xfrm>
          <a:off x="228600" y="2514600"/>
          <a:ext cx="8839200" cy="370840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589151108"/>
                    </a:ext>
                  </a:extLst>
                </a:gridCol>
                <a:gridCol w="4648200">
                  <a:extLst>
                    <a:ext uri="{9D8B030D-6E8A-4147-A177-3AD203B41FA5}">
                      <a16:colId xmlns:a16="http://schemas.microsoft.com/office/drawing/2014/main" val="4035097610"/>
                    </a:ext>
                  </a:extLst>
                </a:gridCol>
                <a:gridCol w="2895600">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Description</a:t>
                      </a:r>
                    </a:p>
                  </a:txBody>
                  <a:tcPr/>
                </a:tc>
                <a:tc>
                  <a:txBody>
                    <a:bodyPr/>
                    <a:lstStyle/>
                    <a:p>
                      <a:r>
                        <a:rPr lang="en-US" dirty="0"/>
                        <a:t>Enabled by default</a:t>
                      </a:r>
                    </a:p>
                  </a:txBody>
                  <a:tcPr/>
                </a:tc>
                <a:extLst>
                  <a:ext uri="{0D108BD9-81ED-4DB2-BD59-A6C34878D82A}">
                    <a16:rowId xmlns:a16="http://schemas.microsoft.com/office/drawing/2014/main" val="1438961077"/>
                  </a:ext>
                </a:extLst>
              </a:tr>
              <a:tr h="370840">
                <a:tc>
                  <a:txBody>
                    <a:bodyPr/>
                    <a:lstStyle/>
                    <a:p>
                      <a:r>
                        <a:rPr lang="en-US" sz="1200" dirty="0" err="1"/>
                        <a:t>httptrace</a:t>
                      </a:r>
                      <a:endParaRPr lang="en-US" sz="1200" dirty="0"/>
                    </a:p>
                  </a:txBody>
                  <a:tcPr/>
                </a:tc>
                <a:tc>
                  <a:txBody>
                    <a:bodyPr/>
                    <a:lstStyle/>
                    <a:p>
                      <a:r>
                        <a:rPr lang="en-US" sz="1200" dirty="0"/>
                        <a:t>Shows last HTTP request traces</a:t>
                      </a:r>
                    </a:p>
                  </a:txBody>
                  <a:tcPr/>
                </a:tc>
                <a:tc>
                  <a:txBody>
                    <a:bodyPr/>
                    <a:lstStyle/>
                    <a:p>
                      <a:r>
                        <a:rPr lang="en-US" sz="1200" dirty="0"/>
                        <a:t>No (included in micrometer)</a:t>
                      </a:r>
                    </a:p>
                  </a:txBody>
                  <a:tcPr/>
                </a:tc>
                <a:extLst>
                  <a:ext uri="{0D108BD9-81ED-4DB2-BD59-A6C34878D82A}">
                    <a16:rowId xmlns:a16="http://schemas.microsoft.com/office/drawing/2014/main" val="2324881647"/>
                  </a:ext>
                </a:extLst>
              </a:tr>
              <a:tr h="370840">
                <a:tc>
                  <a:txBody>
                    <a:bodyPr/>
                    <a:lstStyle/>
                    <a:p>
                      <a:r>
                        <a:rPr lang="en-US" sz="1200" dirty="0"/>
                        <a:t>shutdown</a:t>
                      </a:r>
                    </a:p>
                  </a:txBody>
                  <a:tcPr/>
                </a:tc>
                <a:tc>
                  <a:txBody>
                    <a:bodyPr/>
                    <a:lstStyle/>
                    <a:p>
                      <a:r>
                        <a:rPr lang="en-US" sz="1200" dirty="0"/>
                        <a:t>Gracefully shuts down the application (disabled by default)</a:t>
                      </a:r>
                    </a:p>
                  </a:txBody>
                  <a:tcPr/>
                </a:tc>
                <a:tc>
                  <a:txBody>
                    <a:bodyPr/>
                    <a:lstStyle/>
                    <a:p>
                      <a:r>
                        <a:rPr lang="en-US" sz="1200" dirty="0"/>
                        <a:t>No</a:t>
                      </a:r>
                    </a:p>
                  </a:txBody>
                  <a:tcPr/>
                </a:tc>
                <a:extLst>
                  <a:ext uri="{0D108BD9-81ED-4DB2-BD59-A6C34878D82A}">
                    <a16:rowId xmlns:a16="http://schemas.microsoft.com/office/drawing/2014/main" val="1568501300"/>
                  </a:ext>
                </a:extLst>
              </a:tr>
              <a:tr h="370840">
                <a:tc>
                  <a:txBody>
                    <a:bodyPr/>
                    <a:lstStyle/>
                    <a:p>
                      <a:r>
                        <a:rPr lang="en-US" sz="1200" dirty="0"/>
                        <a:t>sessions</a:t>
                      </a:r>
                    </a:p>
                  </a:txBody>
                  <a:tcPr/>
                </a:tc>
                <a:tc>
                  <a:txBody>
                    <a:bodyPr/>
                    <a:lstStyle/>
                    <a:p>
                      <a:r>
                        <a:rPr lang="en-US" sz="1200" dirty="0"/>
                        <a:t>Lists and manages HTTP sessions (when Spring Session is used)</a:t>
                      </a:r>
                    </a:p>
                  </a:txBody>
                  <a:tcPr/>
                </a:tc>
                <a:tc>
                  <a:txBody>
                    <a:bodyPr/>
                    <a:lstStyle/>
                    <a:p>
                      <a:r>
                        <a:rPr lang="en-US" sz="1200" dirty="0"/>
                        <a:t>No</a:t>
                      </a:r>
                    </a:p>
                  </a:txBody>
                  <a:tcPr/>
                </a:tc>
                <a:extLst>
                  <a:ext uri="{0D108BD9-81ED-4DB2-BD59-A6C34878D82A}">
                    <a16:rowId xmlns:a16="http://schemas.microsoft.com/office/drawing/2014/main" val="3041417831"/>
                  </a:ext>
                </a:extLst>
              </a:tr>
              <a:tr h="370840">
                <a:tc>
                  <a:txBody>
                    <a:bodyPr/>
                    <a:lstStyle/>
                    <a:p>
                      <a:r>
                        <a:rPr lang="en-US" sz="1200" dirty="0" err="1"/>
                        <a:t>scheduledtasks</a:t>
                      </a:r>
                      <a:endParaRPr lang="en-US" sz="1200" dirty="0"/>
                    </a:p>
                  </a:txBody>
                  <a:tcPr/>
                </a:tc>
                <a:tc>
                  <a:txBody>
                    <a:bodyPr/>
                    <a:lstStyle/>
                    <a:p>
                      <a:r>
                        <a:rPr lang="en-US" sz="1200" dirty="0"/>
                        <a:t>Lists all scheduled tasks running in the application</a:t>
                      </a:r>
                    </a:p>
                  </a:txBody>
                  <a:tcPr/>
                </a:tc>
                <a:tc>
                  <a:txBody>
                    <a:bodyPr/>
                    <a:lstStyle/>
                    <a:p>
                      <a:r>
                        <a:rPr lang="en-US" sz="1200" dirty="0"/>
                        <a:t>Yes</a:t>
                      </a:r>
                    </a:p>
                  </a:txBody>
                  <a:tcPr/>
                </a:tc>
                <a:extLst>
                  <a:ext uri="{0D108BD9-81ED-4DB2-BD59-A6C34878D82A}">
                    <a16:rowId xmlns:a16="http://schemas.microsoft.com/office/drawing/2014/main" val="934360143"/>
                  </a:ext>
                </a:extLst>
              </a:tr>
              <a:tr h="370840">
                <a:tc>
                  <a:txBody>
                    <a:bodyPr/>
                    <a:lstStyle/>
                    <a:p>
                      <a:r>
                        <a:rPr lang="en-US" sz="1200" dirty="0"/>
                        <a:t>caches</a:t>
                      </a:r>
                    </a:p>
                  </a:txBody>
                  <a:tcPr/>
                </a:tc>
                <a:tc>
                  <a:txBody>
                    <a:bodyPr/>
                    <a:lstStyle/>
                    <a:p>
                      <a:r>
                        <a:rPr lang="en-US" sz="1200" dirty="0"/>
                        <a:t>Displays available caches and statistics</a:t>
                      </a:r>
                    </a:p>
                  </a:txBody>
                  <a:tcPr/>
                </a:tc>
                <a:tc>
                  <a:txBody>
                    <a:bodyPr/>
                    <a:lstStyle/>
                    <a:p>
                      <a:r>
                        <a:rPr lang="en-US" sz="1200" dirty="0"/>
                        <a:t>Yes</a:t>
                      </a:r>
                    </a:p>
                  </a:txBody>
                  <a:tcPr/>
                </a:tc>
                <a:extLst>
                  <a:ext uri="{0D108BD9-81ED-4DB2-BD59-A6C34878D82A}">
                    <a16:rowId xmlns:a16="http://schemas.microsoft.com/office/drawing/2014/main" val="1906485577"/>
                  </a:ext>
                </a:extLst>
              </a:tr>
              <a:tr h="370840">
                <a:tc>
                  <a:txBody>
                    <a:bodyPr/>
                    <a:lstStyle/>
                    <a:p>
                      <a:r>
                        <a:rPr lang="en-US" sz="1200" dirty="0" err="1"/>
                        <a:t>auditevents</a:t>
                      </a:r>
                      <a:endParaRPr lang="en-US" sz="1200" dirty="0"/>
                    </a:p>
                  </a:txBody>
                  <a:tcPr/>
                </a:tc>
                <a:tc>
                  <a:txBody>
                    <a:bodyPr/>
                    <a:lstStyle/>
                    <a:p>
                      <a:r>
                        <a:rPr lang="en-US" sz="1200" dirty="0"/>
                        <a:t>Lists audit events (like user login)</a:t>
                      </a:r>
                    </a:p>
                  </a:txBody>
                  <a:tcPr/>
                </a:tc>
                <a:tc>
                  <a:txBody>
                    <a:bodyPr/>
                    <a:lstStyle/>
                    <a:p>
                      <a:r>
                        <a:rPr lang="en-US" sz="1200" dirty="0"/>
                        <a:t>Yes</a:t>
                      </a:r>
                    </a:p>
                  </a:txBody>
                  <a:tcPr/>
                </a:tc>
                <a:extLst>
                  <a:ext uri="{0D108BD9-81ED-4DB2-BD59-A6C34878D82A}">
                    <a16:rowId xmlns:a16="http://schemas.microsoft.com/office/drawing/2014/main" val="2452299204"/>
                  </a:ext>
                </a:extLst>
              </a:tr>
              <a:tr h="370840">
                <a:tc>
                  <a:txBody>
                    <a:bodyPr/>
                    <a:lstStyle/>
                    <a:p>
                      <a:r>
                        <a:rPr lang="en-US" sz="1200" dirty="0" err="1"/>
                        <a:t>liquibase</a:t>
                      </a:r>
                      <a:endParaRPr lang="en-US" sz="1200" dirty="0"/>
                    </a:p>
                  </a:txBody>
                  <a:tcPr/>
                </a:tc>
                <a:tc>
                  <a:txBody>
                    <a:bodyPr/>
                    <a:lstStyle/>
                    <a:p>
                      <a:r>
                        <a:rPr lang="en-US" sz="1200" dirty="0"/>
                        <a:t>Shows Liquibase database migration status</a:t>
                      </a:r>
                    </a:p>
                  </a:txBody>
                  <a:tcPr/>
                </a:tc>
                <a:tc>
                  <a:txBody>
                    <a:bodyPr/>
                    <a:lstStyle/>
                    <a:p>
                      <a:r>
                        <a:rPr lang="en-US" sz="1200" dirty="0"/>
                        <a:t>Yes</a:t>
                      </a:r>
                    </a:p>
                  </a:txBody>
                  <a:tcPr/>
                </a:tc>
                <a:extLst>
                  <a:ext uri="{0D108BD9-81ED-4DB2-BD59-A6C34878D82A}">
                    <a16:rowId xmlns:a16="http://schemas.microsoft.com/office/drawing/2014/main" val="879982103"/>
                  </a:ext>
                </a:extLst>
              </a:tr>
              <a:tr h="370840">
                <a:tc>
                  <a:txBody>
                    <a:bodyPr/>
                    <a:lstStyle/>
                    <a:p>
                      <a:r>
                        <a:rPr lang="en-US" sz="1200" dirty="0"/>
                        <a:t>flyway</a:t>
                      </a:r>
                    </a:p>
                  </a:txBody>
                  <a:tcPr/>
                </a:tc>
                <a:tc>
                  <a:txBody>
                    <a:bodyPr/>
                    <a:lstStyle/>
                    <a:p>
                      <a:r>
                        <a:rPr lang="en-US" sz="1200" dirty="0"/>
                        <a:t>Shows Flyway database migration status</a:t>
                      </a:r>
                    </a:p>
                  </a:txBody>
                  <a:tcPr/>
                </a:tc>
                <a:tc>
                  <a:txBody>
                    <a:bodyPr/>
                    <a:lstStyle/>
                    <a:p>
                      <a:r>
                        <a:rPr lang="en-US" sz="1200" dirty="0"/>
                        <a:t>Yes</a:t>
                      </a:r>
                    </a:p>
                  </a:txBody>
                  <a:tcPr/>
                </a:tc>
                <a:extLst>
                  <a:ext uri="{0D108BD9-81ED-4DB2-BD59-A6C34878D82A}">
                    <a16:rowId xmlns:a16="http://schemas.microsoft.com/office/drawing/2014/main" val="57339400"/>
                  </a:ext>
                </a:extLst>
              </a:tr>
              <a:tr h="370840">
                <a:tc>
                  <a:txBody>
                    <a:bodyPr/>
                    <a:lstStyle/>
                    <a:p>
                      <a:r>
                        <a:rPr lang="en-US" sz="1200" dirty="0"/>
                        <a:t>logfile</a:t>
                      </a:r>
                    </a:p>
                  </a:txBody>
                  <a:tcPr/>
                </a:tc>
                <a:tc>
                  <a:txBody>
                    <a:bodyPr/>
                    <a:lstStyle/>
                    <a:p>
                      <a:r>
                        <a:rPr lang="en-US" sz="1200" dirty="0"/>
                        <a:t>Serves the application log file</a:t>
                      </a:r>
                    </a:p>
                  </a:txBody>
                  <a:tcPr/>
                </a:tc>
                <a:tc>
                  <a:txBody>
                    <a:bodyPr/>
                    <a:lstStyle/>
                    <a:p>
                      <a:r>
                        <a:rPr lang="en-US" sz="1200" dirty="0"/>
                        <a:t>No</a:t>
                      </a:r>
                    </a:p>
                  </a:txBody>
                  <a:tcPr/>
                </a:tc>
                <a:extLst>
                  <a:ext uri="{0D108BD9-81ED-4DB2-BD59-A6C34878D82A}">
                    <a16:rowId xmlns:a16="http://schemas.microsoft.com/office/drawing/2014/main" val="1612059301"/>
                  </a:ext>
                </a:extLst>
              </a:tr>
            </a:tbl>
          </a:graphicData>
        </a:graphic>
      </p:graphicFrame>
    </p:spTree>
    <p:extLst>
      <p:ext uri="{BB962C8B-B14F-4D97-AF65-F5344CB8AC3E}">
        <p14:creationId xmlns:p14="http://schemas.microsoft.com/office/powerpoint/2010/main" val="1064425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09600"/>
          </a:xfrm>
        </p:spPr>
        <p:txBody>
          <a:bodyPr/>
          <a:lstStyle/>
          <a:p>
            <a:r>
              <a:rPr lang="en-US" sz="1400" dirty="0">
                <a:solidFill>
                  <a:srgbClr val="3C5790"/>
                </a:solidFill>
              </a:rPr>
              <a:t>To use the Actuator we need to add the maven dependency </a:t>
            </a:r>
            <a:r>
              <a:rPr lang="en-US" sz="1400" b="1" dirty="0">
                <a:solidFill>
                  <a:srgbClr val="3C5790"/>
                </a:solidFill>
              </a:rPr>
              <a:t>spring-boot-starter-actuator</a:t>
            </a:r>
            <a:r>
              <a:rPr lang="en-US" sz="1400" dirty="0">
                <a:solidFill>
                  <a:srgbClr val="3C5790"/>
                </a:solidFill>
              </a:rPr>
              <a:t>.</a:t>
            </a:r>
          </a:p>
        </p:txBody>
      </p:sp>
      <p:pic>
        <p:nvPicPr>
          <p:cNvPr id="3" name="Picture 2">
            <a:extLst>
              <a:ext uri="{FF2B5EF4-FFF2-40B4-BE49-F238E27FC236}">
                <a16:creationId xmlns:a16="http://schemas.microsoft.com/office/drawing/2014/main" id="{45329061-5508-409C-88F7-D346F69E7973}"/>
              </a:ext>
            </a:extLst>
          </p:cNvPr>
          <p:cNvPicPr>
            <a:picLocks noChangeAspect="1"/>
          </p:cNvPicPr>
          <p:nvPr/>
        </p:nvPicPr>
        <p:blipFill>
          <a:blip r:embed="rId3"/>
          <a:stretch>
            <a:fillRect/>
          </a:stretch>
        </p:blipFill>
        <p:spPr>
          <a:xfrm>
            <a:off x="442519" y="3810001"/>
            <a:ext cx="3990975" cy="609600"/>
          </a:xfrm>
          <a:prstGeom prst="rect">
            <a:avLst/>
          </a:prstGeom>
        </p:spPr>
      </p:pic>
      <p:pic>
        <p:nvPicPr>
          <p:cNvPr id="5" name="Picture 4">
            <a:extLst>
              <a:ext uri="{FF2B5EF4-FFF2-40B4-BE49-F238E27FC236}">
                <a16:creationId xmlns:a16="http://schemas.microsoft.com/office/drawing/2014/main" id="{A569FD8D-C5D0-45A2-9A40-EC2C8759187D}"/>
              </a:ext>
            </a:extLst>
          </p:cNvPr>
          <p:cNvPicPr>
            <a:picLocks noChangeAspect="1"/>
          </p:cNvPicPr>
          <p:nvPr/>
        </p:nvPicPr>
        <p:blipFill>
          <a:blip r:embed="rId4"/>
          <a:stretch>
            <a:fillRect/>
          </a:stretch>
        </p:blipFill>
        <p:spPr>
          <a:xfrm>
            <a:off x="2667000" y="5105400"/>
            <a:ext cx="3562350" cy="1304925"/>
          </a:xfrm>
          <a:prstGeom prst="rect">
            <a:avLst/>
          </a:prstGeom>
        </p:spPr>
      </p:pic>
      <p:pic>
        <p:nvPicPr>
          <p:cNvPr id="7" name="Picture 6">
            <a:extLst>
              <a:ext uri="{FF2B5EF4-FFF2-40B4-BE49-F238E27FC236}">
                <a16:creationId xmlns:a16="http://schemas.microsoft.com/office/drawing/2014/main" id="{2A3FC9F6-D656-4F90-BA21-35A3C78631C0}"/>
              </a:ext>
            </a:extLst>
          </p:cNvPr>
          <p:cNvPicPr>
            <a:picLocks noChangeAspect="1"/>
          </p:cNvPicPr>
          <p:nvPr/>
        </p:nvPicPr>
        <p:blipFill>
          <a:blip r:embed="rId5"/>
          <a:stretch>
            <a:fillRect/>
          </a:stretch>
        </p:blipFill>
        <p:spPr>
          <a:xfrm>
            <a:off x="5534025" y="3782343"/>
            <a:ext cx="3152775" cy="600075"/>
          </a:xfrm>
          <a:prstGeom prst="rect">
            <a:avLst/>
          </a:prstGeom>
        </p:spPr>
      </p:pic>
      <p:cxnSp>
        <p:nvCxnSpPr>
          <p:cNvPr id="9" name="Straight Connector 8">
            <a:extLst>
              <a:ext uri="{FF2B5EF4-FFF2-40B4-BE49-F238E27FC236}">
                <a16:creationId xmlns:a16="http://schemas.microsoft.com/office/drawing/2014/main" id="{B9C661F6-E0E4-40FC-A60E-5ABA915EA638}"/>
              </a:ext>
            </a:extLst>
          </p:cNvPr>
          <p:cNvCxnSpPr/>
          <p:nvPr/>
        </p:nvCxnSpPr>
        <p:spPr>
          <a:xfrm>
            <a:off x="0" y="4800600"/>
            <a:ext cx="9144000"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C8BEE53-853B-4BC9-BE9B-B9A4359663EB}"/>
              </a:ext>
            </a:extLst>
          </p:cNvPr>
          <p:cNvCxnSpPr/>
          <p:nvPr/>
        </p:nvCxnSpPr>
        <p:spPr>
          <a:xfrm flipV="1">
            <a:off x="4800600" y="3429000"/>
            <a:ext cx="0" cy="13716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81110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819400"/>
          </a:xfrm>
        </p:spPr>
        <p:txBody>
          <a:bodyPr/>
          <a:lstStyle/>
          <a:p>
            <a:r>
              <a:rPr lang="en-US" sz="1400" dirty="0">
                <a:solidFill>
                  <a:srgbClr val="3C5790"/>
                </a:solidFill>
              </a:rPr>
              <a:t>The </a:t>
            </a:r>
            <a:r>
              <a:rPr lang="en-US" sz="1400" b="1" dirty="0">
                <a:solidFill>
                  <a:srgbClr val="3C5790"/>
                </a:solidFill>
              </a:rPr>
              <a:t>/actuator/refresh</a:t>
            </a:r>
            <a:r>
              <a:rPr lang="en-US" sz="1400" dirty="0">
                <a:solidFill>
                  <a:srgbClr val="3C5790"/>
                </a:solidFill>
              </a:rPr>
              <a:t> endpoint in Spring Boot Actuator is specifically part of Spring Cloud and is used to refresh the application context dynamically without restarting the entire application.</a:t>
            </a:r>
          </a:p>
          <a:p>
            <a:r>
              <a:rPr lang="en-US" sz="1400" dirty="0">
                <a:solidFill>
                  <a:srgbClr val="3C5790"/>
                </a:solidFill>
              </a:rPr>
              <a:t>When we  invoke this endpoint (usually via HTTP POST), it triggers a refresh of the Spring </a:t>
            </a:r>
            <a:r>
              <a:rPr lang="en-US" sz="1400" dirty="0" err="1">
                <a:solidFill>
                  <a:srgbClr val="3C5790"/>
                </a:solidFill>
              </a:rPr>
              <a:t>ApplicationContext</a:t>
            </a:r>
            <a:r>
              <a:rPr lang="en-US" sz="1400" dirty="0">
                <a:solidFill>
                  <a:srgbClr val="3C5790"/>
                </a:solidFill>
              </a:rPr>
              <a:t>.</a:t>
            </a:r>
          </a:p>
          <a:p>
            <a:r>
              <a:rPr lang="en-US" sz="1400" dirty="0">
                <a:solidFill>
                  <a:srgbClr val="3C5790"/>
                </a:solidFill>
              </a:rPr>
              <a:t>This causes beans annotated with </a:t>
            </a:r>
            <a:r>
              <a:rPr lang="en-US" sz="1400" b="1" dirty="0">
                <a:solidFill>
                  <a:srgbClr val="3C5790"/>
                </a:solidFill>
              </a:rPr>
              <a:t>@RefreshScope</a:t>
            </a:r>
            <a:r>
              <a:rPr lang="en-US" sz="1400" dirty="0">
                <a:solidFill>
                  <a:srgbClr val="3C5790"/>
                </a:solidFill>
              </a:rPr>
              <a:t> and configuration properties annotated with </a:t>
            </a:r>
            <a:r>
              <a:rPr lang="en-US" sz="1400" b="1" dirty="0">
                <a:solidFill>
                  <a:srgbClr val="3C5790"/>
                </a:solidFill>
              </a:rPr>
              <a:t>@ConfigurationProperties</a:t>
            </a:r>
            <a:r>
              <a:rPr lang="en-US" sz="1400" dirty="0">
                <a:solidFill>
                  <a:srgbClr val="3C5790"/>
                </a:solidFill>
              </a:rPr>
              <a:t> to be reloaded with the latest configuration values.</a:t>
            </a:r>
          </a:p>
          <a:p>
            <a:r>
              <a:rPr lang="en-US" sz="1400" dirty="0">
                <a:solidFill>
                  <a:srgbClr val="3C5790"/>
                </a:solidFill>
              </a:rPr>
              <a:t>It is commonly used in conjunction with </a:t>
            </a:r>
            <a:r>
              <a:rPr lang="en-US" sz="1400" b="1" dirty="0">
                <a:solidFill>
                  <a:srgbClr val="3C5790"/>
                </a:solidFill>
              </a:rPr>
              <a:t>Spring Cloud Config </a:t>
            </a:r>
            <a:r>
              <a:rPr lang="en-US" sz="1400" dirty="0">
                <a:solidFill>
                  <a:srgbClr val="3C5790"/>
                </a:solidFill>
              </a:rPr>
              <a:t>to reload updated configurations from the Config Server without restarting the app.</a:t>
            </a:r>
          </a:p>
          <a:p>
            <a:r>
              <a:rPr lang="en-US" sz="1400" dirty="0">
                <a:solidFill>
                  <a:srgbClr val="3C5790"/>
                </a:solidFill>
              </a:rPr>
              <a:t>The refresh is a re-binding operation, which means new configuration updates are applied while the application continues running.</a:t>
            </a:r>
          </a:p>
        </p:txBody>
      </p:sp>
    </p:spTree>
    <p:extLst>
      <p:ext uri="{BB962C8B-B14F-4D97-AF65-F5344CB8AC3E}">
        <p14:creationId xmlns:p14="http://schemas.microsoft.com/office/powerpoint/2010/main" val="2714355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990600"/>
          </a:xfrm>
        </p:spPr>
        <p:txBody>
          <a:bodyPr/>
          <a:lstStyle/>
          <a:p>
            <a:r>
              <a:rPr lang="en-US" sz="1400" dirty="0">
                <a:solidFill>
                  <a:srgbClr val="3C5790"/>
                </a:solidFill>
              </a:rPr>
              <a:t>Most common Spring Boot Actuator properties</a:t>
            </a:r>
            <a:endParaRPr lang="fr-CA" sz="1400" dirty="0">
              <a:solidFill>
                <a:srgbClr val="3C5790"/>
              </a:solidFill>
            </a:endParaRPr>
          </a:p>
        </p:txBody>
      </p:sp>
      <p:graphicFrame>
        <p:nvGraphicFramePr>
          <p:cNvPr id="4" name="Table 2">
            <a:extLst>
              <a:ext uri="{FF2B5EF4-FFF2-40B4-BE49-F238E27FC236}">
                <a16:creationId xmlns:a16="http://schemas.microsoft.com/office/drawing/2014/main" id="{5B2CAE83-2F46-42A2-878A-D465EACA1F47}"/>
              </a:ext>
            </a:extLst>
          </p:cNvPr>
          <p:cNvGraphicFramePr>
            <a:graphicFrameLocks noGrp="1"/>
          </p:cNvGraphicFramePr>
          <p:nvPr>
            <p:extLst>
              <p:ext uri="{D42A27DB-BD31-4B8C-83A1-F6EECF244321}">
                <p14:modId xmlns:p14="http://schemas.microsoft.com/office/powerpoint/2010/main" val="4270756372"/>
              </p:ext>
            </p:extLst>
          </p:nvPr>
        </p:nvGraphicFramePr>
        <p:xfrm>
          <a:off x="152400" y="2514600"/>
          <a:ext cx="8839200" cy="376936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589151108"/>
                    </a:ext>
                  </a:extLst>
                </a:gridCol>
                <a:gridCol w="1383632">
                  <a:extLst>
                    <a:ext uri="{9D8B030D-6E8A-4147-A177-3AD203B41FA5}">
                      <a16:colId xmlns:a16="http://schemas.microsoft.com/office/drawing/2014/main" val="4035097610"/>
                    </a:ext>
                  </a:extLst>
                </a:gridCol>
                <a:gridCol w="3721768">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200" dirty="0" err="1"/>
                        <a:t>management.endpoints.web.exposure.include</a:t>
                      </a:r>
                      <a:endParaRPr lang="en-US" sz="1200" dirty="0"/>
                    </a:p>
                  </a:txBody>
                  <a:tcPr/>
                </a:tc>
                <a:tc>
                  <a:txBody>
                    <a:bodyPr/>
                    <a:lstStyle/>
                    <a:p>
                      <a:r>
                        <a:rPr lang="en-US" sz="1200" dirty="0" err="1"/>
                        <a:t>health,info</a:t>
                      </a:r>
                      <a:endParaRPr lang="en-US" sz="1200" dirty="0"/>
                    </a:p>
                  </a:txBody>
                  <a:tcPr/>
                </a:tc>
                <a:tc>
                  <a:txBody>
                    <a:bodyPr/>
                    <a:lstStyle/>
                    <a:p>
                      <a:r>
                        <a:rPr lang="en-US" sz="1200" dirty="0"/>
                        <a:t>List of endpoints to expose over HTTP (comma-separated). Use * to expose all endpoints.</a:t>
                      </a:r>
                    </a:p>
                  </a:txBody>
                  <a:tcPr/>
                </a:tc>
                <a:extLst>
                  <a:ext uri="{0D108BD9-81ED-4DB2-BD59-A6C34878D82A}">
                    <a16:rowId xmlns:a16="http://schemas.microsoft.com/office/drawing/2014/main" val="2324881647"/>
                  </a:ext>
                </a:extLst>
              </a:tr>
              <a:tr h="370840">
                <a:tc>
                  <a:txBody>
                    <a:bodyPr/>
                    <a:lstStyle/>
                    <a:p>
                      <a:r>
                        <a:rPr lang="en-US" sz="1200" dirty="0" err="1"/>
                        <a:t>management.endpoints.web.exposure.exclude</a:t>
                      </a:r>
                      <a:endParaRPr lang="en-US" sz="1200" dirty="0"/>
                    </a:p>
                  </a:txBody>
                  <a:tcPr/>
                </a:tc>
                <a:tc>
                  <a:txBody>
                    <a:bodyPr/>
                    <a:lstStyle/>
                    <a:p>
                      <a:r>
                        <a:rPr lang="en-US" sz="1200" dirty="0"/>
                        <a:t>(none)</a:t>
                      </a:r>
                    </a:p>
                  </a:txBody>
                  <a:tcPr/>
                </a:tc>
                <a:tc>
                  <a:txBody>
                    <a:bodyPr/>
                    <a:lstStyle/>
                    <a:p>
                      <a:r>
                        <a:rPr lang="en-US" sz="1200" dirty="0"/>
                        <a:t>List of endpoints to exclude from HTTP exposure.</a:t>
                      </a:r>
                    </a:p>
                  </a:txBody>
                  <a:tcPr/>
                </a:tc>
                <a:extLst>
                  <a:ext uri="{0D108BD9-81ED-4DB2-BD59-A6C34878D82A}">
                    <a16:rowId xmlns:a16="http://schemas.microsoft.com/office/drawing/2014/main" val="1568501300"/>
                  </a:ext>
                </a:extLst>
              </a:tr>
              <a:tr h="370840">
                <a:tc>
                  <a:txBody>
                    <a:bodyPr/>
                    <a:lstStyle/>
                    <a:p>
                      <a:r>
                        <a:rPr lang="en-US" sz="1200" dirty="0" err="1"/>
                        <a:t>management.endpoint.health.show</a:t>
                      </a:r>
                      <a:r>
                        <a:rPr lang="en-US" sz="1200" dirty="0"/>
                        <a:t>-details	</a:t>
                      </a:r>
                    </a:p>
                  </a:txBody>
                  <a:tcPr/>
                </a:tc>
                <a:tc>
                  <a:txBody>
                    <a:bodyPr/>
                    <a:lstStyle/>
                    <a:p>
                      <a:r>
                        <a:rPr lang="en-US" sz="1200" dirty="0"/>
                        <a:t>never</a:t>
                      </a:r>
                    </a:p>
                  </a:txBody>
                  <a:tcPr/>
                </a:tc>
                <a:tc>
                  <a:txBody>
                    <a:bodyPr/>
                    <a:lstStyle/>
                    <a:p>
                      <a:r>
                        <a:rPr lang="en-US" sz="1200" dirty="0"/>
                        <a:t>Controls showing detailed health information (never, </a:t>
                      </a:r>
                      <a:r>
                        <a:rPr lang="en-US" sz="1200" dirty="0" err="1"/>
                        <a:t>when_authorized</a:t>
                      </a:r>
                      <a:r>
                        <a:rPr lang="en-US" sz="1200" dirty="0"/>
                        <a:t>, or always).</a:t>
                      </a:r>
                    </a:p>
                  </a:txBody>
                  <a:tcPr/>
                </a:tc>
                <a:extLst>
                  <a:ext uri="{0D108BD9-81ED-4DB2-BD59-A6C34878D82A}">
                    <a16:rowId xmlns:a16="http://schemas.microsoft.com/office/drawing/2014/main" val="3041417831"/>
                  </a:ext>
                </a:extLst>
              </a:tr>
              <a:tr h="370840">
                <a:tc>
                  <a:txBody>
                    <a:bodyPr/>
                    <a:lstStyle/>
                    <a:p>
                      <a:r>
                        <a:rPr lang="en-US" sz="1200" dirty="0" err="1"/>
                        <a:t>management.server.port</a:t>
                      </a:r>
                      <a:endParaRPr lang="en-US" sz="1200" dirty="0"/>
                    </a:p>
                  </a:txBody>
                  <a:tcPr/>
                </a:tc>
                <a:tc>
                  <a:txBody>
                    <a:bodyPr/>
                    <a:lstStyle/>
                    <a:p>
                      <a:r>
                        <a:rPr lang="en-US" sz="1200" dirty="0"/>
                        <a:t>(same as server)</a:t>
                      </a:r>
                    </a:p>
                  </a:txBody>
                  <a:tcPr/>
                </a:tc>
                <a:tc>
                  <a:txBody>
                    <a:bodyPr/>
                    <a:lstStyle/>
                    <a:p>
                      <a:r>
                        <a:rPr lang="en-US" sz="1200" dirty="0"/>
                        <a:t>Port to run actuator endpoints on, separate from application port if desired.</a:t>
                      </a:r>
                    </a:p>
                  </a:txBody>
                  <a:tcPr/>
                </a:tc>
                <a:extLst>
                  <a:ext uri="{0D108BD9-81ED-4DB2-BD59-A6C34878D82A}">
                    <a16:rowId xmlns:a16="http://schemas.microsoft.com/office/drawing/2014/main" val="934360143"/>
                  </a:ext>
                </a:extLst>
              </a:tr>
              <a:tr h="370840">
                <a:tc>
                  <a:txBody>
                    <a:bodyPr/>
                    <a:lstStyle/>
                    <a:p>
                      <a:r>
                        <a:rPr lang="en-US" sz="1200" dirty="0" err="1"/>
                        <a:t>management.server.base</a:t>
                      </a:r>
                      <a:r>
                        <a:rPr lang="en-US" sz="1200" dirty="0"/>
                        <a:t>-path</a:t>
                      </a:r>
                    </a:p>
                  </a:txBody>
                  <a:tcPr/>
                </a:tc>
                <a:tc>
                  <a:txBody>
                    <a:bodyPr/>
                    <a:lstStyle/>
                    <a:p>
                      <a:r>
                        <a:rPr lang="en-US" sz="1200" dirty="0"/>
                        <a:t>/actuator</a:t>
                      </a:r>
                    </a:p>
                  </a:txBody>
                  <a:tcPr/>
                </a:tc>
                <a:tc>
                  <a:txBody>
                    <a:bodyPr/>
                    <a:lstStyle/>
                    <a:p>
                      <a:r>
                        <a:rPr lang="en-US" sz="1200" dirty="0"/>
                        <a:t>HTTP base path for actuator endpoints.</a:t>
                      </a:r>
                    </a:p>
                  </a:txBody>
                  <a:tcPr/>
                </a:tc>
                <a:extLst>
                  <a:ext uri="{0D108BD9-81ED-4DB2-BD59-A6C34878D82A}">
                    <a16:rowId xmlns:a16="http://schemas.microsoft.com/office/drawing/2014/main" val="1906485577"/>
                  </a:ext>
                </a:extLst>
              </a:tr>
              <a:tr h="370840">
                <a:tc>
                  <a:txBody>
                    <a:bodyPr/>
                    <a:lstStyle/>
                    <a:p>
                      <a:r>
                        <a:rPr lang="en-US" sz="1200" dirty="0" err="1"/>
                        <a:t>management.endpoint.health.probes.enabled</a:t>
                      </a:r>
                      <a:endParaRPr lang="en-US" sz="1200" dirty="0"/>
                    </a:p>
                  </a:txBody>
                  <a:tcPr/>
                </a:tc>
                <a:tc>
                  <a:txBody>
                    <a:bodyPr/>
                    <a:lstStyle/>
                    <a:p>
                      <a:r>
                        <a:rPr lang="en-US" sz="1200" dirty="0"/>
                        <a:t>false</a:t>
                      </a:r>
                    </a:p>
                  </a:txBody>
                  <a:tcPr/>
                </a:tc>
                <a:tc>
                  <a:txBody>
                    <a:bodyPr/>
                    <a:lstStyle/>
                    <a:p>
                      <a:r>
                        <a:rPr lang="en-US" sz="1200" dirty="0"/>
                        <a:t>Enables readiness/liveness probes endpoints for container orchestration support.</a:t>
                      </a:r>
                    </a:p>
                  </a:txBody>
                  <a:tcPr/>
                </a:tc>
                <a:extLst>
                  <a:ext uri="{0D108BD9-81ED-4DB2-BD59-A6C34878D82A}">
                    <a16:rowId xmlns:a16="http://schemas.microsoft.com/office/drawing/2014/main" val="2452299204"/>
                  </a:ext>
                </a:extLst>
              </a:tr>
              <a:tr h="370840">
                <a:tc>
                  <a:txBody>
                    <a:bodyPr/>
                    <a:lstStyle/>
                    <a:p>
                      <a:r>
                        <a:rPr lang="en-US" sz="1200" dirty="0" err="1"/>
                        <a:t>management.metrics.export.enabled</a:t>
                      </a:r>
                      <a:endParaRPr lang="en-US" sz="1200" dirty="0"/>
                    </a:p>
                  </a:txBody>
                  <a:tcPr/>
                </a:tc>
                <a:tc>
                  <a:txBody>
                    <a:bodyPr/>
                    <a:lstStyle/>
                    <a:p>
                      <a:r>
                        <a:rPr lang="en-US" sz="1200" dirty="0"/>
                        <a:t>true</a:t>
                      </a:r>
                    </a:p>
                  </a:txBody>
                  <a:tcPr/>
                </a:tc>
                <a:tc>
                  <a:txBody>
                    <a:bodyPr/>
                    <a:lstStyle/>
                    <a:p>
                      <a:r>
                        <a:rPr lang="en-US" sz="1200" dirty="0"/>
                        <a:t>Enable exporting metrics to monitoring systems like Prometheus.</a:t>
                      </a:r>
                    </a:p>
                  </a:txBody>
                  <a:tcPr/>
                </a:tc>
                <a:extLst>
                  <a:ext uri="{0D108BD9-81ED-4DB2-BD59-A6C34878D82A}">
                    <a16:rowId xmlns:a16="http://schemas.microsoft.com/office/drawing/2014/main" val="879982103"/>
                  </a:ext>
                </a:extLst>
              </a:tr>
              <a:tr h="370840">
                <a:tc>
                  <a:txBody>
                    <a:bodyPr/>
                    <a:lstStyle/>
                    <a:p>
                      <a:r>
                        <a:rPr lang="en-US" sz="1200" dirty="0" err="1"/>
                        <a:t>management.metrics.export.prometheus.enabled</a:t>
                      </a:r>
                      <a:endParaRPr lang="en-US" sz="1200" dirty="0"/>
                    </a:p>
                  </a:txBody>
                  <a:tcPr/>
                </a:tc>
                <a:tc>
                  <a:txBody>
                    <a:bodyPr/>
                    <a:lstStyle/>
                    <a:p>
                      <a:r>
                        <a:rPr lang="en-US" sz="1200" dirty="0"/>
                        <a:t>true</a:t>
                      </a:r>
                    </a:p>
                  </a:txBody>
                  <a:tcPr/>
                </a:tc>
                <a:tc>
                  <a:txBody>
                    <a:bodyPr/>
                    <a:lstStyle/>
                    <a:p>
                      <a:r>
                        <a:rPr lang="en-US" sz="1200" dirty="0"/>
                        <a:t>Enable Prometheus metrics export.</a:t>
                      </a:r>
                    </a:p>
                  </a:txBody>
                  <a:tcPr/>
                </a:tc>
                <a:extLst>
                  <a:ext uri="{0D108BD9-81ED-4DB2-BD59-A6C34878D82A}">
                    <a16:rowId xmlns:a16="http://schemas.microsoft.com/office/drawing/2014/main" val="57339400"/>
                  </a:ext>
                </a:extLst>
              </a:tr>
            </a:tbl>
          </a:graphicData>
        </a:graphic>
      </p:graphicFrame>
    </p:spTree>
    <p:extLst>
      <p:ext uri="{BB962C8B-B14F-4D97-AF65-F5344CB8AC3E}">
        <p14:creationId xmlns:p14="http://schemas.microsoft.com/office/powerpoint/2010/main" val="34516566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Boot </a:t>
            </a:r>
            <a:r>
              <a:rPr lang="fr-CA" dirty="0" err="1">
                <a:solidFill>
                  <a:schemeClr val="bg1"/>
                </a:solidFill>
              </a:rPr>
              <a:t>Actuator</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990600"/>
          </a:xfrm>
        </p:spPr>
        <p:txBody>
          <a:bodyPr/>
          <a:lstStyle/>
          <a:p>
            <a:r>
              <a:rPr lang="en-US" sz="1400" dirty="0">
                <a:solidFill>
                  <a:srgbClr val="3C5790"/>
                </a:solidFill>
              </a:rPr>
              <a:t>Most common Spring Boot Actuator properties</a:t>
            </a:r>
            <a:endParaRPr lang="fr-CA" sz="1400" dirty="0">
              <a:solidFill>
                <a:srgbClr val="3C5790"/>
              </a:solidFill>
            </a:endParaRPr>
          </a:p>
        </p:txBody>
      </p:sp>
      <p:graphicFrame>
        <p:nvGraphicFramePr>
          <p:cNvPr id="4" name="Table 2">
            <a:extLst>
              <a:ext uri="{FF2B5EF4-FFF2-40B4-BE49-F238E27FC236}">
                <a16:creationId xmlns:a16="http://schemas.microsoft.com/office/drawing/2014/main" id="{5B2CAE83-2F46-42A2-878A-D465EACA1F47}"/>
              </a:ext>
            </a:extLst>
          </p:cNvPr>
          <p:cNvGraphicFramePr>
            <a:graphicFrameLocks noGrp="1"/>
          </p:cNvGraphicFramePr>
          <p:nvPr>
            <p:extLst>
              <p:ext uri="{D42A27DB-BD31-4B8C-83A1-F6EECF244321}">
                <p14:modId xmlns:p14="http://schemas.microsoft.com/office/powerpoint/2010/main" val="4270734147"/>
              </p:ext>
            </p:extLst>
          </p:nvPr>
        </p:nvGraphicFramePr>
        <p:xfrm>
          <a:off x="152400" y="2514600"/>
          <a:ext cx="8839200" cy="368300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2589151108"/>
                    </a:ext>
                  </a:extLst>
                </a:gridCol>
                <a:gridCol w="1764632">
                  <a:extLst>
                    <a:ext uri="{9D8B030D-6E8A-4147-A177-3AD203B41FA5}">
                      <a16:colId xmlns:a16="http://schemas.microsoft.com/office/drawing/2014/main" val="4035097610"/>
                    </a:ext>
                  </a:extLst>
                </a:gridCol>
                <a:gridCol w="3721768">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200" dirty="0" err="1"/>
                        <a:t>management.endpoint.metrics.enabled</a:t>
                      </a:r>
                      <a:endParaRPr lang="en-US" sz="1200" dirty="0"/>
                    </a:p>
                  </a:txBody>
                  <a:tcPr/>
                </a:tc>
                <a:tc>
                  <a:txBody>
                    <a:bodyPr/>
                    <a:lstStyle/>
                    <a:p>
                      <a:r>
                        <a:rPr lang="en-US" sz="1200" dirty="0"/>
                        <a:t>true</a:t>
                      </a:r>
                    </a:p>
                  </a:txBody>
                  <a:tcPr/>
                </a:tc>
                <a:tc>
                  <a:txBody>
                    <a:bodyPr/>
                    <a:lstStyle/>
                    <a:p>
                      <a:r>
                        <a:rPr lang="en-US" sz="1200" dirty="0"/>
                        <a:t>Enable or disable the /metrics endpoint.</a:t>
                      </a:r>
                    </a:p>
                  </a:txBody>
                  <a:tcPr/>
                </a:tc>
                <a:extLst>
                  <a:ext uri="{0D108BD9-81ED-4DB2-BD59-A6C34878D82A}">
                    <a16:rowId xmlns:a16="http://schemas.microsoft.com/office/drawing/2014/main" val="2324881647"/>
                  </a:ext>
                </a:extLst>
              </a:tr>
              <a:tr h="370840">
                <a:tc>
                  <a:txBody>
                    <a:bodyPr/>
                    <a:lstStyle/>
                    <a:p>
                      <a:r>
                        <a:rPr lang="en-US" sz="1200" dirty="0" err="1"/>
                        <a:t>management.endpoint.loggers.enabled</a:t>
                      </a:r>
                      <a:endParaRPr lang="en-US" sz="1200" dirty="0"/>
                    </a:p>
                  </a:txBody>
                  <a:tcPr/>
                </a:tc>
                <a:tc>
                  <a:txBody>
                    <a:bodyPr/>
                    <a:lstStyle/>
                    <a:p>
                      <a:r>
                        <a:rPr lang="en-US" sz="1200" dirty="0"/>
                        <a:t>true</a:t>
                      </a:r>
                    </a:p>
                  </a:txBody>
                  <a:tcPr/>
                </a:tc>
                <a:tc>
                  <a:txBody>
                    <a:bodyPr/>
                    <a:lstStyle/>
                    <a:p>
                      <a:r>
                        <a:rPr lang="en-US" sz="1200" dirty="0"/>
                        <a:t>Enable or disable the /loggers endpoint to dynamically change log levels.</a:t>
                      </a:r>
                    </a:p>
                  </a:txBody>
                  <a:tcPr/>
                </a:tc>
                <a:extLst>
                  <a:ext uri="{0D108BD9-81ED-4DB2-BD59-A6C34878D82A}">
                    <a16:rowId xmlns:a16="http://schemas.microsoft.com/office/drawing/2014/main" val="1568501300"/>
                  </a:ext>
                </a:extLst>
              </a:tr>
              <a:tr h="370840">
                <a:tc>
                  <a:txBody>
                    <a:bodyPr/>
                    <a:lstStyle/>
                    <a:p>
                      <a:r>
                        <a:rPr lang="en-US" sz="1200" dirty="0" err="1"/>
                        <a:t>management.endpoint.httptrace.enabled</a:t>
                      </a:r>
                      <a:endParaRPr lang="en-US" sz="1200" dirty="0"/>
                    </a:p>
                  </a:txBody>
                  <a:tcPr/>
                </a:tc>
                <a:tc>
                  <a:txBody>
                    <a:bodyPr/>
                    <a:lstStyle/>
                    <a:p>
                      <a:r>
                        <a:rPr lang="en-US" sz="1200" dirty="0"/>
                        <a:t>false</a:t>
                      </a:r>
                    </a:p>
                  </a:txBody>
                  <a:tcPr/>
                </a:tc>
                <a:tc>
                  <a:txBody>
                    <a:bodyPr/>
                    <a:lstStyle/>
                    <a:p>
                      <a:r>
                        <a:rPr lang="en-US" sz="1200" dirty="0"/>
                        <a:t>Enable or disable the HTTP trace endpoint.</a:t>
                      </a:r>
                    </a:p>
                  </a:txBody>
                  <a:tcPr/>
                </a:tc>
                <a:extLst>
                  <a:ext uri="{0D108BD9-81ED-4DB2-BD59-A6C34878D82A}">
                    <a16:rowId xmlns:a16="http://schemas.microsoft.com/office/drawing/2014/main" val="3041417831"/>
                  </a:ext>
                </a:extLst>
              </a:tr>
              <a:tr h="370840">
                <a:tc>
                  <a:txBody>
                    <a:bodyPr/>
                    <a:lstStyle/>
                    <a:p>
                      <a:r>
                        <a:rPr lang="en-US" sz="1200" dirty="0" err="1"/>
                        <a:t>management.endpoint.beans.enabled</a:t>
                      </a:r>
                      <a:endParaRPr lang="en-US" sz="1200" dirty="0"/>
                    </a:p>
                  </a:txBody>
                  <a:tcPr/>
                </a:tc>
                <a:tc>
                  <a:txBody>
                    <a:bodyPr/>
                    <a:lstStyle/>
                    <a:p>
                      <a:r>
                        <a:rPr lang="en-US" sz="1200" dirty="0"/>
                        <a:t>true</a:t>
                      </a:r>
                    </a:p>
                  </a:txBody>
                  <a:tcPr/>
                </a:tc>
                <a:tc>
                  <a:txBody>
                    <a:bodyPr/>
                    <a:lstStyle/>
                    <a:p>
                      <a:r>
                        <a:rPr lang="en-US" sz="1200" dirty="0"/>
                        <a:t>Enable or disable showing Spring beans information.</a:t>
                      </a:r>
                    </a:p>
                  </a:txBody>
                  <a:tcPr/>
                </a:tc>
                <a:extLst>
                  <a:ext uri="{0D108BD9-81ED-4DB2-BD59-A6C34878D82A}">
                    <a16:rowId xmlns:a16="http://schemas.microsoft.com/office/drawing/2014/main" val="934360143"/>
                  </a:ext>
                </a:extLst>
              </a:tr>
              <a:tr h="370840">
                <a:tc>
                  <a:txBody>
                    <a:bodyPr/>
                    <a:lstStyle/>
                    <a:p>
                      <a:r>
                        <a:rPr lang="en-US" sz="1200" dirty="0" err="1"/>
                        <a:t>management.health.diskspace.path</a:t>
                      </a:r>
                      <a:endParaRPr lang="en-US" sz="1200" dirty="0"/>
                    </a:p>
                  </a:txBody>
                  <a:tcPr/>
                </a:tc>
                <a:tc>
                  <a:txBody>
                    <a:bodyPr/>
                    <a:lstStyle/>
                    <a:p>
                      <a:r>
                        <a:rPr lang="en-US" sz="1200" dirty="0"/>
                        <a:t>Default system path</a:t>
                      </a:r>
                    </a:p>
                  </a:txBody>
                  <a:tcPr/>
                </a:tc>
                <a:tc>
                  <a:txBody>
                    <a:bodyPr/>
                    <a:lstStyle/>
                    <a:p>
                      <a:r>
                        <a:rPr lang="en-US" sz="1200" dirty="0"/>
                        <a:t>Path to check disk space for health indicator.</a:t>
                      </a:r>
                    </a:p>
                  </a:txBody>
                  <a:tcPr/>
                </a:tc>
                <a:extLst>
                  <a:ext uri="{0D108BD9-81ED-4DB2-BD59-A6C34878D82A}">
                    <a16:rowId xmlns:a16="http://schemas.microsoft.com/office/drawing/2014/main" val="1906485577"/>
                  </a:ext>
                </a:extLst>
              </a:tr>
              <a:tr h="370840">
                <a:tc>
                  <a:txBody>
                    <a:bodyPr/>
                    <a:lstStyle/>
                    <a:p>
                      <a:r>
                        <a:rPr lang="en-US" sz="1200" dirty="0" err="1"/>
                        <a:t>management.health.threshold</a:t>
                      </a:r>
                      <a:endParaRPr lang="en-US" sz="1200" dirty="0"/>
                    </a:p>
                  </a:txBody>
                  <a:tcPr/>
                </a:tc>
                <a:tc>
                  <a:txBody>
                    <a:bodyPr/>
                    <a:lstStyle/>
                    <a:p>
                      <a:r>
                        <a:rPr lang="en-US" sz="1200" dirty="0"/>
                        <a:t>10MB</a:t>
                      </a:r>
                    </a:p>
                  </a:txBody>
                  <a:tcPr/>
                </a:tc>
                <a:tc>
                  <a:txBody>
                    <a:bodyPr/>
                    <a:lstStyle/>
                    <a:p>
                      <a:r>
                        <a:rPr lang="en-US" sz="1200" dirty="0"/>
                        <a:t>Threshold for disk space health check to switch to down status.</a:t>
                      </a:r>
                    </a:p>
                  </a:txBody>
                  <a:tcPr/>
                </a:tc>
                <a:extLst>
                  <a:ext uri="{0D108BD9-81ED-4DB2-BD59-A6C34878D82A}">
                    <a16:rowId xmlns:a16="http://schemas.microsoft.com/office/drawing/2014/main" val="2452299204"/>
                  </a:ext>
                </a:extLst>
              </a:tr>
              <a:tr h="370840">
                <a:tc>
                  <a:txBody>
                    <a:bodyPr/>
                    <a:lstStyle/>
                    <a:p>
                      <a:r>
                        <a:rPr lang="en-US" sz="1200" dirty="0" err="1"/>
                        <a:t>management.trace.http.enabled</a:t>
                      </a:r>
                      <a:endParaRPr lang="en-US" sz="1200" dirty="0"/>
                    </a:p>
                  </a:txBody>
                  <a:tcPr/>
                </a:tc>
                <a:tc>
                  <a:txBody>
                    <a:bodyPr/>
                    <a:lstStyle/>
                    <a:p>
                      <a:r>
                        <a:rPr lang="en-US" sz="1200" dirty="0"/>
                        <a:t>false</a:t>
                      </a:r>
                    </a:p>
                  </a:txBody>
                  <a:tcPr/>
                </a:tc>
                <a:tc>
                  <a:txBody>
                    <a:bodyPr/>
                    <a:lstStyle/>
                    <a:p>
                      <a:r>
                        <a:rPr lang="en-US" sz="1200" dirty="0"/>
                        <a:t>Enable old HTTP tracing support (deprecated in favor of Micrometer tracing).</a:t>
                      </a:r>
                    </a:p>
                  </a:txBody>
                  <a:tcPr/>
                </a:tc>
                <a:extLst>
                  <a:ext uri="{0D108BD9-81ED-4DB2-BD59-A6C34878D82A}">
                    <a16:rowId xmlns:a16="http://schemas.microsoft.com/office/drawing/2014/main" val="879982103"/>
                  </a:ext>
                </a:extLst>
              </a:tr>
              <a:tr h="370840">
                <a:tc>
                  <a:txBody>
                    <a:bodyPr/>
                    <a:lstStyle/>
                    <a:p>
                      <a:r>
                        <a:rPr lang="en-US" sz="1200" dirty="0" err="1"/>
                        <a:t>management.endpoint.env.show</a:t>
                      </a:r>
                      <a:r>
                        <a:rPr lang="en-US" sz="1200" dirty="0"/>
                        <a:t>-values</a:t>
                      </a:r>
                    </a:p>
                  </a:txBody>
                  <a:tcPr/>
                </a:tc>
                <a:tc>
                  <a:txBody>
                    <a:bodyPr/>
                    <a:lstStyle/>
                    <a:p>
                      <a:r>
                        <a:rPr lang="en-US" sz="1200" dirty="0" err="1"/>
                        <a:t>when_authorized</a:t>
                      </a:r>
                      <a:endParaRPr lang="en-US" sz="1200" dirty="0"/>
                    </a:p>
                  </a:txBody>
                  <a:tcPr/>
                </a:tc>
                <a:tc>
                  <a:txBody>
                    <a:bodyPr/>
                    <a:lstStyle/>
                    <a:p>
                      <a:r>
                        <a:rPr lang="en-US" sz="1200" dirty="0"/>
                        <a:t>Controls showing property values on /env endpoint (never, </a:t>
                      </a:r>
                      <a:r>
                        <a:rPr lang="en-US" sz="1200" dirty="0" err="1"/>
                        <a:t>when_authorized</a:t>
                      </a:r>
                      <a:r>
                        <a:rPr lang="en-US" sz="1200" dirty="0"/>
                        <a:t>, always).</a:t>
                      </a:r>
                    </a:p>
                  </a:txBody>
                  <a:tcPr/>
                </a:tc>
                <a:extLst>
                  <a:ext uri="{0D108BD9-81ED-4DB2-BD59-A6C34878D82A}">
                    <a16:rowId xmlns:a16="http://schemas.microsoft.com/office/drawing/2014/main" val="57339400"/>
                  </a:ext>
                </a:extLst>
              </a:tr>
            </a:tbl>
          </a:graphicData>
        </a:graphic>
      </p:graphicFrame>
    </p:spTree>
    <p:extLst>
      <p:ext uri="{BB962C8B-B14F-4D97-AF65-F5344CB8AC3E}">
        <p14:creationId xmlns:p14="http://schemas.microsoft.com/office/powerpoint/2010/main" val="3370192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a:t>
            </a:r>
          </a:p>
        </p:txBody>
      </p:sp>
      <p:sp>
        <p:nvSpPr>
          <p:cNvPr id="4099" name="Espace réservé du contenu 4"/>
          <p:cNvSpPr>
            <a:spLocks noGrp="1"/>
          </p:cNvSpPr>
          <p:nvPr>
            <p:ph idx="1"/>
          </p:nvPr>
        </p:nvSpPr>
        <p:spPr>
          <a:xfrm>
            <a:off x="228600" y="2133600"/>
            <a:ext cx="8686800" cy="3581400"/>
          </a:xfrm>
        </p:spPr>
        <p:txBody>
          <a:bodyPr/>
          <a:lstStyle/>
          <a:p>
            <a:r>
              <a:rPr lang="en-US" sz="1400" dirty="0">
                <a:solidFill>
                  <a:srgbClr val="3C5790"/>
                </a:solidFill>
              </a:rPr>
              <a:t>Service registration with </a:t>
            </a:r>
            <a:r>
              <a:rPr lang="en-US" sz="1400" b="1" dirty="0">
                <a:solidFill>
                  <a:srgbClr val="3C5790"/>
                </a:solidFill>
              </a:rPr>
              <a:t>Eureka</a:t>
            </a:r>
            <a:r>
              <a:rPr lang="en-US" sz="1400" dirty="0">
                <a:solidFill>
                  <a:srgbClr val="3C5790"/>
                </a:solidFill>
              </a:rPr>
              <a:t> in Spring Cloud is a mechanism where microservices dynamically register themselves with a Eureka Server, which acts as a service registry and discovery server.</a:t>
            </a:r>
          </a:p>
          <a:p>
            <a:r>
              <a:rPr lang="en-US" sz="1400" b="1" dirty="0">
                <a:solidFill>
                  <a:srgbClr val="3C5790"/>
                </a:solidFill>
              </a:rPr>
              <a:t>Eureka Server</a:t>
            </a:r>
            <a:r>
              <a:rPr lang="en-US" sz="1400" dirty="0">
                <a:solidFill>
                  <a:srgbClr val="3C5790"/>
                </a:solidFill>
              </a:rPr>
              <a:t>: This is the registry that holds metadata of all registered microservices, including their host, port, health status, and other details. It is annotated with @EnableEurekaServer in a Spring Boot app, enabling it to serve as a discovery server.</a:t>
            </a:r>
          </a:p>
          <a:p>
            <a:r>
              <a:rPr lang="en-US" sz="1400" b="1" dirty="0">
                <a:solidFill>
                  <a:srgbClr val="3C5790"/>
                </a:solidFill>
              </a:rPr>
              <a:t>Eureka Clients</a:t>
            </a:r>
            <a:r>
              <a:rPr lang="en-US" sz="1400" dirty="0">
                <a:solidFill>
                  <a:srgbClr val="3C5790"/>
                </a:solidFill>
              </a:rPr>
              <a:t>: These are individual microservices that register with the Eureka Server on startup by sending their metadata and periodically send heartbeat signals to confirm their availability.</a:t>
            </a:r>
          </a:p>
          <a:p>
            <a:r>
              <a:rPr lang="en-US" sz="1400" b="1" dirty="0">
                <a:solidFill>
                  <a:srgbClr val="3C5790"/>
                </a:solidFill>
              </a:rPr>
              <a:t>Service Registration</a:t>
            </a:r>
            <a:r>
              <a:rPr lang="en-US" sz="1400" dirty="0">
                <a:solidFill>
                  <a:srgbClr val="3C5790"/>
                </a:solidFill>
              </a:rPr>
              <a:t>: When a microservice starts, it registers itself with the Eureka Server by providing essential information so that other services can discover it dynamically.</a:t>
            </a:r>
          </a:p>
          <a:p>
            <a:r>
              <a:rPr lang="en-US" sz="1400" b="1" dirty="0">
                <a:solidFill>
                  <a:srgbClr val="3C5790"/>
                </a:solidFill>
              </a:rPr>
              <a:t>Service Discovery</a:t>
            </a:r>
            <a:r>
              <a:rPr lang="en-US" sz="1400" dirty="0">
                <a:solidFill>
                  <a:srgbClr val="3C5790"/>
                </a:solidFill>
              </a:rPr>
              <a:t>: Other microservices query the Eureka Server to discover the locations of registered services rather than hardcoding service addresses.</a:t>
            </a:r>
          </a:p>
          <a:p>
            <a:endParaRPr lang="fr-CA" sz="1400" dirty="0">
              <a:solidFill>
                <a:srgbClr val="3C5790"/>
              </a:solidFill>
            </a:endParaRPr>
          </a:p>
        </p:txBody>
      </p:sp>
    </p:spTree>
    <p:extLst>
      <p:ext uri="{BB962C8B-B14F-4D97-AF65-F5344CB8AC3E}">
        <p14:creationId xmlns:p14="http://schemas.microsoft.com/office/powerpoint/2010/main" val="2326422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066800"/>
          </a:xfrm>
        </p:spPr>
        <p:txBody>
          <a:bodyPr/>
          <a:lstStyle/>
          <a:p>
            <a:r>
              <a:rPr lang="en-US" sz="1400" b="1" dirty="0">
                <a:solidFill>
                  <a:srgbClr val="3C5790"/>
                </a:solidFill>
              </a:rPr>
              <a:t>Heartbeat and Eviction</a:t>
            </a:r>
            <a:r>
              <a:rPr lang="en-US" sz="1400" dirty="0">
                <a:solidFill>
                  <a:srgbClr val="3C5790"/>
                </a:solidFill>
              </a:rPr>
              <a:t>: Clients send heartbeats to renew their lease on the server. If the heartbeats stop, the Eureka Server evicts the service from the registry, ensuring reliable service availability.</a:t>
            </a:r>
          </a:p>
          <a:p>
            <a:r>
              <a:rPr lang="en-US" sz="1400" b="1" dirty="0">
                <a:solidFill>
                  <a:srgbClr val="3C5790"/>
                </a:solidFill>
              </a:rPr>
              <a:t>Health Checks</a:t>
            </a:r>
            <a:r>
              <a:rPr lang="en-US" sz="1400" dirty="0">
                <a:solidFill>
                  <a:srgbClr val="3C5790"/>
                </a:solidFill>
              </a:rPr>
              <a:t>: Eureka can perform health checks on services to ensure they are available and healthy before allowing discovery.</a:t>
            </a:r>
          </a:p>
        </p:txBody>
      </p:sp>
      <p:pic>
        <p:nvPicPr>
          <p:cNvPr id="3" name="Picture 2">
            <a:extLst>
              <a:ext uri="{FF2B5EF4-FFF2-40B4-BE49-F238E27FC236}">
                <a16:creationId xmlns:a16="http://schemas.microsoft.com/office/drawing/2014/main" id="{9001D20C-87D9-41C3-92D7-22DAF51EF520}"/>
              </a:ext>
            </a:extLst>
          </p:cNvPr>
          <p:cNvPicPr>
            <a:picLocks noChangeAspect="1"/>
          </p:cNvPicPr>
          <p:nvPr/>
        </p:nvPicPr>
        <p:blipFill>
          <a:blip r:embed="rId3"/>
          <a:stretch>
            <a:fillRect/>
          </a:stretch>
        </p:blipFill>
        <p:spPr>
          <a:xfrm>
            <a:off x="1443037" y="3162664"/>
            <a:ext cx="6257925" cy="3400425"/>
          </a:xfrm>
          <a:prstGeom prst="rect">
            <a:avLst/>
          </a:prstGeom>
        </p:spPr>
      </p:pic>
    </p:spTree>
    <p:extLst>
      <p:ext uri="{BB962C8B-B14F-4D97-AF65-F5344CB8AC3E}">
        <p14:creationId xmlns:p14="http://schemas.microsoft.com/office/powerpoint/2010/main" val="2573867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514600"/>
          </a:xfrm>
        </p:spPr>
        <p:txBody>
          <a:bodyPr/>
          <a:lstStyle/>
          <a:p>
            <a:r>
              <a:rPr lang="en-US" sz="1400" b="1" dirty="0">
                <a:solidFill>
                  <a:srgbClr val="3C5790"/>
                </a:solidFill>
              </a:rPr>
              <a:t>Eureka features:</a:t>
            </a:r>
          </a:p>
          <a:p>
            <a:pPr lvl="1"/>
            <a:r>
              <a:rPr lang="en-US" sz="1400" dirty="0">
                <a:solidFill>
                  <a:srgbClr val="3C5790"/>
                </a:solidFill>
              </a:rPr>
              <a:t>It enables dynamic registration and discovery of microservices without hardcoded endpoints.</a:t>
            </a:r>
          </a:p>
          <a:p>
            <a:pPr lvl="1"/>
            <a:r>
              <a:rPr lang="en-US" sz="1400" dirty="0">
                <a:solidFill>
                  <a:srgbClr val="3C5790"/>
                </a:solidFill>
              </a:rPr>
              <a:t>Supports load balancing and failover.</a:t>
            </a:r>
          </a:p>
          <a:p>
            <a:pPr lvl="1"/>
            <a:r>
              <a:rPr lang="en-US" sz="1400" dirty="0">
                <a:solidFill>
                  <a:srgbClr val="3C5790"/>
                </a:solidFill>
              </a:rPr>
              <a:t>Integrates smoothly with other Spring Cloud components like Ribbon for client-side load balancing.</a:t>
            </a:r>
          </a:p>
          <a:p>
            <a:pPr lvl="1"/>
            <a:r>
              <a:rPr lang="en-US" sz="1400" dirty="0">
                <a:solidFill>
                  <a:srgbClr val="3C5790"/>
                </a:solidFill>
              </a:rPr>
              <a:t>Simplifies building scalable, resilient microservices architectures.</a:t>
            </a:r>
          </a:p>
        </p:txBody>
      </p:sp>
    </p:spTree>
    <p:extLst>
      <p:ext uri="{BB962C8B-B14F-4D97-AF65-F5344CB8AC3E}">
        <p14:creationId xmlns:p14="http://schemas.microsoft.com/office/powerpoint/2010/main" val="1495287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561097"/>
          </a:xfrm>
        </p:spPr>
        <p:txBody>
          <a:bodyPr/>
          <a:lstStyle/>
          <a:p>
            <a:r>
              <a:rPr lang="en-US" sz="1400" dirty="0">
                <a:solidFill>
                  <a:srgbClr val="3C5790"/>
                </a:solidFill>
              </a:rPr>
              <a:t>We create a java maven project as Eureka Server and use the </a:t>
            </a:r>
            <a:r>
              <a:rPr lang="en-US" sz="1400" b="1" dirty="0">
                <a:solidFill>
                  <a:srgbClr val="3C5790"/>
                </a:solidFill>
              </a:rPr>
              <a:t>@EnableEurekaServer</a:t>
            </a:r>
            <a:r>
              <a:rPr lang="en-US" sz="1400" dirty="0">
                <a:solidFill>
                  <a:srgbClr val="3C5790"/>
                </a:solidFill>
              </a:rPr>
              <a:t> annotation along with custom properties in </a:t>
            </a:r>
            <a:r>
              <a:rPr lang="en-US" sz="1400" dirty="0" err="1">
                <a:solidFill>
                  <a:srgbClr val="3C5790"/>
                </a:solidFill>
              </a:rPr>
              <a:t>application.properties</a:t>
            </a:r>
            <a:r>
              <a:rPr lang="en-US" sz="1400" dirty="0">
                <a:solidFill>
                  <a:srgbClr val="3C5790"/>
                </a:solidFill>
              </a:rPr>
              <a:t> file.</a:t>
            </a:r>
          </a:p>
        </p:txBody>
      </p:sp>
      <p:pic>
        <p:nvPicPr>
          <p:cNvPr id="3" name="Picture 2">
            <a:extLst>
              <a:ext uri="{FF2B5EF4-FFF2-40B4-BE49-F238E27FC236}">
                <a16:creationId xmlns:a16="http://schemas.microsoft.com/office/drawing/2014/main" id="{223E8DD5-B3D2-4A81-BECB-24EB5D4FA9C7}"/>
              </a:ext>
            </a:extLst>
          </p:cNvPr>
          <p:cNvPicPr>
            <a:picLocks noChangeAspect="1"/>
          </p:cNvPicPr>
          <p:nvPr/>
        </p:nvPicPr>
        <p:blipFill>
          <a:blip r:embed="rId3"/>
          <a:stretch>
            <a:fillRect/>
          </a:stretch>
        </p:blipFill>
        <p:spPr>
          <a:xfrm>
            <a:off x="2728912" y="3941705"/>
            <a:ext cx="3686175" cy="2702761"/>
          </a:xfrm>
          <a:prstGeom prst="rect">
            <a:avLst/>
          </a:prstGeom>
        </p:spPr>
      </p:pic>
      <p:pic>
        <p:nvPicPr>
          <p:cNvPr id="7" name="Picture 6">
            <a:extLst>
              <a:ext uri="{FF2B5EF4-FFF2-40B4-BE49-F238E27FC236}">
                <a16:creationId xmlns:a16="http://schemas.microsoft.com/office/drawing/2014/main" id="{E3FFAD15-0B0E-41CE-83CE-FD84AF32CE5E}"/>
              </a:ext>
            </a:extLst>
          </p:cNvPr>
          <p:cNvPicPr>
            <a:picLocks noChangeAspect="1"/>
          </p:cNvPicPr>
          <p:nvPr/>
        </p:nvPicPr>
        <p:blipFill>
          <a:blip r:embed="rId4"/>
          <a:stretch>
            <a:fillRect/>
          </a:stretch>
        </p:blipFill>
        <p:spPr>
          <a:xfrm>
            <a:off x="5410200" y="2716204"/>
            <a:ext cx="2530849" cy="869180"/>
          </a:xfrm>
          <a:prstGeom prst="rect">
            <a:avLst/>
          </a:prstGeom>
        </p:spPr>
      </p:pic>
      <p:pic>
        <p:nvPicPr>
          <p:cNvPr id="9" name="Picture 8">
            <a:extLst>
              <a:ext uri="{FF2B5EF4-FFF2-40B4-BE49-F238E27FC236}">
                <a16:creationId xmlns:a16="http://schemas.microsoft.com/office/drawing/2014/main" id="{BA3AC1FA-7E7C-475F-81D3-0E1861A95EE8}"/>
              </a:ext>
            </a:extLst>
          </p:cNvPr>
          <p:cNvPicPr>
            <a:picLocks noChangeAspect="1"/>
          </p:cNvPicPr>
          <p:nvPr/>
        </p:nvPicPr>
        <p:blipFill>
          <a:blip r:embed="rId5"/>
          <a:stretch>
            <a:fillRect/>
          </a:stretch>
        </p:blipFill>
        <p:spPr>
          <a:xfrm>
            <a:off x="609600" y="2825635"/>
            <a:ext cx="3350837" cy="985132"/>
          </a:xfrm>
          <a:prstGeom prst="rect">
            <a:avLst/>
          </a:prstGeom>
        </p:spPr>
      </p:pic>
      <p:cxnSp>
        <p:nvCxnSpPr>
          <p:cNvPr id="11" name="Straight Connector 10">
            <a:extLst>
              <a:ext uri="{FF2B5EF4-FFF2-40B4-BE49-F238E27FC236}">
                <a16:creationId xmlns:a16="http://schemas.microsoft.com/office/drawing/2014/main" id="{5859B067-0B78-4108-B3F9-F0E14E06FAA9}"/>
              </a:ext>
            </a:extLst>
          </p:cNvPr>
          <p:cNvCxnSpPr>
            <a:cxnSpLocks/>
          </p:cNvCxnSpPr>
          <p:nvPr/>
        </p:nvCxnSpPr>
        <p:spPr>
          <a:xfrm>
            <a:off x="304800" y="3810767"/>
            <a:ext cx="868680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E9AE6249-2749-4C67-942C-977D01A2DA15}"/>
              </a:ext>
            </a:extLst>
          </p:cNvPr>
          <p:cNvCxnSpPr>
            <a:endCxn id="4099" idx="2"/>
          </p:cNvCxnSpPr>
          <p:nvPr/>
        </p:nvCxnSpPr>
        <p:spPr>
          <a:xfrm flipV="1">
            <a:off x="4571999" y="2694697"/>
            <a:ext cx="1" cy="111607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7497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
          </a:xfrm>
        </p:spPr>
        <p:txBody>
          <a:bodyPr/>
          <a:lstStyle/>
          <a:p>
            <a:r>
              <a:rPr lang="en-US" sz="1400" dirty="0">
                <a:solidFill>
                  <a:srgbClr val="3C5790"/>
                </a:solidFill>
              </a:rPr>
              <a:t>We can check the Eureka Server at URL </a:t>
            </a:r>
            <a:r>
              <a:rPr lang="en-US" sz="1400" dirty="0">
                <a:solidFill>
                  <a:srgbClr val="3C5790"/>
                </a:solidFill>
                <a:hlinkClick r:id="rId3"/>
              </a:rPr>
              <a:t>http://localhost:8761/</a:t>
            </a:r>
            <a:r>
              <a:rPr lang="en-US" sz="1400" dirty="0">
                <a:solidFill>
                  <a:srgbClr val="3C5790"/>
                </a:solidFill>
              </a:rPr>
              <a:t> </a:t>
            </a:r>
          </a:p>
        </p:txBody>
      </p:sp>
      <p:pic>
        <p:nvPicPr>
          <p:cNvPr id="7" name="Picture 6">
            <a:extLst>
              <a:ext uri="{FF2B5EF4-FFF2-40B4-BE49-F238E27FC236}">
                <a16:creationId xmlns:a16="http://schemas.microsoft.com/office/drawing/2014/main" id="{37114407-49DF-4F3C-B415-2462825852FC}"/>
              </a:ext>
            </a:extLst>
          </p:cNvPr>
          <p:cNvPicPr>
            <a:picLocks noChangeAspect="1"/>
          </p:cNvPicPr>
          <p:nvPr/>
        </p:nvPicPr>
        <p:blipFill>
          <a:blip r:embed="rId4"/>
          <a:stretch>
            <a:fillRect/>
          </a:stretch>
        </p:blipFill>
        <p:spPr>
          <a:xfrm>
            <a:off x="1981200" y="2434339"/>
            <a:ext cx="5334000" cy="1542946"/>
          </a:xfrm>
          <a:prstGeom prst="rect">
            <a:avLst/>
          </a:prstGeom>
        </p:spPr>
      </p:pic>
      <p:pic>
        <p:nvPicPr>
          <p:cNvPr id="9" name="Picture 8">
            <a:extLst>
              <a:ext uri="{FF2B5EF4-FFF2-40B4-BE49-F238E27FC236}">
                <a16:creationId xmlns:a16="http://schemas.microsoft.com/office/drawing/2014/main" id="{029E1FAD-00AB-4DC3-B1A8-3D221D56D6FF}"/>
              </a:ext>
            </a:extLst>
          </p:cNvPr>
          <p:cNvPicPr>
            <a:picLocks noChangeAspect="1"/>
          </p:cNvPicPr>
          <p:nvPr/>
        </p:nvPicPr>
        <p:blipFill>
          <a:blip r:embed="rId5"/>
          <a:stretch>
            <a:fillRect/>
          </a:stretch>
        </p:blipFill>
        <p:spPr>
          <a:xfrm>
            <a:off x="1971413" y="4191000"/>
            <a:ext cx="5410200" cy="2488789"/>
          </a:xfrm>
          <a:prstGeom prst="rect">
            <a:avLst/>
          </a:prstGeom>
        </p:spPr>
      </p:pic>
    </p:spTree>
    <p:extLst>
      <p:ext uri="{BB962C8B-B14F-4D97-AF65-F5344CB8AC3E}">
        <p14:creationId xmlns:p14="http://schemas.microsoft.com/office/powerpoint/2010/main" val="3188043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57200"/>
          </a:xfrm>
        </p:spPr>
        <p:txBody>
          <a:bodyPr/>
          <a:lstStyle/>
          <a:p>
            <a:r>
              <a:rPr lang="en-US" sz="1400" dirty="0">
                <a:solidFill>
                  <a:srgbClr val="3C5790"/>
                </a:solidFill>
              </a:rPr>
              <a:t>Once we start the also the Eureka Clients, they will register to the Eureka Server and will appear as registered services.</a:t>
            </a:r>
          </a:p>
        </p:txBody>
      </p:sp>
      <p:pic>
        <p:nvPicPr>
          <p:cNvPr id="3" name="Picture 2">
            <a:extLst>
              <a:ext uri="{FF2B5EF4-FFF2-40B4-BE49-F238E27FC236}">
                <a16:creationId xmlns:a16="http://schemas.microsoft.com/office/drawing/2014/main" id="{7CA4F64A-1D51-4273-AFB4-F15F90314B19}"/>
              </a:ext>
            </a:extLst>
          </p:cNvPr>
          <p:cNvPicPr>
            <a:picLocks noChangeAspect="1"/>
          </p:cNvPicPr>
          <p:nvPr/>
        </p:nvPicPr>
        <p:blipFill>
          <a:blip r:embed="rId3"/>
          <a:stretch>
            <a:fillRect/>
          </a:stretch>
        </p:blipFill>
        <p:spPr>
          <a:xfrm>
            <a:off x="762000" y="3048000"/>
            <a:ext cx="7620000" cy="2704778"/>
          </a:xfrm>
          <a:prstGeom prst="rect">
            <a:avLst/>
          </a:prstGeom>
        </p:spPr>
      </p:pic>
    </p:spTree>
    <p:extLst>
      <p:ext uri="{BB962C8B-B14F-4D97-AF65-F5344CB8AC3E}">
        <p14:creationId xmlns:p14="http://schemas.microsoft.com/office/powerpoint/2010/main" val="22028041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057400"/>
            <a:ext cx="8686800" cy="533400"/>
          </a:xfrm>
        </p:spPr>
        <p:txBody>
          <a:bodyPr/>
          <a:lstStyle/>
          <a:p>
            <a:r>
              <a:rPr lang="en-US" sz="1400" dirty="0">
                <a:solidFill>
                  <a:srgbClr val="3C5790"/>
                </a:solidFill>
              </a:rPr>
              <a:t>We can use Eureka clients inside Spring Boot microservices by adding the</a:t>
            </a:r>
            <a:r>
              <a:rPr lang="en-US" sz="1400" b="1" dirty="0">
                <a:solidFill>
                  <a:srgbClr val="3C5790"/>
                </a:solidFill>
              </a:rPr>
              <a:t> spring-cloud-starter-</a:t>
            </a:r>
            <a:r>
              <a:rPr lang="en-US" sz="1400" b="1" dirty="0" err="1">
                <a:solidFill>
                  <a:srgbClr val="3C5790"/>
                </a:solidFill>
              </a:rPr>
              <a:t>netflix</a:t>
            </a:r>
            <a:r>
              <a:rPr lang="en-US" sz="1400" b="1" dirty="0">
                <a:solidFill>
                  <a:srgbClr val="3C5790"/>
                </a:solidFill>
              </a:rPr>
              <a:t>-eureka-client</a:t>
            </a:r>
            <a:r>
              <a:rPr lang="en-US" sz="1400" dirty="0">
                <a:solidFill>
                  <a:srgbClr val="3C5790"/>
                </a:solidFill>
              </a:rPr>
              <a:t> dependency and custom properties in </a:t>
            </a:r>
            <a:r>
              <a:rPr lang="en-US" sz="1400" dirty="0" err="1">
                <a:solidFill>
                  <a:srgbClr val="3C5790"/>
                </a:solidFill>
              </a:rPr>
              <a:t>application.properties</a:t>
            </a:r>
            <a:r>
              <a:rPr lang="en-US" sz="1400" dirty="0">
                <a:solidFill>
                  <a:srgbClr val="3C5790"/>
                </a:solidFill>
              </a:rPr>
              <a:t>.</a:t>
            </a:r>
          </a:p>
        </p:txBody>
      </p:sp>
      <p:pic>
        <p:nvPicPr>
          <p:cNvPr id="3" name="Picture 2">
            <a:extLst>
              <a:ext uri="{FF2B5EF4-FFF2-40B4-BE49-F238E27FC236}">
                <a16:creationId xmlns:a16="http://schemas.microsoft.com/office/drawing/2014/main" id="{3B55043C-0D51-4BBE-B9AA-8803F2E36D60}"/>
              </a:ext>
            </a:extLst>
          </p:cNvPr>
          <p:cNvPicPr>
            <a:picLocks noChangeAspect="1"/>
          </p:cNvPicPr>
          <p:nvPr/>
        </p:nvPicPr>
        <p:blipFill>
          <a:blip r:embed="rId3"/>
          <a:stretch>
            <a:fillRect/>
          </a:stretch>
        </p:blipFill>
        <p:spPr>
          <a:xfrm>
            <a:off x="482366" y="2590800"/>
            <a:ext cx="3749271" cy="3886200"/>
          </a:xfrm>
          <a:prstGeom prst="rect">
            <a:avLst/>
          </a:prstGeom>
        </p:spPr>
      </p:pic>
      <p:cxnSp>
        <p:nvCxnSpPr>
          <p:cNvPr id="7" name="Straight Connector 6">
            <a:extLst>
              <a:ext uri="{FF2B5EF4-FFF2-40B4-BE49-F238E27FC236}">
                <a16:creationId xmlns:a16="http://schemas.microsoft.com/office/drawing/2014/main" id="{4CB4D0F9-DB1D-4E48-8965-2E06796468C1}"/>
              </a:ext>
            </a:extLst>
          </p:cNvPr>
          <p:cNvCxnSpPr/>
          <p:nvPr/>
        </p:nvCxnSpPr>
        <p:spPr>
          <a:xfrm>
            <a:off x="4419600" y="2667000"/>
            <a:ext cx="76200" cy="4038600"/>
          </a:xfrm>
          <a:prstGeom prst="line">
            <a:avLst/>
          </a:prstGeom>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66D3137E-4B25-4540-9F83-E0D26A8B0D1D}"/>
              </a:ext>
            </a:extLst>
          </p:cNvPr>
          <p:cNvPicPr>
            <a:picLocks noChangeAspect="1"/>
          </p:cNvPicPr>
          <p:nvPr/>
        </p:nvPicPr>
        <p:blipFill>
          <a:blip r:embed="rId4"/>
          <a:stretch>
            <a:fillRect/>
          </a:stretch>
        </p:blipFill>
        <p:spPr>
          <a:xfrm>
            <a:off x="4724400" y="5526432"/>
            <a:ext cx="3810001" cy="950568"/>
          </a:xfrm>
          <a:prstGeom prst="rect">
            <a:avLst/>
          </a:prstGeom>
        </p:spPr>
      </p:pic>
      <p:pic>
        <p:nvPicPr>
          <p:cNvPr id="11" name="Picture 10">
            <a:extLst>
              <a:ext uri="{FF2B5EF4-FFF2-40B4-BE49-F238E27FC236}">
                <a16:creationId xmlns:a16="http://schemas.microsoft.com/office/drawing/2014/main" id="{07A286D0-7019-4351-99B2-AA1D85A48B2E}"/>
              </a:ext>
            </a:extLst>
          </p:cNvPr>
          <p:cNvPicPr>
            <a:picLocks noChangeAspect="1"/>
          </p:cNvPicPr>
          <p:nvPr/>
        </p:nvPicPr>
        <p:blipFill>
          <a:blip r:embed="rId5"/>
          <a:stretch>
            <a:fillRect/>
          </a:stretch>
        </p:blipFill>
        <p:spPr>
          <a:xfrm>
            <a:off x="4724400" y="2895600"/>
            <a:ext cx="4063725" cy="1577316"/>
          </a:xfrm>
          <a:prstGeom prst="rect">
            <a:avLst/>
          </a:prstGeom>
        </p:spPr>
      </p:pic>
      <p:cxnSp>
        <p:nvCxnSpPr>
          <p:cNvPr id="13" name="Straight Connector 12">
            <a:extLst>
              <a:ext uri="{FF2B5EF4-FFF2-40B4-BE49-F238E27FC236}">
                <a16:creationId xmlns:a16="http://schemas.microsoft.com/office/drawing/2014/main" id="{969BE33F-46AE-4F99-8568-39A977FCDDF2}"/>
              </a:ext>
            </a:extLst>
          </p:cNvPr>
          <p:cNvCxnSpPr>
            <a:cxnSpLocks/>
          </p:cNvCxnSpPr>
          <p:nvPr/>
        </p:nvCxnSpPr>
        <p:spPr>
          <a:xfrm>
            <a:off x="4457700" y="4724400"/>
            <a:ext cx="46863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07939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Most common Eureka Server properties:</a:t>
            </a:r>
          </a:p>
        </p:txBody>
      </p:sp>
      <p:graphicFrame>
        <p:nvGraphicFramePr>
          <p:cNvPr id="2" name="Table 2">
            <a:extLst>
              <a:ext uri="{FF2B5EF4-FFF2-40B4-BE49-F238E27FC236}">
                <a16:creationId xmlns:a16="http://schemas.microsoft.com/office/drawing/2014/main" id="{22409302-EE37-4305-B8FC-C5E412CD2F7A}"/>
              </a:ext>
            </a:extLst>
          </p:cNvPr>
          <p:cNvGraphicFramePr>
            <a:graphicFrameLocks noGrp="1"/>
          </p:cNvGraphicFramePr>
          <p:nvPr>
            <p:extLst>
              <p:ext uri="{D42A27DB-BD31-4B8C-83A1-F6EECF244321}">
                <p14:modId xmlns:p14="http://schemas.microsoft.com/office/powerpoint/2010/main" val="524086380"/>
              </p:ext>
            </p:extLst>
          </p:nvPr>
        </p:nvGraphicFramePr>
        <p:xfrm>
          <a:off x="228600" y="2514600"/>
          <a:ext cx="8686799" cy="322580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589151108"/>
                    </a:ext>
                  </a:extLst>
                </a:gridCol>
                <a:gridCol w="914400">
                  <a:extLst>
                    <a:ext uri="{9D8B030D-6E8A-4147-A177-3AD203B41FA5}">
                      <a16:colId xmlns:a16="http://schemas.microsoft.com/office/drawing/2014/main" val="4035097610"/>
                    </a:ext>
                  </a:extLst>
                </a:gridCol>
                <a:gridCol w="4648199">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200" dirty="0" err="1"/>
                        <a:t>eureka.server.enable</a:t>
                      </a:r>
                      <a:r>
                        <a:rPr lang="en-US" sz="1200" dirty="0"/>
                        <a:t>-self-preservation</a:t>
                      </a:r>
                    </a:p>
                  </a:txBody>
                  <a:tcPr/>
                </a:tc>
                <a:tc>
                  <a:txBody>
                    <a:bodyPr/>
                    <a:lstStyle/>
                    <a:p>
                      <a:r>
                        <a:rPr lang="en-US" sz="1200" dirty="0"/>
                        <a:t>true</a:t>
                      </a:r>
                    </a:p>
                  </a:txBody>
                  <a:tcPr/>
                </a:tc>
                <a:tc>
                  <a:txBody>
                    <a:bodyPr/>
                    <a:lstStyle/>
                    <a:p>
                      <a:r>
                        <a:rPr lang="en-US" sz="1200" dirty="0"/>
                        <a:t>Enables/disables self-preservation mode to prevent eviction during network issues</a:t>
                      </a:r>
                    </a:p>
                  </a:txBody>
                  <a:tcPr/>
                </a:tc>
                <a:extLst>
                  <a:ext uri="{0D108BD9-81ED-4DB2-BD59-A6C34878D82A}">
                    <a16:rowId xmlns:a16="http://schemas.microsoft.com/office/drawing/2014/main" val="2324881647"/>
                  </a:ext>
                </a:extLst>
              </a:tr>
              <a:tr h="370840">
                <a:tc>
                  <a:txBody>
                    <a:bodyPr/>
                    <a:lstStyle/>
                    <a:p>
                      <a:r>
                        <a:rPr lang="en-US" sz="1200" dirty="0" err="1"/>
                        <a:t>eureka.server.renewal</a:t>
                      </a:r>
                      <a:r>
                        <a:rPr lang="en-US" sz="1200" dirty="0"/>
                        <a:t>-percent-threshold</a:t>
                      </a:r>
                    </a:p>
                  </a:txBody>
                  <a:tcPr/>
                </a:tc>
                <a:tc>
                  <a:txBody>
                    <a:bodyPr/>
                    <a:lstStyle/>
                    <a:p>
                      <a:r>
                        <a:rPr lang="en-US" sz="1200" dirty="0"/>
                        <a:t>0.85</a:t>
                      </a:r>
                    </a:p>
                  </a:txBody>
                  <a:tcPr/>
                </a:tc>
                <a:tc>
                  <a:txBody>
                    <a:bodyPr/>
                    <a:lstStyle/>
                    <a:p>
                      <a:r>
                        <a:rPr lang="en-US" sz="1200" dirty="0"/>
                        <a:t>The renewal threshold percentage required to avoid self-preservation</a:t>
                      </a:r>
                    </a:p>
                  </a:txBody>
                  <a:tcPr/>
                </a:tc>
                <a:extLst>
                  <a:ext uri="{0D108BD9-81ED-4DB2-BD59-A6C34878D82A}">
                    <a16:rowId xmlns:a16="http://schemas.microsoft.com/office/drawing/2014/main" val="1568501300"/>
                  </a:ext>
                </a:extLst>
              </a:tr>
              <a:tr h="370840">
                <a:tc>
                  <a:txBody>
                    <a:bodyPr/>
                    <a:lstStyle/>
                    <a:p>
                      <a:r>
                        <a:rPr lang="en-US" sz="1200" dirty="0" err="1"/>
                        <a:t>eureka.server.defaultOpenForTrafficCount</a:t>
                      </a:r>
                      <a:endParaRPr lang="en-US" sz="1200" dirty="0"/>
                    </a:p>
                  </a:txBody>
                  <a:tcPr/>
                </a:tc>
                <a:tc>
                  <a:txBody>
                    <a:bodyPr/>
                    <a:lstStyle/>
                    <a:p>
                      <a:r>
                        <a:rPr lang="en-US" sz="1200" dirty="0"/>
                        <a:t>1</a:t>
                      </a:r>
                    </a:p>
                  </a:txBody>
                  <a:tcPr/>
                </a:tc>
                <a:tc>
                  <a:txBody>
                    <a:bodyPr/>
                    <a:lstStyle/>
                    <a:p>
                      <a:r>
                        <a:rPr lang="en-US" sz="1200" dirty="0"/>
                        <a:t>Number of instances assumed alive at startup for threshold calculation</a:t>
                      </a:r>
                    </a:p>
                  </a:txBody>
                  <a:tcPr/>
                </a:tc>
                <a:extLst>
                  <a:ext uri="{0D108BD9-81ED-4DB2-BD59-A6C34878D82A}">
                    <a16:rowId xmlns:a16="http://schemas.microsoft.com/office/drawing/2014/main" val="3041417831"/>
                  </a:ext>
                </a:extLst>
              </a:tr>
              <a:tr h="370840">
                <a:tc>
                  <a:txBody>
                    <a:bodyPr/>
                    <a:lstStyle/>
                    <a:p>
                      <a:r>
                        <a:rPr lang="en-US" sz="1200" dirty="0" err="1"/>
                        <a:t>eureka.server.eviction</a:t>
                      </a:r>
                      <a:r>
                        <a:rPr lang="en-US" sz="1200" dirty="0"/>
                        <a:t>-interval-timer-in-</a:t>
                      </a:r>
                      <a:r>
                        <a:rPr lang="en-US" sz="1200" dirty="0" err="1"/>
                        <a:t>ms</a:t>
                      </a:r>
                      <a:endParaRPr lang="en-US" sz="1200" dirty="0"/>
                    </a:p>
                  </a:txBody>
                  <a:tcPr/>
                </a:tc>
                <a:tc>
                  <a:txBody>
                    <a:bodyPr/>
                    <a:lstStyle/>
                    <a:p>
                      <a:r>
                        <a:rPr lang="en-US" sz="1200" dirty="0"/>
                        <a:t>60000 </a:t>
                      </a:r>
                      <a:r>
                        <a:rPr lang="en-US" sz="1200" dirty="0" err="1"/>
                        <a:t>ms</a:t>
                      </a:r>
                      <a:endParaRPr lang="en-US" sz="1200" dirty="0"/>
                    </a:p>
                  </a:txBody>
                  <a:tcPr/>
                </a:tc>
                <a:tc>
                  <a:txBody>
                    <a:bodyPr/>
                    <a:lstStyle/>
                    <a:p>
                      <a:r>
                        <a:rPr lang="en-US" sz="1200" dirty="0"/>
                        <a:t>Interval for running eviction of expired instances</a:t>
                      </a:r>
                    </a:p>
                  </a:txBody>
                  <a:tcPr/>
                </a:tc>
                <a:extLst>
                  <a:ext uri="{0D108BD9-81ED-4DB2-BD59-A6C34878D82A}">
                    <a16:rowId xmlns:a16="http://schemas.microsoft.com/office/drawing/2014/main" val="934360143"/>
                  </a:ext>
                </a:extLst>
              </a:tr>
              <a:tr h="370840">
                <a:tc>
                  <a:txBody>
                    <a:bodyPr/>
                    <a:lstStyle/>
                    <a:p>
                      <a:r>
                        <a:rPr lang="en-US" sz="1200" dirty="0" err="1"/>
                        <a:t>eureka.server.renewal</a:t>
                      </a:r>
                      <a:r>
                        <a:rPr lang="en-US" sz="1200" dirty="0"/>
                        <a:t>-threshold-update-interval-</a:t>
                      </a:r>
                      <a:r>
                        <a:rPr lang="en-US" sz="1200" dirty="0" err="1"/>
                        <a:t>ms</a:t>
                      </a:r>
                      <a:endParaRPr lang="en-US" sz="1200" dirty="0"/>
                    </a:p>
                  </a:txBody>
                  <a:tcPr/>
                </a:tc>
                <a:tc>
                  <a:txBody>
                    <a:bodyPr/>
                    <a:lstStyle/>
                    <a:p>
                      <a:r>
                        <a:rPr lang="en-US" sz="1200" dirty="0"/>
                        <a:t>900000 </a:t>
                      </a:r>
                      <a:r>
                        <a:rPr lang="en-US" sz="1200" dirty="0" err="1"/>
                        <a:t>ms</a:t>
                      </a:r>
                      <a:endParaRPr lang="en-US" sz="1200" dirty="0"/>
                    </a:p>
                  </a:txBody>
                  <a:tcPr/>
                </a:tc>
                <a:tc>
                  <a:txBody>
                    <a:bodyPr/>
                    <a:lstStyle/>
                    <a:p>
                      <a:r>
                        <a:rPr lang="en-US" sz="1200" dirty="0"/>
                        <a:t>Frequency for Eureka server renewal threshold recalculation</a:t>
                      </a:r>
                    </a:p>
                  </a:txBody>
                  <a:tcPr/>
                </a:tc>
                <a:extLst>
                  <a:ext uri="{0D108BD9-81ED-4DB2-BD59-A6C34878D82A}">
                    <a16:rowId xmlns:a16="http://schemas.microsoft.com/office/drawing/2014/main" val="1906485577"/>
                  </a:ext>
                </a:extLst>
              </a:tr>
              <a:tr h="370840">
                <a:tc>
                  <a:txBody>
                    <a:bodyPr/>
                    <a:lstStyle/>
                    <a:p>
                      <a:r>
                        <a:rPr lang="en-US" sz="1200" dirty="0" err="1"/>
                        <a:t>eureka.server.wait</a:t>
                      </a:r>
                      <a:r>
                        <a:rPr lang="en-US" sz="1200" dirty="0"/>
                        <a:t>-time-in-</a:t>
                      </a:r>
                      <a:r>
                        <a:rPr lang="en-US" sz="1200" dirty="0" err="1"/>
                        <a:t>ms</a:t>
                      </a:r>
                      <a:r>
                        <a:rPr lang="en-US" sz="1200" dirty="0"/>
                        <a:t>-when-sync-empty</a:t>
                      </a:r>
                    </a:p>
                  </a:txBody>
                  <a:tcPr/>
                </a:tc>
                <a:tc>
                  <a:txBody>
                    <a:bodyPr/>
                    <a:lstStyle/>
                    <a:p>
                      <a:r>
                        <a:rPr lang="en-US" sz="1200" dirty="0"/>
                        <a:t>300000 </a:t>
                      </a:r>
                      <a:r>
                        <a:rPr lang="en-US" sz="1200" dirty="0" err="1"/>
                        <a:t>ms</a:t>
                      </a:r>
                      <a:endParaRPr lang="en-US" sz="1200" dirty="0"/>
                    </a:p>
                  </a:txBody>
                  <a:tcPr/>
                </a:tc>
                <a:tc>
                  <a:txBody>
                    <a:bodyPr/>
                    <a:lstStyle/>
                    <a:p>
                      <a:r>
                        <a:rPr lang="en-US" sz="1200" dirty="0"/>
                        <a:t>Wait time before syncing registry when empty</a:t>
                      </a:r>
                    </a:p>
                  </a:txBody>
                  <a:tcPr/>
                </a:tc>
                <a:extLst>
                  <a:ext uri="{0D108BD9-81ED-4DB2-BD59-A6C34878D82A}">
                    <a16:rowId xmlns:a16="http://schemas.microsoft.com/office/drawing/2014/main" val="2452299204"/>
                  </a:ext>
                </a:extLst>
              </a:tr>
              <a:tr h="370840">
                <a:tc>
                  <a:txBody>
                    <a:bodyPr/>
                    <a:lstStyle/>
                    <a:p>
                      <a:r>
                        <a:rPr lang="en-US" sz="1200" dirty="0" err="1"/>
                        <a:t>server.port</a:t>
                      </a:r>
                      <a:endParaRPr lang="en-US" sz="1200" dirty="0"/>
                    </a:p>
                  </a:txBody>
                  <a:tcPr/>
                </a:tc>
                <a:tc>
                  <a:txBody>
                    <a:bodyPr/>
                    <a:lstStyle/>
                    <a:p>
                      <a:r>
                        <a:rPr lang="en-US" sz="1200" dirty="0"/>
                        <a:t>8761</a:t>
                      </a:r>
                    </a:p>
                  </a:txBody>
                  <a:tcPr/>
                </a:tc>
                <a:tc>
                  <a:txBody>
                    <a:bodyPr/>
                    <a:lstStyle/>
                    <a:p>
                      <a:r>
                        <a:rPr lang="en-US" sz="1200" dirty="0"/>
                        <a:t>The port on which Eureka server runs</a:t>
                      </a:r>
                    </a:p>
                  </a:txBody>
                  <a:tcPr/>
                </a:tc>
                <a:extLst>
                  <a:ext uri="{0D108BD9-81ED-4DB2-BD59-A6C34878D82A}">
                    <a16:rowId xmlns:a16="http://schemas.microsoft.com/office/drawing/2014/main" val="879982103"/>
                  </a:ext>
                </a:extLst>
              </a:tr>
            </a:tbl>
          </a:graphicData>
        </a:graphic>
      </p:graphicFrame>
    </p:spTree>
    <p:extLst>
      <p:ext uri="{BB962C8B-B14F-4D97-AF65-F5344CB8AC3E}">
        <p14:creationId xmlns:p14="http://schemas.microsoft.com/office/powerpoint/2010/main" val="3789732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Service Registration &amp; Discovery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Most common Eureka Client properties:</a:t>
            </a:r>
          </a:p>
        </p:txBody>
      </p:sp>
      <p:graphicFrame>
        <p:nvGraphicFramePr>
          <p:cNvPr id="2" name="Table 2">
            <a:extLst>
              <a:ext uri="{FF2B5EF4-FFF2-40B4-BE49-F238E27FC236}">
                <a16:creationId xmlns:a16="http://schemas.microsoft.com/office/drawing/2014/main" id="{22409302-EE37-4305-B8FC-C5E412CD2F7A}"/>
              </a:ext>
            </a:extLst>
          </p:cNvPr>
          <p:cNvGraphicFramePr>
            <a:graphicFrameLocks noGrp="1"/>
          </p:cNvGraphicFramePr>
          <p:nvPr>
            <p:extLst>
              <p:ext uri="{D42A27DB-BD31-4B8C-83A1-F6EECF244321}">
                <p14:modId xmlns:p14="http://schemas.microsoft.com/office/powerpoint/2010/main" val="954934358"/>
              </p:ext>
            </p:extLst>
          </p:nvPr>
        </p:nvGraphicFramePr>
        <p:xfrm>
          <a:off x="152400" y="2514600"/>
          <a:ext cx="8839200" cy="32258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2589151108"/>
                    </a:ext>
                  </a:extLst>
                </a:gridCol>
                <a:gridCol w="2171032">
                  <a:extLst>
                    <a:ext uri="{9D8B030D-6E8A-4147-A177-3AD203B41FA5}">
                      <a16:colId xmlns:a16="http://schemas.microsoft.com/office/drawing/2014/main" val="4035097610"/>
                    </a:ext>
                  </a:extLst>
                </a:gridCol>
                <a:gridCol w="3721768">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200" dirty="0" err="1"/>
                        <a:t>eureka.client.service-url.defaultZone</a:t>
                      </a:r>
                      <a:endParaRPr lang="en-US" sz="1200" dirty="0"/>
                    </a:p>
                  </a:txBody>
                  <a:tcPr/>
                </a:tc>
                <a:tc>
                  <a:txBody>
                    <a:bodyPr/>
                    <a:lstStyle/>
                    <a:p>
                      <a:r>
                        <a:rPr lang="en-US" sz="1200" dirty="0"/>
                        <a:t>http://localhost:8761/eureka</a:t>
                      </a:r>
                    </a:p>
                  </a:txBody>
                  <a:tcPr/>
                </a:tc>
                <a:tc>
                  <a:txBody>
                    <a:bodyPr/>
                    <a:lstStyle/>
                    <a:p>
                      <a:r>
                        <a:rPr lang="en-US" sz="1200" dirty="0"/>
                        <a:t>URL of the Eureka server for registration and discovery.</a:t>
                      </a:r>
                    </a:p>
                  </a:txBody>
                  <a:tcPr/>
                </a:tc>
                <a:extLst>
                  <a:ext uri="{0D108BD9-81ED-4DB2-BD59-A6C34878D82A}">
                    <a16:rowId xmlns:a16="http://schemas.microsoft.com/office/drawing/2014/main" val="2324881647"/>
                  </a:ext>
                </a:extLst>
              </a:tr>
              <a:tr h="370840">
                <a:tc>
                  <a:txBody>
                    <a:bodyPr/>
                    <a:lstStyle/>
                    <a:p>
                      <a:r>
                        <a:rPr lang="en-US" sz="1200" dirty="0" err="1"/>
                        <a:t>eureka.client.register</a:t>
                      </a:r>
                      <a:r>
                        <a:rPr lang="en-US" sz="1200" dirty="0"/>
                        <a:t>-with-eureka </a:t>
                      </a:r>
                    </a:p>
                  </a:txBody>
                  <a:tcPr/>
                </a:tc>
                <a:tc>
                  <a:txBody>
                    <a:bodyPr/>
                    <a:lstStyle/>
                    <a:p>
                      <a:r>
                        <a:rPr lang="en-US" sz="1200" dirty="0"/>
                        <a:t>true</a:t>
                      </a:r>
                    </a:p>
                  </a:txBody>
                  <a:tcPr/>
                </a:tc>
                <a:tc>
                  <a:txBody>
                    <a:bodyPr/>
                    <a:lstStyle/>
                    <a:p>
                      <a:r>
                        <a:rPr lang="en-US" sz="1200" dirty="0"/>
                        <a:t>Whether client instance registers itself with Eureka</a:t>
                      </a:r>
                    </a:p>
                  </a:txBody>
                  <a:tcPr/>
                </a:tc>
                <a:extLst>
                  <a:ext uri="{0D108BD9-81ED-4DB2-BD59-A6C34878D82A}">
                    <a16:rowId xmlns:a16="http://schemas.microsoft.com/office/drawing/2014/main" val="1568501300"/>
                  </a:ext>
                </a:extLst>
              </a:tr>
              <a:tr h="370840">
                <a:tc>
                  <a:txBody>
                    <a:bodyPr/>
                    <a:lstStyle/>
                    <a:p>
                      <a:r>
                        <a:rPr lang="en-US" sz="1200" dirty="0" err="1"/>
                        <a:t>eureka.client.fetch</a:t>
                      </a:r>
                      <a:r>
                        <a:rPr lang="en-US" sz="1200" dirty="0"/>
                        <a:t>-registry</a:t>
                      </a:r>
                    </a:p>
                  </a:txBody>
                  <a:tcPr/>
                </a:tc>
                <a:tc>
                  <a:txBody>
                    <a:bodyPr/>
                    <a:lstStyle/>
                    <a:p>
                      <a:r>
                        <a:rPr lang="en-US" sz="1200" dirty="0"/>
                        <a:t>true</a:t>
                      </a:r>
                    </a:p>
                  </a:txBody>
                  <a:tcPr/>
                </a:tc>
                <a:tc>
                  <a:txBody>
                    <a:bodyPr/>
                    <a:lstStyle/>
                    <a:p>
                      <a:r>
                        <a:rPr lang="en-US" sz="1200" dirty="0"/>
                        <a:t>Whether client fetches registry information from Eureka</a:t>
                      </a:r>
                    </a:p>
                  </a:txBody>
                  <a:tcPr/>
                </a:tc>
                <a:extLst>
                  <a:ext uri="{0D108BD9-81ED-4DB2-BD59-A6C34878D82A}">
                    <a16:rowId xmlns:a16="http://schemas.microsoft.com/office/drawing/2014/main" val="3041417831"/>
                  </a:ext>
                </a:extLst>
              </a:tr>
              <a:tr h="370840">
                <a:tc>
                  <a:txBody>
                    <a:bodyPr/>
                    <a:lstStyle/>
                    <a:p>
                      <a:r>
                        <a:rPr lang="en-US" sz="1200" dirty="0" err="1"/>
                        <a:t>eureka.instance.prefer</a:t>
                      </a:r>
                      <a:r>
                        <a:rPr lang="en-US" sz="1200" dirty="0"/>
                        <a:t>-</a:t>
                      </a:r>
                      <a:r>
                        <a:rPr lang="en-US" sz="1200" dirty="0" err="1"/>
                        <a:t>ip</a:t>
                      </a:r>
                      <a:r>
                        <a:rPr lang="en-US" sz="1200" dirty="0"/>
                        <a:t>-address</a:t>
                      </a:r>
                    </a:p>
                  </a:txBody>
                  <a:tcPr/>
                </a:tc>
                <a:tc>
                  <a:txBody>
                    <a:bodyPr/>
                    <a:lstStyle/>
                    <a:p>
                      <a:r>
                        <a:rPr lang="en-US" sz="1200" dirty="0"/>
                        <a:t>false</a:t>
                      </a:r>
                    </a:p>
                  </a:txBody>
                  <a:tcPr/>
                </a:tc>
                <a:tc>
                  <a:txBody>
                    <a:bodyPr/>
                    <a:lstStyle/>
                    <a:p>
                      <a:r>
                        <a:rPr lang="en-US" sz="1200" dirty="0"/>
                        <a:t>Whether to register client instance with its IP address instead of hostname</a:t>
                      </a:r>
                    </a:p>
                  </a:txBody>
                  <a:tcPr/>
                </a:tc>
                <a:extLst>
                  <a:ext uri="{0D108BD9-81ED-4DB2-BD59-A6C34878D82A}">
                    <a16:rowId xmlns:a16="http://schemas.microsoft.com/office/drawing/2014/main" val="934360143"/>
                  </a:ext>
                </a:extLst>
              </a:tr>
              <a:tr h="370840">
                <a:tc>
                  <a:txBody>
                    <a:bodyPr/>
                    <a:lstStyle/>
                    <a:p>
                      <a:r>
                        <a:rPr lang="en-US" sz="1200" dirty="0" err="1"/>
                        <a:t>eureka.instance.lease</a:t>
                      </a:r>
                      <a:r>
                        <a:rPr lang="en-US" sz="1200" dirty="0"/>
                        <a:t>-renewal-interval-in-seconds</a:t>
                      </a:r>
                    </a:p>
                  </a:txBody>
                  <a:tcPr/>
                </a:tc>
                <a:tc>
                  <a:txBody>
                    <a:bodyPr/>
                    <a:lstStyle/>
                    <a:p>
                      <a:r>
                        <a:rPr lang="en-US" sz="1200" dirty="0"/>
                        <a:t>30 seconds</a:t>
                      </a:r>
                    </a:p>
                  </a:txBody>
                  <a:tcPr/>
                </a:tc>
                <a:tc>
                  <a:txBody>
                    <a:bodyPr/>
                    <a:lstStyle/>
                    <a:p>
                      <a:r>
                        <a:rPr lang="en-US" sz="1200" dirty="0"/>
                        <a:t>interval for client to send heartbeat renewals</a:t>
                      </a:r>
                    </a:p>
                  </a:txBody>
                  <a:tcPr/>
                </a:tc>
                <a:extLst>
                  <a:ext uri="{0D108BD9-81ED-4DB2-BD59-A6C34878D82A}">
                    <a16:rowId xmlns:a16="http://schemas.microsoft.com/office/drawing/2014/main" val="1906485577"/>
                  </a:ext>
                </a:extLst>
              </a:tr>
              <a:tr h="370840">
                <a:tc>
                  <a:txBody>
                    <a:bodyPr/>
                    <a:lstStyle/>
                    <a:p>
                      <a:r>
                        <a:rPr lang="en-US" sz="1200" dirty="0" err="1"/>
                        <a:t>eureka.instance.lease</a:t>
                      </a:r>
                      <a:r>
                        <a:rPr lang="en-US" sz="1200" dirty="0"/>
                        <a:t>-expiration-duration-in-seconds</a:t>
                      </a:r>
                    </a:p>
                  </a:txBody>
                  <a:tcPr/>
                </a:tc>
                <a:tc>
                  <a:txBody>
                    <a:bodyPr/>
                    <a:lstStyle/>
                    <a:p>
                      <a:r>
                        <a:rPr lang="en-US" sz="1200" dirty="0"/>
                        <a:t>90 seconds</a:t>
                      </a:r>
                    </a:p>
                  </a:txBody>
                  <a:tcPr/>
                </a:tc>
                <a:tc>
                  <a:txBody>
                    <a:bodyPr/>
                    <a:lstStyle/>
                    <a:p>
                      <a:r>
                        <a:rPr lang="en-US" sz="1200" dirty="0"/>
                        <a:t>How long to wait before expiring a lease without renewal</a:t>
                      </a:r>
                    </a:p>
                  </a:txBody>
                  <a:tcPr/>
                </a:tc>
                <a:extLst>
                  <a:ext uri="{0D108BD9-81ED-4DB2-BD59-A6C34878D82A}">
                    <a16:rowId xmlns:a16="http://schemas.microsoft.com/office/drawing/2014/main" val="2452299204"/>
                  </a:ext>
                </a:extLst>
              </a:tr>
              <a:tr h="370840">
                <a:tc>
                  <a:txBody>
                    <a:bodyPr/>
                    <a:lstStyle/>
                    <a:p>
                      <a:r>
                        <a:rPr lang="en-US" sz="1200" dirty="0" err="1"/>
                        <a:t>eureka.instance.appname</a:t>
                      </a:r>
                      <a:endParaRPr lang="en-US" sz="1200" dirty="0"/>
                    </a:p>
                  </a:txBody>
                  <a:tcPr/>
                </a:tc>
                <a:tc>
                  <a:txBody>
                    <a:bodyPr/>
                    <a:lstStyle/>
                    <a:p>
                      <a:r>
                        <a:rPr lang="en-US" sz="1200" dirty="0"/>
                        <a:t>${spring.application.name}</a:t>
                      </a:r>
                    </a:p>
                  </a:txBody>
                  <a:tcPr/>
                </a:tc>
                <a:tc>
                  <a:txBody>
                    <a:bodyPr/>
                    <a:lstStyle/>
                    <a:p>
                      <a:r>
                        <a:rPr lang="en-US" sz="1200" dirty="0"/>
                        <a:t>Application name used to register the instance</a:t>
                      </a:r>
                    </a:p>
                  </a:txBody>
                  <a:tcPr/>
                </a:tc>
                <a:extLst>
                  <a:ext uri="{0D108BD9-81ED-4DB2-BD59-A6C34878D82A}">
                    <a16:rowId xmlns:a16="http://schemas.microsoft.com/office/drawing/2014/main" val="879982103"/>
                  </a:ext>
                </a:extLst>
              </a:tr>
            </a:tbl>
          </a:graphicData>
        </a:graphic>
      </p:graphicFrame>
    </p:spTree>
    <p:extLst>
      <p:ext uri="{BB962C8B-B14F-4D97-AF65-F5344CB8AC3E}">
        <p14:creationId xmlns:p14="http://schemas.microsoft.com/office/powerpoint/2010/main" val="39753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REST Client </a:t>
            </a:r>
            <a:r>
              <a:rPr lang="fr-CA" dirty="0" err="1">
                <a:solidFill>
                  <a:schemeClr val="bg1"/>
                </a:solidFill>
              </a:rPr>
              <a:t>Feign</a:t>
            </a:r>
            <a:endParaRPr lang="fr-CA" dirty="0">
              <a:solidFill>
                <a:schemeClr val="bg1"/>
              </a:solidFill>
            </a:endParaRPr>
          </a:p>
        </p:txBody>
      </p:sp>
      <p:sp>
        <p:nvSpPr>
          <p:cNvPr id="4099" name="Espace réservé du contenu 4"/>
          <p:cNvSpPr>
            <a:spLocks noGrp="1"/>
          </p:cNvSpPr>
          <p:nvPr>
            <p:ph idx="1"/>
          </p:nvPr>
        </p:nvSpPr>
        <p:spPr>
          <a:xfrm>
            <a:off x="228600" y="2133600"/>
            <a:ext cx="8686800" cy="1828800"/>
          </a:xfrm>
        </p:spPr>
        <p:txBody>
          <a:bodyPr/>
          <a:lstStyle/>
          <a:p>
            <a:r>
              <a:rPr lang="en-US" sz="1400" b="1" dirty="0">
                <a:solidFill>
                  <a:srgbClr val="3C5790"/>
                </a:solidFill>
              </a:rPr>
              <a:t>Feign</a:t>
            </a:r>
            <a:r>
              <a:rPr lang="en-US" sz="1400" dirty="0">
                <a:solidFill>
                  <a:srgbClr val="3C5790"/>
                </a:solidFill>
              </a:rPr>
              <a:t> is a </a:t>
            </a:r>
            <a:r>
              <a:rPr lang="en-US" sz="1400" b="1" dirty="0">
                <a:solidFill>
                  <a:srgbClr val="3C5790"/>
                </a:solidFill>
              </a:rPr>
              <a:t>declarative</a:t>
            </a:r>
            <a:r>
              <a:rPr lang="en-US" sz="1400" dirty="0">
                <a:solidFill>
                  <a:srgbClr val="3C5790"/>
                </a:solidFill>
              </a:rPr>
              <a:t> </a:t>
            </a:r>
            <a:r>
              <a:rPr lang="en-US" sz="1400" b="1" dirty="0">
                <a:solidFill>
                  <a:srgbClr val="3C5790"/>
                </a:solidFill>
              </a:rPr>
              <a:t>REST</a:t>
            </a:r>
            <a:r>
              <a:rPr lang="en-US" sz="1400" dirty="0">
                <a:solidFill>
                  <a:srgbClr val="3C5790"/>
                </a:solidFill>
              </a:rPr>
              <a:t> </a:t>
            </a:r>
            <a:r>
              <a:rPr lang="en-US" sz="1400" b="1" dirty="0">
                <a:solidFill>
                  <a:srgbClr val="3C5790"/>
                </a:solidFill>
              </a:rPr>
              <a:t>client</a:t>
            </a:r>
            <a:r>
              <a:rPr lang="en-US" sz="1400" dirty="0">
                <a:solidFill>
                  <a:srgbClr val="3C5790"/>
                </a:solidFill>
              </a:rPr>
              <a:t> developed to make writing web service clients easier by defining interfaces annotated with metadata rather than implementing low-level HTTP communication logic manually. </a:t>
            </a:r>
          </a:p>
          <a:p>
            <a:r>
              <a:rPr lang="en-US" sz="1400" dirty="0">
                <a:solidFill>
                  <a:srgbClr val="3C5790"/>
                </a:solidFill>
              </a:rPr>
              <a:t>It supports pluggable annotation support, including </a:t>
            </a:r>
            <a:r>
              <a:rPr lang="en-US" sz="1400" dirty="0" err="1">
                <a:solidFill>
                  <a:srgbClr val="3C5790"/>
                </a:solidFill>
              </a:rPr>
              <a:t>Feign's</a:t>
            </a:r>
            <a:r>
              <a:rPr lang="en-US" sz="1400" dirty="0">
                <a:solidFill>
                  <a:srgbClr val="3C5790"/>
                </a:solidFill>
              </a:rPr>
              <a:t> own annotations, JAX-RS annotations, and Spring MVC annotations.</a:t>
            </a:r>
          </a:p>
          <a:p>
            <a:r>
              <a:rPr lang="en-US" sz="1400" dirty="0">
                <a:solidFill>
                  <a:srgbClr val="3C5790"/>
                </a:solidFill>
              </a:rPr>
              <a:t>Feign abstracts the client-side HTTP communication in a declarative way, reducing boilerplate code and improving integration with Spring Cloud ecosystem for microservice communication.</a:t>
            </a:r>
          </a:p>
          <a:p>
            <a:r>
              <a:rPr lang="en-US" sz="1400" dirty="0">
                <a:solidFill>
                  <a:srgbClr val="3C5790"/>
                </a:solidFill>
              </a:rPr>
              <a:t>It is widely used in Spring Boot applications for clean and maintainable REST client code.</a:t>
            </a:r>
          </a:p>
        </p:txBody>
      </p:sp>
    </p:spTree>
    <p:extLst>
      <p:ext uri="{BB962C8B-B14F-4D97-AF65-F5344CB8AC3E}">
        <p14:creationId xmlns:p14="http://schemas.microsoft.com/office/powerpoint/2010/main" val="2263816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REST Client </a:t>
            </a:r>
            <a:r>
              <a:rPr lang="fr-CA" dirty="0" err="1">
                <a:solidFill>
                  <a:schemeClr val="bg1"/>
                </a:solidFill>
              </a:rPr>
              <a:t>Feign</a:t>
            </a:r>
            <a:r>
              <a:rPr lang="fr-CA" dirty="0">
                <a:solidFill>
                  <a:schemeClr val="bg1"/>
                </a:solidFill>
              </a:rPr>
              <a:t> (</a:t>
            </a:r>
            <a:r>
              <a:rPr lang="fr-CA" dirty="0" err="1">
                <a:solidFill>
                  <a:schemeClr val="bg1"/>
                </a:solidFill>
              </a:rPr>
              <a:t>cont</a:t>
            </a:r>
            <a:r>
              <a:rPr lang="fr-CA" dirty="0">
                <a:solidFill>
                  <a:schemeClr val="bg1"/>
                </a:solidFill>
              </a:rPr>
              <a:t>.)</a:t>
            </a:r>
          </a:p>
        </p:txBody>
      </p:sp>
      <p:pic>
        <p:nvPicPr>
          <p:cNvPr id="7" name="Picture 6">
            <a:extLst>
              <a:ext uri="{FF2B5EF4-FFF2-40B4-BE49-F238E27FC236}">
                <a16:creationId xmlns:a16="http://schemas.microsoft.com/office/drawing/2014/main" id="{92D92BD1-6E60-429A-870A-234CD202334E}"/>
              </a:ext>
            </a:extLst>
          </p:cNvPr>
          <p:cNvPicPr>
            <a:picLocks noChangeAspect="1"/>
          </p:cNvPicPr>
          <p:nvPr/>
        </p:nvPicPr>
        <p:blipFill>
          <a:blip r:embed="rId3"/>
          <a:stretch>
            <a:fillRect/>
          </a:stretch>
        </p:blipFill>
        <p:spPr>
          <a:xfrm>
            <a:off x="1981199" y="1674662"/>
            <a:ext cx="3810001" cy="5107138"/>
          </a:xfrm>
          <a:prstGeom prst="rect">
            <a:avLst/>
          </a:prstGeom>
        </p:spPr>
      </p:pic>
    </p:spTree>
    <p:extLst>
      <p:ext uri="{BB962C8B-B14F-4D97-AF65-F5344CB8AC3E}">
        <p14:creationId xmlns:p14="http://schemas.microsoft.com/office/powerpoint/2010/main" val="2273022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REST Client </a:t>
            </a:r>
            <a:r>
              <a:rPr lang="fr-CA" dirty="0" err="1">
                <a:solidFill>
                  <a:schemeClr val="bg1"/>
                </a:solidFill>
              </a:rPr>
              <a:t>Feign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581400"/>
          </a:xfrm>
        </p:spPr>
        <p:txBody>
          <a:bodyPr/>
          <a:lstStyle/>
          <a:p>
            <a:r>
              <a:rPr lang="en-US" sz="1400" dirty="0">
                <a:solidFill>
                  <a:srgbClr val="3C5790"/>
                </a:solidFill>
              </a:rPr>
              <a:t>Key features:</a:t>
            </a:r>
          </a:p>
          <a:p>
            <a:pPr lvl="1"/>
            <a:r>
              <a:rPr lang="en-US" sz="1400" b="1" dirty="0">
                <a:solidFill>
                  <a:srgbClr val="3C5790"/>
                </a:solidFill>
              </a:rPr>
              <a:t>Declarative Interface</a:t>
            </a:r>
            <a:r>
              <a:rPr lang="en-US" sz="1400" dirty="0">
                <a:solidFill>
                  <a:srgbClr val="3C5790"/>
                </a:solidFill>
              </a:rPr>
              <a:t>: Create client interfaces annotated with metadata such as HTTP method and paths to define REST API calls.</a:t>
            </a:r>
          </a:p>
          <a:p>
            <a:pPr lvl="1"/>
            <a:r>
              <a:rPr lang="en-US" sz="1400" b="1" dirty="0">
                <a:solidFill>
                  <a:srgbClr val="3C5790"/>
                </a:solidFill>
              </a:rPr>
              <a:t>Pluggable Annotations</a:t>
            </a:r>
            <a:r>
              <a:rPr lang="en-US" sz="1400" dirty="0">
                <a:solidFill>
                  <a:srgbClr val="3C5790"/>
                </a:solidFill>
              </a:rPr>
              <a:t>: Supports </a:t>
            </a:r>
            <a:r>
              <a:rPr lang="en-US" sz="1400" dirty="0" err="1">
                <a:solidFill>
                  <a:srgbClr val="3C5790"/>
                </a:solidFill>
              </a:rPr>
              <a:t>Feign's</a:t>
            </a:r>
            <a:r>
              <a:rPr lang="en-US" sz="1400" dirty="0">
                <a:solidFill>
                  <a:srgbClr val="3C5790"/>
                </a:solidFill>
              </a:rPr>
              <a:t> annotations, JAX-RS annotations, and Spring MVC annotations for flexibility.</a:t>
            </a:r>
          </a:p>
          <a:p>
            <a:pPr lvl="1"/>
            <a:r>
              <a:rPr lang="en-US" sz="1400" b="1" dirty="0">
                <a:solidFill>
                  <a:srgbClr val="3C5790"/>
                </a:solidFill>
              </a:rPr>
              <a:t>Customizable Encoders and Decoders</a:t>
            </a:r>
            <a:r>
              <a:rPr lang="en-US" sz="1400" dirty="0">
                <a:solidFill>
                  <a:srgbClr val="3C5790"/>
                </a:solidFill>
              </a:rPr>
              <a:t>: Allows plugging in custom encoders and decoders for request and response data formats.</a:t>
            </a:r>
          </a:p>
          <a:p>
            <a:pPr lvl="1"/>
            <a:r>
              <a:rPr lang="en-US" sz="1400" b="1" dirty="0">
                <a:solidFill>
                  <a:srgbClr val="3C5790"/>
                </a:solidFill>
              </a:rPr>
              <a:t>Integration with Spring Cloud</a:t>
            </a:r>
            <a:r>
              <a:rPr lang="en-US" sz="1400" dirty="0">
                <a:solidFill>
                  <a:srgbClr val="3C5790"/>
                </a:solidFill>
              </a:rPr>
              <a:t>: Supports Spring Cloud features such as loading the same </a:t>
            </a:r>
            <a:r>
              <a:rPr lang="en-US" sz="1400" dirty="0" err="1">
                <a:solidFill>
                  <a:srgbClr val="3C5790"/>
                </a:solidFill>
              </a:rPr>
              <a:t>HttpMessageConverters</a:t>
            </a:r>
            <a:r>
              <a:rPr lang="en-US" sz="1400" dirty="0">
                <a:solidFill>
                  <a:srgbClr val="3C5790"/>
                </a:solidFill>
              </a:rPr>
              <a:t>, Eureka service discovery, Spring Cloud </a:t>
            </a:r>
            <a:r>
              <a:rPr lang="en-US" sz="1400" dirty="0" err="1">
                <a:solidFill>
                  <a:srgbClr val="3C5790"/>
                </a:solidFill>
              </a:rPr>
              <a:t>LoadBalancer</a:t>
            </a:r>
            <a:r>
              <a:rPr lang="en-US" sz="1400" dirty="0">
                <a:solidFill>
                  <a:srgbClr val="3C5790"/>
                </a:solidFill>
              </a:rPr>
              <a:t> for client-side load balancing, and Circuit Breaker integration.</a:t>
            </a:r>
          </a:p>
          <a:p>
            <a:pPr lvl="1"/>
            <a:r>
              <a:rPr lang="en-US" sz="1400" b="1" dirty="0">
                <a:solidFill>
                  <a:srgbClr val="3C5790"/>
                </a:solidFill>
              </a:rPr>
              <a:t>Configuration Properties</a:t>
            </a:r>
            <a:r>
              <a:rPr lang="en-US" sz="1400" dirty="0">
                <a:solidFill>
                  <a:srgbClr val="3C5790"/>
                </a:solidFill>
              </a:rPr>
              <a:t>: Can be configured using </a:t>
            </a:r>
            <a:r>
              <a:rPr lang="en-US" sz="1400" dirty="0" err="1">
                <a:solidFill>
                  <a:srgbClr val="3C5790"/>
                </a:solidFill>
              </a:rPr>
              <a:t>application.yml</a:t>
            </a:r>
            <a:r>
              <a:rPr lang="en-US" sz="1400" dirty="0">
                <a:solidFill>
                  <a:srgbClr val="3C5790"/>
                </a:solidFill>
              </a:rPr>
              <a:t> or properties for URL, timeouts, logging level, error decoding, retry mechanisms, request interceptors, and more.</a:t>
            </a:r>
          </a:p>
          <a:p>
            <a:pPr lvl="1"/>
            <a:r>
              <a:rPr lang="en-US" sz="1400" b="1" dirty="0">
                <a:solidFill>
                  <a:srgbClr val="3C5790"/>
                </a:solidFill>
              </a:rPr>
              <a:t>Interceptors Support</a:t>
            </a:r>
            <a:r>
              <a:rPr lang="en-US" sz="1400" dirty="0">
                <a:solidFill>
                  <a:srgbClr val="3C5790"/>
                </a:solidFill>
              </a:rPr>
              <a:t>: Supports request and response interceptors to add headers or perform actions before or after a request.</a:t>
            </a:r>
          </a:p>
          <a:p>
            <a:pPr lvl="1"/>
            <a:endParaRPr lang="en-US" sz="1400" dirty="0">
              <a:solidFill>
                <a:srgbClr val="3C5790"/>
              </a:solidFill>
            </a:endParaRPr>
          </a:p>
        </p:txBody>
      </p:sp>
    </p:spTree>
    <p:extLst>
      <p:ext uri="{BB962C8B-B14F-4D97-AF65-F5344CB8AC3E}">
        <p14:creationId xmlns:p14="http://schemas.microsoft.com/office/powerpoint/2010/main" val="23384795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REST Client </a:t>
            </a:r>
            <a:r>
              <a:rPr lang="fr-CA" dirty="0" err="1">
                <a:solidFill>
                  <a:schemeClr val="bg1"/>
                </a:solidFill>
              </a:rPr>
              <a:t>Feign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581400"/>
          </a:xfrm>
        </p:spPr>
        <p:txBody>
          <a:bodyPr/>
          <a:lstStyle/>
          <a:p>
            <a:r>
              <a:rPr lang="en-US" sz="1400" dirty="0">
                <a:solidFill>
                  <a:srgbClr val="3C5790"/>
                </a:solidFill>
              </a:rPr>
              <a:t>Key features:</a:t>
            </a:r>
          </a:p>
          <a:p>
            <a:pPr lvl="1"/>
            <a:r>
              <a:rPr lang="en-US" sz="1400" b="1" dirty="0">
                <a:solidFill>
                  <a:srgbClr val="3C5790"/>
                </a:solidFill>
              </a:rPr>
              <a:t>Capability Extension</a:t>
            </a:r>
            <a:r>
              <a:rPr lang="en-US" sz="1400" dirty="0">
                <a:solidFill>
                  <a:srgbClr val="3C5790"/>
                </a:solidFill>
              </a:rPr>
              <a:t>: Core Feign components can be modified by registering custom "capabilities" to decorate or extend client behavior.</a:t>
            </a:r>
          </a:p>
          <a:p>
            <a:pPr lvl="1"/>
            <a:r>
              <a:rPr lang="en-US" sz="1400" b="1" dirty="0">
                <a:solidFill>
                  <a:srgbClr val="3C5790"/>
                </a:solidFill>
              </a:rPr>
              <a:t>Micrometer Integration</a:t>
            </a:r>
            <a:r>
              <a:rPr lang="en-US" sz="1400" dirty="0">
                <a:solidFill>
                  <a:srgbClr val="3C5790"/>
                </a:solidFill>
              </a:rPr>
              <a:t>: Observability support via micrometer for metrics, enabled by adding the feign-micrometer dependency and configuring properties.</a:t>
            </a:r>
          </a:p>
          <a:p>
            <a:pPr lvl="1"/>
            <a:r>
              <a:rPr lang="en-US" sz="1400" b="1" dirty="0">
                <a:solidFill>
                  <a:srgbClr val="3C5790"/>
                </a:solidFill>
              </a:rPr>
              <a:t>Error Handling</a:t>
            </a:r>
            <a:r>
              <a:rPr lang="en-US" sz="1400" dirty="0">
                <a:solidFill>
                  <a:srgbClr val="3C5790"/>
                </a:solidFill>
              </a:rPr>
              <a:t>: Provides error decoding mechanisms for customized handling of HTTP error responses.</a:t>
            </a:r>
          </a:p>
          <a:p>
            <a:pPr lvl="1"/>
            <a:r>
              <a:rPr lang="en-US" sz="1400" b="1" dirty="0">
                <a:solidFill>
                  <a:srgbClr val="3C5790"/>
                </a:solidFill>
              </a:rPr>
              <a:t>Logging</a:t>
            </a:r>
            <a:r>
              <a:rPr lang="en-US" sz="1400" dirty="0">
                <a:solidFill>
                  <a:srgbClr val="3C5790"/>
                </a:solidFill>
              </a:rPr>
              <a:t>: Supports various logging levels for debugging client calls.</a:t>
            </a:r>
          </a:p>
          <a:p>
            <a:pPr lvl="1"/>
            <a:r>
              <a:rPr lang="en-US" sz="1400" b="1" dirty="0">
                <a:solidFill>
                  <a:srgbClr val="3C5790"/>
                </a:solidFill>
              </a:rPr>
              <a:t>Fallback Support</a:t>
            </a:r>
            <a:r>
              <a:rPr lang="en-US" sz="1400" dirty="0">
                <a:solidFill>
                  <a:srgbClr val="3C5790"/>
                </a:solidFill>
              </a:rPr>
              <a:t>: Integrates with </a:t>
            </a:r>
            <a:r>
              <a:rPr lang="en-US" sz="1400" dirty="0" err="1">
                <a:solidFill>
                  <a:srgbClr val="3C5790"/>
                </a:solidFill>
              </a:rPr>
              <a:t>Hystrix</a:t>
            </a:r>
            <a:r>
              <a:rPr lang="en-US" sz="1400" dirty="0">
                <a:solidFill>
                  <a:srgbClr val="3C5790"/>
                </a:solidFill>
              </a:rPr>
              <a:t> or other fallback mechanisms for resilient microservice calls.</a:t>
            </a:r>
          </a:p>
          <a:p>
            <a:pPr lvl="1"/>
            <a:r>
              <a:rPr lang="en-US" sz="1400" b="1" dirty="0">
                <a:solidFill>
                  <a:srgbClr val="3C5790"/>
                </a:solidFill>
              </a:rPr>
              <a:t>Multiple API Interfaces</a:t>
            </a:r>
            <a:r>
              <a:rPr lang="en-US" sz="1400" dirty="0">
                <a:solidFill>
                  <a:srgbClr val="3C5790"/>
                </a:solidFill>
              </a:rPr>
              <a:t>: Supports defining multiple interfaces for different targets with customizable dynamic discovery and decoration of requests.</a:t>
            </a:r>
          </a:p>
        </p:txBody>
      </p:sp>
    </p:spTree>
    <p:extLst>
      <p:ext uri="{BB962C8B-B14F-4D97-AF65-F5344CB8AC3E}">
        <p14:creationId xmlns:p14="http://schemas.microsoft.com/office/powerpoint/2010/main" val="36854914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REST Client </a:t>
            </a:r>
            <a:r>
              <a:rPr lang="fr-CA" dirty="0" err="1">
                <a:solidFill>
                  <a:schemeClr val="bg1"/>
                </a:solidFill>
              </a:rPr>
              <a:t>Feign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990600"/>
          </a:xfrm>
        </p:spPr>
        <p:txBody>
          <a:bodyPr/>
          <a:lstStyle/>
          <a:p>
            <a:r>
              <a:rPr lang="en-US" sz="1400" dirty="0">
                <a:solidFill>
                  <a:srgbClr val="3C5790"/>
                </a:solidFill>
              </a:rPr>
              <a:t>In Spring Cloud application we need to use </a:t>
            </a:r>
            <a:r>
              <a:rPr lang="en-US" sz="1400" b="1" dirty="0">
                <a:solidFill>
                  <a:srgbClr val="3C5790"/>
                </a:solidFill>
              </a:rPr>
              <a:t>@EnableFeignClients </a:t>
            </a:r>
            <a:r>
              <a:rPr lang="en-US" sz="1400" dirty="0">
                <a:solidFill>
                  <a:srgbClr val="3C5790"/>
                </a:solidFill>
              </a:rPr>
              <a:t>annotation and add maven </a:t>
            </a:r>
            <a:r>
              <a:rPr lang="en-US" sz="1400" b="1" dirty="0">
                <a:solidFill>
                  <a:srgbClr val="3C5790"/>
                </a:solidFill>
              </a:rPr>
              <a:t>spring-cloud-starter-</a:t>
            </a:r>
            <a:r>
              <a:rPr lang="en-US" sz="1400" b="1" dirty="0" err="1">
                <a:solidFill>
                  <a:srgbClr val="3C5790"/>
                </a:solidFill>
              </a:rPr>
              <a:t>openfeign</a:t>
            </a:r>
            <a:r>
              <a:rPr lang="en-US" sz="1400" dirty="0">
                <a:solidFill>
                  <a:srgbClr val="3C5790"/>
                </a:solidFill>
              </a:rPr>
              <a:t> dependency to be able to use Feign rest client.</a:t>
            </a:r>
          </a:p>
          <a:p>
            <a:r>
              <a:rPr lang="en-US" sz="1400" b="1" dirty="0">
                <a:solidFill>
                  <a:srgbClr val="3C5790"/>
                </a:solidFill>
              </a:rPr>
              <a:t>@FeignClient</a:t>
            </a:r>
            <a:r>
              <a:rPr lang="en-US" sz="1400" dirty="0">
                <a:solidFill>
                  <a:srgbClr val="3C5790"/>
                </a:solidFill>
              </a:rPr>
              <a:t> is used to declare a Feign client interface that contains the REST calls. If we use the Eureka Server we don’t need to pass the actual endpoint URL, but the name of the deployed service on Eureka Server.</a:t>
            </a:r>
          </a:p>
        </p:txBody>
      </p:sp>
      <p:pic>
        <p:nvPicPr>
          <p:cNvPr id="3" name="Picture 2">
            <a:extLst>
              <a:ext uri="{FF2B5EF4-FFF2-40B4-BE49-F238E27FC236}">
                <a16:creationId xmlns:a16="http://schemas.microsoft.com/office/drawing/2014/main" id="{6E18B92D-6354-4732-8B02-EF5C6D9E67B2}"/>
              </a:ext>
            </a:extLst>
          </p:cNvPr>
          <p:cNvPicPr>
            <a:picLocks noChangeAspect="1"/>
          </p:cNvPicPr>
          <p:nvPr/>
        </p:nvPicPr>
        <p:blipFill>
          <a:blip r:embed="rId3"/>
          <a:stretch>
            <a:fillRect/>
          </a:stretch>
        </p:blipFill>
        <p:spPr>
          <a:xfrm>
            <a:off x="2345892" y="3445079"/>
            <a:ext cx="4747491" cy="609600"/>
          </a:xfrm>
          <a:prstGeom prst="rect">
            <a:avLst/>
          </a:prstGeom>
        </p:spPr>
      </p:pic>
      <p:pic>
        <p:nvPicPr>
          <p:cNvPr id="7" name="Picture 6">
            <a:extLst>
              <a:ext uri="{FF2B5EF4-FFF2-40B4-BE49-F238E27FC236}">
                <a16:creationId xmlns:a16="http://schemas.microsoft.com/office/drawing/2014/main" id="{BF612243-D4F3-49A1-970D-090079137E14}"/>
              </a:ext>
            </a:extLst>
          </p:cNvPr>
          <p:cNvPicPr>
            <a:picLocks noChangeAspect="1"/>
          </p:cNvPicPr>
          <p:nvPr/>
        </p:nvPicPr>
        <p:blipFill>
          <a:blip r:embed="rId4"/>
          <a:stretch>
            <a:fillRect/>
          </a:stretch>
        </p:blipFill>
        <p:spPr>
          <a:xfrm>
            <a:off x="2819400" y="4505028"/>
            <a:ext cx="3800476" cy="1113561"/>
          </a:xfrm>
          <a:prstGeom prst="rect">
            <a:avLst/>
          </a:prstGeom>
        </p:spPr>
      </p:pic>
      <p:pic>
        <p:nvPicPr>
          <p:cNvPr id="9" name="Picture 8">
            <a:extLst>
              <a:ext uri="{FF2B5EF4-FFF2-40B4-BE49-F238E27FC236}">
                <a16:creationId xmlns:a16="http://schemas.microsoft.com/office/drawing/2014/main" id="{D7A61542-EBFA-479B-A86C-A999D22A63FC}"/>
              </a:ext>
            </a:extLst>
          </p:cNvPr>
          <p:cNvPicPr>
            <a:picLocks noChangeAspect="1"/>
          </p:cNvPicPr>
          <p:nvPr/>
        </p:nvPicPr>
        <p:blipFill>
          <a:blip r:embed="rId5"/>
          <a:stretch>
            <a:fillRect/>
          </a:stretch>
        </p:blipFill>
        <p:spPr>
          <a:xfrm>
            <a:off x="2743200" y="5867400"/>
            <a:ext cx="3334529" cy="919294"/>
          </a:xfrm>
          <a:prstGeom prst="rect">
            <a:avLst/>
          </a:prstGeom>
        </p:spPr>
      </p:pic>
    </p:spTree>
    <p:extLst>
      <p:ext uri="{BB962C8B-B14F-4D97-AF65-F5344CB8AC3E}">
        <p14:creationId xmlns:p14="http://schemas.microsoft.com/office/powerpoint/2010/main" val="29024511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REST Client </a:t>
            </a:r>
            <a:r>
              <a:rPr lang="fr-CA" dirty="0" err="1">
                <a:solidFill>
                  <a:schemeClr val="bg1"/>
                </a:solidFill>
              </a:rPr>
              <a:t>Feign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We can use the Feign Client afterwards in our business logic.</a:t>
            </a:r>
          </a:p>
        </p:txBody>
      </p:sp>
      <p:pic>
        <p:nvPicPr>
          <p:cNvPr id="3" name="Picture 2">
            <a:extLst>
              <a:ext uri="{FF2B5EF4-FFF2-40B4-BE49-F238E27FC236}">
                <a16:creationId xmlns:a16="http://schemas.microsoft.com/office/drawing/2014/main" id="{41CF3BE9-1729-4A7B-968A-CBC6716DE581}"/>
              </a:ext>
            </a:extLst>
          </p:cNvPr>
          <p:cNvPicPr>
            <a:picLocks noChangeAspect="1"/>
          </p:cNvPicPr>
          <p:nvPr/>
        </p:nvPicPr>
        <p:blipFill>
          <a:blip r:embed="rId3"/>
          <a:stretch>
            <a:fillRect/>
          </a:stretch>
        </p:blipFill>
        <p:spPr>
          <a:xfrm>
            <a:off x="1905000" y="2678919"/>
            <a:ext cx="5586412" cy="4147622"/>
          </a:xfrm>
          <a:prstGeom prst="rect">
            <a:avLst/>
          </a:prstGeom>
        </p:spPr>
      </p:pic>
    </p:spTree>
    <p:extLst>
      <p:ext uri="{BB962C8B-B14F-4D97-AF65-F5344CB8AC3E}">
        <p14:creationId xmlns:p14="http://schemas.microsoft.com/office/powerpoint/2010/main" val="671318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REST Client </a:t>
            </a:r>
            <a:r>
              <a:rPr lang="fr-CA" dirty="0" err="1">
                <a:solidFill>
                  <a:schemeClr val="bg1"/>
                </a:solidFill>
              </a:rPr>
              <a:t>Feign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199"/>
            <a:ext cx="8686800" cy="429275"/>
          </a:xfrm>
        </p:spPr>
        <p:txBody>
          <a:bodyPr/>
          <a:lstStyle/>
          <a:p>
            <a:r>
              <a:rPr lang="en-US" sz="1400" dirty="0">
                <a:solidFill>
                  <a:srgbClr val="3C5790"/>
                </a:solidFill>
              </a:rPr>
              <a:t>If we need to use a security mechanism (, like basic, oauth2) for the feign client we need to use a configuration bean.</a:t>
            </a:r>
          </a:p>
        </p:txBody>
      </p:sp>
      <p:pic>
        <p:nvPicPr>
          <p:cNvPr id="4" name="Picture 3">
            <a:extLst>
              <a:ext uri="{FF2B5EF4-FFF2-40B4-BE49-F238E27FC236}">
                <a16:creationId xmlns:a16="http://schemas.microsoft.com/office/drawing/2014/main" id="{96151A6F-B9A9-40BD-A807-CB4E955F712A}"/>
              </a:ext>
            </a:extLst>
          </p:cNvPr>
          <p:cNvPicPr>
            <a:picLocks noChangeAspect="1"/>
          </p:cNvPicPr>
          <p:nvPr/>
        </p:nvPicPr>
        <p:blipFill>
          <a:blip r:embed="rId3"/>
          <a:stretch>
            <a:fillRect/>
          </a:stretch>
        </p:blipFill>
        <p:spPr>
          <a:xfrm>
            <a:off x="2667000" y="2514600"/>
            <a:ext cx="4289217" cy="789925"/>
          </a:xfrm>
          <a:prstGeom prst="rect">
            <a:avLst/>
          </a:prstGeom>
        </p:spPr>
      </p:pic>
      <p:pic>
        <p:nvPicPr>
          <p:cNvPr id="6" name="Picture 5">
            <a:extLst>
              <a:ext uri="{FF2B5EF4-FFF2-40B4-BE49-F238E27FC236}">
                <a16:creationId xmlns:a16="http://schemas.microsoft.com/office/drawing/2014/main" id="{FA899294-2A9F-401F-BAF0-583FC7818E88}"/>
              </a:ext>
            </a:extLst>
          </p:cNvPr>
          <p:cNvPicPr>
            <a:picLocks noChangeAspect="1"/>
          </p:cNvPicPr>
          <p:nvPr/>
        </p:nvPicPr>
        <p:blipFill>
          <a:blip r:embed="rId4"/>
          <a:stretch>
            <a:fillRect/>
          </a:stretch>
        </p:blipFill>
        <p:spPr>
          <a:xfrm>
            <a:off x="2738438" y="5772255"/>
            <a:ext cx="3662362" cy="1009545"/>
          </a:xfrm>
          <a:prstGeom prst="rect">
            <a:avLst/>
          </a:prstGeom>
        </p:spPr>
      </p:pic>
      <p:pic>
        <p:nvPicPr>
          <p:cNvPr id="8" name="Picture 7">
            <a:extLst>
              <a:ext uri="{FF2B5EF4-FFF2-40B4-BE49-F238E27FC236}">
                <a16:creationId xmlns:a16="http://schemas.microsoft.com/office/drawing/2014/main" id="{F770147C-0E2C-4ECA-81D9-DE672CCB2B2B}"/>
              </a:ext>
            </a:extLst>
          </p:cNvPr>
          <p:cNvPicPr>
            <a:picLocks noChangeAspect="1"/>
          </p:cNvPicPr>
          <p:nvPr/>
        </p:nvPicPr>
        <p:blipFill>
          <a:blip r:embed="rId5"/>
          <a:stretch>
            <a:fillRect/>
          </a:stretch>
        </p:blipFill>
        <p:spPr>
          <a:xfrm>
            <a:off x="2667000" y="3505200"/>
            <a:ext cx="4582112" cy="2118465"/>
          </a:xfrm>
          <a:prstGeom prst="rect">
            <a:avLst/>
          </a:prstGeom>
        </p:spPr>
      </p:pic>
      <p:cxnSp>
        <p:nvCxnSpPr>
          <p:cNvPr id="10" name="Straight Connector 9">
            <a:extLst>
              <a:ext uri="{FF2B5EF4-FFF2-40B4-BE49-F238E27FC236}">
                <a16:creationId xmlns:a16="http://schemas.microsoft.com/office/drawing/2014/main" id="{3BEDBB49-9E8E-44C3-A4CE-D1CBFAD9AA4C}"/>
              </a:ext>
            </a:extLst>
          </p:cNvPr>
          <p:cNvCxnSpPr>
            <a:cxnSpLocks/>
          </p:cNvCxnSpPr>
          <p:nvPr/>
        </p:nvCxnSpPr>
        <p:spPr>
          <a:xfrm>
            <a:off x="0" y="5733945"/>
            <a:ext cx="9144000" cy="57255"/>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295F790-24A7-45BC-8CFE-D2AD783660DE}"/>
              </a:ext>
            </a:extLst>
          </p:cNvPr>
          <p:cNvCxnSpPr>
            <a:cxnSpLocks/>
          </p:cNvCxnSpPr>
          <p:nvPr/>
        </p:nvCxnSpPr>
        <p:spPr>
          <a:xfrm>
            <a:off x="0" y="3371745"/>
            <a:ext cx="9144000" cy="5725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94869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Load</a:t>
            </a:r>
            <a:r>
              <a:rPr lang="fr-CA" dirty="0">
                <a:solidFill>
                  <a:schemeClr val="bg1"/>
                </a:solidFill>
              </a:rPr>
              <a:t> Balancing</a:t>
            </a:r>
          </a:p>
        </p:txBody>
      </p:sp>
      <p:sp>
        <p:nvSpPr>
          <p:cNvPr id="4099" name="Espace réservé du contenu 4"/>
          <p:cNvSpPr>
            <a:spLocks noGrp="1"/>
          </p:cNvSpPr>
          <p:nvPr>
            <p:ph idx="1"/>
          </p:nvPr>
        </p:nvSpPr>
        <p:spPr>
          <a:xfrm>
            <a:off x="228600" y="2133600"/>
            <a:ext cx="8686800" cy="990600"/>
          </a:xfrm>
        </p:spPr>
        <p:txBody>
          <a:bodyPr/>
          <a:lstStyle/>
          <a:p>
            <a:r>
              <a:rPr lang="en-US" sz="1400" b="1" dirty="0">
                <a:solidFill>
                  <a:srgbClr val="3C5790"/>
                </a:solidFill>
              </a:rPr>
              <a:t>Spring Cloud </a:t>
            </a:r>
            <a:r>
              <a:rPr lang="en-US" sz="1400" b="1" dirty="0" err="1">
                <a:solidFill>
                  <a:srgbClr val="3C5790"/>
                </a:solidFill>
              </a:rPr>
              <a:t>LoadBalancer</a:t>
            </a:r>
            <a:r>
              <a:rPr lang="en-US" sz="1400" dirty="0">
                <a:solidFill>
                  <a:srgbClr val="3C5790"/>
                </a:solidFill>
              </a:rPr>
              <a:t> is a client-side load balancing library integrated with Spring Cloud to distribute requests among multiple instances of a microservice. </a:t>
            </a:r>
          </a:p>
          <a:p>
            <a:r>
              <a:rPr lang="en-US" sz="1400" dirty="0">
                <a:solidFill>
                  <a:srgbClr val="3C5790"/>
                </a:solidFill>
              </a:rPr>
              <a:t>It works seamlessly with service discovery systems and supports reactive and non-reactive types.</a:t>
            </a:r>
          </a:p>
        </p:txBody>
      </p:sp>
      <p:pic>
        <p:nvPicPr>
          <p:cNvPr id="5" name="Picture 4">
            <a:extLst>
              <a:ext uri="{FF2B5EF4-FFF2-40B4-BE49-F238E27FC236}">
                <a16:creationId xmlns:a16="http://schemas.microsoft.com/office/drawing/2014/main" id="{71554731-66FA-48A4-8B9F-F3D295F5B113}"/>
              </a:ext>
            </a:extLst>
          </p:cNvPr>
          <p:cNvPicPr>
            <a:picLocks noChangeAspect="1"/>
          </p:cNvPicPr>
          <p:nvPr/>
        </p:nvPicPr>
        <p:blipFill>
          <a:blip r:embed="rId3"/>
          <a:stretch>
            <a:fillRect/>
          </a:stretch>
        </p:blipFill>
        <p:spPr>
          <a:xfrm>
            <a:off x="2133600" y="3429000"/>
            <a:ext cx="4981575" cy="2751381"/>
          </a:xfrm>
          <a:prstGeom prst="rect">
            <a:avLst/>
          </a:prstGeom>
        </p:spPr>
      </p:pic>
    </p:spTree>
    <p:extLst>
      <p:ext uri="{BB962C8B-B14F-4D97-AF65-F5344CB8AC3E}">
        <p14:creationId xmlns:p14="http://schemas.microsoft.com/office/powerpoint/2010/main" val="2711797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Load</a:t>
            </a:r>
            <a:r>
              <a:rPr lang="fr-CA" dirty="0">
                <a:solidFill>
                  <a:schemeClr val="bg1"/>
                </a:solidFill>
              </a:rPr>
              <a:t> Balancing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762000"/>
          </a:xfrm>
        </p:spPr>
        <p:txBody>
          <a:bodyPr/>
          <a:lstStyle/>
          <a:p>
            <a:r>
              <a:rPr lang="en-US" sz="1400" dirty="0">
                <a:solidFill>
                  <a:srgbClr val="3C5790"/>
                </a:solidFill>
              </a:rPr>
              <a:t>In our application we need to add the maven </a:t>
            </a:r>
            <a:r>
              <a:rPr lang="en-US" sz="1400" b="1" dirty="0">
                <a:solidFill>
                  <a:srgbClr val="3C5790"/>
                </a:solidFill>
              </a:rPr>
              <a:t>spring-cloud-starter-gateway-server-</a:t>
            </a:r>
            <a:r>
              <a:rPr lang="en-US" sz="1400" b="1" dirty="0" err="1">
                <a:solidFill>
                  <a:srgbClr val="3C5790"/>
                </a:solidFill>
              </a:rPr>
              <a:t>webflux</a:t>
            </a:r>
            <a:r>
              <a:rPr lang="en-US" sz="1400" dirty="0">
                <a:solidFill>
                  <a:srgbClr val="3C5790"/>
                </a:solidFill>
              </a:rPr>
              <a:t> dependency.</a:t>
            </a:r>
          </a:p>
          <a:p>
            <a:r>
              <a:rPr lang="en-US" sz="1400" dirty="0">
                <a:solidFill>
                  <a:srgbClr val="3C5790"/>
                </a:solidFill>
              </a:rPr>
              <a:t>We need to use the </a:t>
            </a:r>
            <a:r>
              <a:rPr lang="en-US" sz="1400" b="1" dirty="0">
                <a:solidFill>
                  <a:srgbClr val="3C5790"/>
                </a:solidFill>
              </a:rPr>
              <a:t>@LoadBalanced</a:t>
            </a:r>
            <a:r>
              <a:rPr lang="en-US" sz="1400" dirty="0">
                <a:solidFill>
                  <a:srgbClr val="3C5790"/>
                </a:solidFill>
              </a:rPr>
              <a:t> annotation for the </a:t>
            </a:r>
            <a:r>
              <a:rPr lang="en-US" sz="1400" b="1" dirty="0" err="1">
                <a:solidFill>
                  <a:srgbClr val="3C5790"/>
                </a:solidFill>
              </a:rPr>
              <a:t>RestTemplate</a:t>
            </a:r>
            <a:r>
              <a:rPr lang="en-US" sz="1400" dirty="0">
                <a:solidFill>
                  <a:srgbClr val="3C5790"/>
                </a:solidFill>
              </a:rPr>
              <a:t>,  </a:t>
            </a:r>
            <a:r>
              <a:rPr lang="en-US" sz="1400" b="1" dirty="0" err="1">
                <a:solidFill>
                  <a:srgbClr val="3C5790"/>
                </a:solidFill>
              </a:rPr>
              <a:t>WebClient.Builder</a:t>
            </a:r>
            <a:r>
              <a:rPr lang="en-US" sz="1400" b="1" dirty="0">
                <a:solidFill>
                  <a:srgbClr val="3C5790"/>
                </a:solidFill>
              </a:rPr>
              <a:t> </a:t>
            </a:r>
            <a:r>
              <a:rPr lang="en-US" sz="1400" dirty="0">
                <a:solidFill>
                  <a:srgbClr val="3C5790"/>
                </a:solidFill>
              </a:rPr>
              <a:t>so that the balancing happens under the hood. </a:t>
            </a:r>
          </a:p>
        </p:txBody>
      </p:sp>
      <p:pic>
        <p:nvPicPr>
          <p:cNvPr id="3" name="Picture 2">
            <a:extLst>
              <a:ext uri="{FF2B5EF4-FFF2-40B4-BE49-F238E27FC236}">
                <a16:creationId xmlns:a16="http://schemas.microsoft.com/office/drawing/2014/main" id="{B37D4142-132F-4035-96B1-BCE527265C95}"/>
              </a:ext>
            </a:extLst>
          </p:cNvPr>
          <p:cNvPicPr>
            <a:picLocks noChangeAspect="1"/>
          </p:cNvPicPr>
          <p:nvPr/>
        </p:nvPicPr>
        <p:blipFill>
          <a:blip r:embed="rId3"/>
          <a:stretch>
            <a:fillRect/>
          </a:stretch>
        </p:blipFill>
        <p:spPr>
          <a:xfrm>
            <a:off x="842962" y="4276725"/>
            <a:ext cx="2428875" cy="981075"/>
          </a:xfrm>
          <a:prstGeom prst="rect">
            <a:avLst/>
          </a:prstGeom>
        </p:spPr>
      </p:pic>
      <p:pic>
        <p:nvPicPr>
          <p:cNvPr id="6" name="Picture 5">
            <a:extLst>
              <a:ext uri="{FF2B5EF4-FFF2-40B4-BE49-F238E27FC236}">
                <a16:creationId xmlns:a16="http://schemas.microsoft.com/office/drawing/2014/main" id="{DB437467-04B2-4D2F-AF6C-F38F66A828B7}"/>
              </a:ext>
            </a:extLst>
          </p:cNvPr>
          <p:cNvPicPr>
            <a:picLocks noChangeAspect="1"/>
          </p:cNvPicPr>
          <p:nvPr/>
        </p:nvPicPr>
        <p:blipFill>
          <a:blip r:embed="rId4"/>
          <a:stretch>
            <a:fillRect/>
          </a:stretch>
        </p:blipFill>
        <p:spPr>
          <a:xfrm>
            <a:off x="5448300" y="4276725"/>
            <a:ext cx="3028950" cy="904875"/>
          </a:xfrm>
          <a:prstGeom prst="rect">
            <a:avLst/>
          </a:prstGeom>
        </p:spPr>
      </p:pic>
      <p:pic>
        <p:nvPicPr>
          <p:cNvPr id="8" name="Picture 7">
            <a:extLst>
              <a:ext uri="{FF2B5EF4-FFF2-40B4-BE49-F238E27FC236}">
                <a16:creationId xmlns:a16="http://schemas.microsoft.com/office/drawing/2014/main" id="{3B9CDEB2-C7BB-44A1-B2DE-C718EC3ED1C3}"/>
              </a:ext>
            </a:extLst>
          </p:cNvPr>
          <p:cNvPicPr>
            <a:picLocks noChangeAspect="1"/>
          </p:cNvPicPr>
          <p:nvPr/>
        </p:nvPicPr>
        <p:blipFill>
          <a:blip r:embed="rId5"/>
          <a:stretch>
            <a:fillRect/>
          </a:stretch>
        </p:blipFill>
        <p:spPr>
          <a:xfrm>
            <a:off x="1981200" y="3105150"/>
            <a:ext cx="5181600" cy="647700"/>
          </a:xfrm>
          <a:prstGeom prst="rect">
            <a:avLst/>
          </a:prstGeom>
        </p:spPr>
      </p:pic>
    </p:spTree>
    <p:extLst>
      <p:ext uri="{BB962C8B-B14F-4D97-AF65-F5344CB8AC3E}">
        <p14:creationId xmlns:p14="http://schemas.microsoft.com/office/powerpoint/2010/main" val="15341616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Load</a:t>
            </a:r>
            <a:r>
              <a:rPr lang="fr-CA" dirty="0">
                <a:solidFill>
                  <a:schemeClr val="bg1"/>
                </a:solidFill>
              </a:rPr>
              <a:t> Balancing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295400"/>
          </a:xfrm>
        </p:spPr>
        <p:txBody>
          <a:bodyPr/>
          <a:lstStyle/>
          <a:p>
            <a:r>
              <a:rPr lang="en-US" sz="1400" dirty="0">
                <a:solidFill>
                  <a:srgbClr val="3C5790"/>
                </a:solidFill>
              </a:rPr>
              <a:t>We can use </a:t>
            </a:r>
            <a:r>
              <a:rPr lang="en-US" sz="1400" b="1" dirty="0">
                <a:solidFill>
                  <a:srgbClr val="3C5790"/>
                </a:solidFill>
              </a:rPr>
              <a:t>@LoadBalancerClient</a:t>
            </a:r>
            <a:r>
              <a:rPr lang="en-US" sz="1400" dirty="0">
                <a:solidFill>
                  <a:srgbClr val="3C5790"/>
                </a:solidFill>
              </a:rPr>
              <a:t> on configuration classes to provide custom load balancer implementations per service.</a:t>
            </a:r>
          </a:p>
          <a:p>
            <a:r>
              <a:rPr lang="en-US" sz="1400" dirty="0">
                <a:solidFill>
                  <a:srgbClr val="3C5790"/>
                </a:solidFill>
              </a:rPr>
              <a:t>Spring Cloud load balancer provides pluggable, configurable client-side load balancing with support for service discovery integration, retries, caching, and various instance selection strategies. </a:t>
            </a:r>
          </a:p>
        </p:txBody>
      </p:sp>
      <p:pic>
        <p:nvPicPr>
          <p:cNvPr id="5" name="Picture 4">
            <a:extLst>
              <a:ext uri="{FF2B5EF4-FFF2-40B4-BE49-F238E27FC236}">
                <a16:creationId xmlns:a16="http://schemas.microsoft.com/office/drawing/2014/main" id="{6709DF27-FADE-47E9-A447-C9AB7539F26F}"/>
              </a:ext>
            </a:extLst>
          </p:cNvPr>
          <p:cNvPicPr>
            <a:picLocks noChangeAspect="1"/>
          </p:cNvPicPr>
          <p:nvPr/>
        </p:nvPicPr>
        <p:blipFill>
          <a:blip r:embed="rId3"/>
          <a:stretch>
            <a:fillRect/>
          </a:stretch>
        </p:blipFill>
        <p:spPr>
          <a:xfrm>
            <a:off x="1600200" y="3810000"/>
            <a:ext cx="6805612" cy="1681175"/>
          </a:xfrm>
          <a:prstGeom prst="rect">
            <a:avLst/>
          </a:prstGeom>
        </p:spPr>
      </p:pic>
    </p:spTree>
    <p:extLst>
      <p:ext uri="{BB962C8B-B14F-4D97-AF65-F5344CB8AC3E}">
        <p14:creationId xmlns:p14="http://schemas.microsoft.com/office/powerpoint/2010/main" val="32604719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Load</a:t>
            </a:r>
            <a:r>
              <a:rPr lang="fr-CA" dirty="0">
                <a:solidFill>
                  <a:schemeClr val="bg1"/>
                </a:solidFill>
              </a:rPr>
              <a:t> Balancing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In Eureka Server if we start multiple microservices on different ports we can see them in the list.</a:t>
            </a:r>
          </a:p>
          <a:p>
            <a:r>
              <a:rPr lang="en-US" sz="1400" dirty="0">
                <a:solidFill>
                  <a:srgbClr val="3C5790"/>
                </a:solidFill>
              </a:rPr>
              <a:t>Feign REST clients are automatically balanced.</a:t>
            </a:r>
          </a:p>
        </p:txBody>
      </p:sp>
      <p:pic>
        <p:nvPicPr>
          <p:cNvPr id="3" name="Picture 2">
            <a:extLst>
              <a:ext uri="{FF2B5EF4-FFF2-40B4-BE49-F238E27FC236}">
                <a16:creationId xmlns:a16="http://schemas.microsoft.com/office/drawing/2014/main" id="{13F0DE47-0C9D-4C47-9276-F242624337B3}"/>
              </a:ext>
            </a:extLst>
          </p:cNvPr>
          <p:cNvPicPr>
            <a:picLocks noChangeAspect="1"/>
          </p:cNvPicPr>
          <p:nvPr/>
        </p:nvPicPr>
        <p:blipFill>
          <a:blip r:embed="rId3"/>
          <a:stretch>
            <a:fillRect/>
          </a:stretch>
        </p:blipFill>
        <p:spPr>
          <a:xfrm>
            <a:off x="152400" y="2970549"/>
            <a:ext cx="8839200" cy="1220451"/>
          </a:xfrm>
          <a:prstGeom prst="rect">
            <a:avLst/>
          </a:prstGeom>
        </p:spPr>
      </p:pic>
    </p:spTree>
    <p:extLst>
      <p:ext uri="{BB962C8B-B14F-4D97-AF65-F5344CB8AC3E}">
        <p14:creationId xmlns:p14="http://schemas.microsoft.com/office/powerpoint/2010/main" val="25296479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Load</a:t>
            </a:r>
            <a:r>
              <a:rPr lang="fr-CA" dirty="0">
                <a:solidFill>
                  <a:schemeClr val="bg1"/>
                </a:solidFill>
              </a:rPr>
              <a:t> Balancing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Common Load balancing configuration.</a:t>
            </a:r>
          </a:p>
        </p:txBody>
      </p:sp>
      <p:graphicFrame>
        <p:nvGraphicFramePr>
          <p:cNvPr id="4" name="Table 2">
            <a:extLst>
              <a:ext uri="{FF2B5EF4-FFF2-40B4-BE49-F238E27FC236}">
                <a16:creationId xmlns:a16="http://schemas.microsoft.com/office/drawing/2014/main" id="{183293C6-93BD-4C96-90E0-0DCE85F6DE05}"/>
              </a:ext>
            </a:extLst>
          </p:cNvPr>
          <p:cNvGraphicFramePr>
            <a:graphicFrameLocks noGrp="1"/>
          </p:cNvGraphicFramePr>
          <p:nvPr>
            <p:extLst>
              <p:ext uri="{D42A27DB-BD31-4B8C-83A1-F6EECF244321}">
                <p14:modId xmlns:p14="http://schemas.microsoft.com/office/powerpoint/2010/main" val="4109676414"/>
              </p:ext>
            </p:extLst>
          </p:nvPr>
        </p:nvGraphicFramePr>
        <p:xfrm>
          <a:off x="152400" y="2514600"/>
          <a:ext cx="8839200" cy="3225800"/>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2589151108"/>
                    </a:ext>
                  </a:extLst>
                </a:gridCol>
                <a:gridCol w="2171032">
                  <a:extLst>
                    <a:ext uri="{9D8B030D-6E8A-4147-A177-3AD203B41FA5}">
                      <a16:colId xmlns:a16="http://schemas.microsoft.com/office/drawing/2014/main" val="4035097610"/>
                    </a:ext>
                  </a:extLst>
                </a:gridCol>
                <a:gridCol w="3721768">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200" dirty="0" err="1"/>
                        <a:t>spring.cloud.loadbalancer.enabled</a:t>
                      </a:r>
                      <a:r>
                        <a:rPr lang="en-US" sz="1200" dirty="0"/>
                        <a:t> </a:t>
                      </a:r>
                    </a:p>
                  </a:txBody>
                  <a:tcPr/>
                </a:tc>
                <a:tc>
                  <a:txBody>
                    <a:bodyPr/>
                    <a:lstStyle/>
                    <a:p>
                      <a:r>
                        <a:rPr lang="en-US" sz="1200" dirty="0"/>
                        <a:t>true</a:t>
                      </a:r>
                    </a:p>
                  </a:txBody>
                  <a:tcPr/>
                </a:tc>
                <a:tc>
                  <a:txBody>
                    <a:bodyPr/>
                    <a:lstStyle/>
                    <a:p>
                      <a:r>
                        <a:rPr lang="en-US" sz="1200" dirty="0"/>
                        <a:t>Enable or disable load balancing globally </a:t>
                      </a:r>
                    </a:p>
                  </a:txBody>
                  <a:tcPr/>
                </a:tc>
                <a:extLst>
                  <a:ext uri="{0D108BD9-81ED-4DB2-BD59-A6C34878D82A}">
                    <a16:rowId xmlns:a16="http://schemas.microsoft.com/office/drawing/2014/main" val="2324881647"/>
                  </a:ext>
                </a:extLst>
              </a:tr>
              <a:tr h="370840">
                <a:tc>
                  <a:txBody>
                    <a:bodyPr/>
                    <a:lstStyle/>
                    <a:p>
                      <a:r>
                        <a:rPr lang="en-US" sz="1200" dirty="0" err="1"/>
                        <a:t>spring.cloud.loadbalancer.retry.enabled</a:t>
                      </a:r>
                      <a:endParaRPr lang="en-US" sz="1200" dirty="0"/>
                    </a:p>
                  </a:txBody>
                  <a:tcPr/>
                </a:tc>
                <a:tc>
                  <a:txBody>
                    <a:bodyPr/>
                    <a:lstStyle/>
                    <a:p>
                      <a:r>
                        <a:rPr lang="en-US" sz="1200" dirty="0"/>
                        <a:t>true</a:t>
                      </a:r>
                    </a:p>
                  </a:txBody>
                  <a:tcPr/>
                </a:tc>
                <a:tc>
                  <a:txBody>
                    <a:bodyPr/>
                    <a:lstStyle/>
                    <a:p>
                      <a:r>
                        <a:rPr lang="en-US" sz="1200" dirty="0"/>
                        <a:t>Enable retries for load-balanced calls.</a:t>
                      </a:r>
                    </a:p>
                  </a:txBody>
                  <a:tcPr/>
                </a:tc>
                <a:extLst>
                  <a:ext uri="{0D108BD9-81ED-4DB2-BD59-A6C34878D82A}">
                    <a16:rowId xmlns:a16="http://schemas.microsoft.com/office/drawing/2014/main" val="1568501300"/>
                  </a:ext>
                </a:extLst>
              </a:tr>
              <a:tr h="370840">
                <a:tc>
                  <a:txBody>
                    <a:bodyPr/>
                    <a:lstStyle/>
                    <a:p>
                      <a:r>
                        <a:rPr lang="en-US" sz="1200" dirty="0" err="1"/>
                        <a:t>spring.cloud.loadbalancer.cache.enabled</a:t>
                      </a:r>
                      <a:endParaRPr lang="en-US" sz="1200" dirty="0"/>
                    </a:p>
                  </a:txBody>
                  <a:tcPr/>
                </a:tc>
                <a:tc>
                  <a:txBody>
                    <a:bodyPr/>
                    <a:lstStyle/>
                    <a:p>
                      <a:r>
                        <a:rPr lang="en-US" sz="1200" dirty="0"/>
                        <a:t>true</a:t>
                      </a:r>
                    </a:p>
                  </a:txBody>
                  <a:tcPr/>
                </a:tc>
                <a:tc>
                  <a:txBody>
                    <a:bodyPr/>
                    <a:lstStyle/>
                    <a:p>
                      <a:r>
                        <a:rPr lang="en-US" sz="1200" dirty="0"/>
                        <a:t>Enable caching of service instance lists</a:t>
                      </a:r>
                    </a:p>
                  </a:txBody>
                  <a:tcPr/>
                </a:tc>
                <a:extLst>
                  <a:ext uri="{0D108BD9-81ED-4DB2-BD59-A6C34878D82A}">
                    <a16:rowId xmlns:a16="http://schemas.microsoft.com/office/drawing/2014/main" val="3041417831"/>
                  </a:ext>
                </a:extLst>
              </a:tr>
              <a:tr h="370840">
                <a:tc>
                  <a:txBody>
                    <a:bodyPr/>
                    <a:lstStyle/>
                    <a:p>
                      <a:r>
                        <a:rPr lang="en-US" sz="1200" dirty="0" err="1"/>
                        <a:t>spring.cloud.loadbalancer.eager-load.clients</a:t>
                      </a:r>
                      <a:endParaRPr lang="en-US" sz="1200" dirty="0"/>
                    </a:p>
                  </a:txBody>
                  <a:tcPr/>
                </a:tc>
                <a:tc>
                  <a:txBody>
                    <a:bodyPr/>
                    <a:lstStyle/>
                    <a:p>
                      <a:endParaRPr lang="en-US" sz="1200" dirty="0"/>
                    </a:p>
                  </a:txBody>
                  <a:tcPr/>
                </a:tc>
                <a:tc>
                  <a:txBody>
                    <a:bodyPr/>
                    <a:lstStyle/>
                    <a:p>
                      <a:r>
                        <a:rPr lang="en-US" sz="1200" dirty="0"/>
                        <a:t>List of service IDs for which load balancer contexts are eagerly loaded</a:t>
                      </a:r>
                    </a:p>
                  </a:txBody>
                  <a:tcPr/>
                </a:tc>
                <a:extLst>
                  <a:ext uri="{0D108BD9-81ED-4DB2-BD59-A6C34878D82A}">
                    <a16:rowId xmlns:a16="http://schemas.microsoft.com/office/drawing/2014/main" val="934360143"/>
                  </a:ext>
                </a:extLst>
              </a:tr>
              <a:tr h="370840">
                <a:tc>
                  <a:txBody>
                    <a:bodyPr/>
                    <a:lstStyle/>
                    <a:p>
                      <a:r>
                        <a:rPr lang="en-US" sz="1200" dirty="0" err="1"/>
                        <a:t>spring.cloud.loadbalancer.configurations</a:t>
                      </a:r>
                      <a:endParaRPr lang="en-US" sz="1200" dirty="0"/>
                    </a:p>
                  </a:txBody>
                  <a:tcPr/>
                </a:tc>
                <a:tc>
                  <a:txBody>
                    <a:bodyPr/>
                    <a:lstStyle/>
                    <a:p>
                      <a:r>
                        <a:rPr lang="en-US" sz="1200" dirty="0"/>
                        <a:t>default</a:t>
                      </a:r>
                    </a:p>
                  </a:txBody>
                  <a:tcPr/>
                </a:tc>
                <a:tc>
                  <a:txBody>
                    <a:bodyPr/>
                    <a:lstStyle/>
                    <a:p>
                      <a:r>
                        <a:rPr lang="en-US" sz="1200" dirty="0"/>
                        <a:t>Specify custom load balancer configurations like weighted, subset, </a:t>
                      </a:r>
                      <a:r>
                        <a:rPr lang="en-US" sz="1200" dirty="0" err="1"/>
                        <a:t>etc</a:t>
                      </a:r>
                      <a:endParaRPr lang="en-US" sz="1200" dirty="0"/>
                    </a:p>
                  </a:txBody>
                  <a:tcPr/>
                </a:tc>
                <a:extLst>
                  <a:ext uri="{0D108BD9-81ED-4DB2-BD59-A6C34878D82A}">
                    <a16:rowId xmlns:a16="http://schemas.microsoft.com/office/drawing/2014/main" val="1906485577"/>
                  </a:ext>
                </a:extLst>
              </a:tr>
              <a:tr h="370840">
                <a:tc>
                  <a:txBody>
                    <a:bodyPr/>
                    <a:lstStyle/>
                    <a:p>
                      <a:r>
                        <a:rPr lang="en-US" sz="1200" dirty="0" err="1"/>
                        <a:t>spring.cloud.loadbalancer.subset.size</a:t>
                      </a:r>
                      <a:endParaRPr lang="en-US" sz="1200" dirty="0"/>
                    </a:p>
                  </a:txBody>
                  <a:tcPr/>
                </a:tc>
                <a:tc>
                  <a:txBody>
                    <a:bodyPr/>
                    <a:lstStyle/>
                    <a:p>
                      <a:r>
                        <a:rPr lang="en-US" sz="1200" dirty="0"/>
                        <a:t>100</a:t>
                      </a:r>
                    </a:p>
                  </a:txBody>
                  <a:tcPr/>
                </a:tc>
                <a:tc>
                  <a:txBody>
                    <a:bodyPr/>
                    <a:lstStyle/>
                    <a:p>
                      <a:r>
                        <a:rPr lang="en-US" sz="1200" dirty="0"/>
                        <a:t>Size of the subset of instances selected</a:t>
                      </a:r>
                    </a:p>
                  </a:txBody>
                  <a:tcPr/>
                </a:tc>
                <a:extLst>
                  <a:ext uri="{0D108BD9-81ED-4DB2-BD59-A6C34878D82A}">
                    <a16:rowId xmlns:a16="http://schemas.microsoft.com/office/drawing/2014/main" val="2452299204"/>
                  </a:ext>
                </a:extLst>
              </a:tr>
              <a:tr h="370840">
                <a:tc>
                  <a:txBody>
                    <a:bodyPr/>
                    <a:lstStyle/>
                    <a:p>
                      <a:r>
                        <a:rPr lang="en-US" sz="1200" dirty="0" err="1"/>
                        <a:t>spring.cloud.loadbalancer.subset.instance</a:t>
                      </a:r>
                      <a:r>
                        <a:rPr lang="en-US" sz="1200" dirty="0"/>
                        <a:t>-id</a:t>
                      </a:r>
                    </a:p>
                  </a:txBody>
                  <a:tcPr/>
                </a:tc>
                <a:tc>
                  <a:txBody>
                    <a:bodyPr/>
                    <a:lstStyle/>
                    <a:p>
                      <a:endParaRPr lang="en-US" sz="1200" dirty="0"/>
                    </a:p>
                  </a:txBody>
                  <a:tcPr/>
                </a:tc>
                <a:tc>
                  <a:txBody>
                    <a:bodyPr/>
                    <a:lstStyle/>
                    <a:p>
                      <a:r>
                        <a:rPr lang="en-US" sz="1200" dirty="0"/>
                        <a:t>Used for subset load balancing to select matching instances</a:t>
                      </a:r>
                    </a:p>
                  </a:txBody>
                  <a:tcPr/>
                </a:tc>
                <a:extLst>
                  <a:ext uri="{0D108BD9-81ED-4DB2-BD59-A6C34878D82A}">
                    <a16:rowId xmlns:a16="http://schemas.microsoft.com/office/drawing/2014/main" val="879982103"/>
                  </a:ext>
                </a:extLst>
              </a:tr>
            </a:tbl>
          </a:graphicData>
        </a:graphic>
      </p:graphicFrame>
    </p:spTree>
    <p:extLst>
      <p:ext uri="{BB962C8B-B14F-4D97-AF65-F5344CB8AC3E}">
        <p14:creationId xmlns:p14="http://schemas.microsoft.com/office/powerpoint/2010/main" val="1830851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Gateway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038600"/>
          </a:xfrm>
        </p:spPr>
        <p:txBody>
          <a:bodyPr/>
          <a:lstStyle/>
          <a:p>
            <a:r>
              <a:rPr lang="en-US" sz="1400" dirty="0">
                <a:solidFill>
                  <a:srgbClr val="3C5790"/>
                </a:solidFill>
              </a:rPr>
              <a:t>In Spring Cloud, the </a:t>
            </a:r>
            <a:r>
              <a:rPr lang="en-US" sz="1400" b="1" dirty="0">
                <a:solidFill>
                  <a:srgbClr val="3C5790"/>
                </a:solidFill>
              </a:rPr>
              <a:t>Gateway</a:t>
            </a:r>
            <a:r>
              <a:rPr lang="en-US" sz="1400" dirty="0">
                <a:solidFill>
                  <a:srgbClr val="3C5790"/>
                </a:solidFill>
              </a:rPr>
              <a:t> API provides a single entry point for routing requests to various backend microservices. It operates with routes that define how requests are matched and forwarded, using predicates to match requests and filters for processing them.</a:t>
            </a:r>
          </a:p>
          <a:p>
            <a:r>
              <a:rPr lang="en-US" sz="1400" b="1" dirty="0">
                <a:solidFill>
                  <a:srgbClr val="3C5790"/>
                </a:solidFill>
              </a:rPr>
              <a:t>Route</a:t>
            </a:r>
            <a:r>
              <a:rPr lang="en-US" sz="1400" dirty="0">
                <a:solidFill>
                  <a:srgbClr val="3C5790"/>
                </a:solidFill>
              </a:rPr>
              <a:t>: A route consists of an ID, a destination URI (where to forward requests), a set of predicates (conditions to match requests), and filters (pre/post processing logic on requests/responses).</a:t>
            </a:r>
          </a:p>
          <a:p>
            <a:r>
              <a:rPr lang="en-US" sz="1400" b="1" dirty="0">
                <a:solidFill>
                  <a:srgbClr val="3C5790"/>
                </a:solidFill>
              </a:rPr>
              <a:t>Predicates</a:t>
            </a:r>
            <a:r>
              <a:rPr lang="en-US" sz="1400" dirty="0">
                <a:solidFill>
                  <a:srgbClr val="3C5790"/>
                </a:solidFill>
              </a:rPr>
              <a:t>: These are functions that evaluate incoming requests (e.g., matching path, headers, HTTP method) and return true if the request matches the route.</a:t>
            </a:r>
          </a:p>
          <a:p>
            <a:r>
              <a:rPr lang="en-US" sz="1400" b="1" dirty="0">
                <a:solidFill>
                  <a:srgbClr val="3C5790"/>
                </a:solidFill>
              </a:rPr>
              <a:t>Filters</a:t>
            </a:r>
            <a:r>
              <a:rPr lang="en-US" sz="1400" dirty="0">
                <a:solidFill>
                  <a:srgbClr val="3C5790"/>
                </a:solidFill>
              </a:rPr>
              <a:t>: These modify requests or responses, and can run logic before forwarding ("pre" filters) or after receiving the response ("post" filters).</a:t>
            </a:r>
          </a:p>
          <a:p>
            <a:r>
              <a:rPr lang="en-US" sz="1400" b="1" dirty="0">
                <a:solidFill>
                  <a:srgbClr val="3C5790"/>
                </a:solidFill>
              </a:rPr>
              <a:t>Workflow</a:t>
            </a:r>
            <a:r>
              <a:rPr lang="en-US" sz="1400" dirty="0">
                <a:solidFill>
                  <a:srgbClr val="3C5790"/>
                </a:solidFill>
              </a:rPr>
              <a:t>: Client sends request → Gateway Handler Mapping matches route via predicates → Request passes filters → Forwarded to backend URI → Response passes filters → Response returned to client.</a:t>
            </a:r>
          </a:p>
        </p:txBody>
      </p:sp>
    </p:spTree>
    <p:extLst>
      <p:ext uri="{BB962C8B-B14F-4D97-AF65-F5344CB8AC3E}">
        <p14:creationId xmlns:p14="http://schemas.microsoft.com/office/powerpoint/2010/main" val="1737886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Gateway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581400"/>
          </a:xfrm>
        </p:spPr>
        <p:txBody>
          <a:bodyPr/>
          <a:lstStyle/>
          <a:p>
            <a:r>
              <a:rPr lang="en-US" sz="1400" dirty="0">
                <a:solidFill>
                  <a:srgbClr val="3C5790"/>
                </a:solidFill>
              </a:rPr>
              <a:t>Gateway features:</a:t>
            </a:r>
          </a:p>
          <a:p>
            <a:pPr lvl="1"/>
            <a:r>
              <a:rPr lang="en-US" sz="1400" dirty="0">
                <a:solidFill>
                  <a:srgbClr val="3C5790"/>
                </a:solidFill>
              </a:rPr>
              <a:t>Built on Spring Framework and Spring Boot</a:t>
            </a:r>
          </a:p>
          <a:p>
            <a:pPr lvl="1"/>
            <a:r>
              <a:rPr lang="en-US" sz="1400" dirty="0">
                <a:solidFill>
                  <a:srgbClr val="3C5790"/>
                </a:solidFill>
              </a:rPr>
              <a:t>Compatible with both Spring </a:t>
            </a:r>
            <a:r>
              <a:rPr lang="en-US" sz="1400" dirty="0" err="1">
                <a:solidFill>
                  <a:srgbClr val="3C5790"/>
                </a:solidFill>
              </a:rPr>
              <a:t>WebFlux</a:t>
            </a:r>
            <a:r>
              <a:rPr lang="en-US" sz="1400" dirty="0">
                <a:solidFill>
                  <a:srgbClr val="3C5790"/>
                </a:solidFill>
              </a:rPr>
              <a:t> and Spring Web MVC</a:t>
            </a:r>
          </a:p>
          <a:p>
            <a:pPr lvl="1"/>
            <a:r>
              <a:rPr lang="en-US" sz="1400" dirty="0">
                <a:solidFill>
                  <a:srgbClr val="3C5790"/>
                </a:solidFill>
              </a:rPr>
              <a:t>Able to match routes on any request attribute.</a:t>
            </a:r>
          </a:p>
          <a:p>
            <a:pPr lvl="1"/>
            <a:r>
              <a:rPr lang="en-US" sz="1400" dirty="0">
                <a:solidFill>
                  <a:srgbClr val="3C5790"/>
                </a:solidFill>
              </a:rPr>
              <a:t>Predicates and filters are specific to routes.</a:t>
            </a:r>
          </a:p>
          <a:p>
            <a:pPr lvl="1"/>
            <a:r>
              <a:rPr lang="en-US" sz="1400" dirty="0">
                <a:solidFill>
                  <a:srgbClr val="3C5790"/>
                </a:solidFill>
              </a:rPr>
              <a:t>Spring Cloud Circuit Breaker integration.</a:t>
            </a:r>
          </a:p>
          <a:p>
            <a:pPr lvl="1"/>
            <a:r>
              <a:rPr lang="en-US" sz="1400" dirty="0">
                <a:solidFill>
                  <a:srgbClr val="3C5790"/>
                </a:solidFill>
              </a:rPr>
              <a:t>Spring Cloud </a:t>
            </a:r>
            <a:r>
              <a:rPr lang="en-US" sz="1400" dirty="0" err="1">
                <a:solidFill>
                  <a:srgbClr val="3C5790"/>
                </a:solidFill>
              </a:rPr>
              <a:t>DiscoveryClient</a:t>
            </a:r>
            <a:r>
              <a:rPr lang="en-US" sz="1400" dirty="0">
                <a:solidFill>
                  <a:srgbClr val="3C5790"/>
                </a:solidFill>
              </a:rPr>
              <a:t> integration</a:t>
            </a:r>
          </a:p>
          <a:p>
            <a:pPr lvl="1"/>
            <a:r>
              <a:rPr lang="en-US" sz="1400" dirty="0">
                <a:solidFill>
                  <a:srgbClr val="3C5790"/>
                </a:solidFill>
              </a:rPr>
              <a:t>Easy to write Predicates and Filters</a:t>
            </a:r>
          </a:p>
          <a:p>
            <a:pPr lvl="1"/>
            <a:r>
              <a:rPr lang="en-US" sz="1400" dirty="0">
                <a:solidFill>
                  <a:srgbClr val="3C5790"/>
                </a:solidFill>
              </a:rPr>
              <a:t>Request Rate Limiting</a:t>
            </a:r>
          </a:p>
          <a:p>
            <a:pPr lvl="1"/>
            <a:r>
              <a:rPr lang="en-US" sz="1400" dirty="0">
                <a:solidFill>
                  <a:srgbClr val="3C5790"/>
                </a:solidFill>
              </a:rPr>
              <a:t>Path Rewriting</a:t>
            </a:r>
          </a:p>
        </p:txBody>
      </p:sp>
    </p:spTree>
    <p:extLst>
      <p:ext uri="{BB962C8B-B14F-4D97-AF65-F5344CB8AC3E}">
        <p14:creationId xmlns:p14="http://schemas.microsoft.com/office/powerpoint/2010/main" val="1215635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Gateway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Spring Cloud Gateway Architecture</a:t>
            </a:r>
          </a:p>
        </p:txBody>
      </p:sp>
      <p:pic>
        <p:nvPicPr>
          <p:cNvPr id="3" name="Picture 2">
            <a:extLst>
              <a:ext uri="{FF2B5EF4-FFF2-40B4-BE49-F238E27FC236}">
                <a16:creationId xmlns:a16="http://schemas.microsoft.com/office/drawing/2014/main" id="{38C498F9-1BC7-4766-892F-54C34460184C}"/>
              </a:ext>
            </a:extLst>
          </p:cNvPr>
          <p:cNvPicPr>
            <a:picLocks noChangeAspect="1"/>
          </p:cNvPicPr>
          <p:nvPr/>
        </p:nvPicPr>
        <p:blipFill>
          <a:blip r:embed="rId3"/>
          <a:stretch>
            <a:fillRect/>
          </a:stretch>
        </p:blipFill>
        <p:spPr>
          <a:xfrm>
            <a:off x="1752600" y="2764959"/>
            <a:ext cx="5924550" cy="3309284"/>
          </a:xfrm>
          <a:prstGeom prst="rect">
            <a:avLst/>
          </a:prstGeom>
        </p:spPr>
      </p:pic>
    </p:spTree>
    <p:extLst>
      <p:ext uri="{BB962C8B-B14F-4D97-AF65-F5344CB8AC3E}">
        <p14:creationId xmlns:p14="http://schemas.microsoft.com/office/powerpoint/2010/main" val="42150616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Gateway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We configure the gateway-service as Eureka Client and add custom routes in </a:t>
            </a:r>
            <a:r>
              <a:rPr lang="en-US" sz="1400" dirty="0" err="1">
                <a:solidFill>
                  <a:srgbClr val="3C5790"/>
                </a:solidFill>
              </a:rPr>
              <a:t>application.properties</a:t>
            </a:r>
            <a:r>
              <a:rPr lang="en-US" sz="1400" dirty="0">
                <a:solidFill>
                  <a:srgbClr val="3C5790"/>
                </a:solidFill>
              </a:rPr>
              <a:t>.</a:t>
            </a:r>
          </a:p>
        </p:txBody>
      </p:sp>
      <p:pic>
        <p:nvPicPr>
          <p:cNvPr id="3" name="Picture 2">
            <a:extLst>
              <a:ext uri="{FF2B5EF4-FFF2-40B4-BE49-F238E27FC236}">
                <a16:creationId xmlns:a16="http://schemas.microsoft.com/office/drawing/2014/main" id="{9C24F39D-A82C-4C8C-9F41-8AEF41F169CF}"/>
              </a:ext>
            </a:extLst>
          </p:cNvPr>
          <p:cNvPicPr>
            <a:picLocks noChangeAspect="1"/>
          </p:cNvPicPr>
          <p:nvPr/>
        </p:nvPicPr>
        <p:blipFill>
          <a:blip r:embed="rId3"/>
          <a:stretch>
            <a:fillRect/>
          </a:stretch>
        </p:blipFill>
        <p:spPr>
          <a:xfrm>
            <a:off x="731939" y="5029200"/>
            <a:ext cx="7954861" cy="1423253"/>
          </a:xfrm>
          <a:prstGeom prst="rect">
            <a:avLst/>
          </a:prstGeom>
        </p:spPr>
      </p:pic>
      <p:pic>
        <p:nvPicPr>
          <p:cNvPr id="5" name="Picture 4">
            <a:extLst>
              <a:ext uri="{FF2B5EF4-FFF2-40B4-BE49-F238E27FC236}">
                <a16:creationId xmlns:a16="http://schemas.microsoft.com/office/drawing/2014/main" id="{2E2C369A-3EA4-4AC6-B632-1D5F5FD794A8}"/>
              </a:ext>
            </a:extLst>
          </p:cNvPr>
          <p:cNvPicPr>
            <a:picLocks noChangeAspect="1"/>
          </p:cNvPicPr>
          <p:nvPr/>
        </p:nvPicPr>
        <p:blipFill>
          <a:blip r:embed="rId4"/>
          <a:stretch>
            <a:fillRect/>
          </a:stretch>
        </p:blipFill>
        <p:spPr>
          <a:xfrm>
            <a:off x="1981200" y="2667000"/>
            <a:ext cx="4972050" cy="1930636"/>
          </a:xfrm>
          <a:prstGeom prst="rect">
            <a:avLst/>
          </a:prstGeom>
        </p:spPr>
      </p:pic>
    </p:spTree>
    <p:extLst>
      <p:ext uri="{BB962C8B-B14F-4D97-AF65-F5344CB8AC3E}">
        <p14:creationId xmlns:p14="http://schemas.microsoft.com/office/powerpoint/2010/main" val="12549355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Gateway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We can implement custom logic by adding filters, extending the </a:t>
            </a:r>
            <a:r>
              <a:rPr lang="en-US" sz="1400" b="1" dirty="0" err="1">
                <a:solidFill>
                  <a:srgbClr val="3C5790"/>
                </a:solidFill>
              </a:rPr>
              <a:t>GlobalFilter</a:t>
            </a:r>
            <a:r>
              <a:rPr lang="en-US" sz="1400" dirty="0">
                <a:solidFill>
                  <a:srgbClr val="3C5790"/>
                </a:solidFill>
              </a:rPr>
              <a:t> class.</a:t>
            </a:r>
          </a:p>
        </p:txBody>
      </p:sp>
      <p:pic>
        <p:nvPicPr>
          <p:cNvPr id="5" name="Picture 4">
            <a:extLst>
              <a:ext uri="{FF2B5EF4-FFF2-40B4-BE49-F238E27FC236}">
                <a16:creationId xmlns:a16="http://schemas.microsoft.com/office/drawing/2014/main" id="{F31D3011-1F10-460C-B9CE-20E2A4BAE766}"/>
              </a:ext>
            </a:extLst>
          </p:cNvPr>
          <p:cNvPicPr>
            <a:picLocks noChangeAspect="1"/>
          </p:cNvPicPr>
          <p:nvPr/>
        </p:nvPicPr>
        <p:blipFill>
          <a:blip r:embed="rId3"/>
          <a:stretch>
            <a:fillRect/>
          </a:stretch>
        </p:blipFill>
        <p:spPr>
          <a:xfrm>
            <a:off x="1752600" y="2595563"/>
            <a:ext cx="6200775" cy="3648075"/>
          </a:xfrm>
          <a:prstGeom prst="rect">
            <a:avLst/>
          </a:prstGeom>
        </p:spPr>
      </p:pic>
    </p:spTree>
    <p:extLst>
      <p:ext uri="{BB962C8B-B14F-4D97-AF65-F5344CB8AC3E}">
        <p14:creationId xmlns:p14="http://schemas.microsoft.com/office/powerpoint/2010/main" val="27291856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Gateway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Spring Cloud Gateway pre/post processing filters .</a:t>
            </a:r>
          </a:p>
        </p:txBody>
      </p:sp>
      <p:pic>
        <p:nvPicPr>
          <p:cNvPr id="4" name="Picture 3">
            <a:extLst>
              <a:ext uri="{FF2B5EF4-FFF2-40B4-BE49-F238E27FC236}">
                <a16:creationId xmlns:a16="http://schemas.microsoft.com/office/drawing/2014/main" id="{119E906A-48F7-44A1-A0FA-8B39457A21A5}"/>
              </a:ext>
            </a:extLst>
          </p:cNvPr>
          <p:cNvPicPr>
            <a:picLocks noChangeAspect="1"/>
          </p:cNvPicPr>
          <p:nvPr/>
        </p:nvPicPr>
        <p:blipFill>
          <a:blip r:embed="rId3"/>
          <a:stretch>
            <a:fillRect/>
          </a:stretch>
        </p:blipFill>
        <p:spPr>
          <a:xfrm>
            <a:off x="990600" y="2895600"/>
            <a:ext cx="7433821" cy="2895600"/>
          </a:xfrm>
          <a:prstGeom prst="rect">
            <a:avLst/>
          </a:prstGeom>
        </p:spPr>
      </p:pic>
    </p:spTree>
    <p:extLst>
      <p:ext uri="{BB962C8B-B14F-4D97-AF65-F5344CB8AC3E}">
        <p14:creationId xmlns:p14="http://schemas.microsoft.com/office/powerpoint/2010/main" val="19701387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Resilience4j</a:t>
            </a:r>
          </a:p>
        </p:txBody>
      </p:sp>
      <p:sp>
        <p:nvSpPr>
          <p:cNvPr id="4099" name="Espace réservé du contenu 4"/>
          <p:cNvSpPr>
            <a:spLocks noGrp="1"/>
          </p:cNvSpPr>
          <p:nvPr>
            <p:ph idx="1"/>
          </p:nvPr>
        </p:nvSpPr>
        <p:spPr>
          <a:xfrm>
            <a:off x="228600" y="2133600"/>
            <a:ext cx="8686800" cy="2590800"/>
          </a:xfrm>
        </p:spPr>
        <p:txBody>
          <a:bodyPr/>
          <a:lstStyle/>
          <a:p>
            <a:r>
              <a:rPr lang="en-US" sz="1400" dirty="0">
                <a:solidFill>
                  <a:srgbClr val="3C5790"/>
                </a:solidFill>
              </a:rPr>
              <a:t>Resilience4j is a lightweight, fault-tolerance library designed for Java applications.</a:t>
            </a:r>
          </a:p>
          <a:p>
            <a:r>
              <a:rPr lang="en-US" sz="1400" dirty="0">
                <a:solidFill>
                  <a:srgbClr val="3C5790"/>
                </a:solidFill>
              </a:rPr>
              <a:t>In Spring Cloud context, it provides advanced resilience patterns like circuit breakers, retries, rate limiters, bulkheads, and time limiters to help microservices handle failures gracefully.</a:t>
            </a:r>
          </a:p>
          <a:p>
            <a:pPr lvl="1"/>
            <a:r>
              <a:rPr lang="en-US" sz="1400" b="1" dirty="0">
                <a:solidFill>
                  <a:srgbClr val="3C5790"/>
                </a:solidFill>
              </a:rPr>
              <a:t>Circuit Breaker</a:t>
            </a:r>
            <a:r>
              <a:rPr lang="en-US" sz="1400" dirty="0">
                <a:solidFill>
                  <a:srgbClr val="3C5790"/>
                </a:solidFill>
              </a:rPr>
              <a:t>: Automatically stops calls to a failing service to prevent cascading failures.</a:t>
            </a:r>
          </a:p>
          <a:p>
            <a:pPr lvl="1"/>
            <a:r>
              <a:rPr lang="en-US" sz="1400" b="1" dirty="0">
                <a:solidFill>
                  <a:srgbClr val="3C5790"/>
                </a:solidFill>
              </a:rPr>
              <a:t>Retry</a:t>
            </a:r>
            <a:r>
              <a:rPr lang="en-US" sz="1400" dirty="0">
                <a:solidFill>
                  <a:srgbClr val="3C5790"/>
                </a:solidFill>
              </a:rPr>
              <a:t>: Automatically retries failed calls with configurable backoff policies.</a:t>
            </a:r>
          </a:p>
          <a:p>
            <a:pPr lvl="1"/>
            <a:r>
              <a:rPr lang="en-US" sz="1400" b="1" dirty="0">
                <a:solidFill>
                  <a:srgbClr val="3C5790"/>
                </a:solidFill>
              </a:rPr>
              <a:t>Rate</a:t>
            </a:r>
            <a:r>
              <a:rPr lang="en-US" sz="1400" dirty="0">
                <a:solidFill>
                  <a:srgbClr val="3C5790"/>
                </a:solidFill>
              </a:rPr>
              <a:t> </a:t>
            </a:r>
            <a:r>
              <a:rPr lang="en-US" sz="1400" b="1" dirty="0">
                <a:solidFill>
                  <a:srgbClr val="3C5790"/>
                </a:solidFill>
              </a:rPr>
              <a:t>Limiter</a:t>
            </a:r>
            <a:r>
              <a:rPr lang="en-US" sz="1400" dirty="0">
                <a:solidFill>
                  <a:srgbClr val="3C5790"/>
                </a:solidFill>
              </a:rPr>
              <a:t>: Limits the number of calls to a service in a given time window.</a:t>
            </a:r>
          </a:p>
          <a:p>
            <a:pPr lvl="1"/>
            <a:r>
              <a:rPr lang="en-US" sz="1400" b="1" dirty="0">
                <a:solidFill>
                  <a:srgbClr val="3C5790"/>
                </a:solidFill>
              </a:rPr>
              <a:t>Bulkhead</a:t>
            </a:r>
            <a:r>
              <a:rPr lang="en-US" sz="1400" dirty="0">
                <a:solidFill>
                  <a:srgbClr val="3C5790"/>
                </a:solidFill>
              </a:rPr>
              <a:t>: Isolates resources to prevent congestion in one part of the system affecting others.</a:t>
            </a:r>
          </a:p>
          <a:p>
            <a:pPr lvl="1"/>
            <a:r>
              <a:rPr lang="en-US" sz="1400" b="1" dirty="0">
                <a:solidFill>
                  <a:srgbClr val="3C5790"/>
                </a:solidFill>
              </a:rPr>
              <a:t>Time</a:t>
            </a:r>
            <a:r>
              <a:rPr lang="en-US" sz="1400" dirty="0">
                <a:solidFill>
                  <a:srgbClr val="3C5790"/>
                </a:solidFill>
              </a:rPr>
              <a:t> </a:t>
            </a:r>
            <a:r>
              <a:rPr lang="en-US" sz="1400" b="1" dirty="0">
                <a:solidFill>
                  <a:srgbClr val="3C5790"/>
                </a:solidFill>
              </a:rPr>
              <a:t>Limiter</a:t>
            </a:r>
            <a:r>
              <a:rPr lang="en-US" sz="1400" dirty="0">
                <a:solidFill>
                  <a:srgbClr val="3C5790"/>
                </a:solidFill>
              </a:rPr>
              <a:t>: Times out long-running calls to avoid hanging.</a:t>
            </a:r>
          </a:p>
        </p:txBody>
      </p:sp>
    </p:spTree>
    <p:extLst>
      <p:ext uri="{BB962C8B-B14F-4D97-AF65-F5344CB8AC3E}">
        <p14:creationId xmlns:p14="http://schemas.microsoft.com/office/powerpoint/2010/main" val="2090189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Resilience4j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599"/>
            <a:ext cx="8686800" cy="2207325"/>
          </a:xfrm>
        </p:spPr>
        <p:txBody>
          <a:bodyPr/>
          <a:lstStyle/>
          <a:p>
            <a:r>
              <a:rPr lang="en-US" sz="1400" dirty="0">
                <a:solidFill>
                  <a:srgbClr val="3C5790"/>
                </a:solidFill>
              </a:rPr>
              <a:t>A circuit breaker pattern is a state machine that allows us to get answers to our questions. Circuit Breaker includes 3 states basically. These states are similar to the states of an electrical circuit.</a:t>
            </a:r>
          </a:p>
          <a:p>
            <a:pPr lvl="1"/>
            <a:r>
              <a:rPr lang="en-US" sz="1400" b="1" dirty="0">
                <a:solidFill>
                  <a:srgbClr val="3C5790"/>
                </a:solidFill>
              </a:rPr>
              <a:t>Closed state</a:t>
            </a:r>
            <a:r>
              <a:rPr lang="en-US" sz="1400" dirty="0">
                <a:solidFill>
                  <a:srgbClr val="3C5790"/>
                </a:solidFill>
              </a:rPr>
              <a:t>: When everything is normal, the circuit is closed and requests continue to be sent. This is the state your services mostly be in. </a:t>
            </a:r>
          </a:p>
          <a:p>
            <a:pPr lvl="1"/>
            <a:r>
              <a:rPr lang="en-US" sz="1400" b="1" dirty="0">
                <a:solidFill>
                  <a:srgbClr val="3C5790"/>
                </a:solidFill>
              </a:rPr>
              <a:t>Open state</a:t>
            </a:r>
            <a:r>
              <a:rPr lang="en-US" sz="1400" dirty="0">
                <a:solidFill>
                  <a:srgbClr val="3C5790"/>
                </a:solidFill>
              </a:rPr>
              <a:t>: When there are errors (slow or fail), this state is passed according to predetermined criteria. When this state is decided, all requests are now directly blocked from going to the external service. With a specific time limit or criteria, it is passed from this state to the half-open state.</a:t>
            </a:r>
          </a:p>
          <a:p>
            <a:pPr lvl="1"/>
            <a:r>
              <a:rPr lang="en-US" sz="1400" b="1" dirty="0">
                <a:solidFill>
                  <a:srgbClr val="3C5790"/>
                </a:solidFill>
              </a:rPr>
              <a:t>Half-open state</a:t>
            </a:r>
            <a:r>
              <a:rPr lang="en-US" sz="1400" dirty="0">
                <a:solidFill>
                  <a:srgbClr val="3C5790"/>
                </a:solidFill>
              </a:rPr>
              <a:t>: A batch of requests is allowed to pass to check whether the external service is back to normal, and if successful, a closed state is passed. If it still receives an error, it is passed to the open state.</a:t>
            </a:r>
          </a:p>
        </p:txBody>
      </p:sp>
      <p:pic>
        <p:nvPicPr>
          <p:cNvPr id="3" name="Picture 2">
            <a:extLst>
              <a:ext uri="{FF2B5EF4-FFF2-40B4-BE49-F238E27FC236}">
                <a16:creationId xmlns:a16="http://schemas.microsoft.com/office/drawing/2014/main" id="{3AB36E92-9487-4160-9A3C-8E7CE94A28CB}"/>
              </a:ext>
            </a:extLst>
          </p:cNvPr>
          <p:cNvPicPr>
            <a:picLocks noChangeAspect="1"/>
          </p:cNvPicPr>
          <p:nvPr/>
        </p:nvPicPr>
        <p:blipFill>
          <a:blip r:embed="rId3"/>
          <a:stretch>
            <a:fillRect/>
          </a:stretch>
        </p:blipFill>
        <p:spPr>
          <a:xfrm>
            <a:off x="3048000" y="4376037"/>
            <a:ext cx="3267075" cy="2207325"/>
          </a:xfrm>
          <a:prstGeom prst="rect">
            <a:avLst/>
          </a:prstGeom>
        </p:spPr>
      </p:pic>
    </p:spTree>
    <p:extLst>
      <p:ext uri="{BB962C8B-B14F-4D97-AF65-F5344CB8AC3E}">
        <p14:creationId xmlns:p14="http://schemas.microsoft.com/office/powerpoint/2010/main" val="12477325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Resilience4j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057400"/>
            <a:ext cx="8686800" cy="685800"/>
          </a:xfrm>
        </p:spPr>
        <p:txBody>
          <a:bodyPr/>
          <a:lstStyle/>
          <a:p>
            <a:r>
              <a:rPr lang="en-US" sz="1400" dirty="0">
                <a:solidFill>
                  <a:srgbClr val="3C5790"/>
                </a:solidFill>
              </a:rPr>
              <a:t>In the Spring Cloud application we need to add the maven dependency </a:t>
            </a:r>
            <a:r>
              <a:rPr lang="en-US" sz="1400" b="1" dirty="0">
                <a:solidFill>
                  <a:srgbClr val="3C5790"/>
                </a:solidFill>
              </a:rPr>
              <a:t>spring-cloud-starter-circuitbreaker-resilience4j</a:t>
            </a:r>
            <a:r>
              <a:rPr lang="en-US" sz="1400" dirty="0">
                <a:solidFill>
                  <a:srgbClr val="3C5790"/>
                </a:solidFill>
              </a:rPr>
              <a:t>, use the </a:t>
            </a:r>
            <a:r>
              <a:rPr lang="en-US" sz="1400" b="1" dirty="0">
                <a:solidFill>
                  <a:srgbClr val="3C5790"/>
                </a:solidFill>
              </a:rPr>
              <a:t>@Retry</a:t>
            </a:r>
            <a:r>
              <a:rPr lang="en-US" sz="1400" dirty="0">
                <a:solidFill>
                  <a:srgbClr val="3C5790"/>
                </a:solidFill>
              </a:rPr>
              <a:t> annotation with </a:t>
            </a:r>
            <a:r>
              <a:rPr lang="en-US" sz="1400" b="1" dirty="0" err="1">
                <a:solidFill>
                  <a:srgbClr val="3C5790"/>
                </a:solidFill>
              </a:rPr>
              <a:t>fallbackMethod</a:t>
            </a:r>
            <a:r>
              <a:rPr lang="en-US" sz="1400" dirty="0">
                <a:solidFill>
                  <a:srgbClr val="3C5790"/>
                </a:solidFill>
              </a:rPr>
              <a:t> attribute and also use custom configuration to </a:t>
            </a:r>
            <a:r>
              <a:rPr lang="en-US" sz="1400" dirty="0" err="1">
                <a:solidFill>
                  <a:srgbClr val="3C5790"/>
                </a:solidFill>
              </a:rPr>
              <a:t>application.properties</a:t>
            </a:r>
            <a:r>
              <a:rPr lang="en-US" sz="1400" dirty="0">
                <a:solidFill>
                  <a:srgbClr val="3C5790"/>
                </a:solidFill>
              </a:rPr>
              <a:t>.</a:t>
            </a:r>
          </a:p>
        </p:txBody>
      </p:sp>
      <p:pic>
        <p:nvPicPr>
          <p:cNvPr id="3" name="Picture 2">
            <a:extLst>
              <a:ext uri="{FF2B5EF4-FFF2-40B4-BE49-F238E27FC236}">
                <a16:creationId xmlns:a16="http://schemas.microsoft.com/office/drawing/2014/main" id="{16B8A39A-052D-4EEB-BE64-E983A4AEB54E}"/>
              </a:ext>
            </a:extLst>
          </p:cNvPr>
          <p:cNvPicPr>
            <a:picLocks noChangeAspect="1"/>
          </p:cNvPicPr>
          <p:nvPr/>
        </p:nvPicPr>
        <p:blipFill>
          <a:blip r:embed="rId3"/>
          <a:stretch>
            <a:fillRect/>
          </a:stretch>
        </p:blipFill>
        <p:spPr>
          <a:xfrm>
            <a:off x="1981200" y="2876550"/>
            <a:ext cx="5505450" cy="628650"/>
          </a:xfrm>
          <a:prstGeom prst="rect">
            <a:avLst/>
          </a:prstGeom>
        </p:spPr>
      </p:pic>
      <p:pic>
        <p:nvPicPr>
          <p:cNvPr id="5" name="Picture 4">
            <a:extLst>
              <a:ext uri="{FF2B5EF4-FFF2-40B4-BE49-F238E27FC236}">
                <a16:creationId xmlns:a16="http://schemas.microsoft.com/office/drawing/2014/main" id="{BF588C48-3FE6-44C7-A333-D1B6E21A2F4A}"/>
              </a:ext>
            </a:extLst>
          </p:cNvPr>
          <p:cNvPicPr>
            <a:picLocks noChangeAspect="1"/>
          </p:cNvPicPr>
          <p:nvPr/>
        </p:nvPicPr>
        <p:blipFill>
          <a:blip r:embed="rId4"/>
          <a:stretch>
            <a:fillRect/>
          </a:stretch>
        </p:blipFill>
        <p:spPr>
          <a:xfrm>
            <a:off x="240926" y="3965197"/>
            <a:ext cx="4492999" cy="2613971"/>
          </a:xfrm>
          <a:prstGeom prst="rect">
            <a:avLst/>
          </a:prstGeom>
        </p:spPr>
      </p:pic>
      <p:pic>
        <p:nvPicPr>
          <p:cNvPr id="7" name="Picture 6">
            <a:extLst>
              <a:ext uri="{FF2B5EF4-FFF2-40B4-BE49-F238E27FC236}">
                <a16:creationId xmlns:a16="http://schemas.microsoft.com/office/drawing/2014/main" id="{2CB9240D-0541-40DF-B9CB-3742DAA81F83}"/>
              </a:ext>
            </a:extLst>
          </p:cNvPr>
          <p:cNvPicPr>
            <a:picLocks noChangeAspect="1"/>
          </p:cNvPicPr>
          <p:nvPr/>
        </p:nvPicPr>
        <p:blipFill>
          <a:blip r:embed="rId5"/>
          <a:stretch>
            <a:fillRect/>
          </a:stretch>
        </p:blipFill>
        <p:spPr>
          <a:xfrm>
            <a:off x="5105400" y="4558340"/>
            <a:ext cx="3895725" cy="749495"/>
          </a:xfrm>
          <a:prstGeom prst="rect">
            <a:avLst/>
          </a:prstGeom>
        </p:spPr>
      </p:pic>
      <p:cxnSp>
        <p:nvCxnSpPr>
          <p:cNvPr id="9" name="Straight Connector 8">
            <a:extLst>
              <a:ext uri="{FF2B5EF4-FFF2-40B4-BE49-F238E27FC236}">
                <a16:creationId xmlns:a16="http://schemas.microsoft.com/office/drawing/2014/main" id="{536C6110-4A6C-4397-92FD-2530757FFFE0}"/>
              </a:ext>
            </a:extLst>
          </p:cNvPr>
          <p:cNvCxnSpPr/>
          <p:nvPr/>
        </p:nvCxnSpPr>
        <p:spPr>
          <a:xfrm flipV="1">
            <a:off x="0" y="3528169"/>
            <a:ext cx="9144000" cy="53231"/>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D0797AB-219D-460C-8590-2F97179DD970}"/>
              </a:ext>
            </a:extLst>
          </p:cNvPr>
          <p:cNvCxnSpPr>
            <a:cxnSpLocks/>
          </p:cNvCxnSpPr>
          <p:nvPr/>
        </p:nvCxnSpPr>
        <p:spPr>
          <a:xfrm>
            <a:off x="4876800" y="3581400"/>
            <a:ext cx="0" cy="32766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277274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Resilience4j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Common retry Resilience4j configuration.</a:t>
            </a:r>
          </a:p>
        </p:txBody>
      </p:sp>
      <p:graphicFrame>
        <p:nvGraphicFramePr>
          <p:cNvPr id="4" name="Table 2">
            <a:extLst>
              <a:ext uri="{FF2B5EF4-FFF2-40B4-BE49-F238E27FC236}">
                <a16:creationId xmlns:a16="http://schemas.microsoft.com/office/drawing/2014/main" id="{183293C6-93BD-4C96-90E0-0DCE85F6DE05}"/>
              </a:ext>
            </a:extLst>
          </p:cNvPr>
          <p:cNvGraphicFramePr>
            <a:graphicFrameLocks noGrp="1"/>
          </p:cNvGraphicFramePr>
          <p:nvPr>
            <p:extLst>
              <p:ext uri="{D42A27DB-BD31-4B8C-83A1-F6EECF244321}">
                <p14:modId xmlns:p14="http://schemas.microsoft.com/office/powerpoint/2010/main" val="471219865"/>
              </p:ext>
            </p:extLst>
          </p:nvPr>
        </p:nvGraphicFramePr>
        <p:xfrm>
          <a:off x="152400" y="2514600"/>
          <a:ext cx="8839200" cy="396748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589151108"/>
                    </a:ext>
                  </a:extLst>
                </a:gridCol>
                <a:gridCol w="914400">
                  <a:extLst>
                    <a:ext uri="{9D8B030D-6E8A-4147-A177-3AD203B41FA5}">
                      <a16:colId xmlns:a16="http://schemas.microsoft.com/office/drawing/2014/main" val="4035097610"/>
                    </a:ext>
                  </a:extLst>
                </a:gridCol>
                <a:gridCol w="4343400">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200" dirty="0"/>
                        <a:t>resilience4j.retry.instances.&lt;name&gt;.max-attempts</a:t>
                      </a:r>
                    </a:p>
                  </a:txBody>
                  <a:tcPr/>
                </a:tc>
                <a:tc>
                  <a:txBody>
                    <a:bodyPr/>
                    <a:lstStyle/>
                    <a:p>
                      <a:r>
                        <a:rPr lang="en-US" sz="1200" dirty="0"/>
                        <a:t>3</a:t>
                      </a:r>
                    </a:p>
                  </a:txBody>
                  <a:tcPr/>
                </a:tc>
                <a:tc>
                  <a:txBody>
                    <a:bodyPr/>
                    <a:lstStyle/>
                    <a:p>
                      <a:r>
                        <a:rPr lang="en-US" sz="1200" dirty="0"/>
                        <a:t>Maximum number of retry attempts including the initial call</a:t>
                      </a:r>
                    </a:p>
                  </a:txBody>
                  <a:tcPr/>
                </a:tc>
                <a:extLst>
                  <a:ext uri="{0D108BD9-81ED-4DB2-BD59-A6C34878D82A}">
                    <a16:rowId xmlns:a16="http://schemas.microsoft.com/office/drawing/2014/main" val="2324881647"/>
                  </a:ext>
                </a:extLst>
              </a:tr>
              <a:tr h="370840">
                <a:tc>
                  <a:txBody>
                    <a:bodyPr/>
                    <a:lstStyle/>
                    <a:p>
                      <a:r>
                        <a:rPr lang="fr-FR" sz="1200" dirty="0"/>
                        <a:t>resilience4j.retry.instances.&lt;</a:t>
                      </a:r>
                      <a:r>
                        <a:rPr lang="fr-FR" sz="1200" dirty="0" err="1"/>
                        <a:t>name</a:t>
                      </a:r>
                      <a:r>
                        <a:rPr lang="fr-FR" sz="1200" dirty="0"/>
                        <a:t>&gt;.</a:t>
                      </a:r>
                      <a:r>
                        <a:rPr lang="fr-FR" sz="1200" dirty="0" err="1"/>
                        <a:t>wait</a:t>
                      </a:r>
                      <a:r>
                        <a:rPr lang="fr-FR" sz="1200" dirty="0"/>
                        <a:t>-duration</a:t>
                      </a:r>
                      <a:endParaRPr lang="en-US" sz="1200" dirty="0"/>
                    </a:p>
                  </a:txBody>
                  <a:tcPr/>
                </a:tc>
                <a:tc>
                  <a:txBody>
                    <a:bodyPr/>
                    <a:lstStyle/>
                    <a:p>
                      <a:r>
                        <a:rPr lang="en-US" sz="1200" dirty="0"/>
                        <a:t>500ms</a:t>
                      </a:r>
                    </a:p>
                  </a:txBody>
                  <a:tcPr/>
                </a:tc>
                <a:tc>
                  <a:txBody>
                    <a:bodyPr/>
                    <a:lstStyle/>
                    <a:p>
                      <a:r>
                        <a:rPr lang="en-US" sz="1200" dirty="0"/>
                        <a:t>Fixed duration to wait between retry attempts</a:t>
                      </a:r>
                    </a:p>
                  </a:txBody>
                  <a:tcPr/>
                </a:tc>
                <a:extLst>
                  <a:ext uri="{0D108BD9-81ED-4DB2-BD59-A6C34878D82A}">
                    <a16:rowId xmlns:a16="http://schemas.microsoft.com/office/drawing/2014/main" val="1568501300"/>
                  </a:ext>
                </a:extLst>
              </a:tr>
              <a:tr h="370840">
                <a:tc>
                  <a:txBody>
                    <a:bodyPr/>
                    <a:lstStyle/>
                    <a:p>
                      <a:r>
                        <a:rPr lang="en-US" sz="1200" dirty="0"/>
                        <a:t>resilience4j.retry.instances.&lt;name&gt;.enable-exponential-backoff</a:t>
                      </a:r>
                    </a:p>
                  </a:txBody>
                  <a:tcPr/>
                </a:tc>
                <a:tc>
                  <a:txBody>
                    <a:bodyPr/>
                    <a:lstStyle/>
                    <a:p>
                      <a:r>
                        <a:rPr lang="en-US" sz="1200" dirty="0"/>
                        <a:t>false</a:t>
                      </a:r>
                    </a:p>
                  </a:txBody>
                  <a:tcPr/>
                </a:tc>
                <a:tc>
                  <a:txBody>
                    <a:bodyPr/>
                    <a:lstStyle/>
                    <a:p>
                      <a:r>
                        <a:rPr lang="en-US" sz="1200" dirty="0"/>
                        <a:t>Enables exponential backoff for time waits between retries</a:t>
                      </a:r>
                    </a:p>
                  </a:txBody>
                  <a:tcPr/>
                </a:tc>
                <a:extLst>
                  <a:ext uri="{0D108BD9-81ED-4DB2-BD59-A6C34878D82A}">
                    <a16:rowId xmlns:a16="http://schemas.microsoft.com/office/drawing/2014/main" val="3041417831"/>
                  </a:ext>
                </a:extLst>
              </a:tr>
              <a:tr h="370840">
                <a:tc>
                  <a:txBody>
                    <a:bodyPr/>
                    <a:lstStyle/>
                    <a:p>
                      <a:r>
                        <a:rPr lang="en-US" sz="1200" dirty="0"/>
                        <a:t>resilience4j.retry.instances.&lt;name&gt;.exponential-backoff-multiplier</a:t>
                      </a:r>
                    </a:p>
                  </a:txBody>
                  <a:tcPr/>
                </a:tc>
                <a:tc>
                  <a:txBody>
                    <a:bodyPr/>
                    <a:lstStyle/>
                    <a:p>
                      <a:r>
                        <a:rPr lang="en-US" sz="1200" dirty="0"/>
                        <a:t>2</a:t>
                      </a:r>
                    </a:p>
                  </a:txBody>
                  <a:tcPr/>
                </a:tc>
                <a:tc>
                  <a:txBody>
                    <a:bodyPr/>
                    <a:lstStyle/>
                    <a:p>
                      <a:r>
                        <a:rPr lang="en-US" sz="1200" dirty="0"/>
                        <a:t>Multiplier used in exponential backoff calculation</a:t>
                      </a:r>
                    </a:p>
                  </a:txBody>
                  <a:tcPr/>
                </a:tc>
                <a:extLst>
                  <a:ext uri="{0D108BD9-81ED-4DB2-BD59-A6C34878D82A}">
                    <a16:rowId xmlns:a16="http://schemas.microsoft.com/office/drawing/2014/main" val="934360143"/>
                  </a:ext>
                </a:extLst>
              </a:tr>
              <a:tr h="370840">
                <a:tc>
                  <a:txBody>
                    <a:bodyPr/>
                    <a:lstStyle/>
                    <a:p>
                      <a:r>
                        <a:rPr lang="en-US" sz="1200" dirty="0"/>
                        <a:t>resilience4j.retry.instances.&lt;name&gt;.retry-on-result</a:t>
                      </a:r>
                    </a:p>
                  </a:txBody>
                  <a:tcPr/>
                </a:tc>
                <a:tc>
                  <a:txBody>
                    <a:bodyPr/>
                    <a:lstStyle/>
                    <a:p>
                      <a:r>
                        <a:rPr lang="en-US" sz="1200" dirty="0"/>
                        <a:t>false</a:t>
                      </a:r>
                    </a:p>
                  </a:txBody>
                  <a:tcPr/>
                </a:tc>
                <a:tc>
                  <a:txBody>
                    <a:bodyPr/>
                    <a:lstStyle/>
                    <a:p>
                      <a:r>
                        <a:rPr lang="en-US" sz="1200" dirty="0"/>
                        <a:t>Boolean or </a:t>
                      </a:r>
                      <a:r>
                        <a:rPr lang="en-US" sz="1200" dirty="0" err="1"/>
                        <a:t>SpEL</a:t>
                      </a:r>
                      <a:r>
                        <a:rPr lang="en-US" sz="1200" dirty="0"/>
                        <a:t> expression to retry based on method result</a:t>
                      </a:r>
                    </a:p>
                  </a:txBody>
                  <a:tcPr/>
                </a:tc>
                <a:extLst>
                  <a:ext uri="{0D108BD9-81ED-4DB2-BD59-A6C34878D82A}">
                    <a16:rowId xmlns:a16="http://schemas.microsoft.com/office/drawing/2014/main" val="1906485577"/>
                  </a:ext>
                </a:extLst>
              </a:tr>
              <a:tr h="370840">
                <a:tc>
                  <a:txBody>
                    <a:bodyPr/>
                    <a:lstStyle/>
                    <a:p>
                      <a:r>
                        <a:rPr lang="en-US" sz="1200" dirty="0"/>
                        <a:t>resilience4j.retry.instances.&lt;name&gt;.ignore-result</a:t>
                      </a:r>
                    </a:p>
                  </a:txBody>
                  <a:tcPr/>
                </a:tc>
                <a:tc>
                  <a:txBody>
                    <a:bodyPr/>
                    <a:lstStyle/>
                    <a:p>
                      <a:r>
                        <a:rPr lang="en-US" sz="1200" dirty="0"/>
                        <a:t>false</a:t>
                      </a:r>
                    </a:p>
                  </a:txBody>
                  <a:tcPr/>
                </a:tc>
                <a:tc>
                  <a:txBody>
                    <a:bodyPr/>
                    <a:lstStyle/>
                    <a:p>
                      <a:r>
                        <a:rPr lang="en-US" sz="1200" dirty="0"/>
                        <a:t>Boolean or </a:t>
                      </a:r>
                      <a:r>
                        <a:rPr lang="en-US" sz="1200" dirty="0" err="1"/>
                        <a:t>SpEL</a:t>
                      </a:r>
                      <a:r>
                        <a:rPr lang="en-US" sz="1200" dirty="0"/>
                        <a:t> expression to ignore retry based on method result</a:t>
                      </a:r>
                    </a:p>
                  </a:txBody>
                  <a:tcPr/>
                </a:tc>
                <a:extLst>
                  <a:ext uri="{0D108BD9-81ED-4DB2-BD59-A6C34878D82A}">
                    <a16:rowId xmlns:a16="http://schemas.microsoft.com/office/drawing/2014/main" val="2452299204"/>
                  </a:ext>
                </a:extLst>
              </a:tr>
              <a:tr h="370840">
                <a:tc>
                  <a:txBody>
                    <a:bodyPr/>
                    <a:lstStyle/>
                    <a:p>
                      <a:r>
                        <a:rPr lang="en-US" sz="1200" dirty="0"/>
                        <a:t>resilience4j.retry.instances.&lt;name&gt;.automatic-wiring</a:t>
                      </a:r>
                    </a:p>
                  </a:txBody>
                  <a:tcPr/>
                </a:tc>
                <a:tc>
                  <a:txBody>
                    <a:bodyPr/>
                    <a:lstStyle/>
                    <a:p>
                      <a:r>
                        <a:rPr lang="en-US" sz="1200" dirty="0"/>
                        <a:t>true</a:t>
                      </a:r>
                    </a:p>
                  </a:txBody>
                  <a:tcPr/>
                </a:tc>
                <a:tc>
                  <a:txBody>
                    <a:bodyPr/>
                    <a:lstStyle/>
                    <a:p>
                      <a:r>
                        <a:rPr lang="en-US" sz="1200" dirty="0"/>
                        <a:t>Whether to automatically wire retry with annotated methods or beans</a:t>
                      </a:r>
                    </a:p>
                  </a:txBody>
                  <a:tcPr/>
                </a:tc>
                <a:extLst>
                  <a:ext uri="{0D108BD9-81ED-4DB2-BD59-A6C34878D82A}">
                    <a16:rowId xmlns:a16="http://schemas.microsoft.com/office/drawing/2014/main" val="879982103"/>
                  </a:ext>
                </a:extLst>
              </a:tr>
              <a:tr h="370840">
                <a:tc>
                  <a:txBody>
                    <a:bodyPr/>
                    <a:lstStyle/>
                    <a:p>
                      <a:r>
                        <a:rPr lang="en-US" sz="1200" dirty="0"/>
                        <a:t>resilience4j.retry.instances.&lt;name&gt;.retry-exceptions</a:t>
                      </a:r>
                    </a:p>
                  </a:txBody>
                  <a:tcPr/>
                </a:tc>
                <a:tc>
                  <a:txBody>
                    <a:bodyPr/>
                    <a:lstStyle/>
                    <a:p>
                      <a:endParaRPr lang="en-US" sz="1200" dirty="0"/>
                    </a:p>
                  </a:txBody>
                  <a:tcPr/>
                </a:tc>
                <a:tc>
                  <a:txBody>
                    <a:bodyPr/>
                    <a:lstStyle/>
                    <a:p>
                      <a:r>
                        <a:rPr lang="en-US" sz="1200" dirty="0"/>
                        <a:t>List of exception class names that should trigger a retry</a:t>
                      </a:r>
                    </a:p>
                  </a:txBody>
                  <a:tcPr/>
                </a:tc>
                <a:extLst>
                  <a:ext uri="{0D108BD9-81ED-4DB2-BD59-A6C34878D82A}">
                    <a16:rowId xmlns:a16="http://schemas.microsoft.com/office/drawing/2014/main" val="2015082057"/>
                  </a:ext>
                </a:extLst>
              </a:tr>
              <a:tr h="370840">
                <a:tc>
                  <a:txBody>
                    <a:bodyPr/>
                    <a:lstStyle/>
                    <a:p>
                      <a:r>
                        <a:rPr lang="en-US" sz="1200" dirty="0"/>
                        <a:t>resilience4j.retry.instances.&lt;name&gt;.ignore-exceptions</a:t>
                      </a:r>
                    </a:p>
                  </a:txBody>
                  <a:tcPr/>
                </a:tc>
                <a:tc>
                  <a:txBody>
                    <a:bodyPr/>
                    <a:lstStyle/>
                    <a:p>
                      <a:endParaRPr lang="en-US" sz="1200" dirty="0"/>
                    </a:p>
                  </a:txBody>
                  <a:tcPr/>
                </a:tc>
                <a:tc>
                  <a:txBody>
                    <a:bodyPr/>
                    <a:lstStyle/>
                    <a:p>
                      <a:r>
                        <a:rPr lang="en-US" sz="1200" dirty="0"/>
                        <a:t>List of exception class names that should NOT trigger a retry</a:t>
                      </a:r>
                    </a:p>
                  </a:txBody>
                  <a:tcPr/>
                </a:tc>
                <a:extLst>
                  <a:ext uri="{0D108BD9-81ED-4DB2-BD59-A6C34878D82A}">
                    <a16:rowId xmlns:a16="http://schemas.microsoft.com/office/drawing/2014/main" val="1752968084"/>
                  </a:ext>
                </a:extLst>
              </a:tr>
            </a:tbl>
          </a:graphicData>
        </a:graphic>
      </p:graphicFrame>
    </p:spTree>
    <p:extLst>
      <p:ext uri="{BB962C8B-B14F-4D97-AF65-F5344CB8AC3E}">
        <p14:creationId xmlns:p14="http://schemas.microsoft.com/office/powerpoint/2010/main" val="18292644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Resilience4j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Common Resilience4j configuration.</a:t>
            </a:r>
          </a:p>
        </p:txBody>
      </p:sp>
      <p:graphicFrame>
        <p:nvGraphicFramePr>
          <p:cNvPr id="4" name="Table 2">
            <a:extLst>
              <a:ext uri="{FF2B5EF4-FFF2-40B4-BE49-F238E27FC236}">
                <a16:creationId xmlns:a16="http://schemas.microsoft.com/office/drawing/2014/main" id="{183293C6-93BD-4C96-90E0-0DCE85F6DE05}"/>
              </a:ext>
            </a:extLst>
          </p:cNvPr>
          <p:cNvGraphicFramePr>
            <a:graphicFrameLocks noGrp="1"/>
          </p:cNvGraphicFramePr>
          <p:nvPr>
            <p:extLst>
              <p:ext uri="{D42A27DB-BD31-4B8C-83A1-F6EECF244321}">
                <p14:modId xmlns:p14="http://schemas.microsoft.com/office/powerpoint/2010/main" val="3425836062"/>
              </p:ext>
            </p:extLst>
          </p:nvPr>
        </p:nvGraphicFramePr>
        <p:xfrm>
          <a:off x="152400" y="2514600"/>
          <a:ext cx="8839200" cy="394208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589151108"/>
                    </a:ext>
                  </a:extLst>
                </a:gridCol>
                <a:gridCol w="1066800">
                  <a:extLst>
                    <a:ext uri="{9D8B030D-6E8A-4147-A177-3AD203B41FA5}">
                      <a16:colId xmlns:a16="http://schemas.microsoft.com/office/drawing/2014/main" val="4035097610"/>
                    </a:ext>
                  </a:extLst>
                </a:gridCol>
                <a:gridCol w="4191000">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200" dirty="0"/>
                        <a:t>resilience4j.circuitbreaker.configs.default.slidingWindowSize</a:t>
                      </a:r>
                    </a:p>
                  </a:txBody>
                  <a:tcPr/>
                </a:tc>
                <a:tc>
                  <a:txBody>
                    <a:bodyPr/>
                    <a:lstStyle/>
                    <a:p>
                      <a:r>
                        <a:rPr lang="en-US" sz="1200" dirty="0"/>
                        <a:t>100</a:t>
                      </a:r>
                    </a:p>
                  </a:txBody>
                  <a:tcPr/>
                </a:tc>
                <a:tc>
                  <a:txBody>
                    <a:bodyPr/>
                    <a:lstStyle/>
                    <a:p>
                      <a:r>
                        <a:rPr lang="en-US" sz="1200" dirty="0"/>
                        <a:t>The size of the sliding window used to record call outcomes</a:t>
                      </a:r>
                    </a:p>
                  </a:txBody>
                  <a:tcPr/>
                </a:tc>
                <a:extLst>
                  <a:ext uri="{0D108BD9-81ED-4DB2-BD59-A6C34878D82A}">
                    <a16:rowId xmlns:a16="http://schemas.microsoft.com/office/drawing/2014/main" val="2324881647"/>
                  </a:ext>
                </a:extLst>
              </a:tr>
              <a:tr h="370840">
                <a:tc>
                  <a:txBody>
                    <a:bodyPr/>
                    <a:lstStyle/>
                    <a:p>
                      <a:r>
                        <a:rPr lang="en-US" sz="1200" dirty="0"/>
                        <a:t>resilience4j.circuitbreaker.configs.default.failureRateThreshold</a:t>
                      </a:r>
                    </a:p>
                  </a:txBody>
                  <a:tcPr/>
                </a:tc>
                <a:tc>
                  <a:txBody>
                    <a:bodyPr/>
                    <a:lstStyle/>
                    <a:p>
                      <a:r>
                        <a:rPr lang="en-US" sz="1200" dirty="0"/>
                        <a:t>50 (percent)</a:t>
                      </a:r>
                    </a:p>
                  </a:txBody>
                  <a:tcPr/>
                </a:tc>
                <a:tc>
                  <a:txBody>
                    <a:bodyPr/>
                    <a:lstStyle/>
                    <a:p>
                      <a:r>
                        <a:rPr lang="en-US" sz="1200" dirty="0"/>
                        <a:t>Failure rate threshold in percentage to open the circuit breaker</a:t>
                      </a:r>
                    </a:p>
                  </a:txBody>
                  <a:tcPr/>
                </a:tc>
                <a:extLst>
                  <a:ext uri="{0D108BD9-81ED-4DB2-BD59-A6C34878D82A}">
                    <a16:rowId xmlns:a16="http://schemas.microsoft.com/office/drawing/2014/main" val="1568501300"/>
                  </a:ext>
                </a:extLst>
              </a:tr>
              <a:tr h="370840">
                <a:tc>
                  <a:txBody>
                    <a:bodyPr/>
                    <a:lstStyle/>
                    <a:p>
                      <a:r>
                        <a:rPr lang="en-US" sz="1200" dirty="0"/>
                        <a:t>resilience4j.circuitbreaker.configs.default.waitDurationInOpenState</a:t>
                      </a:r>
                    </a:p>
                  </a:txBody>
                  <a:tcPr/>
                </a:tc>
                <a:tc>
                  <a:txBody>
                    <a:bodyPr/>
                    <a:lstStyle/>
                    <a:p>
                      <a:r>
                        <a:rPr lang="en-US" sz="1200" dirty="0"/>
                        <a:t>60s</a:t>
                      </a:r>
                    </a:p>
                  </a:txBody>
                  <a:tcPr/>
                </a:tc>
                <a:tc>
                  <a:txBody>
                    <a:bodyPr/>
                    <a:lstStyle/>
                    <a:p>
                      <a:r>
                        <a:rPr lang="en-US" sz="1200" dirty="0"/>
                        <a:t>Duration the circuit breaker stays open before transitioning to half-open</a:t>
                      </a:r>
                    </a:p>
                  </a:txBody>
                  <a:tcPr/>
                </a:tc>
                <a:extLst>
                  <a:ext uri="{0D108BD9-81ED-4DB2-BD59-A6C34878D82A}">
                    <a16:rowId xmlns:a16="http://schemas.microsoft.com/office/drawing/2014/main" val="3041417831"/>
                  </a:ext>
                </a:extLst>
              </a:tr>
              <a:tr h="370840">
                <a:tc>
                  <a:txBody>
                    <a:bodyPr/>
                    <a:lstStyle/>
                    <a:p>
                      <a:r>
                        <a:rPr lang="en-US" sz="1200" dirty="0"/>
                        <a:t>resilience4j.circuitbreaker.configs.default.permittedNumberOfCallsInHalfOpenState</a:t>
                      </a:r>
                    </a:p>
                  </a:txBody>
                  <a:tcPr/>
                </a:tc>
                <a:tc>
                  <a:txBody>
                    <a:bodyPr/>
                    <a:lstStyle/>
                    <a:p>
                      <a:r>
                        <a:rPr lang="en-US" sz="1200" dirty="0"/>
                        <a:t>10</a:t>
                      </a:r>
                    </a:p>
                  </a:txBody>
                  <a:tcPr/>
                </a:tc>
                <a:tc>
                  <a:txBody>
                    <a:bodyPr/>
                    <a:lstStyle/>
                    <a:p>
                      <a:r>
                        <a:rPr lang="en-US" sz="1200" dirty="0"/>
                        <a:t>Number of calls allowed when circuit breaker is half-open</a:t>
                      </a:r>
                    </a:p>
                  </a:txBody>
                  <a:tcPr/>
                </a:tc>
                <a:extLst>
                  <a:ext uri="{0D108BD9-81ED-4DB2-BD59-A6C34878D82A}">
                    <a16:rowId xmlns:a16="http://schemas.microsoft.com/office/drawing/2014/main" val="934360143"/>
                  </a:ext>
                </a:extLst>
              </a:tr>
              <a:tr h="370840">
                <a:tc>
                  <a:txBody>
                    <a:bodyPr/>
                    <a:lstStyle/>
                    <a:p>
                      <a:r>
                        <a:rPr lang="en-US" sz="1200" dirty="0"/>
                        <a:t>resilience4j.circuitbreaker.configs.default.minimumNumberOfCalls</a:t>
                      </a:r>
                    </a:p>
                  </a:txBody>
                  <a:tcPr/>
                </a:tc>
                <a:tc>
                  <a:txBody>
                    <a:bodyPr/>
                    <a:lstStyle/>
                    <a:p>
                      <a:r>
                        <a:rPr lang="en-US" sz="1200" dirty="0"/>
                        <a:t>100</a:t>
                      </a:r>
                    </a:p>
                  </a:txBody>
                  <a:tcPr/>
                </a:tc>
                <a:tc>
                  <a:txBody>
                    <a:bodyPr/>
                    <a:lstStyle/>
                    <a:p>
                      <a:r>
                        <a:rPr lang="en-US" sz="1200" dirty="0"/>
                        <a:t>Minimum number of calls required before circuit breaker calculates failure rate</a:t>
                      </a:r>
                    </a:p>
                  </a:txBody>
                  <a:tcPr/>
                </a:tc>
                <a:extLst>
                  <a:ext uri="{0D108BD9-81ED-4DB2-BD59-A6C34878D82A}">
                    <a16:rowId xmlns:a16="http://schemas.microsoft.com/office/drawing/2014/main" val="1906485577"/>
                  </a:ext>
                </a:extLst>
              </a:tr>
              <a:tr h="370840">
                <a:tc>
                  <a:txBody>
                    <a:bodyPr/>
                    <a:lstStyle/>
                    <a:p>
                      <a:r>
                        <a:rPr lang="en-US" sz="1200" dirty="0"/>
                        <a:t>resilience4j.timelimiter.configs.default.timeoutDuration</a:t>
                      </a:r>
                    </a:p>
                  </a:txBody>
                  <a:tcPr/>
                </a:tc>
                <a:tc>
                  <a:txBody>
                    <a:bodyPr/>
                    <a:lstStyle/>
                    <a:p>
                      <a:r>
                        <a:rPr lang="en-US" sz="1200" dirty="0"/>
                        <a:t>1s</a:t>
                      </a:r>
                    </a:p>
                  </a:txBody>
                  <a:tcPr/>
                </a:tc>
                <a:tc>
                  <a:txBody>
                    <a:bodyPr/>
                    <a:lstStyle/>
                    <a:p>
                      <a:r>
                        <a:rPr lang="en-US" sz="1200" dirty="0"/>
                        <a:t>Maximum time allowed for execution before timeout exception is thrown by time limiter</a:t>
                      </a:r>
                    </a:p>
                  </a:txBody>
                  <a:tcPr/>
                </a:tc>
                <a:extLst>
                  <a:ext uri="{0D108BD9-81ED-4DB2-BD59-A6C34878D82A}">
                    <a16:rowId xmlns:a16="http://schemas.microsoft.com/office/drawing/2014/main" val="2452299204"/>
                  </a:ext>
                </a:extLst>
              </a:tr>
              <a:tr h="370840">
                <a:tc>
                  <a:txBody>
                    <a:bodyPr/>
                    <a:lstStyle/>
                    <a:p>
                      <a:r>
                        <a:rPr lang="en-US" sz="1200" dirty="0"/>
                        <a:t>resilience4j.timelimiter.configs.default.cancelRunningFuture</a:t>
                      </a:r>
                    </a:p>
                  </a:txBody>
                  <a:tcPr/>
                </a:tc>
                <a:tc>
                  <a:txBody>
                    <a:bodyPr/>
                    <a:lstStyle/>
                    <a:p>
                      <a:r>
                        <a:rPr lang="en-US" sz="1200" dirty="0"/>
                        <a:t>true</a:t>
                      </a:r>
                    </a:p>
                  </a:txBody>
                  <a:tcPr/>
                </a:tc>
                <a:tc>
                  <a:txBody>
                    <a:bodyPr/>
                    <a:lstStyle/>
                    <a:p>
                      <a:r>
                        <a:rPr lang="en-US" sz="1200" dirty="0"/>
                        <a:t>Whether to cancel running tasks when timeout occurs</a:t>
                      </a:r>
                    </a:p>
                  </a:txBody>
                  <a:tcPr/>
                </a:tc>
                <a:extLst>
                  <a:ext uri="{0D108BD9-81ED-4DB2-BD59-A6C34878D82A}">
                    <a16:rowId xmlns:a16="http://schemas.microsoft.com/office/drawing/2014/main" val="879982103"/>
                  </a:ext>
                </a:extLst>
              </a:tr>
              <a:tr h="370840">
                <a:tc>
                  <a:txBody>
                    <a:bodyPr/>
                    <a:lstStyle/>
                    <a:p>
                      <a:r>
                        <a:rPr lang="en-US" sz="1200" dirty="0"/>
                        <a:t>resilience4j.circuitbreaker.enabled</a:t>
                      </a:r>
                    </a:p>
                  </a:txBody>
                  <a:tcPr/>
                </a:tc>
                <a:tc>
                  <a:txBody>
                    <a:bodyPr/>
                    <a:lstStyle/>
                    <a:p>
                      <a:r>
                        <a:rPr lang="en-US" sz="1200" dirty="0"/>
                        <a:t>true</a:t>
                      </a:r>
                    </a:p>
                  </a:txBody>
                  <a:tcPr/>
                </a:tc>
                <a:tc>
                  <a:txBody>
                    <a:bodyPr/>
                    <a:lstStyle/>
                    <a:p>
                      <a:r>
                        <a:rPr lang="en-US" sz="1200" dirty="0"/>
                        <a:t>Enable or disable circuit breaker globally</a:t>
                      </a:r>
                    </a:p>
                  </a:txBody>
                  <a:tcPr/>
                </a:tc>
                <a:extLst>
                  <a:ext uri="{0D108BD9-81ED-4DB2-BD59-A6C34878D82A}">
                    <a16:rowId xmlns:a16="http://schemas.microsoft.com/office/drawing/2014/main" val="414678957"/>
                  </a:ext>
                </a:extLst>
              </a:tr>
            </a:tbl>
          </a:graphicData>
        </a:graphic>
      </p:graphicFrame>
    </p:spTree>
    <p:extLst>
      <p:ext uri="{BB962C8B-B14F-4D97-AF65-F5344CB8AC3E}">
        <p14:creationId xmlns:p14="http://schemas.microsoft.com/office/powerpoint/2010/main" val="32606598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Sleuth</a:t>
            </a:r>
            <a:r>
              <a:rPr lang="fr-CA" dirty="0">
                <a:solidFill>
                  <a:schemeClr val="bg1"/>
                </a:solidFill>
              </a:rPr>
              <a:t> and </a:t>
            </a:r>
            <a:r>
              <a:rPr lang="fr-CA" dirty="0" err="1">
                <a:solidFill>
                  <a:schemeClr val="bg1"/>
                </a:solidFill>
              </a:rPr>
              <a:t>Zipkin</a:t>
            </a:r>
            <a:endParaRPr lang="fr-CA" dirty="0">
              <a:solidFill>
                <a:schemeClr val="bg1"/>
              </a:solidFill>
            </a:endParaRPr>
          </a:p>
        </p:txBody>
      </p:sp>
      <p:sp>
        <p:nvSpPr>
          <p:cNvPr id="4099" name="Espace réservé du contenu 4"/>
          <p:cNvSpPr>
            <a:spLocks noGrp="1"/>
          </p:cNvSpPr>
          <p:nvPr>
            <p:ph idx="1"/>
          </p:nvPr>
        </p:nvSpPr>
        <p:spPr>
          <a:xfrm>
            <a:off x="228600" y="2133600"/>
            <a:ext cx="8686800" cy="1600200"/>
          </a:xfrm>
        </p:spPr>
        <p:txBody>
          <a:bodyPr/>
          <a:lstStyle/>
          <a:p>
            <a:r>
              <a:rPr lang="en-US" sz="1400" dirty="0">
                <a:solidFill>
                  <a:srgbClr val="3C5790"/>
                </a:solidFill>
              </a:rPr>
              <a:t>Spring Cloud </a:t>
            </a:r>
            <a:r>
              <a:rPr lang="en-US" sz="1400" b="1" dirty="0">
                <a:solidFill>
                  <a:srgbClr val="3C5790"/>
                </a:solidFill>
              </a:rPr>
              <a:t>Sleuth</a:t>
            </a:r>
            <a:r>
              <a:rPr lang="en-US" sz="1400" dirty="0">
                <a:solidFill>
                  <a:srgbClr val="3C5790"/>
                </a:solidFill>
              </a:rPr>
              <a:t> is a distributed tracing solution for Spring applications.</a:t>
            </a:r>
          </a:p>
          <a:p>
            <a:r>
              <a:rPr lang="en-US" sz="1400" dirty="0">
                <a:solidFill>
                  <a:srgbClr val="3C5790"/>
                </a:solidFill>
              </a:rPr>
              <a:t>It automatically adds unique trace and span IDs to logs and propagates these trace contexts across microservices, enabling correlation of logs and requests for easier troubleshooting and monitoring.</a:t>
            </a:r>
          </a:p>
          <a:p>
            <a:r>
              <a:rPr lang="en-US" sz="1400" dirty="0">
                <a:solidFill>
                  <a:srgbClr val="3C5790"/>
                </a:solidFill>
              </a:rPr>
              <a:t>Sleuth integrates with logging frameworks and popular Spring components like REST controllers, Feign clients, messaging, and more.</a:t>
            </a:r>
          </a:p>
          <a:p>
            <a:r>
              <a:rPr lang="en-US" sz="1400" dirty="0">
                <a:solidFill>
                  <a:srgbClr val="3C5790"/>
                </a:solidFill>
              </a:rPr>
              <a:t>From Spring Cloud 2025, Sleuth has been replaced with Micrometer tracing.</a:t>
            </a:r>
          </a:p>
        </p:txBody>
      </p:sp>
    </p:spTree>
    <p:extLst>
      <p:ext uri="{BB962C8B-B14F-4D97-AF65-F5344CB8AC3E}">
        <p14:creationId xmlns:p14="http://schemas.microsoft.com/office/powerpoint/2010/main" val="38838488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Sleuth</a:t>
            </a:r>
            <a:r>
              <a:rPr lang="fr-CA" dirty="0">
                <a:solidFill>
                  <a:schemeClr val="bg1"/>
                </a:solidFill>
              </a:rPr>
              <a:t> and </a:t>
            </a:r>
            <a:r>
              <a:rPr lang="fr-CA" dirty="0" err="1">
                <a:solidFill>
                  <a:schemeClr val="bg1"/>
                </a:solidFill>
              </a:rPr>
              <a:t>Zipkin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209800"/>
          </a:xfrm>
        </p:spPr>
        <p:txBody>
          <a:bodyPr/>
          <a:lstStyle/>
          <a:p>
            <a:r>
              <a:rPr lang="en-US" sz="1400" b="1" dirty="0" err="1">
                <a:solidFill>
                  <a:srgbClr val="3C5790"/>
                </a:solidFill>
              </a:rPr>
              <a:t>Zipkin</a:t>
            </a:r>
            <a:r>
              <a:rPr lang="en-US" sz="1400" dirty="0">
                <a:solidFill>
                  <a:srgbClr val="3C5790"/>
                </a:solidFill>
              </a:rPr>
              <a:t> is an open-source distributed tracing system originally developed by Twitter. </a:t>
            </a:r>
          </a:p>
          <a:p>
            <a:r>
              <a:rPr lang="en-US" sz="1400" dirty="0">
                <a:solidFill>
                  <a:srgbClr val="3C5790"/>
                </a:solidFill>
              </a:rPr>
              <a:t>It collects, stores, and visualizes traces and spans sent by Sleuth or other tracing libraries, providing a comprehensive view of the request flow across services.</a:t>
            </a:r>
          </a:p>
          <a:p>
            <a:r>
              <a:rPr lang="en-US" sz="1400" dirty="0" err="1">
                <a:solidFill>
                  <a:srgbClr val="3C5790"/>
                </a:solidFill>
              </a:rPr>
              <a:t>Zipkin</a:t>
            </a:r>
            <a:r>
              <a:rPr lang="en-US" sz="1400" dirty="0">
                <a:solidFill>
                  <a:srgbClr val="3C5790"/>
                </a:solidFill>
              </a:rPr>
              <a:t> components:</a:t>
            </a:r>
          </a:p>
          <a:p>
            <a:pPr lvl="1"/>
            <a:r>
              <a:rPr lang="en-US" sz="1400" b="1" dirty="0">
                <a:solidFill>
                  <a:srgbClr val="3C5790"/>
                </a:solidFill>
              </a:rPr>
              <a:t>Collector</a:t>
            </a:r>
            <a:r>
              <a:rPr lang="en-US" sz="1400" dirty="0">
                <a:solidFill>
                  <a:srgbClr val="3C5790"/>
                </a:solidFill>
              </a:rPr>
              <a:t>: Receives tracing data from clients.</a:t>
            </a:r>
          </a:p>
          <a:p>
            <a:pPr lvl="1"/>
            <a:r>
              <a:rPr lang="en-US" sz="1400" b="1" dirty="0">
                <a:solidFill>
                  <a:srgbClr val="3C5790"/>
                </a:solidFill>
              </a:rPr>
              <a:t>Storage</a:t>
            </a:r>
            <a:r>
              <a:rPr lang="en-US" sz="1400" dirty="0">
                <a:solidFill>
                  <a:srgbClr val="3C5790"/>
                </a:solidFill>
              </a:rPr>
              <a:t>: Saves trace data (supports databases like Cassandra, Elasticsearch, MySQL).</a:t>
            </a:r>
          </a:p>
          <a:p>
            <a:pPr lvl="1"/>
            <a:r>
              <a:rPr lang="en-US" sz="1400" b="1" dirty="0">
                <a:solidFill>
                  <a:srgbClr val="3C5790"/>
                </a:solidFill>
              </a:rPr>
              <a:t>Query/Search</a:t>
            </a:r>
            <a:r>
              <a:rPr lang="en-US" sz="1400" dirty="0">
                <a:solidFill>
                  <a:srgbClr val="3C5790"/>
                </a:solidFill>
              </a:rPr>
              <a:t>: Enables searching and querying stored trace data.</a:t>
            </a:r>
          </a:p>
          <a:p>
            <a:pPr lvl="1"/>
            <a:r>
              <a:rPr lang="en-US" sz="1400" b="1" dirty="0">
                <a:solidFill>
                  <a:srgbClr val="3C5790"/>
                </a:solidFill>
              </a:rPr>
              <a:t>Web UI</a:t>
            </a:r>
            <a:r>
              <a:rPr lang="en-US" sz="1400" dirty="0">
                <a:solidFill>
                  <a:srgbClr val="3C5790"/>
                </a:solidFill>
              </a:rPr>
              <a:t>: Visualizes traces, showing dependencies and latency bottlenecks.</a:t>
            </a:r>
          </a:p>
        </p:txBody>
      </p:sp>
    </p:spTree>
    <p:extLst>
      <p:ext uri="{BB962C8B-B14F-4D97-AF65-F5344CB8AC3E}">
        <p14:creationId xmlns:p14="http://schemas.microsoft.com/office/powerpoint/2010/main" val="26533741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Sleuth</a:t>
            </a:r>
            <a:r>
              <a:rPr lang="fr-CA" dirty="0">
                <a:solidFill>
                  <a:schemeClr val="bg1"/>
                </a:solidFill>
              </a:rPr>
              <a:t> and </a:t>
            </a:r>
            <a:r>
              <a:rPr lang="fr-CA" dirty="0" err="1">
                <a:solidFill>
                  <a:schemeClr val="bg1"/>
                </a:solidFill>
              </a:rPr>
              <a:t>Zipkin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648200"/>
          </a:xfrm>
        </p:spPr>
        <p:txBody>
          <a:bodyPr/>
          <a:lstStyle/>
          <a:p>
            <a:r>
              <a:rPr lang="en-US" sz="1400" dirty="0">
                <a:solidFill>
                  <a:srgbClr val="3C5790"/>
                </a:solidFill>
              </a:rPr>
              <a:t>Key Terminologies:</a:t>
            </a:r>
          </a:p>
          <a:p>
            <a:pPr lvl="1"/>
            <a:r>
              <a:rPr lang="en-US" sz="1400" b="1" dirty="0">
                <a:solidFill>
                  <a:srgbClr val="3C5790"/>
                </a:solidFill>
              </a:rPr>
              <a:t>Trace</a:t>
            </a:r>
            <a:r>
              <a:rPr lang="en-US" sz="1400" dirty="0">
                <a:solidFill>
                  <a:srgbClr val="3C5790"/>
                </a:solidFill>
              </a:rPr>
              <a:t>: </a:t>
            </a:r>
          </a:p>
          <a:p>
            <a:pPr lvl="2"/>
            <a:r>
              <a:rPr lang="en-US" sz="1200" dirty="0">
                <a:solidFill>
                  <a:srgbClr val="3C5790"/>
                </a:solidFill>
              </a:rPr>
              <a:t>It can be used to represent the whole journey as it propagates through a distributed system and contains multiple spans.</a:t>
            </a:r>
          </a:p>
          <a:p>
            <a:pPr lvl="2"/>
            <a:r>
              <a:rPr lang="en-US" sz="1200" dirty="0">
                <a:solidFill>
                  <a:srgbClr val="3C5790"/>
                </a:solidFill>
              </a:rPr>
              <a:t>It aggregates all the work done across services involved in handling that request.</a:t>
            </a:r>
          </a:p>
          <a:p>
            <a:pPr lvl="1"/>
            <a:r>
              <a:rPr lang="en-US" sz="1400" b="1" dirty="0">
                <a:solidFill>
                  <a:srgbClr val="3C5790"/>
                </a:solidFill>
              </a:rPr>
              <a:t>Trace ID</a:t>
            </a:r>
            <a:r>
              <a:rPr lang="en-US" sz="1400" dirty="0">
                <a:solidFill>
                  <a:srgbClr val="3C5790"/>
                </a:solidFill>
              </a:rPr>
              <a:t>: </a:t>
            </a:r>
          </a:p>
          <a:p>
            <a:pPr lvl="2"/>
            <a:r>
              <a:rPr lang="en-US" sz="1200" dirty="0">
                <a:solidFill>
                  <a:srgbClr val="3C5790"/>
                </a:solidFill>
              </a:rPr>
              <a:t>Every trace contains one unique ID that can be named Trace ID</a:t>
            </a:r>
          </a:p>
          <a:p>
            <a:pPr lvl="2"/>
            <a:r>
              <a:rPr lang="en-US" sz="1200" dirty="0">
                <a:solidFill>
                  <a:srgbClr val="3C5790"/>
                </a:solidFill>
              </a:rPr>
              <a:t>It can be used to identify the traces uniquely in the </a:t>
            </a:r>
            <a:r>
              <a:rPr lang="en-US" sz="1200" dirty="0" err="1">
                <a:solidFill>
                  <a:srgbClr val="3C5790"/>
                </a:solidFill>
              </a:rPr>
              <a:t>Zipkin</a:t>
            </a:r>
            <a:r>
              <a:rPr lang="en-US" sz="1200" dirty="0">
                <a:solidFill>
                  <a:srgbClr val="3C5790"/>
                </a:solidFill>
              </a:rPr>
              <a:t> tracing service.</a:t>
            </a:r>
          </a:p>
          <a:p>
            <a:pPr lvl="1"/>
            <a:r>
              <a:rPr lang="en-US" sz="1400" b="1" dirty="0">
                <a:solidFill>
                  <a:srgbClr val="3C5790"/>
                </a:solidFill>
              </a:rPr>
              <a:t>Span</a:t>
            </a:r>
            <a:r>
              <a:rPr lang="en-US" sz="1400" dirty="0">
                <a:solidFill>
                  <a:srgbClr val="3C5790"/>
                </a:solidFill>
              </a:rPr>
              <a:t>: </a:t>
            </a:r>
          </a:p>
          <a:p>
            <a:pPr lvl="2"/>
            <a:r>
              <a:rPr lang="en-US" sz="1200" dirty="0">
                <a:solidFill>
                  <a:srgbClr val="3C5790"/>
                </a:solidFill>
              </a:rPr>
              <a:t>It can represent a single unit of work within a trace, and it contains information that includes the operation of the request, timing information, metadata, and also the initial request and downstream calls.</a:t>
            </a:r>
          </a:p>
          <a:p>
            <a:pPr lvl="2"/>
            <a:r>
              <a:rPr lang="en-US" sz="1200" dirty="0">
                <a:solidFill>
                  <a:srgbClr val="3C5790"/>
                </a:solidFill>
              </a:rPr>
              <a:t>Spans can have parent-child relationships, forming a hierarchy which models the causal flow of a trace.</a:t>
            </a:r>
          </a:p>
          <a:p>
            <a:pPr lvl="1"/>
            <a:r>
              <a:rPr lang="en-US" sz="1400" b="1" dirty="0">
                <a:solidFill>
                  <a:srgbClr val="3C5790"/>
                </a:solidFill>
              </a:rPr>
              <a:t>Span ID</a:t>
            </a:r>
            <a:r>
              <a:rPr lang="en-US" sz="1400" dirty="0">
                <a:solidFill>
                  <a:srgbClr val="3C5790"/>
                </a:solidFill>
              </a:rPr>
              <a:t>: </a:t>
            </a:r>
          </a:p>
          <a:p>
            <a:pPr lvl="2"/>
            <a:r>
              <a:rPr lang="en-US" sz="1200" dirty="0">
                <a:solidFill>
                  <a:srgbClr val="3C5790"/>
                </a:solidFill>
              </a:rPr>
              <a:t>It can be used to uniquely identify the spans within a trace service, and all spans within the same trace share the same trace ID.</a:t>
            </a:r>
          </a:p>
        </p:txBody>
      </p:sp>
    </p:spTree>
    <p:extLst>
      <p:ext uri="{BB962C8B-B14F-4D97-AF65-F5344CB8AC3E}">
        <p14:creationId xmlns:p14="http://schemas.microsoft.com/office/powerpoint/2010/main" val="29574146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Sleuth</a:t>
            </a:r>
            <a:r>
              <a:rPr lang="fr-CA" dirty="0">
                <a:solidFill>
                  <a:schemeClr val="bg1"/>
                </a:solidFill>
              </a:rPr>
              <a:t> and </a:t>
            </a:r>
            <a:r>
              <a:rPr lang="fr-CA" dirty="0" err="1">
                <a:solidFill>
                  <a:schemeClr val="bg1"/>
                </a:solidFill>
              </a:rPr>
              <a:t>Zipkin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648200"/>
          </a:xfrm>
        </p:spPr>
        <p:txBody>
          <a:bodyPr/>
          <a:lstStyle/>
          <a:p>
            <a:r>
              <a:rPr lang="en-US" sz="1400" dirty="0">
                <a:solidFill>
                  <a:srgbClr val="3C5790"/>
                </a:solidFill>
              </a:rPr>
              <a:t>Key Terminologies:</a:t>
            </a:r>
          </a:p>
          <a:p>
            <a:pPr lvl="1"/>
            <a:r>
              <a:rPr lang="en-US" sz="1400" b="1" dirty="0">
                <a:solidFill>
                  <a:srgbClr val="3C5790"/>
                </a:solidFill>
              </a:rPr>
              <a:t>Parent Span ID</a:t>
            </a:r>
            <a:r>
              <a:rPr lang="en-US" sz="1400" dirty="0">
                <a:solidFill>
                  <a:srgbClr val="3C5790"/>
                </a:solidFill>
              </a:rPr>
              <a:t>: </a:t>
            </a:r>
          </a:p>
          <a:p>
            <a:pPr lvl="2"/>
            <a:r>
              <a:rPr lang="en-US" sz="1200" dirty="0">
                <a:solidFill>
                  <a:srgbClr val="3C5790"/>
                </a:solidFill>
              </a:rPr>
              <a:t>It can represent the initial span of the traces. </a:t>
            </a:r>
          </a:p>
          <a:p>
            <a:pPr lvl="2"/>
            <a:r>
              <a:rPr lang="en-US" sz="1200" dirty="0">
                <a:solidFill>
                  <a:srgbClr val="3C5790"/>
                </a:solidFill>
              </a:rPr>
              <a:t>It can establish the hierarchy of spans in the </a:t>
            </a:r>
            <a:r>
              <a:rPr lang="en-US" sz="1200" dirty="0" err="1">
                <a:solidFill>
                  <a:srgbClr val="3C5790"/>
                </a:solidFill>
              </a:rPr>
              <a:t>Zipkin</a:t>
            </a:r>
            <a:r>
              <a:rPr lang="en-US" sz="1200" dirty="0">
                <a:solidFill>
                  <a:srgbClr val="3C5790"/>
                </a:solidFill>
              </a:rPr>
              <a:t> trace service.</a:t>
            </a:r>
          </a:p>
          <a:p>
            <a:pPr lvl="1"/>
            <a:r>
              <a:rPr lang="en-US" sz="1400" b="1" dirty="0">
                <a:solidFill>
                  <a:srgbClr val="3C5790"/>
                </a:solidFill>
              </a:rPr>
              <a:t>Trace Context</a:t>
            </a:r>
            <a:r>
              <a:rPr lang="en-US" sz="1400" dirty="0">
                <a:solidFill>
                  <a:srgbClr val="3C5790"/>
                </a:solidFill>
              </a:rPr>
              <a:t>: It can contain the data of the Trace ID, Span ID, and parent Span ID that were propagated along with the request as a traversal through the different services.</a:t>
            </a:r>
          </a:p>
          <a:p>
            <a:pPr lvl="1"/>
            <a:r>
              <a:rPr lang="en-US" sz="1400" b="1" dirty="0">
                <a:solidFill>
                  <a:srgbClr val="3C5790"/>
                </a:solidFill>
              </a:rPr>
              <a:t>Sampler</a:t>
            </a:r>
            <a:r>
              <a:rPr lang="en-US" sz="1400" dirty="0">
                <a:solidFill>
                  <a:srgbClr val="3C5790"/>
                </a:solidFill>
              </a:rPr>
              <a:t>: It is responsible for deciding which requests should be traced and which are not, and it helps to control a subset of requests.</a:t>
            </a:r>
          </a:p>
          <a:p>
            <a:pPr lvl="1"/>
            <a:r>
              <a:rPr lang="en-US" sz="1400" b="1" dirty="0">
                <a:solidFill>
                  <a:srgbClr val="3C5790"/>
                </a:solidFill>
              </a:rPr>
              <a:t>Reporter</a:t>
            </a:r>
            <a:r>
              <a:rPr lang="en-US" sz="1400" dirty="0">
                <a:solidFill>
                  <a:srgbClr val="3C5790"/>
                </a:solidFill>
              </a:rPr>
              <a:t>: It can generate reports of the sending of span data to the tracing backend, and it can store and analyze the traces.</a:t>
            </a:r>
          </a:p>
          <a:p>
            <a:pPr lvl="1"/>
            <a:r>
              <a:rPr lang="en-US" sz="1400" b="1" dirty="0" err="1">
                <a:solidFill>
                  <a:srgbClr val="3C5790"/>
                </a:solidFill>
              </a:rPr>
              <a:t>Zipkin</a:t>
            </a:r>
            <a:r>
              <a:rPr lang="en-US" sz="1400" b="1" dirty="0">
                <a:solidFill>
                  <a:srgbClr val="3C5790"/>
                </a:solidFill>
              </a:rPr>
              <a:t> UI Dashboard</a:t>
            </a:r>
            <a:r>
              <a:rPr lang="en-US" sz="1400" dirty="0">
                <a:solidFill>
                  <a:srgbClr val="3C5790"/>
                </a:solidFill>
              </a:rPr>
              <a:t>: It can represent the UI dashboard interface of the </a:t>
            </a:r>
            <a:r>
              <a:rPr lang="en-US" sz="1400" dirty="0" err="1">
                <a:solidFill>
                  <a:srgbClr val="3C5790"/>
                </a:solidFill>
              </a:rPr>
              <a:t>Zipkin</a:t>
            </a:r>
            <a:r>
              <a:rPr lang="en-US" sz="1400" dirty="0">
                <a:solidFill>
                  <a:srgbClr val="3C5790"/>
                </a:solidFill>
              </a:rPr>
              <a:t> server, and it can visualize traces, analyze performance, and identify issues with the systems.</a:t>
            </a:r>
          </a:p>
        </p:txBody>
      </p:sp>
    </p:spTree>
    <p:extLst>
      <p:ext uri="{BB962C8B-B14F-4D97-AF65-F5344CB8AC3E}">
        <p14:creationId xmlns:p14="http://schemas.microsoft.com/office/powerpoint/2010/main" val="5232996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Sleuth</a:t>
            </a:r>
            <a:r>
              <a:rPr lang="fr-CA" dirty="0">
                <a:solidFill>
                  <a:schemeClr val="bg1"/>
                </a:solidFill>
              </a:rPr>
              <a:t> and </a:t>
            </a:r>
            <a:r>
              <a:rPr lang="fr-CA" dirty="0" err="1">
                <a:solidFill>
                  <a:schemeClr val="bg1"/>
                </a:solidFill>
              </a:rPr>
              <a:t>Zipkin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838200"/>
          </a:xfrm>
        </p:spPr>
        <p:txBody>
          <a:bodyPr/>
          <a:lstStyle/>
          <a:p>
            <a:r>
              <a:rPr lang="en-US" sz="1400" dirty="0">
                <a:solidFill>
                  <a:srgbClr val="3C5790"/>
                </a:solidFill>
              </a:rPr>
              <a:t>We can use Docker to create a container that contains </a:t>
            </a:r>
            <a:r>
              <a:rPr lang="en-US" sz="1400" dirty="0" err="1">
                <a:solidFill>
                  <a:srgbClr val="3C5790"/>
                </a:solidFill>
              </a:rPr>
              <a:t>Zipkin</a:t>
            </a:r>
            <a:r>
              <a:rPr lang="en-US" sz="1400" dirty="0">
                <a:solidFill>
                  <a:srgbClr val="3C5790"/>
                </a:solidFill>
              </a:rPr>
              <a:t> by running command </a:t>
            </a:r>
          </a:p>
          <a:p>
            <a:r>
              <a:rPr lang="en-US" sz="1400" b="1" dirty="0">
                <a:solidFill>
                  <a:srgbClr val="3C5790"/>
                </a:solidFill>
              </a:rPr>
              <a:t>docker run --name zipkin3 -d -p 19411:9411 </a:t>
            </a:r>
            <a:r>
              <a:rPr lang="en-US" sz="1400" b="1" dirty="0" err="1">
                <a:solidFill>
                  <a:srgbClr val="3C5790"/>
                </a:solidFill>
              </a:rPr>
              <a:t>openzipkin</a:t>
            </a:r>
            <a:r>
              <a:rPr lang="en-US" sz="1400" b="1" dirty="0">
                <a:solidFill>
                  <a:srgbClr val="3C5790"/>
                </a:solidFill>
              </a:rPr>
              <a:t>/zipkin:3 </a:t>
            </a:r>
          </a:p>
          <a:p>
            <a:endParaRPr lang="en-US" sz="1400" dirty="0">
              <a:solidFill>
                <a:srgbClr val="3C5790"/>
              </a:solidFill>
            </a:endParaRPr>
          </a:p>
        </p:txBody>
      </p:sp>
      <p:pic>
        <p:nvPicPr>
          <p:cNvPr id="3" name="Picture 2">
            <a:extLst>
              <a:ext uri="{FF2B5EF4-FFF2-40B4-BE49-F238E27FC236}">
                <a16:creationId xmlns:a16="http://schemas.microsoft.com/office/drawing/2014/main" id="{ADF44C1D-950E-435E-A9F5-8A3FA4C6A312}"/>
              </a:ext>
            </a:extLst>
          </p:cNvPr>
          <p:cNvPicPr>
            <a:picLocks noChangeAspect="1"/>
          </p:cNvPicPr>
          <p:nvPr/>
        </p:nvPicPr>
        <p:blipFill>
          <a:blip r:embed="rId3"/>
          <a:stretch>
            <a:fillRect/>
          </a:stretch>
        </p:blipFill>
        <p:spPr>
          <a:xfrm>
            <a:off x="1181100" y="2971800"/>
            <a:ext cx="6781800" cy="2524534"/>
          </a:xfrm>
          <a:prstGeom prst="rect">
            <a:avLst/>
          </a:prstGeom>
        </p:spPr>
      </p:pic>
    </p:spTree>
    <p:extLst>
      <p:ext uri="{BB962C8B-B14F-4D97-AF65-F5344CB8AC3E}">
        <p14:creationId xmlns:p14="http://schemas.microsoft.com/office/powerpoint/2010/main" val="9228978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Sleuth</a:t>
            </a:r>
            <a:r>
              <a:rPr lang="fr-CA" dirty="0">
                <a:solidFill>
                  <a:schemeClr val="bg1"/>
                </a:solidFill>
              </a:rPr>
              <a:t> and </a:t>
            </a:r>
            <a:r>
              <a:rPr lang="fr-CA" dirty="0" err="1">
                <a:solidFill>
                  <a:schemeClr val="bg1"/>
                </a:solidFill>
              </a:rPr>
              <a:t>Zipkin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04800"/>
          </a:xfrm>
        </p:spPr>
        <p:txBody>
          <a:bodyPr/>
          <a:lstStyle/>
          <a:p>
            <a:r>
              <a:rPr lang="en-US" sz="1400" dirty="0">
                <a:solidFill>
                  <a:srgbClr val="3C5790"/>
                </a:solidFill>
              </a:rPr>
              <a:t>After we add custom maven dependencies and custom </a:t>
            </a:r>
            <a:r>
              <a:rPr lang="en-US" sz="1400" dirty="0" err="1">
                <a:solidFill>
                  <a:srgbClr val="3C5790"/>
                </a:solidFill>
              </a:rPr>
              <a:t>application.properties</a:t>
            </a:r>
            <a:r>
              <a:rPr lang="en-US" sz="1400" dirty="0">
                <a:solidFill>
                  <a:srgbClr val="3C5790"/>
                </a:solidFill>
              </a:rPr>
              <a:t> we can see the traces in </a:t>
            </a:r>
            <a:r>
              <a:rPr lang="en-US" sz="1400" dirty="0" err="1">
                <a:solidFill>
                  <a:srgbClr val="3C5790"/>
                </a:solidFill>
              </a:rPr>
              <a:t>Zipkin</a:t>
            </a:r>
            <a:r>
              <a:rPr lang="en-US" sz="1400" dirty="0">
                <a:solidFill>
                  <a:srgbClr val="3C5790"/>
                </a:solidFill>
              </a:rPr>
              <a:t>.</a:t>
            </a:r>
          </a:p>
        </p:txBody>
      </p:sp>
      <p:pic>
        <p:nvPicPr>
          <p:cNvPr id="3" name="Picture 2">
            <a:extLst>
              <a:ext uri="{FF2B5EF4-FFF2-40B4-BE49-F238E27FC236}">
                <a16:creationId xmlns:a16="http://schemas.microsoft.com/office/drawing/2014/main" id="{186F3F3E-6CA7-4E1C-80CC-711288EEFF03}"/>
              </a:ext>
            </a:extLst>
          </p:cNvPr>
          <p:cNvPicPr>
            <a:picLocks noChangeAspect="1"/>
          </p:cNvPicPr>
          <p:nvPr/>
        </p:nvPicPr>
        <p:blipFill>
          <a:blip r:embed="rId3"/>
          <a:stretch>
            <a:fillRect/>
          </a:stretch>
        </p:blipFill>
        <p:spPr>
          <a:xfrm>
            <a:off x="609600" y="5019451"/>
            <a:ext cx="8077200" cy="1771690"/>
          </a:xfrm>
          <a:prstGeom prst="rect">
            <a:avLst/>
          </a:prstGeom>
        </p:spPr>
      </p:pic>
      <p:pic>
        <p:nvPicPr>
          <p:cNvPr id="5" name="Picture 4">
            <a:extLst>
              <a:ext uri="{FF2B5EF4-FFF2-40B4-BE49-F238E27FC236}">
                <a16:creationId xmlns:a16="http://schemas.microsoft.com/office/drawing/2014/main" id="{CA7F85E1-7B88-4EC6-AB58-233995CA25AF}"/>
              </a:ext>
            </a:extLst>
          </p:cNvPr>
          <p:cNvPicPr>
            <a:picLocks noChangeAspect="1"/>
          </p:cNvPicPr>
          <p:nvPr/>
        </p:nvPicPr>
        <p:blipFill>
          <a:blip r:embed="rId4"/>
          <a:stretch>
            <a:fillRect/>
          </a:stretch>
        </p:blipFill>
        <p:spPr>
          <a:xfrm>
            <a:off x="5593" y="2895600"/>
            <a:ext cx="3979238" cy="1724636"/>
          </a:xfrm>
          <a:prstGeom prst="rect">
            <a:avLst/>
          </a:prstGeom>
        </p:spPr>
      </p:pic>
      <p:pic>
        <p:nvPicPr>
          <p:cNvPr id="7" name="Picture 6">
            <a:extLst>
              <a:ext uri="{FF2B5EF4-FFF2-40B4-BE49-F238E27FC236}">
                <a16:creationId xmlns:a16="http://schemas.microsoft.com/office/drawing/2014/main" id="{60A46548-29D0-4539-AE2E-927BA044B830}"/>
              </a:ext>
            </a:extLst>
          </p:cNvPr>
          <p:cNvPicPr>
            <a:picLocks noChangeAspect="1"/>
          </p:cNvPicPr>
          <p:nvPr/>
        </p:nvPicPr>
        <p:blipFill>
          <a:blip r:embed="rId5"/>
          <a:stretch>
            <a:fillRect/>
          </a:stretch>
        </p:blipFill>
        <p:spPr>
          <a:xfrm>
            <a:off x="4555222" y="3429000"/>
            <a:ext cx="4260908" cy="625610"/>
          </a:xfrm>
          <a:prstGeom prst="rect">
            <a:avLst/>
          </a:prstGeom>
        </p:spPr>
      </p:pic>
      <p:cxnSp>
        <p:nvCxnSpPr>
          <p:cNvPr id="9" name="Straight Connector 8">
            <a:extLst>
              <a:ext uri="{FF2B5EF4-FFF2-40B4-BE49-F238E27FC236}">
                <a16:creationId xmlns:a16="http://schemas.microsoft.com/office/drawing/2014/main" id="{193C6FC3-8421-4C5C-83FE-DA73127612B4}"/>
              </a:ext>
            </a:extLst>
          </p:cNvPr>
          <p:cNvCxnSpPr>
            <a:cxnSpLocks/>
          </p:cNvCxnSpPr>
          <p:nvPr/>
        </p:nvCxnSpPr>
        <p:spPr>
          <a:xfrm>
            <a:off x="0" y="4800600"/>
            <a:ext cx="91440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B38D1F1-294F-41F8-9ED8-3B785BA74E62}"/>
              </a:ext>
            </a:extLst>
          </p:cNvPr>
          <p:cNvCxnSpPr/>
          <p:nvPr/>
        </p:nvCxnSpPr>
        <p:spPr>
          <a:xfrm flipV="1">
            <a:off x="4343400" y="2743200"/>
            <a:ext cx="0" cy="20574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785412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Sleuth</a:t>
            </a:r>
            <a:r>
              <a:rPr lang="fr-CA" dirty="0">
                <a:solidFill>
                  <a:schemeClr val="bg1"/>
                </a:solidFill>
              </a:rPr>
              <a:t> and </a:t>
            </a:r>
            <a:r>
              <a:rPr lang="fr-CA" dirty="0" err="1">
                <a:solidFill>
                  <a:schemeClr val="bg1"/>
                </a:solidFill>
              </a:rPr>
              <a:t>Zipkin</a:t>
            </a:r>
            <a:r>
              <a:rPr lang="fr-CA" dirty="0">
                <a:solidFill>
                  <a:schemeClr val="bg1"/>
                </a:solidFill>
              </a:rPr>
              <a:t> (</a:t>
            </a:r>
            <a:r>
              <a:rPr lang="fr-CA" dirty="0" err="1">
                <a:solidFill>
                  <a:schemeClr val="bg1"/>
                </a:solidFill>
              </a:rPr>
              <a:t>cont</a:t>
            </a:r>
            <a:r>
              <a:rPr lang="fr-CA" dirty="0">
                <a:solidFill>
                  <a:schemeClr val="bg1"/>
                </a:solidFill>
              </a:rPr>
              <a:t>.)</a:t>
            </a:r>
          </a:p>
        </p:txBody>
      </p:sp>
      <p:pic>
        <p:nvPicPr>
          <p:cNvPr id="5" name="Picture 4">
            <a:extLst>
              <a:ext uri="{FF2B5EF4-FFF2-40B4-BE49-F238E27FC236}">
                <a16:creationId xmlns:a16="http://schemas.microsoft.com/office/drawing/2014/main" id="{B579DDBA-AEC4-435E-A60C-54E5D71EE171}"/>
              </a:ext>
            </a:extLst>
          </p:cNvPr>
          <p:cNvPicPr>
            <a:picLocks noChangeAspect="1"/>
          </p:cNvPicPr>
          <p:nvPr/>
        </p:nvPicPr>
        <p:blipFill>
          <a:blip r:embed="rId3"/>
          <a:stretch>
            <a:fillRect/>
          </a:stretch>
        </p:blipFill>
        <p:spPr>
          <a:xfrm>
            <a:off x="495300" y="2667000"/>
            <a:ext cx="8153400" cy="3610853"/>
          </a:xfrm>
          <a:prstGeom prst="rect">
            <a:avLst/>
          </a:prstGeom>
        </p:spPr>
      </p:pic>
    </p:spTree>
    <p:extLst>
      <p:ext uri="{BB962C8B-B14F-4D97-AF65-F5344CB8AC3E}">
        <p14:creationId xmlns:p14="http://schemas.microsoft.com/office/powerpoint/2010/main" val="19346768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a:t>
            </a:r>
          </a:p>
        </p:txBody>
      </p:sp>
      <p:sp>
        <p:nvSpPr>
          <p:cNvPr id="4099" name="Espace réservé du contenu 4"/>
          <p:cNvSpPr>
            <a:spLocks noGrp="1"/>
          </p:cNvSpPr>
          <p:nvPr>
            <p:ph idx="1"/>
          </p:nvPr>
        </p:nvSpPr>
        <p:spPr>
          <a:xfrm>
            <a:off x="228600" y="2133600"/>
            <a:ext cx="8686800" cy="1828800"/>
          </a:xfrm>
        </p:spPr>
        <p:txBody>
          <a:bodyPr/>
          <a:lstStyle/>
          <a:p>
            <a:r>
              <a:rPr lang="en-US" sz="1400" b="1" dirty="0">
                <a:solidFill>
                  <a:srgbClr val="3C5790"/>
                </a:solidFill>
              </a:rPr>
              <a:t>Spring Cloud Config Server </a:t>
            </a:r>
            <a:r>
              <a:rPr lang="en-US" sz="1400" dirty="0">
                <a:solidFill>
                  <a:srgbClr val="3C5790"/>
                </a:solidFill>
              </a:rPr>
              <a:t>is a centralized, external configuration server that helps distributed applications manage and serve configuration properties consistently and dynamically across environments, supporting scalable and manageable microservices.</a:t>
            </a:r>
          </a:p>
          <a:p>
            <a:r>
              <a:rPr lang="en-US" sz="1400" dirty="0">
                <a:solidFill>
                  <a:srgbClr val="3C5790"/>
                </a:solidFill>
              </a:rPr>
              <a:t>It enhances configuration management by externalizing and centralizing config, enabling better control, environment segregation, and easier updates.</a:t>
            </a:r>
          </a:p>
        </p:txBody>
      </p:sp>
      <p:pic>
        <p:nvPicPr>
          <p:cNvPr id="3" name="Picture 2">
            <a:extLst>
              <a:ext uri="{FF2B5EF4-FFF2-40B4-BE49-F238E27FC236}">
                <a16:creationId xmlns:a16="http://schemas.microsoft.com/office/drawing/2014/main" id="{CAAB5157-3AC6-4F28-A729-5D19ECC3206E}"/>
              </a:ext>
            </a:extLst>
          </p:cNvPr>
          <p:cNvPicPr>
            <a:picLocks noChangeAspect="1"/>
          </p:cNvPicPr>
          <p:nvPr/>
        </p:nvPicPr>
        <p:blipFill>
          <a:blip r:embed="rId3"/>
          <a:stretch>
            <a:fillRect/>
          </a:stretch>
        </p:blipFill>
        <p:spPr>
          <a:xfrm>
            <a:off x="1883568" y="3429000"/>
            <a:ext cx="5736431" cy="3088342"/>
          </a:xfrm>
          <a:prstGeom prst="rect">
            <a:avLst/>
          </a:prstGeom>
        </p:spPr>
      </p:pic>
    </p:spTree>
    <p:extLst>
      <p:ext uri="{BB962C8B-B14F-4D97-AF65-F5344CB8AC3E}">
        <p14:creationId xmlns:p14="http://schemas.microsoft.com/office/powerpoint/2010/main" val="25326678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2209800"/>
          </a:xfrm>
        </p:spPr>
        <p:txBody>
          <a:bodyPr/>
          <a:lstStyle/>
          <a:p>
            <a:r>
              <a:rPr lang="en-US" sz="1400" u="sng" dirty="0">
                <a:solidFill>
                  <a:srgbClr val="3C5790"/>
                </a:solidFill>
              </a:rPr>
              <a:t>Key Points</a:t>
            </a:r>
          </a:p>
          <a:p>
            <a:pPr lvl="1"/>
            <a:r>
              <a:rPr lang="en-US" sz="1400" dirty="0">
                <a:solidFill>
                  <a:srgbClr val="3C5790"/>
                </a:solidFill>
              </a:rPr>
              <a:t>Annotated with @EnableConfigServer to create a config server easily.</a:t>
            </a:r>
          </a:p>
          <a:p>
            <a:pPr lvl="1"/>
            <a:r>
              <a:rPr lang="en-US" sz="1400" dirty="0">
                <a:solidFill>
                  <a:srgbClr val="3C5790"/>
                </a:solidFill>
              </a:rPr>
              <a:t>Provides configuration via REST endpoints accessed by client apps.</a:t>
            </a:r>
          </a:p>
          <a:p>
            <a:pPr lvl="1"/>
            <a:r>
              <a:rPr lang="en-US" sz="1400" dirty="0">
                <a:solidFill>
                  <a:srgbClr val="3C5790"/>
                </a:solidFill>
              </a:rPr>
              <a:t>Supports multiple backend storage options (Git, filesystem, Vault).</a:t>
            </a:r>
          </a:p>
          <a:p>
            <a:pPr lvl="1"/>
            <a:r>
              <a:rPr lang="en-US" sz="1400" dirty="0">
                <a:solidFill>
                  <a:srgbClr val="3C5790"/>
                </a:solidFill>
              </a:rPr>
              <a:t>Allows for profiles and labels to differentiate config per environment (dev, test, prod).</a:t>
            </a:r>
          </a:p>
          <a:p>
            <a:pPr lvl="1"/>
            <a:r>
              <a:rPr lang="en-US" sz="1400" dirty="0">
                <a:solidFill>
                  <a:srgbClr val="3C5790"/>
                </a:solidFill>
              </a:rPr>
              <a:t>Works smoothly with Spring Boot applications and Spring Cloud Config Client.</a:t>
            </a:r>
          </a:p>
          <a:p>
            <a:pPr lvl="1"/>
            <a:r>
              <a:rPr lang="en-US" sz="1400" dirty="0">
                <a:solidFill>
                  <a:srgbClr val="3C5790"/>
                </a:solidFill>
              </a:rPr>
              <a:t>Supports Actuator endpoints to refresh or reload config dynamically.</a:t>
            </a:r>
          </a:p>
          <a:p>
            <a:pPr lvl="1"/>
            <a:r>
              <a:rPr lang="en-US" sz="1400" dirty="0">
                <a:solidFill>
                  <a:srgbClr val="3C5790"/>
                </a:solidFill>
              </a:rPr>
              <a:t>Enables bootstrapping configuration clients with minimal effort.</a:t>
            </a:r>
          </a:p>
        </p:txBody>
      </p:sp>
    </p:spTree>
    <p:extLst>
      <p:ext uri="{BB962C8B-B14F-4D97-AF65-F5344CB8AC3E}">
        <p14:creationId xmlns:p14="http://schemas.microsoft.com/office/powerpoint/2010/main" val="41463288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828800"/>
          </a:xfrm>
        </p:spPr>
        <p:txBody>
          <a:bodyPr/>
          <a:lstStyle/>
          <a:p>
            <a:r>
              <a:rPr lang="en-US" sz="1400" b="1" dirty="0">
                <a:solidFill>
                  <a:srgbClr val="3C5790"/>
                </a:solidFill>
              </a:rPr>
              <a:t>Central Repository</a:t>
            </a:r>
            <a:r>
              <a:rPr lang="en-US" sz="1400" dirty="0">
                <a:solidFill>
                  <a:srgbClr val="3C5790"/>
                </a:solidFill>
              </a:rPr>
              <a:t>: Store all configuration files in centralized Git repository or filesystem.</a:t>
            </a:r>
          </a:p>
          <a:p>
            <a:r>
              <a:rPr lang="en-US" sz="1400" b="1" dirty="0">
                <a:solidFill>
                  <a:srgbClr val="3C5790"/>
                </a:solidFill>
              </a:rPr>
              <a:t>Config Server</a:t>
            </a:r>
            <a:r>
              <a:rPr lang="en-US" sz="1400" dirty="0">
                <a:solidFill>
                  <a:srgbClr val="3C5790"/>
                </a:solidFill>
              </a:rPr>
              <a:t>: Spring Boot app with </a:t>
            </a:r>
            <a:r>
              <a:rPr lang="en-US" sz="1400" b="1" dirty="0">
                <a:solidFill>
                  <a:srgbClr val="3C5790"/>
                </a:solidFill>
              </a:rPr>
              <a:t>@EnableConfigServer </a:t>
            </a:r>
            <a:r>
              <a:rPr lang="en-US" sz="1400" dirty="0">
                <a:solidFill>
                  <a:srgbClr val="3C5790"/>
                </a:solidFill>
              </a:rPr>
              <a:t>reads from central repo and exposes configuration via REST API.</a:t>
            </a:r>
          </a:p>
          <a:p>
            <a:r>
              <a:rPr lang="en-US" sz="1400" b="1" dirty="0">
                <a:solidFill>
                  <a:srgbClr val="3C5790"/>
                </a:solidFill>
              </a:rPr>
              <a:t>Config Client</a:t>
            </a:r>
            <a:r>
              <a:rPr lang="en-US" sz="1400" dirty="0">
                <a:solidFill>
                  <a:srgbClr val="3C5790"/>
                </a:solidFill>
              </a:rPr>
              <a:t>: Microservices fetch their configuration from the Config Server at startup and can refresh it on demand.</a:t>
            </a:r>
          </a:p>
          <a:p>
            <a:r>
              <a:rPr lang="en-US" sz="1400" b="1" dirty="0">
                <a:solidFill>
                  <a:srgbClr val="3C5790"/>
                </a:solidFill>
              </a:rPr>
              <a:t>Dynamic updates</a:t>
            </a:r>
            <a:r>
              <a:rPr lang="en-US" sz="1400" dirty="0">
                <a:solidFill>
                  <a:srgbClr val="3C5790"/>
                </a:solidFill>
              </a:rPr>
              <a:t>: With actuator support, clients can refresh their config without restart.</a:t>
            </a:r>
          </a:p>
        </p:txBody>
      </p:sp>
      <p:pic>
        <p:nvPicPr>
          <p:cNvPr id="3" name="Picture 2">
            <a:extLst>
              <a:ext uri="{FF2B5EF4-FFF2-40B4-BE49-F238E27FC236}">
                <a16:creationId xmlns:a16="http://schemas.microsoft.com/office/drawing/2014/main" id="{CE7DBF8C-C27D-454C-A884-9F872872A582}"/>
              </a:ext>
            </a:extLst>
          </p:cNvPr>
          <p:cNvPicPr>
            <a:picLocks noChangeAspect="1"/>
          </p:cNvPicPr>
          <p:nvPr/>
        </p:nvPicPr>
        <p:blipFill>
          <a:blip r:embed="rId3"/>
          <a:stretch>
            <a:fillRect/>
          </a:stretch>
        </p:blipFill>
        <p:spPr>
          <a:xfrm>
            <a:off x="2362200" y="3828653"/>
            <a:ext cx="4806540" cy="2754709"/>
          </a:xfrm>
          <a:prstGeom prst="rect">
            <a:avLst/>
          </a:prstGeom>
        </p:spPr>
      </p:pic>
    </p:spTree>
    <p:extLst>
      <p:ext uri="{BB962C8B-B14F-4D97-AF65-F5344CB8AC3E}">
        <p14:creationId xmlns:p14="http://schemas.microsoft.com/office/powerpoint/2010/main" val="30823609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838200"/>
          </a:xfrm>
        </p:spPr>
        <p:txBody>
          <a:bodyPr/>
          <a:lstStyle/>
          <a:p>
            <a:r>
              <a:rPr lang="en-US" sz="1400" dirty="0">
                <a:solidFill>
                  <a:srgbClr val="3C5790"/>
                </a:solidFill>
              </a:rPr>
              <a:t>We can have 5 types of spring cloud config setups depending how we are storing the microservice configurations.</a:t>
            </a:r>
          </a:p>
          <a:p>
            <a:endParaRPr lang="en-US" sz="1400" dirty="0">
              <a:solidFill>
                <a:srgbClr val="3C5790"/>
              </a:solidFill>
            </a:endParaRPr>
          </a:p>
        </p:txBody>
      </p:sp>
      <p:graphicFrame>
        <p:nvGraphicFramePr>
          <p:cNvPr id="4" name="Table 2">
            <a:extLst>
              <a:ext uri="{FF2B5EF4-FFF2-40B4-BE49-F238E27FC236}">
                <a16:creationId xmlns:a16="http://schemas.microsoft.com/office/drawing/2014/main" id="{2E2C7CB8-4193-4311-9372-F402E1B5BEA9}"/>
              </a:ext>
            </a:extLst>
          </p:cNvPr>
          <p:cNvGraphicFramePr>
            <a:graphicFrameLocks noGrp="1"/>
          </p:cNvGraphicFramePr>
          <p:nvPr>
            <p:extLst>
              <p:ext uri="{D42A27DB-BD31-4B8C-83A1-F6EECF244321}">
                <p14:modId xmlns:p14="http://schemas.microsoft.com/office/powerpoint/2010/main" val="2972927349"/>
              </p:ext>
            </p:extLst>
          </p:nvPr>
        </p:nvGraphicFramePr>
        <p:xfrm>
          <a:off x="152400" y="2819400"/>
          <a:ext cx="8839200" cy="22250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589151108"/>
                    </a:ext>
                  </a:extLst>
                </a:gridCol>
                <a:gridCol w="2438400">
                  <a:extLst>
                    <a:ext uri="{9D8B030D-6E8A-4147-A177-3AD203B41FA5}">
                      <a16:colId xmlns:a16="http://schemas.microsoft.com/office/drawing/2014/main" val="4035097610"/>
                    </a:ext>
                  </a:extLst>
                </a:gridCol>
                <a:gridCol w="4343400">
                  <a:extLst>
                    <a:ext uri="{9D8B030D-6E8A-4147-A177-3AD203B41FA5}">
                      <a16:colId xmlns:a16="http://schemas.microsoft.com/office/drawing/2014/main" val="1422174699"/>
                    </a:ext>
                  </a:extLst>
                </a:gridCol>
              </a:tblGrid>
              <a:tr h="370840">
                <a:tc>
                  <a:txBody>
                    <a:bodyPr/>
                    <a:lstStyle/>
                    <a:p>
                      <a:r>
                        <a:rPr lang="en-US" dirty="0"/>
                        <a:t>Setup Type</a:t>
                      </a:r>
                    </a:p>
                  </a:txBody>
                  <a:tcPr/>
                </a:tc>
                <a:tc>
                  <a:txBody>
                    <a:bodyPr/>
                    <a:lstStyle/>
                    <a:p>
                      <a:r>
                        <a:rPr lang="en-US" dirty="0"/>
                        <a:t>Typical Usage</a:t>
                      </a:r>
                    </a:p>
                  </a:txBody>
                  <a:tcPr/>
                </a:tc>
                <a:tc>
                  <a:txBody>
                    <a:bodyPr/>
                    <a:lstStyle/>
                    <a:p>
                      <a:r>
                        <a:rPr lang="en-US" dirty="0"/>
                        <a:t>Example source</a:t>
                      </a:r>
                    </a:p>
                  </a:txBody>
                  <a:tcPr/>
                </a:tc>
                <a:extLst>
                  <a:ext uri="{0D108BD9-81ED-4DB2-BD59-A6C34878D82A}">
                    <a16:rowId xmlns:a16="http://schemas.microsoft.com/office/drawing/2014/main" val="1438961077"/>
                  </a:ext>
                </a:extLst>
              </a:tr>
              <a:tr h="370840">
                <a:tc>
                  <a:txBody>
                    <a:bodyPr/>
                    <a:lstStyle/>
                    <a:p>
                      <a:r>
                        <a:rPr lang="en-US" sz="1200" dirty="0"/>
                        <a:t>Git-backed</a:t>
                      </a:r>
                    </a:p>
                  </a:txBody>
                  <a:tcPr/>
                </a:tc>
                <a:tc>
                  <a:txBody>
                    <a:bodyPr/>
                    <a:lstStyle/>
                    <a:p>
                      <a:pPr fontAlgn="base" latinLnBrk="0"/>
                      <a:r>
                        <a:rPr lang="en-US" sz="1200" dirty="0">
                          <a:effectLst/>
                        </a:rPr>
                        <a:t>Versioned, remote configuration</a:t>
                      </a:r>
                    </a:p>
                  </a:txBody>
                  <a:tcPr marL="76200" marR="76200" anchor="ctr"/>
                </a:tc>
                <a:tc>
                  <a:txBody>
                    <a:bodyPr/>
                    <a:lstStyle/>
                    <a:p>
                      <a:pPr fontAlgn="base" latinLnBrk="0"/>
                      <a:r>
                        <a:rPr lang="en-US" sz="1200" b="0" i="0" kern="1200" dirty="0">
                          <a:solidFill>
                            <a:schemeClr val="dk1"/>
                          </a:solidFill>
                          <a:effectLst/>
                          <a:latin typeface="+mn-lt"/>
                          <a:ea typeface="+mn-ea"/>
                          <a:cs typeface="+mn-cs"/>
                        </a:rPr>
                        <a:t>GitHub/GitLab</a:t>
                      </a:r>
                      <a:endParaRPr lang="en-US" sz="1200" dirty="0">
                        <a:effectLst/>
                      </a:endParaRPr>
                    </a:p>
                  </a:txBody>
                  <a:tcPr marL="76200" marR="76200" anchor="ctr"/>
                </a:tc>
                <a:extLst>
                  <a:ext uri="{0D108BD9-81ED-4DB2-BD59-A6C34878D82A}">
                    <a16:rowId xmlns:a16="http://schemas.microsoft.com/office/drawing/2014/main" val="2324881647"/>
                  </a:ext>
                </a:extLst>
              </a:tr>
              <a:tr h="370840">
                <a:tc>
                  <a:txBody>
                    <a:bodyPr/>
                    <a:lstStyle/>
                    <a:p>
                      <a:pPr fontAlgn="base" latinLnBrk="0"/>
                      <a:r>
                        <a:rPr lang="en-US" sz="1200" dirty="0">
                          <a:effectLst/>
                        </a:rPr>
                        <a:t>Native (local)</a:t>
                      </a:r>
                    </a:p>
                  </a:txBody>
                  <a:tcPr marL="76200" marR="76200" anchor="ctr"/>
                </a:tc>
                <a:tc>
                  <a:txBody>
                    <a:bodyPr/>
                    <a:lstStyle/>
                    <a:p>
                      <a:pPr fontAlgn="base" latinLnBrk="0"/>
                      <a:r>
                        <a:rPr lang="en-US" sz="1200" dirty="0">
                          <a:effectLst/>
                        </a:rPr>
                        <a:t>Local development/testing</a:t>
                      </a:r>
                    </a:p>
                  </a:txBody>
                  <a:tcPr marL="76200" marR="76200" anchor="ctr"/>
                </a:tc>
                <a:tc>
                  <a:txBody>
                    <a:bodyPr/>
                    <a:lstStyle/>
                    <a:p>
                      <a:pPr fontAlgn="base" latinLnBrk="0"/>
                      <a:r>
                        <a:rPr lang="en-US" sz="1200" dirty="0">
                          <a:effectLst/>
                        </a:rPr>
                        <a:t>Local file system folder</a:t>
                      </a:r>
                    </a:p>
                  </a:txBody>
                  <a:tcPr marL="76200" marR="76200" anchor="ctr"/>
                </a:tc>
                <a:extLst>
                  <a:ext uri="{0D108BD9-81ED-4DB2-BD59-A6C34878D82A}">
                    <a16:rowId xmlns:a16="http://schemas.microsoft.com/office/drawing/2014/main" val="1568501300"/>
                  </a:ext>
                </a:extLst>
              </a:tr>
              <a:tr h="370840">
                <a:tc>
                  <a:txBody>
                    <a:bodyPr/>
                    <a:lstStyle/>
                    <a:p>
                      <a:pPr fontAlgn="base" latinLnBrk="0"/>
                      <a:r>
                        <a:rPr lang="en-US" sz="1200" dirty="0">
                          <a:effectLst/>
                        </a:rPr>
                        <a:t>Vault-backed</a:t>
                      </a:r>
                    </a:p>
                  </a:txBody>
                  <a:tcPr marL="76200" marR="76200" anchor="ctr"/>
                </a:tc>
                <a:tc>
                  <a:txBody>
                    <a:bodyPr/>
                    <a:lstStyle/>
                    <a:p>
                      <a:pPr fontAlgn="base" latinLnBrk="0"/>
                      <a:r>
                        <a:rPr lang="en-US" sz="1200" dirty="0">
                          <a:effectLst/>
                        </a:rPr>
                        <a:t>Secure secret management</a:t>
                      </a:r>
                    </a:p>
                  </a:txBody>
                  <a:tcPr marL="76200" marR="76200" anchor="ctr"/>
                </a:tc>
                <a:tc>
                  <a:txBody>
                    <a:bodyPr/>
                    <a:lstStyle/>
                    <a:p>
                      <a:pPr fontAlgn="base" latinLnBrk="0"/>
                      <a:r>
                        <a:rPr lang="en-US" sz="1200" dirty="0" err="1">
                          <a:effectLst/>
                        </a:rPr>
                        <a:t>HashiCorp</a:t>
                      </a:r>
                      <a:r>
                        <a:rPr lang="en-US" sz="1200" dirty="0">
                          <a:effectLst/>
                        </a:rPr>
                        <a:t> Vault</a:t>
                      </a:r>
                    </a:p>
                  </a:txBody>
                  <a:tcPr marL="76200" marR="76200" anchor="ctr"/>
                </a:tc>
                <a:extLst>
                  <a:ext uri="{0D108BD9-81ED-4DB2-BD59-A6C34878D82A}">
                    <a16:rowId xmlns:a16="http://schemas.microsoft.com/office/drawing/2014/main" val="3041417831"/>
                  </a:ext>
                </a:extLst>
              </a:tr>
              <a:tr h="370840">
                <a:tc>
                  <a:txBody>
                    <a:bodyPr/>
                    <a:lstStyle/>
                    <a:p>
                      <a:pPr fontAlgn="base" latinLnBrk="0"/>
                      <a:r>
                        <a:rPr lang="en-US" sz="1200" dirty="0">
                          <a:effectLst/>
                        </a:rPr>
                        <a:t>JDBC/database</a:t>
                      </a:r>
                    </a:p>
                  </a:txBody>
                  <a:tcPr marL="76200" marR="76200" anchor="ctr"/>
                </a:tc>
                <a:tc>
                  <a:txBody>
                    <a:bodyPr/>
                    <a:lstStyle/>
                    <a:p>
                      <a:pPr fontAlgn="base" latinLnBrk="0"/>
                      <a:r>
                        <a:rPr lang="en-US" sz="1200" dirty="0">
                          <a:effectLst/>
                        </a:rPr>
                        <a:t>Dynamic DB-driven config</a:t>
                      </a:r>
                    </a:p>
                  </a:txBody>
                  <a:tcPr marL="76200" marR="76200" anchor="ctr"/>
                </a:tc>
                <a:tc>
                  <a:txBody>
                    <a:bodyPr/>
                    <a:lstStyle/>
                    <a:p>
                      <a:pPr fontAlgn="base" latinLnBrk="0"/>
                      <a:r>
                        <a:rPr lang="en-US" sz="1200" dirty="0">
                          <a:effectLst/>
                        </a:rPr>
                        <a:t>SQL databases (custom)</a:t>
                      </a:r>
                    </a:p>
                  </a:txBody>
                  <a:tcPr marL="76200" marR="76200" anchor="ctr"/>
                </a:tc>
                <a:extLst>
                  <a:ext uri="{0D108BD9-81ED-4DB2-BD59-A6C34878D82A}">
                    <a16:rowId xmlns:a16="http://schemas.microsoft.com/office/drawing/2014/main" val="934360143"/>
                  </a:ext>
                </a:extLst>
              </a:tr>
              <a:tr h="370840">
                <a:tc>
                  <a:txBody>
                    <a:bodyPr/>
                    <a:lstStyle/>
                    <a:p>
                      <a:pPr fontAlgn="base" latinLnBrk="0"/>
                      <a:r>
                        <a:rPr lang="en-US" sz="1200" dirty="0">
                          <a:effectLst/>
                        </a:rPr>
                        <a:t>Composite</a:t>
                      </a:r>
                    </a:p>
                  </a:txBody>
                  <a:tcPr marL="76200" marR="76200" anchor="ctr"/>
                </a:tc>
                <a:tc>
                  <a:txBody>
                    <a:bodyPr/>
                    <a:lstStyle/>
                    <a:p>
                      <a:pPr fontAlgn="base" latinLnBrk="0"/>
                      <a:r>
                        <a:rPr lang="en-US" sz="1200" dirty="0">
                          <a:effectLst/>
                        </a:rPr>
                        <a:t>Multiple config sources merged</a:t>
                      </a:r>
                    </a:p>
                  </a:txBody>
                  <a:tcPr marL="76200" marR="76200" anchor="ctr"/>
                </a:tc>
                <a:tc>
                  <a:txBody>
                    <a:bodyPr/>
                    <a:lstStyle/>
                    <a:p>
                      <a:pPr fontAlgn="base" latinLnBrk="0"/>
                      <a:r>
                        <a:rPr lang="en-US" sz="1200" dirty="0">
                          <a:effectLst/>
                        </a:rPr>
                        <a:t>Git + Vault + Native</a:t>
                      </a:r>
                    </a:p>
                  </a:txBody>
                  <a:tcPr marL="76200" marR="76200" anchor="ctr"/>
                </a:tc>
                <a:extLst>
                  <a:ext uri="{0D108BD9-81ED-4DB2-BD59-A6C34878D82A}">
                    <a16:rowId xmlns:a16="http://schemas.microsoft.com/office/drawing/2014/main" val="1906485577"/>
                  </a:ext>
                </a:extLst>
              </a:tr>
            </a:tbl>
          </a:graphicData>
        </a:graphic>
      </p:graphicFrame>
    </p:spTree>
    <p:extLst>
      <p:ext uri="{BB962C8B-B14F-4D97-AF65-F5344CB8AC3E}">
        <p14:creationId xmlns:p14="http://schemas.microsoft.com/office/powerpoint/2010/main" val="23702474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295400"/>
          </a:xfrm>
        </p:spPr>
        <p:txBody>
          <a:bodyPr/>
          <a:lstStyle/>
          <a:p>
            <a:r>
              <a:rPr lang="en-US" sz="1400" b="1" dirty="0">
                <a:solidFill>
                  <a:srgbClr val="3C5790"/>
                </a:solidFill>
              </a:rPr>
              <a:t>Git-backed Config Server</a:t>
            </a:r>
          </a:p>
          <a:p>
            <a:pPr lvl="1"/>
            <a:r>
              <a:rPr lang="en-US" sz="1400" dirty="0">
                <a:solidFill>
                  <a:srgbClr val="3C5790"/>
                </a:solidFill>
              </a:rPr>
              <a:t>Uses a remote or local Git repository to store configuration files.</a:t>
            </a:r>
          </a:p>
          <a:p>
            <a:pPr lvl="1"/>
            <a:r>
              <a:rPr lang="en-US" sz="1400" dirty="0">
                <a:solidFill>
                  <a:srgbClr val="3C5790"/>
                </a:solidFill>
              </a:rPr>
              <a:t>Benefits: versioned configuration, easy collaboration, rollback.</a:t>
            </a:r>
          </a:p>
          <a:p>
            <a:endParaRPr lang="en-US" sz="1400" dirty="0">
              <a:solidFill>
                <a:srgbClr val="3C5790"/>
              </a:solidFill>
            </a:endParaRPr>
          </a:p>
        </p:txBody>
      </p:sp>
      <p:pic>
        <p:nvPicPr>
          <p:cNvPr id="3" name="Picture 2">
            <a:extLst>
              <a:ext uri="{FF2B5EF4-FFF2-40B4-BE49-F238E27FC236}">
                <a16:creationId xmlns:a16="http://schemas.microsoft.com/office/drawing/2014/main" id="{966E1ED1-6DC6-4373-99AC-2226F8DD12A1}"/>
              </a:ext>
            </a:extLst>
          </p:cNvPr>
          <p:cNvPicPr>
            <a:picLocks noChangeAspect="1"/>
          </p:cNvPicPr>
          <p:nvPr/>
        </p:nvPicPr>
        <p:blipFill>
          <a:blip r:embed="rId3"/>
          <a:stretch>
            <a:fillRect/>
          </a:stretch>
        </p:blipFill>
        <p:spPr>
          <a:xfrm>
            <a:off x="2805112" y="3516312"/>
            <a:ext cx="3533775" cy="1257300"/>
          </a:xfrm>
          <a:prstGeom prst="rect">
            <a:avLst/>
          </a:prstGeom>
        </p:spPr>
      </p:pic>
    </p:spTree>
    <p:extLst>
      <p:ext uri="{BB962C8B-B14F-4D97-AF65-F5344CB8AC3E}">
        <p14:creationId xmlns:p14="http://schemas.microsoft.com/office/powerpoint/2010/main" val="40343702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838200"/>
          </a:xfrm>
        </p:spPr>
        <p:txBody>
          <a:bodyPr/>
          <a:lstStyle/>
          <a:p>
            <a:r>
              <a:rPr lang="en-US" sz="1400" b="1" dirty="0">
                <a:solidFill>
                  <a:srgbClr val="3C5790"/>
                </a:solidFill>
              </a:rPr>
              <a:t>Native (Local File System) Config Server</a:t>
            </a:r>
          </a:p>
          <a:p>
            <a:pPr lvl="1"/>
            <a:r>
              <a:rPr lang="en-US" sz="1400" dirty="0">
                <a:solidFill>
                  <a:srgbClr val="3C5790"/>
                </a:solidFill>
              </a:rPr>
              <a:t>Stores configuration files locally on the server machine filesystem.</a:t>
            </a:r>
          </a:p>
          <a:p>
            <a:pPr lvl="1"/>
            <a:r>
              <a:rPr lang="en-US" sz="1400" dirty="0">
                <a:solidFill>
                  <a:srgbClr val="3C5790"/>
                </a:solidFill>
              </a:rPr>
              <a:t>Useful for local development or testing without external dependencies.</a:t>
            </a:r>
          </a:p>
          <a:p>
            <a:endParaRPr lang="en-US" sz="1400" dirty="0">
              <a:solidFill>
                <a:srgbClr val="3C5790"/>
              </a:solidFill>
            </a:endParaRPr>
          </a:p>
        </p:txBody>
      </p:sp>
      <p:pic>
        <p:nvPicPr>
          <p:cNvPr id="3" name="Picture 2">
            <a:extLst>
              <a:ext uri="{FF2B5EF4-FFF2-40B4-BE49-F238E27FC236}">
                <a16:creationId xmlns:a16="http://schemas.microsoft.com/office/drawing/2014/main" id="{71F235F7-AABB-476E-AD1C-F8BC9B9440A2}"/>
              </a:ext>
            </a:extLst>
          </p:cNvPr>
          <p:cNvPicPr>
            <a:picLocks noChangeAspect="1"/>
          </p:cNvPicPr>
          <p:nvPr/>
        </p:nvPicPr>
        <p:blipFill>
          <a:blip r:embed="rId3"/>
          <a:stretch>
            <a:fillRect/>
          </a:stretch>
        </p:blipFill>
        <p:spPr>
          <a:xfrm>
            <a:off x="2667000" y="3453468"/>
            <a:ext cx="3571875" cy="1419225"/>
          </a:xfrm>
          <a:prstGeom prst="rect">
            <a:avLst/>
          </a:prstGeom>
        </p:spPr>
      </p:pic>
    </p:spTree>
    <p:extLst>
      <p:ext uri="{BB962C8B-B14F-4D97-AF65-F5344CB8AC3E}">
        <p14:creationId xmlns:p14="http://schemas.microsoft.com/office/powerpoint/2010/main" val="10173832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838200"/>
          </a:xfrm>
        </p:spPr>
        <p:txBody>
          <a:bodyPr/>
          <a:lstStyle/>
          <a:p>
            <a:r>
              <a:rPr lang="en-US" sz="1400" b="1" dirty="0">
                <a:solidFill>
                  <a:srgbClr val="3C5790"/>
                </a:solidFill>
              </a:rPr>
              <a:t>Vault-backed Config Server</a:t>
            </a:r>
          </a:p>
          <a:p>
            <a:pPr lvl="1"/>
            <a:r>
              <a:rPr lang="en-US" sz="1400" dirty="0">
                <a:solidFill>
                  <a:srgbClr val="3C5790"/>
                </a:solidFill>
              </a:rPr>
              <a:t>Uses </a:t>
            </a:r>
            <a:r>
              <a:rPr lang="en-US" sz="1400" dirty="0" err="1">
                <a:solidFill>
                  <a:srgbClr val="3C5790"/>
                </a:solidFill>
              </a:rPr>
              <a:t>HashiCorp</a:t>
            </a:r>
            <a:r>
              <a:rPr lang="en-US" sz="1400" dirty="0">
                <a:solidFill>
                  <a:srgbClr val="3C5790"/>
                </a:solidFill>
              </a:rPr>
              <a:t> Vault for securely storing and serving sensitive configuration secrets.</a:t>
            </a:r>
          </a:p>
          <a:p>
            <a:pPr lvl="1"/>
            <a:r>
              <a:rPr lang="en-US" sz="1400" dirty="0">
                <a:solidFill>
                  <a:srgbClr val="3C5790"/>
                </a:solidFill>
              </a:rPr>
              <a:t>Enables encrypted secrets management.</a:t>
            </a:r>
          </a:p>
        </p:txBody>
      </p:sp>
      <p:pic>
        <p:nvPicPr>
          <p:cNvPr id="3" name="Picture 2">
            <a:extLst>
              <a:ext uri="{FF2B5EF4-FFF2-40B4-BE49-F238E27FC236}">
                <a16:creationId xmlns:a16="http://schemas.microsoft.com/office/drawing/2014/main" id="{5FC9AF46-10D2-47A6-AB9C-4765A47BEA13}"/>
              </a:ext>
            </a:extLst>
          </p:cNvPr>
          <p:cNvPicPr>
            <a:picLocks noChangeAspect="1"/>
          </p:cNvPicPr>
          <p:nvPr/>
        </p:nvPicPr>
        <p:blipFill>
          <a:blip r:embed="rId3"/>
          <a:stretch>
            <a:fillRect/>
          </a:stretch>
        </p:blipFill>
        <p:spPr>
          <a:xfrm>
            <a:off x="3048000" y="3352800"/>
            <a:ext cx="2486025" cy="1390650"/>
          </a:xfrm>
          <a:prstGeom prst="rect">
            <a:avLst/>
          </a:prstGeom>
        </p:spPr>
      </p:pic>
    </p:spTree>
    <p:extLst>
      <p:ext uri="{BB962C8B-B14F-4D97-AF65-F5344CB8AC3E}">
        <p14:creationId xmlns:p14="http://schemas.microsoft.com/office/powerpoint/2010/main" val="1173994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152400" y="2209800"/>
            <a:ext cx="8686800" cy="1676400"/>
          </a:xfrm>
        </p:spPr>
        <p:txBody>
          <a:bodyPr/>
          <a:lstStyle/>
          <a:p>
            <a:r>
              <a:rPr lang="en-US" sz="1400" b="1" dirty="0">
                <a:solidFill>
                  <a:srgbClr val="3C5790"/>
                </a:solidFill>
              </a:rPr>
              <a:t>JDBC/Database-backed Config Server</a:t>
            </a:r>
          </a:p>
          <a:p>
            <a:pPr lvl="1"/>
            <a:r>
              <a:rPr lang="en-US" sz="1400" dirty="0">
                <a:solidFill>
                  <a:srgbClr val="3C5790"/>
                </a:solidFill>
              </a:rPr>
              <a:t>Stores configuration data in a database like MySQL, PostgreSQL.</a:t>
            </a:r>
          </a:p>
          <a:p>
            <a:pPr lvl="1"/>
            <a:r>
              <a:rPr lang="en-US" sz="1400" dirty="0">
                <a:solidFill>
                  <a:srgbClr val="3C5790"/>
                </a:solidFill>
              </a:rPr>
              <a:t>Useful when configs need to be updated dynamically with RDBMS benefits.</a:t>
            </a:r>
          </a:p>
          <a:p>
            <a:r>
              <a:rPr lang="en-US" sz="1400" b="1" dirty="0">
                <a:solidFill>
                  <a:srgbClr val="3C5790"/>
                </a:solidFill>
              </a:rPr>
              <a:t>Composite Config Server</a:t>
            </a:r>
          </a:p>
          <a:p>
            <a:pPr lvl="1"/>
            <a:r>
              <a:rPr lang="en-US" sz="1400" dirty="0">
                <a:solidFill>
                  <a:srgbClr val="3C5790"/>
                </a:solidFill>
              </a:rPr>
              <a:t>Combines multiple sources (e.g., Git + Vault + native) to serve configuration from heterogeneous stores.</a:t>
            </a:r>
          </a:p>
          <a:p>
            <a:pPr lvl="1"/>
            <a:r>
              <a:rPr lang="en-US" sz="1400" dirty="0">
                <a:solidFill>
                  <a:srgbClr val="3C5790"/>
                </a:solidFill>
              </a:rPr>
              <a:t>Config Server will try sources in order and merge configuration.</a:t>
            </a:r>
          </a:p>
        </p:txBody>
      </p:sp>
      <p:pic>
        <p:nvPicPr>
          <p:cNvPr id="3" name="Picture 2">
            <a:extLst>
              <a:ext uri="{FF2B5EF4-FFF2-40B4-BE49-F238E27FC236}">
                <a16:creationId xmlns:a16="http://schemas.microsoft.com/office/drawing/2014/main" id="{69578EDA-F70D-4CB6-B0B8-F9DE269E4F31}"/>
              </a:ext>
            </a:extLst>
          </p:cNvPr>
          <p:cNvPicPr>
            <a:picLocks noChangeAspect="1"/>
          </p:cNvPicPr>
          <p:nvPr/>
        </p:nvPicPr>
        <p:blipFill>
          <a:blip r:embed="rId3"/>
          <a:stretch>
            <a:fillRect/>
          </a:stretch>
        </p:blipFill>
        <p:spPr>
          <a:xfrm>
            <a:off x="2614612" y="4191000"/>
            <a:ext cx="3762375" cy="1971675"/>
          </a:xfrm>
          <a:prstGeom prst="rect">
            <a:avLst/>
          </a:prstGeom>
        </p:spPr>
      </p:pic>
    </p:spTree>
    <p:extLst>
      <p:ext uri="{BB962C8B-B14F-4D97-AF65-F5344CB8AC3E}">
        <p14:creationId xmlns:p14="http://schemas.microsoft.com/office/powerpoint/2010/main" val="34113130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We need to add the maven </a:t>
            </a:r>
            <a:r>
              <a:rPr lang="en-US" sz="1400" b="1" dirty="0">
                <a:solidFill>
                  <a:srgbClr val="3C5790"/>
                </a:solidFill>
              </a:rPr>
              <a:t>spring-cloud-config-server</a:t>
            </a:r>
            <a:r>
              <a:rPr lang="en-US" sz="1400" dirty="0">
                <a:solidFill>
                  <a:srgbClr val="3C5790"/>
                </a:solidFill>
              </a:rPr>
              <a:t> dependency, use the </a:t>
            </a:r>
            <a:r>
              <a:rPr lang="en-US" sz="1400" b="1" dirty="0">
                <a:solidFill>
                  <a:srgbClr val="3C5790"/>
                </a:solidFill>
              </a:rPr>
              <a:t>@EnableConfigServer</a:t>
            </a:r>
            <a:r>
              <a:rPr lang="en-US" sz="1400" dirty="0">
                <a:solidFill>
                  <a:srgbClr val="3C5790"/>
                </a:solidFill>
              </a:rPr>
              <a:t> annotation with custom </a:t>
            </a:r>
            <a:r>
              <a:rPr lang="en-US" sz="1400" dirty="0" err="1">
                <a:solidFill>
                  <a:srgbClr val="3C5790"/>
                </a:solidFill>
              </a:rPr>
              <a:t>application.properties</a:t>
            </a:r>
            <a:r>
              <a:rPr lang="en-US" sz="1400" dirty="0">
                <a:solidFill>
                  <a:srgbClr val="3C5790"/>
                </a:solidFill>
              </a:rPr>
              <a:t> that indicates how and where we store the configurations.</a:t>
            </a:r>
          </a:p>
        </p:txBody>
      </p:sp>
      <p:pic>
        <p:nvPicPr>
          <p:cNvPr id="3" name="Picture 2">
            <a:extLst>
              <a:ext uri="{FF2B5EF4-FFF2-40B4-BE49-F238E27FC236}">
                <a16:creationId xmlns:a16="http://schemas.microsoft.com/office/drawing/2014/main" id="{765E1A9A-AC5B-42CB-97CC-E8C51B5F4FEA}"/>
              </a:ext>
            </a:extLst>
          </p:cNvPr>
          <p:cNvPicPr>
            <a:picLocks noChangeAspect="1"/>
          </p:cNvPicPr>
          <p:nvPr/>
        </p:nvPicPr>
        <p:blipFill>
          <a:blip r:embed="rId3"/>
          <a:stretch>
            <a:fillRect/>
          </a:stretch>
        </p:blipFill>
        <p:spPr>
          <a:xfrm>
            <a:off x="2362200" y="2919718"/>
            <a:ext cx="4029075" cy="685800"/>
          </a:xfrm>
          <a:prstGeom prst="rect">
            <a:avLst/>
          </a:prstGeom>
        </p:spPr>
      </p:pic>
      <p:pic>
        <p:nvPicPr>
          <p:cNvPr id="5" name="Picture 4">
            <a:extLst>
              <a:ext uri="{FF2B5EF4-FFF2-40B4-BE49-F238E27FC236}">
                <a16:creationId xmlns:a16="http://schemas.microsoft.com/office/drawing/2014/main" id="{AB4BAC95-BAE1-4C1E-BD37-907C54A0A49A}"/>
              </a:ext>
            </a:extLst>
          </p:cNvPr>
          <p:cNvPicPr>
            <a:picLocks noChangeAspect="1"/>
          </p:cNvPicPr>
          <p:nvPr/>
        </p:nvPicPr>
        <p:blipFill>
          <a:blip r:embed="rId4"/>
          <a:stretch>
            <a:fillRect/>
          </a:stretch>
        </p:blipFill>
        <p:spPr>
          <a:xfrm>
            <a:off x="2057400" y="4038601"/>
            <a:ext cx="4429125" cy="1304925"/>
          </a:xfrm>
          <a:prstGeom prst="rect">
            <a:avLst/>
          </a:prstGeom>
        </p:spPr>
      </p:pic>
      <p:pic>
        <p:nvPicPr>
          <p:cNvPr id="7" name="Picture 6">
            <a:extLst>
              <a:ext uri="{FF2B5EF4-FFF2-40B4-BE49-F238E27FC236}">
                <a16:creationId xmlns:a16="http://schemas.microsoft.com/office/drawing/2014/main" id="{0E4FAADC-722F-46A1-BB8D-E72C830BF058}"/>
              </a:ext>
            </a:extLst>
          </p:cNvPr>
          <p:cNvPicPr>
            <a:picLocks noChangeAspect="1"/>
          </p:cNvPicPr>
          <p:nvPr/>
        </p:nvPicPr>
        <p:blipFill>
          <a:blip r:embed="rId5"/>
          <a:stretch>
            <a:fillRect/>
          </a:stretch>
        </p:blipFill>
        <p:spPr>
          <a:xfrm>
            <a:off x="468385" y="5715000"/>
            <a:ext cx="8153400" cy="838200"/>
          </a:xfrm>
          <a:prstGeom prst="rect">
            <a:avLst/>
          </a:prstGeom>
        </p:spPr>
      </p:pic>
      <p:cxnSp>
        <p:nvCxnSpPr>
          <p:cNvPr id="9" name="Straight Connector 8">
            <a:extLst>
              <a:ext uri="{FF2B5EF4-FFF2-40B4-BE49-F238E27FC236}">
                <a16:creationId xmlns:a16="http://schemas.microsoft.com/office/drawing/2014/main" id="{FEDFD48B-0971-43DD-8AB4-8C3652A84024}"/>
              </a:ext>
            </a:extLst>
          </p:cNvPr>
          <p:cNvCxnSpPr/>
          <p:nvPr/>
        </p:nvCxnSpPr>
        <p:spPr>
          <a:xfrm>
            <a:off x="0" y="5486400"/>
            <a:ext cx="9144000"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5D7A8B3B-C8A2-4261-8C75-37973BE032E0}"/>
              </a:ext>
            </a:extLst>
          </p:cNvPr>
          <p:cNvCxnSpPr/>
          <p:nvPr/>
        </p:nvCxnSpPr>
        <p:spPr>
          <a:xfrm>
            <a:off x="76200" y="3810000"/>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700242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752600"/>
          </a:xfrm>
        </p:spPr>
        <p:txBody>
          <a:bodyPr/>
          <a:lstStyle/>
          <a:p>
            <a:r>
              <a:rPr lang="en-US" sz="1400" dirty="0">
                <a:solidFill>
                  <a:srgbClr val="3C5790"/>
                </a:solidFill>
              </a:rPr>
              <a:t>We can check the configuration by using the address </a:t>
            </a:r>
            <a:r>
              <a:rPr lang="en-US" sz="1400" dirty="0">
                <a:solidFill>
                  <a:srgbClr val="3C5790"/>
                </a:solidFill>
                <a:hlinkClick r:id="rId3"/>
              </a:rPr>
              <a:t>http://localhost:8888/hello-service/default</a:t>
            </a:r>
            <a:r>
              <a:rPr lang="en-US" sz="1400" dirty="0">
                <a:solidFill>
                  <a:srgbClr val="3C5790"/>
                </a:solidFill>
              </a:rPr>
              <a:t> </a:t>
            </a:r>
          </a:p>
          <a:p>
            <a:r>
              <a:rPr lang="en-US" sz="1400" dirty="0">
                <a:solidFill>
                  <a:srgbClr val="3C5790"/>
                </a:solidFill>
              </a:rPr>
              <a:t>Once we have finished setup the config server we need to use the config client in other microservices that will load the configuration.</a:t>
            </a:r>
          </a:p>
          <a:p>
            <a:r>
              <a:rPr lang="en-US" sz="1400" dirty="0">
                <a:solidFill>
                  <a:srgbClr val="3C5790"/>
                </a:solidFill>
              </a:rPr>
              <a:t>We need to add the maven </a:t>
            </a:r>
            <a:r>
              <a:rPr lang="en-US" sz="1400" b="1" dirty="0">
                <a:solidFill>
                  <a:srgbClr val="3C5790"/>
                </a:solidFill>
              </a:rPr>
              <a:t>spring-cloud-starter-config dependency </a:t>
            </a:r>
            <a:r>
              <a:rPr lang="en-US" sz="1400" dirty="0">
                <a:solidFill>
                  <a:srgbClr val="3C5790"/>
                </a:solidFill>
              </a:rPr>
              <a:t>and instead of using the </a:t>
            </a:r>
            <a:r>
              <a:rPr lang="en-US" sz="1400" dirty="0" err="1">
                <a:solidFill>
                  <a:srgbClr val="3C5790"/>
                </a:solidFill>
              </a:rPr>
              <a:t>application.properties</a:t>
            </a:r>
            <a:r>
              <a:rPr lang="en-US" sz="1400" dirty="0">
                <a:solidFill>
                  <a:srgbClr val="3C5790"/>
                </a:solidFill>
              </a:rPr>
              <a:t> we’ll be using </a:t>
            </a:r>
            <a:r>
              <a:rPr lang="en-US" sz="1400" b="1" dirty="0" err="1">
                <a:solidFill>
                  <a:srgbClr val="3C5790"/>
                </a:solidFill>
              </a:rPr>
              <a:t>bootstrap.properties</a:t>
            </a:r>
            <a:r>
              <a:rPr lang="en-US" sz="1400" dirty="0">
                <a:solidFill>
                  <a:srgbClr val="3C5790"/>
                </a:solidFill>
              </a:rPr>
              <a:t>.</a:t>
            </a:r>
          </a:p>
          <a:p>
            <a:endParaRPr lang="en-US" sz="1400" dirty="0">
              <a:solidFill>
                <a:srgbClr val="3C5790"/>
              </a:solidFill>
            </a:endParaRPr>
          </a:p>
        </p:txBody>
      </p:sp>
      <p:pic>
        <p:nvPicPr>
          <p:cNvPr id="4" name="Picture 3">
            <a:extLst>
              <a:ext uri="{FF2B5EF4-FFF2-40B4-BE49-F238E27FC236}">
                <a16:creationId xmlns:a16="http://schemas.microsoft.com/office/drawing/2014/main" id="{4B83407A-F6EE-4B18-A026-38C1AC56CE5E}"/>
              </a:ext>
            </a:extLst>
          </p:cNvPr>
          <p:cNvPicPr>
            <a:picLocks noChangeAspect="1"/>
          </p:cNvPicPr>
          <p:nvPr/>
        </p:nvPicPr>
        <p:blipFill>
          <a:blip r:embed="rId4"/>
          <a:stretch>
            <a:fillRect/>
          </a:stretch>
        </p:blipFill>
        <p:spPr>
          <a:xfrm>
            <a:off x="2209800" y="3843337"/>
            <a:ext cx="3924300" cy="638175"/>
          </a:xfrm>
          <a:prstGeom prst="rect">
            <a:avLst/>
          </a:prstGeom>
        </p:spPr>
      </p:pic>
      <p:pic>
        <p:nvPicPr>
          <p:cNvPr id="8" name="Picture 7">
            <a:extLst>
              <a:ext uri="{FF2B5EF4-FFF2-40B4-BE49-F238E27FC236}">
                <a16:creationId xmlns:a16="http://schemas.microsoft.com/office/drawing/2014/main" id="{B2AC6D31-3DBC-4D96-A780-A21888F44BEA}"/>
              </a:ext>
            </a:extLst>
          </p:cNvPr>
          <p:cNvPicPr>
            <a:picLocks noChangeAspect="1"/>
          </p:cNvPicPr>
          <p:nvPr/>
        </p:nvPicPr>
        <p:blipFill>
          <a:blip r:embed="rId5"/>
          <a:stretch>
            <a:fillRect/>
          </a:stretch>
        </p:blipFill>
        <p:spPr>
          <a:xfrm>
            <a:off x="2286000" y="5117765"/>
            <a:ext cx="3295650" cy="457200"/>
          </a:xfrm>
          <a:prstGeom prst="rect">
            <a:avLst/>
          </a:prstGeom>
        </p:spPr>
      </p:pic>
    </p:spTree>
    <p:extLst>
      <p:ext uri="{BB962C8B-B14F-4D97-AF65-F5344CB8AC3E}">
        <p14:creationId xmlns:p14="http://schemas.microsoft.com/office/powerpoint/2010/main" val="28881096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Config Server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Using Spring Cloud 2025 library the </a:t>
            </a:r>
            <a:r>
              <a:rPr lang="en-US" sz="1400" b="1" dirty="0" err="1">
                <a:solidFill>
                  <a:srgbClr val="3C5790"/>
                </a:solidFill>
              </a:rPr>
              <a:t>bootstrap.properties</a:t>
            </a:r>
            <a:r>
              <a:rPr lang="en-US" sz="1400" dirty="0">
                <a:solidFill>
                  <a:srgbClr val="3C5790"/>
                </a:solidFill>
              </a:rPr>
              <a:t> is not needed, but we need to add the following </a:t>
            </a:r>
            <a:r>
              <a:rPr lang="en-US" sz="1400" b="1" dirty="0" err="1">
                <a:solidFill>
                  <a:srgbClr val="3C5790"/>
                </a:solidFill>
              </a:rPr>
              <a:t>application.properties</a:t>
            </a:r>
            <a:endParaRPr lang="en-US" sz="1400" b="1" dirty="0">
              <a:solidFill>
                <a:srgbClr val="3C5790"/>
              </a:solidFill>
            </a:endParaRPr>
          </a:p>
        </p:txBody>
      </p:sp>
      <p:pic>
        <p:nvPicPr>
          <p:cNvPr id="4" name="Picture 3">
            <a:extLst>
              <a:ext uri="{FF2B5EF4-FFF2-40B4-BE49-F238E27FC236}">
                <a16:creationId xmlns:a16="http://schemas.microsoft.com/office/drawing/2014/main" id="{47377768-7642-42E1-A5B7-3509FB90BAA9}"/>
              </a:ext>
            </a:extLst>
          </p:cNvPr>
          <p:cNvPicPr>
            <a:picLocks noChangeAspect="1"/>
          </p:cNvPicPr>
          <p:nvPr/>
        </p:nvPicPr>
        <p:blipFill>
          <a:blip r:embed="rId3"/>
          <a:stretch>
            <a:fillRect/>
          </a:stretch>
        </p:blipFill>
        <p:spPr>
          <a:xfrm>
            <a:off x="2190925" y="4343400"/>
            <a:ext cx="3829050" cy="476250"/>
          </a:xfrm>
          <a:prstGeom prst="rect">
            <a:avLst/>
          </a:prstGeom>
        </p:spPr>
      </p:pic>
      <p:pic>
        <p:nvPicPr>
          <p:cNvPr id="5" name="Picture 4">
            <a:extLst>
              <a:ext uri="{FF2B5EF4-FFF2-40B4-BE49-F238E27FC236}">
                <a16:creationId xmlns:a16="http://schemas.microsoft.com/office/drawing/2014/main" id="{C4FE77D2-5EFE-4E74-8652-0CEC68B902AC}"/>
              </a:ext>
            </a:extLst>
          </p:cNvPr>
          <p:cNvPicPr>
            <a:picLocks noChangeAspect="1"/>
          </p:cNvPicPr>
          <p:nvPr/>
        </p:nvPicPr>
        <p:blipFill>
          <a:blip r:embed="rId4"/>
          <a:stretch>
            <a:fillRect/>
          </a:stretch>
        </p:blipFill>
        <p:spPr>
          <a:xfrm>
            <a:off x="2209800" y="3216274"/>
            <a:ext cx="3924300" cy="638175"/>
          </a:xfrm>
          <a:prstGeom prst="rect">
            <a:avLst/>
          </a:prstGeom>
        </p:spPr>
      </p:pic>
    </p:spTree>
    <p:extLst>
      <p:ext uri="{BB962C8B-B14F-4D97-AF65-F5344CB8AC3E}">
        <p14:creationId xmlns:p14="http://schemas.microsoft.com/office/powerpoint/2010/main" val="5681075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a:t>
            </a:r>
          </a:p>
        </p:txBody>
      </p:sp>
      <p:sp>
        <p:nvSpPr>
          <p:cNvPr id="4099" name="Espace réservé du contenu 4"/>
          <p:cNvSpPr>
            <a:spLocks noGrp="1"/>
          </p:cNvSpPr>
          <p:nvPr>
            <p:ph idx="1"/>
          </p:nvPr>
        </p:nvSpPr>
        <p:spPr>
          <a:xfrm>
            <a:off x="228600" y="2133600"/>
            <a:ext cx="8686800" cy="1828800"/>
          </a:xfrm>
        </p:spPr>
        <p:txBody>
          <a:bodyPr/>
          <a:lstStyle/>
          <a:p>
            <a:r>
              <a:rPr lang="en-US" sz="1400" b="1" dirty="0">
                <a:solidFill>
                  <a:srgbClr val="3C5790"/>
                </a:solidFill>
              </a:rPr>
              <a:t>Spring Cloud Bus </a:t>
            </a:r>
            <a:r>
              <a:rPr lang="en-US" sz="1400" dirty="0">
                <a:solidFill>
                  <a:srgbClr val="3C5790"/>
                </a:solidFill>
              </a:rPr>
              <a:t>is a messaging mechanism that connects distributed Spring Boot applications via a message broker for coordinating events, especially dynamic configuration refresh propagation. </a:t>
            </a:r>
          </a:p>
          <a:p>
            <a:r>
              <a:rPr lang="en-US" sz="1400" dirty="0">
                <a:solidFill>
                  <a:srgbClr val="3C5790"/>
                </a:solidFill>
              </a:rPr>
              <a:t>It enhances manageability and responsiveness of microservices by turning isolated instances into a communicative system.</a:t>
            </a:r>
          </a:p>
        </p:txBody>
      </p:sp>
      <p:pic>
        <p:nvPicPr>
          <p:cNvPr id="3" name="Picture 2">
            <a:extLst>
              <a:ext uri="{FF2B5EF4-FFF2-40B4-BE49-F238E27FC236}">
                <a16:creationId xmlns:a16="http://schemas.microsoft.com/office/drawing/2014/main" id="{136EFDFB-B3D9-4FFC-B96D-03C0328D87BC}"/>
              </a:ext>
            </a:extLst>
          </p:cNvPr>
          <p:cNvPicPr>
            <a:picLocks noChangeAspect="1"/>
          </p:cNvPicPr>
          <p:nvPr/>
        </p:nvPicPr>
        <p:blipFill>
          <a:blip r:embed="rId3"/>
          <a:stretch>
            <a:fillRect/>
          </a:stretch>
        </p:blipFill>
        <p:spPr>
          <a:xfrm>
            <a:off x="2743200" y="3200400"/>
            <a:ext cx="3847576" cy="3524250"/>
          </a:xfrm>
          <a:prstGeom prst="rect">
            <a:avLst/>
          </a:prstGeom>
        </p:spPr>
      </p:pic>
    </p:spTree>
    <p:extLst>
      <p:ext uri="{BB962C8B-B14F-4D97-AF65-F5344CB8AC3E}">
        <p14:creationId xmlns:p14="http://schemas.microsoft.com/office/powerpoint/2010/main" val="14009471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057400"/>
            <a:ext cx="8686800" cy="838200"/>
          </a:xfrm>
        </p:spPr>
        <p:txBody>
          <a:bodyPr/>
          <a:lstStyle/>
          <a:p>
            <a:r>
              <a:rPr lang="en-US" sz="1400" dirty="0">
                <a:solidFill>
                  <a:srgbClr val="3C5790"/>
                </a:solidFill>
              </a:rPr>
              <a:t>Spring Cloud Bus solves the problem of broadcasting a configuration change event to all connected applications. </a:t>
            </a:r>
          </a:p>
          <a:p>
            <a:r>
              <a:rPr lang="en-US" sz="1400" dirty="0">
                <a:solidFill>
                  <a:srgbClr val="3C5790"/>
                </a:solidFill>
              </a:rPr>
              <a:t>With Spring Cloud Config Monitor, we can further automate the refresh and make it happen after a configuration change is pushed to the repository backing the config server. </a:t>
            </a:r>
          </a:p>
        </p:txBody>
      </p:sp>
      <p:pic>
        <p:nvPicPr>
          <p:cNvPr id="4" name="Picture 3">
            <a:extLst>
              <a:ext uri="{FF2B5EF4-FFF2-40B4-BE49-F238E27FC236}">
                <a16:creationId xmlns:a16="http://schemas.microsoft.com/office/drawing/2014/main" id="{1AFBE9E6-4247-4FAC-AAA9-8B6F769D6D75}"/>
              </a:ext>
            </a:extLst>
          </p:cNvPr>
          <p:cNvPicPr>
            <a:picLocks noChangeAspect="1"/>
          </p:cNvPicPr>
          <p:nvPr/>
        </p:nvPicPr>
        <p:blipFill>
          <a:blip r:embed="rId3"/>
          <a:stretch>
            <a:fillRect/>
          </a:stretch>
        </p:blipFill>
        <p:spPr>
          <a:xfrm>
            <a:off x="2209800" y="2971800"/>
            <a:ext cx="4986337" cy="3576697"/>
          </a:xfrm>
          <a:prstGeom prst="rect">
            <a:avLst/>
          </a:prstGeom>
        </p:spPr>
      </p:pic>
    </p:spTree>
    <p:extLst>
      <p:ext uri="{BB962C8B-B14F-4D97-AF65-F5344CB8AC3E}">
        <p14:creationId xmlns:p14="http://schemas.microsoft.com/office/powerpoint/2010/main" val="21445089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581400"/>
          </a:xfrm>
        </p:spPr>
        <p:txBody>
          <a:bodyPr/>
          <a:lstStyle/>
          <a:p>
            <a:r>
              <a:rPr lang="en-US" sz="1400" u="sng" dirty="0">
                <a:solidFill>
                  <a:srgbClr val="3C5790"/>
                </a:solidFill>
              </a:rPr>
              <a:t>Key Points</a:t>
            </a:r>
          </a:p>
          <a:p>
            <a:pPr lvl="1"/>
            <a:r>
              <a:rPr lang="en-US" sz="1400" b="1" dirty="0">
                <a:solidFill>
                  <a:srgbClr val="3C5790"/>
                </a:solidFill>
              </a:rPr>
              <a:t>Event Bus for Microservices</a:t>
            </a:r>
            <a:r>
              <a:rPr lang="en-US" sz="1400" dirty="0">
                <a:solidFill>
                  <a:srgbClr val="3C5790"/>
                </a:solidFill>
              </a:rPr>
              <a:t>: Spring Cloud Bus connects all instances of a distributed system via a message broker like RabbitMQ or Kafka.</a:t>
            </a:r>
          </a:p>
          <a:p>
            <a:pPr lvl="1"/>
            <a:r>
              <a:rPr lang="en-US" sz="1400" b="1" dirty="0">
                <a:solidFill>
                  <a:srgbClr val="3C5790"/>
                </a:solidFill>
              </a:rPr>
              <a:t>Broadcast State Changes</a:t>
            </a:r>
            <a:r>
              <a:rPr lang="en-US" sz="1400" dirty="0">
                <a:solidFill>
                  <a:srgbClr val="3C5790"/>
                </a:solidFill>
              </a:rPr>
              <a:t>: It broadcasts configuration changes or management events (such as refresh signals) to all nodes or services listening on the bus.</a:t>
            </a:r>
          </a:p>
          <a:p>
            <a:pPr lvl="1"/>
            <a:r>
              <a:rPr lang="en-US" sz="1400" b="1" dirty="0">
                <a:solidFill>
                  <a:srgbClr val="3C5790"/>
                </a:solidFill>
              </a:rPr>
              <a:t>Dynamic Configuration Update</a:t>
            </a:r>
            <a:r>
              <a:rPr lang="en-US" sz="1400" dirty="0">
                <a:solidFill>
                  <a:srgbClr val="3C5790"/>
                </a:solidFill>
              </a:rPr>
              <a:t>: Integrates with Spring Cloud Config to propagate configuration updates dynamically without restarting services.</a:t>
            </a:r>
          </a:p>
          <a:p>
            <a:pPr lvl="1"/>
            <a:r>
              <a:rPr lang="en-US" sz="1400" b="1" dirty="0">
                <a:solidFill>
                  <a:srgbClr val="3C5790"/>
                </a:solidFill>
              </a:rPr>
              <a:t>Lightweight Messaging</a:t>
            </a:r>
            <a:r>
              <a:rPr lang="en-US" sz="1400" dirty="0">
                <a:solidFill>
                  <a:srgbClr val="3C5790"/>
                </a:solidFill>
              </a:rPr>
              <a:t>: Uses lightweight messaging protocols and brokers to transmit messages efficiently across distributed systems.</a:t>
            </a:r>
          </a:p>
          <a:p>
            <a:pPr lvl="1"/>
            <a:r>
              <a:rPr lang="en-US" sz="1400" b="1" dirty="0">
                <a:solidFill>
                  <a:srgbClr val="3C5790"/>
                </a:solidFill>
              </a:rPr>
              <a:t>Distributed Actuator</a:t>
            </a:r>
            <a:r>
              <a:rPr lang="en-US" sz="1400" dirty="0">
                <a:solidFill>
                  <a:srgbClr val="3C5790"/>
                </a:solidFill>
              </a:rPr>
              <a:t>: Acts like a distributed version of Spring Boot Actuator endpoints, allowing management commands (like refresh) to be propagated cluster-wide.</a:t>
            </a:r>
          </a:p>
          <a:p>
            <a:pPr lvl="1"/>
            <a:r>
              <a:rPr lang="en-US" sz="1400" b="1" dirty="0">
                <a:solidFill>
                  <a:srgbClr val="3C5790"/>
                </a:solidFill>
              </a:rPr>
              <a:t>Scalable Communication Channel</a:t>
            </a:r>
            <a:r>
              <a:rPr lang="en-US" sz="1400" dirty="0">
                <a:solidFill>
                  <a:srgbClr val="3C5790"/>
                </a:solidFill>
              </a:rPr>
              <a:t>: Supports service-to-service communication and event-driven state propagation in complex microservice ecosystems.</a:t>
            </a:r>
          </a:p>
          <a:p>
            <a:endParaRPr lang="en-US" sz="1400" dirty="0">
              <a:solidFill>
                <a:srgbClr val="3C5790"/>
              </a:solidFill>
            </a:endParaRPr>
          </a:p>
        </p:txBody>
      </p:sp>
    </p:spTree>
    <p:extLst>
      <p:ext uri="{BB962C8B-B14F-4D97-AF65-F5344CB8AC3E}">
        <p14:creationId xmlns:p14="http://schemas.microsoft.com/office/powerpoint/2010/main" val="21575447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828800"/>
          </a:xfrm>
        </p:spPr>
        <p:txBody>
          <a:bodyPr/>
          <a:lstStyle/>
          <a:p>
            <a:r>
              <a:rPr lang="en-US" sz="1400" b="1" dirty="0">
                <a:solidFill>
                  <a:srgbClr val="3C5790"/>
                </a:solidFill>
              </a:rPr>
              <a:t>Message Broker</a:t>
            </a:r>
            <a:r>
              <a:rPr lang="en-US" sz="1400" dirty="0">
                <a:solidFill>
                  <a:srgbClr val="3C5790"/>
                </a:solidFill>
              </a:rPr>
              <a:t>: Spring Cloud Bus requires a message broker, such as RabbitMQ or Kafka, for message transmission.</a:t>
            </a:r>
          </a:p>
          <a:p>
            <a:r>
              <a:rPr lang="en-US" sz="1400" b="1" dirty="0">
                <a:solidFill>
                  <a:srgbClr val="3C5790"/>
                </a:solidFill>
              </a:rPr>
              <a:t>Broadcast Events</a:t>
            </a:r>
            <a:r>
              <a:rPr lang="en-US" sz="1400" dirty="0">
                <a:solidFill>
                  <a:srgbClr val="3C5790"/>
                </a:solidFill>
              </a:rPr>
              <a:t>: When a particular event occurs (e.g., config refresh), Spring Cloud Bus publishes the event message to the broker.</a:t>
            </a:r>
          </a:p>
          <a:p>
            <a:r>
              <a:rPr lang="en-US" sz="1400" b="1" dirty="0">
                <a:solidFill>
                  <a:srgbClr val="3C5790"/>
                </a:solidFill>
              </a:rPr>
              <a:t>Subscribed Nodes</a:t>
            </a:r>
            <a:r>
              <a:rPr lang="en-US" sz="1400" dirty="0">
                <a:solidFill>
                  <a:srgbClr val="3C5790"/>
                </a:solidFill>
              </a:rPr>
              <a:t>: Clients subscribed to the bus receive the event and react accordingly (e.g., reload updated config).</a:t>
            </a:r>
          </a:p>
          <a:p>
            <a:r>
              <a:rPr lang="en-US" sz="1400" b="1" dirty="0">
                <a:solidFill>
                  <a:srgbClr val="3C5790"/>
                </a:solidFill>
              </a:rPr>
              <a:t>Dynamic Updates</a:t>
            </a:r>
            <a:r>
              <a:rPr lang="en-US" sz="1400" dirty="0">
                <a:solidFill>
                  <a:srgbClr val="3C5790"/>
                </a:solidFill>
              </a:rPr>
              <a:t>: Enables zero-downtime configuration changes and distributed coordination.</a:t>
            </a:r>
          </a:p>
        </p:txBody>
      </p:sp>
    </p:spTree>
    <p:extLst>
      <p:ext uri="{BB962C8B-B14F-4D97-AF65-F5344CB8AC3E}">
        <p14:creationId xmlns:p14="http://schemas.microsoft.com/office/powerpoint/2010/main" val="25337699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200"/>
            <a:ext cx="8686800" cy="304800"/>
          </a:xfrm>
        </p:spPr>
        <p:txBody>
          <a:bodyPr/>
          <a:lstStyle/>
          <a:p>
            <a:r>
              <a:rPr lang="en-US" sz="1400" dirty="0">
                <a:solidFill>
                  <a:srgbClr val="3C5790"/>
                </a:solidFill>
              </a:rPr>
              <a:t>Common Spring Cloud bus configuration.</a:t>
            </a:r>
          </a:p>
        </p:txBody>
      </p:sp>
      <p:graphicFrame>
        <p:nvGraphicFramePr>
          <p:cNvPr id="4" name="Table 2">
            <a:extLst>
              <a:ext uri="{FF2B5EF4-FFF2-40B4-BE49-F238E27FC236}">
                <a16:creationId xmlns:a16="http://schemas.microsoft.com/office/drawing/2014/main" id="{183293C6-93BD-4C96-90E0-0DCE85F6DE05}"/>
              </a:ext>
            </a:extLst>
          </p:cNvPr>
          <p:cNvGraphicFramePr>
            <a:graphicFrameLocks noGrp="1"/>
          </p:cNvGraphicFramePr>
          <p:nvPr>
            <p:extLst>
              <p:ext uri="{D42A27DB-BD31-4B8C-83A1-F6EECF244321}">
                <p14:modId xmlns:p14="http://schemas.microsoft.com/office/powerpoint/2010/main" val="197251944"/>
              </p:ext>
            </p:extLst>
          </p:nvPr>
        </p:nvGraphicFramePr>
        <p:xfrm>
          <a:off x="152400" y="2260134"/>
          <a:ext cx="8839200" cy="4302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589151108"/>
                    </a:ext>
                  </a:extLst>
                </a:gridCol>
                <a:gridCol w="1066800">
                  <a:extLst>
                    <a:ext uri="{9D8B030D-6E8A-4147-A177-3AD203B41FA5}">
                      <a16:colId xmlns:a16="http://schemas.microsoft.com/office/drawing/2014/main" val="4035097610"/>
                    </a:ext>
                  </a:extLst>
                </a:gridCol>
                <a:gridCol w="5257800">
                  <a:extLst>
                    <a:ext uri="{9D8B030D-6E8A-4147-A177-3AD203B41FA5}">
                      <a16:colId xmlns:a16="http://schemas.microsoft.com/office/drawing/2014/main" val="1422174699"/>
                    </a:ext>
                  </a:extLst>
                </a:gridCol>
              </a:tblGrid>
              <a:tr h="370840">
                <a:tc>
                  <a:txBody>
                    <a:bodyPr/>
                    <a:lstStyle/>
                    <a:p>
                      <a:r>
                        <a:rPr lang="en-US" dirty="0"/>
                        <a:t>Name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438961077"/>
                  </a:ext>
                </a:extLst>
              </a:tr>
              <a:tr h="370840">
                <a:tc>
                  <a:txBody>
                    <a:bodyPr/>
                    <a:lstStyle/>
                    <a:p>
                      <a:r>
                        <a:rPr lang="en-US" sz="1100" dirty="0" err="1"/>
                        <a:t>spring.cloud.bus.enabled</a:t>
                      </a:r>
                      <a:endParaRPr lang="en-US" sz="1100" dirty="0"/>
                    </a:p>
                  </a:txBody>
                  <a:tcPr/>
                </a:tc>
                <a:tc>
                  <a:txBody>
                    <a:bodyPr/>
                    <a:lstStyle/>
                    <a:p>
                      <a:r>
                        <a:rPr lang="en-US" sz="1100" dirty="0"/>
                        <a:t>true</a:t>
                      </a:r>
                    </a:p>
                  </a:txBody>
                  <a:tcPr/>
                </a:tc>
                <a:tc>
                  <a:txBody>
                    <a:bodyPr/>
                    <a:lstStyle/>
                    <a:p>
                      <a:r>
                        <a:rPr lang="en-US" sz="1100" dirty="0"/>
                        <a:t>Flag to enable or disable Spring Cloud Bus functionality.</a:t>
                      </a:r>
                    </a:p>
                  </a:txBody>
                  <a:tcPr/>
                </a:tc>
                <a:extLst>
                  <a:ext uri="{0D108BD9-81ED-4DB2-BD59-A6C34878D82A}">
                    <a16:rowId xmlns:a16="http://schemas.microsoft.com/office/drawing/2014/main" val="2324881647"/>
                  </a:ext>
                </a:extLst>
              </a:tr>
              <a:tr h="370840">
                <a:tc>
                  <a:txBody>
                    <a:bodyPr/>
                    <a:lstStyle/>
                    <a:p>
                      <a:r>
                        <a:rPr lang="en-US" sz="1100" dirty="0" err="1"/>
                        <a:t>spring.cloud.bus.destination</a:t>
                      </a:r>
                      <a:endParaRPr lang="en-US" sz="1100" dirty="0"/>
                    </a:p>
                  </a:txBody>
                  <a:tcPr/>
                </a:tc>
                <a:tc>
                  <a:txBody>
                    <a:bodyPr/>
                    <a:lstStyle/>
                    <a:p>
                      <a:r>
                        <a:rPr lang="en-US" sz="1100" dirty="0"/>
                        <a:t>(none)</a:t>
                      </a:r>
                    </a:p>
                  </a:txBody>
                  <a:tcPr/>
                </a:tc>
                <a:tc>
                  <a:txBody>
                    <a:bodyPr/>
                    <a:lstStyle/>
                    <a:p>
                      <a:r>
                        <a:rPr lang="en-US" sz="1100" dirty="0"/>
                        <a:t>Name of the Spring Cloud Stream destination (e.g., RabbitMQ exchange or Kafka topic) for bus messages.</a:t>
                      </a:r>
                    </a:p>
                  </a:txBody>
                  <a:tcPr/>
                </a:tc>
                <a:extLst>
                  <a:ext uri="{0D108BD9-81ED-4DB2-BD59-A6C34878D82A}">
                    <a16:rowId xmlns:a16="http://schemas.microsoft.com/office/drawing/2014/main" val="1568501300"/>
                  </a:ext>
                </a:extLst>
              </a:tr>
              <a:tr h="370840">
                <a:tc>
                  <a:txBody>
                    <a:bodyPr/>
                    <a:lstStyle/>
                    <a:p>
                      <a:r>
                        <a:rPr lang="en-US" sz="1100" dirty="0"/>
                        <a:t>spring.cloud.bus.id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(none)</a:t>
                      </a:r>
                    </a:p>
                    <a:p>
                      <a:endParaRPr lang="en-US" sz="1100" dirty="0"/>
                    </a:p>
                  </a:txBody>
                  <a:tcPr/>
                </a:tc>
                <a:tc>
                  <a:txBody>
                    <a:bodyPr/>
                    <a:lstStyle/>
                    <a:p>
                      <a:r>
                        <a:rPr lang="en-US" sz="1100" dirty="0"/>
                        <a:t>Identifier for the current application instance, used in bus messages to identify sender instances.</a:t>
                      </a:r>
                    </a:p>
                  </a:txBody>
                  <a:tcPr/>
                </a:tc>
                <a:extLst>
                  <a:ext uri="{0D108BD9-81ED-4DB2-BD59-A6C34878D82A}">
                    <a16:rowId xmlns:a16="http://schemas.microsoft.com/office/drawing/2014/main" val="3041417831"/>
                  </a:ext>
                </a:extLst>
              </a:tr>
              <a:tr h="370840">
                <a:tc>
                  <a:txBody>
                    <a:bodyPr/>
                    <a:lstStyle/>
                    <a:p>
                      <a:r>
                        <a:rPr lang="en-US" sz="1100" dirty="0" err="1"/>
                        <a:t>spring.cloud.bus.ack.enabled</a:t>
                      </a:r>
                      <a:endParaRPr lang="en-US" sz="1100" dirty="0"/>
                    </a:p>
                  </a:txBody>
                  <a:tcPr/>
                </a:tc>
                <a:tc>
                  <a:txBody>
                    <a:bodyPr/>
                    <a:lstStyle/>
                    <a:p>
                      <a:r>
                        <a:rPr lang="en-US" sz="1100" dirty="0"/>
                        <a:t>true</a:t>
                      </a:r>
                    </a:p>
                  </a:txBody>
                  <a:tcPr/>
                </a:tc>
                <a:tc>
                  <a:txBody>
                    <a:bodyPr/>
                    <a:lstStyle/>
                    <a:p>
                      <a:r>
                        <a:rPr lang="en-US" sz="1100" dirty="0"/>
                        <a:t>Flag to enable acknowledgment support for bus messages.</a:t>
                      </a:r>
                    </a:p>
                  </a:txBody>
                  <a:tcPr/>
                </a:tc>
                <a:extLst>
                  <a:ext uri="{0D108BD9-81ED-4DB2-BD59-A6C34878D82A}">
                    <a16:rowId xmlns:a16="http://schemas.microsoft.com/office/drawing/2014/main" val="934360143"/>
                  </a:ext>
                </a:extLst>
              </a:tr>
              <a:tr h="370840">
                <a:tc>
                  <a:txBody>
                    <a:bodyPr/>
                    <a:lstStyle/>
                    <a:p>
                      <a:r>
                        <a:rPr lang="en-US" sz="1100" dirty="0" err="1"/>
                        <a:t>spring.cloud.bus.ack.destination</a:t>
                      </a:r>
                      <a:r>
                        <a:rPr lang="en-US" sz="1100" dirty="0"/>
                        <a:t>-service</a:t>
                      </a:r>
                    </a:p>
                  </a:txBody>
                  <a:tcPr/>
                </a:tc>
                <a:tc>
                  <a:txBody>
                    <a:bodyPr/>
                    <a:lstStyle/>
                    <a:p>
                      <a:r>
                        <a:rPr lang="en-US" sz="1100" dirty="0"/>
                        <a:t>(none)</a:t>
                      </a:r>
                    </a:p>
                  </a:txBody>
                  <a:tcPr/>
                </a:tc>
                <a:tc>
                  <a:txBody>
                    <a:bodyPr/>
                    <a:lstStyle/>
                    <a:p>
                      <a:r>
                        <a:rPr lang="en-US" sz="1100" dirty="0"/>
                        <a:t>Service name that wants to receive acknowledgment messages. Null means all services receive them.</a:t>
                      </a:r>
                    </a:p>
                  </a:txBody>
                  <a:tcPr/>
                </a:tc>
                <a:extLst>
                  <a:ext uri="{0D108BD9-81ED-4DB2-BD59-A6C34878D82A}">
                    <a16:rowId xmlns:a16="http://schemas.microsoft.com/office/drawing/2014/main" val="1906485577"/>
                  </a:ext>
                </a:extLst>
              </a:tr>
              <a:tr h="370840">
                <a:tc>
                  <a:txBody>
                    <a:bodyPr/>
                    <a:lstStyle/>
                    <a:p>
                      <a:r>
                        <a:rPr lang="en-US" sz="1100" dirty="0" err="1"/>
                        <a:t>spring.cloud.bus.content</a:t>
                      </a:r>
                      <a:r>
                        <a:rPr lang="en-US" sz="1100" dirty="0"/>
                        <a:t>-type</a:t>
                      </a:r>
                    </a:p>
                  </a:txBody>
                  <a:tcPr/>
                </a:tc>
                <a:tc>
                  <a:txBody>
                    <a:bodyPr/>
                    <a:lstStyle/>
                    <a:p>
                      <a:r>
                        <a:rPr lang="en-US" sz="1100" dirty="0"/>
                        <a:t>application/json</a:t>
                      </a:r>
                    </a:p>
                  </a:txBody>
                  <a:tcPr/>
                </a:tc>
                <a:tc>
                  <a:txBody>
                    <a:bodyPr/>
                    <a:lstStyle/>
                    <a:p>
                      <a:r>
                        <a:rPr lang="en-US" sz="1100" dirty="0"/>
                        <a:t>MIME type used by the bus for message payloads.</a:t>
                      </a:r>
                    </a:p>
                  </a:txBody>
                  <a:tcPr/>
                </a:tc>
                <a:extLst>
                  <a:ext uri="{0D108BD9-81ED-4DB2-BD59-A6C34878D82A}">
                    <a16:rowId xmlns:a16="http://schemas.microsoft.com/office/drawing/2014/main" val="1504794619"/>
                  </a:ext>
                </a:extLst>
              </a:tr>
              <a:tr h="370840">
                <a:tc>
                  <a:txBody>
                    <a:bodyPr/>
                    <a:lstStyle/>
                    <a:p>
                      <a:r>
                        <a:rPr lang="en-US" sz="1100" dirty="0" err="1"/>
                        <a:t>spring.cloud.bus.env.enabled</a:t>
                      </a:r>
                      <a:endParaRPr lang="en-US" sz="1100" dirty="0"/>
                    </a:p>
                  </a:txBody>
                  <a:tcPr/>
                </a:tc>
                <a:tc>
                  <a:txBody>
                    <a:bodyPr/>
                    <a:lstStyle/>
                    <a:p>
                      <a:r>
                        <a:rPr lang="en-US" sz="1100" dirty="0"/>
                        <a:t>true</a:t>
                      </a:r>
                    </a:p>
                  </a:txBody>
                  <a:tcPr/>
                </a:tc>
                <a:tc>
                  <a:txBody>
                    <a:bodyPr/>
                    <a:lstStyle/>
                    <a:p>
                      <a:r>
                        <a:rPr lang="en-US" sz="1100" dirty="0"/>
                        <a:t>Whether to enable environment change events (e.g., configuration update messages).</a:t>
                      </a:r>
                    </a:p>
                  </a:txBody>
                  <a:tcPr/>
                </a:tc>
                <a:extLst>
                  <a:ext uri="{0D108BD9-81ED-4DB2-BD59-A6C34878D82A}">
                    <a16:rowId xmlns:a16="http://schemas.microsoft.com/office/drawing/2014/main" val="2836072366"/>
                  </a:ext>
                </a:extLst>
              </a:tr>
              <a:tr h="370840">
                <a:tc>
                  <a:txBody>
                    <a:bodyPr/>
                    <a:lstStyle/>
                    <a:p>
                      <a:r>
                        <a:rPr lang="en-US" sz="1100" dirty="0" err="1"/>
                        <a:t>spring.cloud.bus.refresh.enabled</a:t>
                      </a:r>
                      <a:endParaRPr lang="en-US" sz="1100" dirty="0"/>
                    </a:p>
                  </a:txBody>
                  <a:tcPr/>
                </a:tc>
                <a:tc>
                  <a:txBody>
                    <a:bodyPr/>
                    <a:lstStyle/>
                    <a:p>
                      <a:r>
                        <a:rPr lang="en-US" sz="1100" dirty="0"/>
                        <a:t>true</a:t>
                      </a:r>
                    </a:p>
                  </a:txBody>
                  <a:tcPr/>
                </a:tc>
                <a:tc>
                  <a:txBody>
                    <a:bodyPr/>
                    <a:lstStyle/>
                    <a:p>
                      <a:r>
                        <a:rPr lang="en-US" sz="1100" dirty="0"/>
                        <a:t>Whether to enable refresh events that trigger configuration reloads in listening services.</a:t>
                      </a:r>
                    </a:p>
                  </a:txBody>
                  <a:tcPr/>
                </a:tc>
                <a:extLst>
                  <a:ext uri="{0D108BD9-81ED-4DB2-BD59-A6C34878D82A}">
                    <a16:rowId xmlns:a16="http://schemas.microsoft.com/office/drawing/2014/main" val="393849258"/>
                  </a:ext>
                </a:extLst>
              </a:tr>
              <a:tr h="370840">
                <a:tc>
                  <a:txBody>
                    <a:bodyPr/>
                    <a:lstStyle/>
                    <a:p>
                      <a:r>
                        <a:rPr lang="en-US" sz="1100" dirty="0" err="1"/>
                        <a:t>spring.cloud.bus.shutdown.enabled</a:t>
                      </a:r>
                      <a:endParaRPr lang="en-US" sz="1100" dirty="0"/>
                    </a:p>
                  </a:txBody>
                  <a:tcPr/>
                </a:tc>
                <a:tc>
                  <a:txBody>
                    <a:bodyPr/>
                    <a:lstStyle/>
                    <a:p>
                      <a:r>
                        <a:rPr lang="en-US" sz="1100" dirty="0"/>
                        <a:t>true</a:t>
                      </a:r>
                    </a:p>
                  </a:txBody>
                  <a:tcPr/>
                </a:tc>
                <a:tc>
                  <a:txBody>
                    <a:bodyPr/>
                    <a:lstStyle/>
                    <a:p>
                      <a:r>
                        <a:rPr lang="en-US" sz="1100" dirty="0"/>
                        <a:t>Whether to enable shutdown events broadcasted over the bus.</a:t>
                      </a:r>
                    </a:p>
                  </a:txBody>
                  <a:tcPr/>
                </a:tc>
                <a:extLst>
                  <a:ext uri="{0D108BD9-81ED-4DB2-BD59-A6C34878D82A}">
                    <a16:rowId xmlns:a16="http://schemas.microsoft.com/office/drawing/2014/main" val="131537762"/>
                  </a:ext>
                </a:extLst>
              </a:tr>
              <a:tr h="370840">
                <a:tc>
                  <a:txBody>
                    <a:bodyPr/>
                    <a:lstStyle/>
                    <a:p>
                      <a:r>
                        <a:rPr lang="en-US" sz="1100" dirty="0" err="1"/>
                        <a:t>spring.cloud.bus.trace.enabled</a:t>
                      </a:r>
                      <a:endParaRPr lang="en-US" sz="1100" dirty="0"/>
                    </a:p>
                  </a:txBody>
                  <a:tcPr/>
                </a:tc>
                <a:tc>
                  <a:txBody>
                    <a:bodyPr/>
                    <a:lstStyle/>
                    <a:p>
                      <a:r>
                        <a:rPr lang="en-US" sz="1100" dirty="0"/>
                        <a:t>false</a:t>
                      </a:r>
                    </a:p>
                  </a:txBody>
                  <a:tcPr/>
                </a:tc>
                <a:tc>
                  <a:txBody>
                    <a:bodyPr/>
                    <a:lstStyle/>
                    <a:p>
                      <a:r>
                        <a:rPr lang="en-US" sz="1100" dirty="0"/>
                        <a:t>Enables tracing of acknowledgment messages for diagnostics.</a:t>
                      </a:r>
                    </a:p>
                  </a:txBody>
                  <a:tcPr/>
                </a:tc>
                <a:extLst>
                  <a:ext uri="{0D108BD9-81ED-4DB2-BD59-A6C34878D82A}">
                    <a16:rowId xmlns:a16="http://schemas.microsoft.com/office/drawing/2014/main" val="3824778860"/>
                  </a:ext>
                </a:extLst>
              </a:tr>
            </a:tbl>
          </a:graphicData>
        </a:graphic>
      </p:graphicFrame>
    </p:spTree>
    <p:extLst>
      <p:ext uri="{BB962C8B-B14F-4D97-AF65-F5344CB8AC3E}">
        <p14:creationId xmlns:p14="http://schemas.microsoft.com/office/powerpoint/2010/main" val="23426008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828800"/>
          </a:xfrm>
        </p:spPr>
        <p:txBody>
          <a:bodyPr/>
          <a:lstStyle/>
          <a:p>
            <a:r>
              <a:rPr lang="en-US" sz="1400" dirty="0">
                <a:solidFill>
                  <a:srgbClr val="3C5790"/>
                </a:solidFill>
              </a:rPr>
              <a:t>Spring Cloud Bus provides three endpoints, /actuator/</a:t>
            </a:r>
            <a:r>
              <a:rPr lang="en-US" sz="1400" dirty="0" err="1">
                <a:solidFill>
                  <a:srgbClr val="3C5790"/>
                </a:solidFill>
              </a:rPr>
              <a:t>busrefresh</a:t>
            </a:r>
            <a:r>
              <a:rPr lang="en-US" sz="1400" dirty="0">
                <a:solidFill>
                  <a:srgbClr val="3C5790"/>
                </a:solidFill>
              </a:rPr>
              <a:t>, /</a:t>
            </a:r>
            <a:r>
              <a:rPr lang="en-US" sz="1400" dirty="0" err="1">
                <a:solidFill>
                  <a:srgbClr val="3C5790"/>
                </a:solidFill>
              </a:rPr>
              <a:t>actutator</a:t>
            </a:r>
            <a:r>
              <a:rPr lang="en-US" sz="1400" dirty="0">
                <a:solidFill>
                  <a:srgbClr val="3C5790"/>
                </a:solidFill>
              </a:rPr>
              <a:t>/</a:t>
            </a:r>
            <a:r>
              <a:rPr lang="en-US" sz="1400" dirty="0" err="1">
                <a:solidFill>
                  <a:srgbClr val="3C5790"/>
                </a:solidFill>
              </a:rPr>
              <a:t>busshutdown</a:t>
            </a:r>
            <a:r>
              <a:rPr lang="en-US" sz="1400" dirty="0">
                <a:solidFill>
                  <a:srgbClr val="3C5790"/>
                </a:solidFill>
              </a:rPr>
              <a:t> and /actuator/</a:t>
            </a:r>
            <a:r>
              <a:rPr lang="en-US" sz="1400" dirty="0" err="1">
                <a:solidFill>
                  <a:srgbClr val="3C5790"/>
                </a:solidFill>
              </a:rPr>
              <a:t>busenv</a:t>
            </a:r>
            <a:r>
              <a:rPr lang="en-US" sz="1400" dirty="0">
                <a:solidFill>
                  <a:srgbClr val="3C5790"/>
                </a:solidFill>
              </a:rPr>
              <a:t> that correspond to individual actuator endpoints in Spring Cloud Commons, /actuator/refresh, /actuator/shutdown, and /actuator/env respectively. </a:t>
            </a:r>
          </a:p>
          <a:p>
            <a:r>
              <a:rPr lang="en-US" sz="1400" dirty="0">
                <a:solidFill>
                  <a:srgbClr val="3C5790"/>
                </a:solidFill>
              </a:rPr>
              <a:t>To expose the </a:t>
            </a:r>
            <a:r>
              <a:rPr lang="en-US" sz="1400" b="1" dirty="0">
                <a:solidFill>
                  <a:srgbClr val="3C5790"/>
                </a:solidFill>
              </a:rPr>
              <a:t>/actuator/</a:t>
            </a:r>
            <a:r>
              <a:rPr lang="en-US" sz="1400" b="1" dirty="0" err="1">
                <a:solidFill>
                  <a:srgbClr val="3C5790"/>
                </a:solidFill>
              </a:rPr>
              <a:t>busrefresh</a:t>
            </a:r>
            <a:r>
              <a:rPr lang="en-US" sz="1400" dirty="0">
                <a:solidFill>
                  <a:srgbClr val="3C5790"/>
                </a:solidFill>
              </a:rPr>
              <a:t> endpoint, you need to add following configuration to your application:</a:t>
            </a:r>
          </a:p>
          <a:p>
            <a:r>
              <a:rPr lang="en-US" sz="1400" b="1" dirty="0" err="1">
                <a:solidFill>
                  <a:srgbClr val="3C5790"/>
                </a:solidFill>
              </a:rPr>
              <a:t>management.endpoints.web.exposure.include</a:t>
            </a:r>
            <a:r>
              <a:rPr lang="en-US" sz="1400" b="1" dirty="0">
                <a:solidFill>
                  <a:srgbClr val="3C5790"/>
                </a:solidFill>
              </a:rPr>
              <a:t>=</a:t>
            </a:r>
            <a:r>
              <a:rPr lang="en-US" sz="1400" b="1" dirty="0" err="1">
                <a:solidFill>
                  <a:srgbClr val="3C5790"/>
                </a:solidFill>
              </a:rPr>
              <a:t>busrefresh</a:t>
            </a:r>
            <a:endParaRPr lang="en-US" sz="1400" b="1" dirty="0">
              <a:solidFill>
                <a:srgbClr val="3C5790"/>
              </a:solidFill>
            </a:endParaRPr>
          </a:p>
        </p:txBody>
      </p:sp>
    </p:spTree>
    <p:extLst>
      <p:ext uri="{BB962C8B-B14F-4D97-AF65-F5344CB8AC3E}">
        <p14:creationId xmlns:p14="http://schemas.microsoft.com/office/powerpoint/2010/main" val="41159779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685800"/>
          </a:xfrm>
        </p:spPr>
        <p:txBody>
          <a:bodyPr/>
          <a:lstStyle/>
          <a:p>
            <a:r>
              <a:rPr lang="en-US" sz="1400" dirty="0">
                <a:solidFill>
                  <a:srgbClr val="3C5790"/>
                </a:solidFill>
              </a:rPr>
              <a:t>We need to install and use RabbitMQ that starts on port 5672, use maven dependency </a:t>
            </a:r>
            <a:r>
              <a:rPr lang="en-US" sz="1400" b="1" dirty="0">
                <a:solidFill>
                  <a:srgbClr val="3C5790"/>
                </a:solidFill>
              </a:rPr>
              <a:t>spring-cloud-starter-bus-</a:t>
            </a:r>
            <a:r>
              <a:rPr lang="en-US" sz="1400" b="1" dirty="0" err="1">
                <a:solidFill>
                  <a:srgbClr val="3C5790"/>
                </a:solidFill>
              </a:rPr>
              <a:t>amqp</a:t>
            </a:r>
            <a:r>
              <a:rPr lang="en-US" sz="1400" dirty="0">
                <a:solidFill>
                  <a:srgbClr val="3C5790"/>
                </a:solidFill>
              </a:rPr>
              <a:t> and use custom </a:t>
            </a:r>
            <a:r>
              <a:rPr lang="en-US" sz="1400" dirty="0" err="1">
                <a:solidFill>
                  <a:srgbClr val="3C5790"/>
                </a:solidFill>
              </a:rPr>
              <a:t>application.properties</a:t>
            </a:r>
            <a:r>
              <a:rPr lang="en-US" sz="1400" dirty="0">
                <a:solidFill>
                  <a:srgbClr val="3C5790"/>
                </a:solidFill>
              </a:rPr>
              <a:t> </a:t>
            </a:r>
          </a:p>
        </p:txBody>
      </p:sp>
      <p:pic>
        <p:nvPicPr>
          <p:cNvPr id="3" name="Picture 2">
            <a:extLst>
              <a:ext uri="{FF2B5EF4-FFF2-40B4-BE49-F238E27FC236}">
                <a16:creationId xmlns:a16="http://schemas.microsoft.com/office/drawing/2014/main" id="{FB03653F-A3FD-4B3E-9429-B4EFF888F4DD}"/>
              </a:ext>
            </a:extLst>
          </p:cNvPr>
          <p:cNvPicPr>
            <a:picLocks noChangeAspect="1"/>
          </p:cNvPicPr>
          <p:nvPr/>
        </p:nvPicPr>
        <p:blipFill>
          <a:blip r:embed="rId3"/>
          <a:stretch>
            <a:fillRect/>
          </a:stretch>
        </p:blipFill>
        <p:spPr>
          <a:xfrm>
            <a:off x="220910" y="3000550"/>
            <a:ext cx="4695825" cy="609600"/>
          </a:xfrm>
          <a:prstGeom prst="rect">
            <a:avLst/>
          </a:prstGeom>
        </p:spPr>
      </p:pic>
      <p:pic>
        <p:nvPicPr>
          <p:cNvPr id="5" name="Picture 4">
            <a:extLst>
              <a:ext uri="{FF2B5EF4-FFF2-40B4-BE49-F238E27FC236}">
                <a16:creationId xmlns:a16="http://schemas.microsoft.com/office/drawing/2014/main" id="{940A1871-9E2B-4CEE-A16A-EA1E6E0737C8}"/>
              </a:ext>
            </a:extLst>
          </p:cNvPr>
          <p:cNvPicPr>
            <a:picLocks noChangeAspect="1"/>
          </p:cNvPicPr>
          <p:nvPr/>
        </p:nvPicPr>
        <p:blipFill>
          <a:blip r:embed="rId4"/>
          <a:stretch>
            <a:fillRect/>
          </a:stretch>
        </p:blipFill>
        <p:spPr>
          <a:xfrm>
            <a:off x="6096000" y="2948162"/>
            <a:ext cx="2343150" cy="714375"/>
          </a:xfrm>
          <a:prstGeom prst="rect">
            <a:avLst/>
          </a:prstGeom>
        </p:spPr>
      </p:pic>
    </p:spTree>
    <p:extLst>
      <p:ext uri="{BB962C8B-B14F-4D97-AF65-F5344CB8AC3E}">
        <p14:creationId xmlns:p14="http://schemas.microsoft.com/office/powerpoint/2010/main" val="1070675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Spring Cloud Bus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771249"/>
          </a:xfrm>
        </p:spPr>
        <p:txBody>
          <a:bodyPr/>
          <a:lstStyle/>
          <a:p>
            <a:r>
              <a:rPr lang="en-US" sz="1400" dirty="0">
                <a:solidFill>
                  <a:srgbClr val="3C5790"/>
                </a:solidFill>
              </a:rPr>
              <a:t>We can use the POST /actuator/</a:t>
            </a:r>
            <a:r>
              <a:rPr lang="en-US" sz="1400" dirty="0" err="1">
                <a:solidFill>
                  <a:srgbClr val="3C5790"/>
                </a:solidFill>
              </a:rPr>
              <a:t>busenv</a:t>
            </a:r>
            <a:r>
              <a:rPr lang="en-US" sz="1400" dirty="0">
                <a:solidFill>
                  <a:srgbClr val="3C5790"/>
                </a:solidFill>
              </a:rPr>
              <a:t> request to trigger env property changes.</a:t>
            </a:r>
          </a:p>
          <a:p>
            <a:r>
              <a:rPr lang="en-US" sz="1400" dirty="0">
                <a:solidFill>
                  <a:srgbClr val="3C5790"/>
                </a:solidFill>
              </a:rPr>
              <a:t>The microservice will receive the environment variable changes instantly.</a:t>
            </a:r>
          </a:p>
        </p:txBody>
      </p:sp>
      <p:pic>
        <p:nvPicPr>
          <p:cNvPr id="3" name="Picture 2">
            <a:extLst>
              <a:ext uri="{FF2B5EF4-FFF2-40B4-BE49-F238E27FC236}">
                <a16:creationId xmlns:a16="http://schemas.microsoft.com/office/drawing/2014/main" id="{21CD4BA7-718C-4D9F-A3FC-5B198CB29957}"/>
              </a:ext>
            </a:extLst>
          </p:cNvPr>
          <p:cNvPicPr>
            <a:picLocks noChangeAspect="1"/>
          </p:cNvPicPr>
          <p:nvPr/>
        </p:nvPicPr>
        <p:blipFill>
          <a:blip r:embed="rId3"/>
          <a:stretch>
            <a:fillRect/>
          </a:stretch>
        </p:blipFill>
        <p:spPr>
          <a:xfrm>
            <a:off x="926983" y="3124200"/>
            <a:ext cx="7290033" cy="2300063"/>
          </a:xfrm>
          <a:prstGeom prst="rect">
            <a:avLst/>
          </a:prstGeom>
        </p:spPr>
      </p:pic>
      <p:pic>
        <p:nvPicPr>
          <p:cNvPr id="5" name="Picture 4">
            <a:extLst>
              <a:ext uri="{FF2B5EF4-FFF2-40B4-BE49-F238E27FC236}">
                <a16:creationId xmlns:a16="http://schemas.microsoft.com/office/drawing/2014/main" id="{B4DF5465-5C87-4485-9ABC-01323749DE5E}"/>
              </a:ext>
            </a:extLst>
          </p:cNvPr>
          <p:cNvPicPr>
            <a:picLocks noChangeAspect="1"/>
          </p:cNvPicPr>
          <p:nvPr/>
        </p:nvPicPr>
        <p:blipFill>
          <a:blip r:embed="rId4"/>
          <a:stretch>
            <a:fillRect/>
          </a:stretch>
        </p:blipFill>
        <p:spPr>
          <a:xfrm>
            <a:off x="304800" y="6172200"/>
            <a:ext cx="8839200" cy="349652"/>
          </a:xfrm>
          <a:prstGeom prst="rect">
            <a:avLst/>
          </a:prstGeom>
        </p:spPr>
      </p:pic>
      <p:cxnSp>
        <p:nvCxnSpPr>
          <p:cNvPr id="7" name="Straight Connector 6">
            <a:extLst>
              <a:ext uri="{FF2B5EF4-FFF2-40B4-BE49-F238E27FC236}">
                <a16:creationId xmlns:a16="http://schemas.microsoft.com/office/drawing/2014/main" id="{6343FDD4-6B58-4FFB-BB64-A42C0A84503B}"/>
              </a:ext>
            </a:extLst>
          </p:cNvPr>
          <p:cNvCxnSpPr/>
          <p:nvPr/>
        </p:nvCxnSpPr>
        <p:spPr>
          <a:xfrm>
            <a:off x="0" y="5791200"/>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859445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Ribbon</a:t>
            </a:r>
            <a:endParaRPr lang="fr-CA" dirty="0">
              <a:solidFill>
                <a:schemeClr val="bg1"/>
              </a:solidFill>
            </a:endParaRPr>
          </a:p>
        </p:txBody>
      </p:sp>
      <p:sp>
        <p:nvSpPr>
          <p:cNvPr id="4099" name="Espace réservé du contenu 4"/>
          <p:cNvSpPr>
            <a:spLocks noGrp="1"/>
          </p:cNvSpPr>
          <p:nvPr>
            <p:ph idx="1"/>
          </p:nvPr>
        </p:nvSpPr>
        <p:spPr>
          <a:xfrm>
            <a:off x="228600" y="2133600"/>
            <a:ext cx="8686800" cy="1828800"/>
          </a:xfrm>
        </p:spPr>
        <p:txBody>
          <a:bodyPr/>
          <a:lstStyle/>
          <a:p>
            <a:r>
              <a:rPr lang="en-US" sz="1400" b="1" dirty="0">
                <a:solidFill>
                  <a:srgbClr val="3C5790"/>
                </a:solidFill>
              </a:rPr>
              <a:t>Spring Cloud Ribbon </a:t>
            </a:r>
            <a:r>
              <a:rPr lang="en-US" sz="1400" dirty="0">
                <a:solidFill>
                  <a:srgbClr val="3C5790"/>
                </a:solidFill>
              </a:rPr>
              <a:t>is a powerful client-side load balancing library that empowers service clients to balance requests intelligently across multiple instances of a target service, improving scalability and fault tolerance in microservice environments. </a:t>
            </a:r>
          </a:p>
          <a:p>
            <a:r>
              <a:rPr lang="en-US" sz="1400" dirty="0">
                <a:solidFill>
                  <a:srgbClr val="3C5790"/>
                </a:solidFill>
              </a:rPr>
              <a:t>Ribbon uses pluggable algorithms, integrates with service registries, and supports health checks to optimize request routing.</a:t>
            </a:r>
          </a:p>
          <a:p>
            <a:r>
              <a:rPr lang="en-US" sz="1400" dirty="0">
                <a:solidFill>
                  <a:srgbClr val="3C5790"/>
                </a:solidFill>
              </a:rPr>
              <a:t>This was the default client load balancer in Spring Cloud Netflix projects, although newer Spring Cloud versions recommend Spring Cloud </a:t>
            </a:r>
            <a:r>
              <a:rPr lang="en-US" sz="1400" b="1" dirty="0" err="1">
                <a:solidFill>
                  <a:srgbClr val="3C5790"/>
                </a:solidFill>
              </a:rPr>
              <a:t>LoadBalancer</a:t>
            </a:r>
            <a:r>
              <a:rPr lang="en-US" sz="1400" dirty="0">
                <a:solidFill>
                  <a:srgbClr val="3C5790"/>
                </a:solidFill>
              </a:rPr>
              <a:t> as a successor to </a:t>
            </a:r>
            <a:r>
              <a:rPr lang="en-US" sz="1400" dirty="0" err="1">
                <a:solidFill>
                  <a:srgbClr val="3C5790"/>
                </a:solidFill>
              </a:rPr>
              <a:t>Ribbo</a:t>
            </a:r>
            <a:r>
              <a:rPr lang="en-US" sz="1400" dirty="0">
                <a:solidFill>
                  <a:srgbClr val="3C5790"/>
                </a:solidFill>
              </a:rPr>
              <a:t>.</a:t>
            </a:r>
          </a:p>
        </p:txBody>
      </p:sp>
    </p:spTree>
    <p:extLst>
      <p:ext uri="{BB962C8B-B14F-4D97-AF65-F5344CB8AC3E}">
        <p14:creationId xmlns:p14="http://schemas.microsoft.com/office/powerpoint/2010/main" val="23361808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Ribbon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886200"/>
          </a:xfrm>
        </p:spPr>
        <p:txBody>
          <a:bodyPr/>
          <a:lstStyle/>
          <a:p>
            <a:r>
              <a:rPr lang="en-US" sz="1400" u="sng" dirty="0">
                <a:solidFill>
                  <a:srgbClr val="3C5790"/>
                </a:solidFill>
              </a:rPr>
              <a:t>Key Points</a:t>
            </a:r>
          </a:p>
          <a:p>
            <a:pPr lvl="1"/>
            <a:r>
              <a:rPr lang="en-US" sz="1400" b="1" dirty="0">
                <a:solidFill>
                  <a:srgbClr val="3C5790"/>
                </a:solidFill>
              </a:rPr>
              <a:t>Client-Side Load Balancer</a:t>
            </a:r>
            <a:r>
              <a:rPr lang="en-US" sz="1400" dirty="0">
                <a:solidFill>
                  <a:srgbClr val="3C5790"/>
                </a:solidFill>
              </a:rPr>
              <a:t>: Unlike server-side load balancing where a central load balancer routes traffic, Ribbon runs on the client (service caller) side, deciding which service instance it will send requests to.</a:t>
            </a:r>
          </a:p>
          <a:p>
            <a:pPr lvl="1"/>
            <a:r>
              <a:rPr lang="en-US" sz="1400" b="1" dirty="0">
                <a:solidFill>
                  <a:srgbClr val="3C5790"/>
                </a:solidFill>
              </a:rPr>
              <a:t>Service Discovery Integration</a:t>
            </a:r>
            <a:r>
              <a:rPr lang="en-US" sz="1400" dirty="0">
                <a:solidFill>
                  <a:srgbClr val="3C5790"/>
                </a:solidFill>
              </a:rPr>
              <a:t>: Ribbon can integrate with service registries like Netflix Eureka, fetching the list of available service instances dynamically.</a:t>
            </a:r>
          </a:p>
          <a:p>
            <a:pPr lvl="1"/>
            <a:r>
              <a:rPr lang="en-US" sz="1400" b="1" dirty="0">
                <a:solidFill>
                  <a:srgbClr val="3C5790"/>
                </a:solidFill>
              </a:rPr>
              <a:t>Load Balancing Strategies</a:t>
            </a:r>
            <a:r>
              <a:rPr lang="en-US" sz="1400" dirty="0">
                <a:solidFill>
                  <a:srgbClr val="3C5790"/>
                </a:solidFill>
              </a:rPr>
              <a:t>: Ribbon supports various load balancing algorithms out-of-the-box, such as:</a:t>
            </a:r>
          </a:p>
          <a:p>
            <a:pPr lvl="2"/>
            <a:r>
              <a:rPr lang="en-US" sz="1200" dirty="0">
                <a:solidFill>
                  <a:srgbClr val="3C5790"/>
                </a:solidFill>
              </a:rPr>
              <a:t>Round-robin</a:t>
            </a:r>
          </a:p>
          <a:p>
            <a:pPr lvl="2"/>
            <a:r>
              <a:rPr lang="en-US" sz="1200" dirty="0">
                <a:solidFill>
                  <a:srgbClr val="3C5790"/>
                </a:solidFill>
              </a:rPr>
              <a:t>Random</a:t>
            </a:r>
          </a:p>
          <a:p>
            <a:pPr lvl="2"/>
            <a:r>
              <a:rPr lang="en-US" sz="1200" dirty="0">
                <a:solidFill>
                  <a:srgbClr val="3C5790"/>
                </a:solidFill>
              </a:rPr>
              <a:t>Weighted response time</a:t>
            </a:r>
          </a:p>
          <a:p>
            <a:pPr lvl="2"/>
            <a:r>
              <a:rPr lang="en-US" sz="1200" dirty="0">
                <a:solidFill>
                  <a:srgbClr val="3C5790"/>
                </a:solidFill>
              </a:rPr>
              <a:t>Zone-aware (prefers instances in the same zone)</a:t>
            </a:r>
          </a:p>
          <a:p>
            <a:pPr lvl="1"/>
            <a:r>
              <a:rPr lang="en-US" sz="1400" b="1" dirty="0">
                <a:solidFill>
                  <a:srgbClr val="3C5790"/>
                </a:solidFill>
              </a:rPr>
              <a:t>Health Checks (Ping): </a:t>
            </a:r>
            <a:r>
              <a:rPr lang="en-US" sz="1400" dirty="0">
                <a:solidFill>
                  <a:srgbClr val="3C5790"/>
                </a:solidFill>
              </a:rPr>
              <a:t>Ribbon can ping service instances to check if they are alive and only route traffic to healthy instances.</a:t>
            </a:r>
          </a:p>
          <a:p>
            <a:pPr lvl="1"/>
            <a:r>
              <a:rPr lang="en-US" sz="1400" b="1" dirty="0">
                <a:solidFill>
                  <a:srgbClr val="3C5790"/>
                </a:solidFill>
              </a:rPr>
              <a:t>Customizable</a:t>
            </a:r>
            <a:r>
              <a:rPr lang="en-US" sz="1400" dirty="0">
                <a:solidFill>
                  <a:srgbClr val="3C5790"/>
                </a:solidFill>
              </a:rPr>
              <a:t>: Developers can define custom load balancing rules, servers lists, and health checking strategies.</a:t>
            </a:r>
          </a:p>
          <a:p>
            <a:pPr lvl="1"/>
            <a:r>
              <a:rPr lang="en-US" sz="1400" b="1" dirty="0">
                <a:solidFill>
                  <a:srgbClr val="3C5790"/>
                </a:solidFill>
              </a:rPr>
              <a:t>Used with Feign</a:t>
            </a:r>
            <a:r>
              <a:rPr lang="en-US" sz="1400" dirty="0">
                <a:solidFill>
                  <a:srgbClr val="3C5790"/>
                </a:solidFill>
              </a:rPr>
              <a:t>: Ribbon is often used alongside Netflix Feign as the client-side load balancer for declarative HTTP clients in Spring Cloud.</a:t>
            </a:r>
          </a:p>
        </p:txBody>
      </p:sp>
    </p:spTree>
    <p:extLst>
      <p:ext uri="{BB962C8B-B14F-4D97-AF65-F5344CB8AC3E}">
        <p14:creationId xmlns:p14="http://schemas.microsoft.com/office/powerpoint/2010/main" val="29088908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Ribbon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200"/>
            <a:ext cx="8686800" cy="304800"/>
          </a:xfrm>
        </p:spPr>
        <p:txBody>
          <a:bodyPr/>
          <a:lstStyle/>
          <a:p>
            <a:r>
              <a:rPr lang="en-US" sz="1400" dirty="0">
                <a:solidFill>
                  <a:srgbClr val="3C5790"/>
                </a:solidFill>
              </a:rPr>
              <a:t>Ribbon Load Balancer Architecture</a:t>
            </a:r>
          </a:p>
        </p:txBody>
      </p:sp>
      <p:pic>
        <p:nvPicPr>
          <p:cNvPr id="3" name="Picture 2">
            <a:extLst>
              <a:ext uri="{FF2B5EF4-FFF2-40B4-BE49-F238E27FC236}">
                <a16:creationId xmlns:a16="http://schemas.microsoft.com/office/drawing/2014/main" id="{5CF520C1-6749-40E3-9BFC-5758CEA1F764}"/>
              </a:ext>
            </a:extLst>
          </p:cNvPr>
          <p:cNvPicPr>
            <a:picLocks noChangeAspect="1"/>
          </p:cNvPicPr>
          <p:nvPr/>
        </p:nvPicPr>
        <p:blipFill>
          <a:blip r:embed="rId3"/>
          <a:stretch>
            <a:fillRect/>
          </a:stretch>
        </p:blipFill>
        <p:spPr>
          <a:xfrm>
            <a:off x="2133600" y="2362200"/>
            <a:ext cx="4670358" cy="4419600"/>
          </a:xfrm>
          <a:prstGeom prst="rect">
            <a:avLst/>
          </a:prstGeom>
        </p:spPr>
      </p:pic>
    </p:spTree>
    <p:extLst>
      <p:ext uri="{BB962C8B-B14F-4D97-AF65-F5344CB8AC3E}">
        <p14:creationId xmlns:p14="http://schemas.microsoft.com/office/powerpoint/2010/main" val="5508509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Ribbon</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676400"/>
          </a:xfrm>
        </p:spPr>
        <p:txBody>
          <a:bodyPr/>
          <a:lstStyle/>
          <a:p>
            <a:r>
              <a:rPr lang="en-US" sz="1400" dirty="0">
                <a:solidFill>
                  <a:srgbClr val="3C5790"/>
                </a:solidFill>
              </a:rPr>
              <a:t>Netflix Ribbon has been officially deprecated and was removed from Spring Cloud starting with the 2020.0.x (codename: </a:t>
            </a:r>
            <a:r>
              <a:rPr lang="en-US" sz="1400" dirty="0" err="1">
                <a:solidFill>
                  <a:srgbClr val="3C5790"/>
                </a:solidFill>
              </a:rPr>
              <a:t>Ilford</a:t>
            </a:r>
            <a:r>
              <a:rPr lang="en-US" sz="1400" dirty="0">
                <a:solidFill>
                  <a:srgbClr val="3C5790"/>
                </a:solidFill>
              </a:rPr>
              <a:t>) release train.</a:t>
            </a:r>
          </a:p>
          <a:p>
            <a:r>
              <a:rPr lang="en-US" sz="1400" dirty="0">
                <a:solidFill>
                  <a:srgbClr val="3C5790"/>
                </a:solidFill>
              </a:rPr>
              <a:t>Since then, Spring Cloud recommends using Spring Cloud </a:t>
            </a:r>
            <a:r>
              <a:rPr lang="en-US" sz="1400" dirty="0" err="1">
                <a:solidFill>
                  <a:srgbClr val="3C5790"/>
                </a:solidFill>
              </a:rPr>
              <a:t>LoadBalancer</a:t>
            </a:r>
            <a:r>
              <a:rPr lang="en-US" sz="1400" dirty="0">
                <a:solidFill>
                  <a:srgbClr val="3C5790"/>
                </a:solidFill>
              </a:rPr>
              <a:t>, which is the modern replacement maintained by the Spring team.</a:t>
            </a:r>
          </a:p>
          <a:p>
            <a:r>
              <a:rPr lang="en-US" sz="1400" dirty="0">
                <a:solidFill>
                  <a:srgbClr val="3C5790"/>
                </a:solidFill>
              </a:rPr>
              <a:t>Spring Cloud </a:t>
            </a:r>
            <a:r>
              <a:rPr lang="en-US" sz="1400" dirty="0" err="1">
                <a:solidFill>
                  <a:srgbClr val="3C5790"/>
                </a:solidFill>
              </a:rPr>
              <a:t>LoadBalancer</a:t>
            </a:r>
            <a:r>
              <a:rPr lang="en-US" sz="1400" dirty="0">
                <a:solidFill>
                  <a:srgbClr val="3C5790"/>
                </a:solidFill>
              </a:rPr>
              <a:t> offers similar client-side load balancing features and better integration with the Spring ecosystem.</a:t>
            </a:r>
          </a:p>
        </p:txBody>
      </p:sp>
    </p:spTree>
    <p:extLst>
      <p:ext uri="{BB962C8B-B14F-4D97-AF65-F5344CB8AC3E}">
        <p14:creationId xmlns:p14="http://schemas.microsoft.com/office/powerpoint/2010/main" val="23323852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Zuul</a:t>
            </a:r>
            <a:endParaRPr lang="fr-CA" dirty="0">
              <a:solidFill>
                <a:schemeClr val="bg1"/>
              </a:solidFill>
            </a:endParaRPr>
          </a:p>
        </p:txBody>
      </p:sp>
      <p:sp>
        <p:nvSpPr>
          <p:cNvPr id="4099" name="Espace réservé du contenu 4"/>
          <p:cNvSpPr>
            <a:spLocks noGrp="1"/>
          </p:cNvSpPr>
          <p:nvPr>
            <p:ph idx="1"/>
          </p:nvPr>
        </p:nvSpPr>
        <p:spPr>
          <a:xfrm>
            <a:off x="228600" y="2133600"/>
            <a:ext cx="8686800" cy="1524000"/>
          </a:xfrm>
        </p:spPr>
        <p:txBody>
          <a:bodyPr/>
          <a:lstStyle/>
          <a:p>
            <a:r>
              <a:rPr lang="en-US" sz="1400" b="1" dirty="0" err="1">
                <a:solidFill>
                  <a:srgbClr val="3C5790"/>
                </a:solidFill>
              </a:rPr>
              <a:t>Zuul</a:t>
            </a:r>
            <a:r>
              <a:rPr lang="en-US" sz="1400" dirty="0">
                <a:solidFill>
                  <a:srgbClr val="3C5790"/>
                </a:solidFill>
              </a:rPr>
              <a:t> is the Netflix-originated API Gateway solution incorporated into Spring Cloud. </a:t>
            </a:r>
          </a:p>
          <a:p>
            <a:r>
              <a:rPr lang="en-US" sz="1400" dirty="0" err="1">
                <a:solidFill>
                  <a:srgbClr val="3C5790"/>
                </a:solidFill>
              </a:rPr>
              <a:t>Zuul</a:t>
            </a:r>
            <a:r>
              <a:rPr lang="en-US" sz="1400" dirty="0">
                <a:solidFill>
                  <a:srgbClr val="3C5790"/>
                </a:solidFill>
              </a:rPr>
              <a:t> facilitates routing, filtering, and proxying of requests to backend microservices, enhancing manageability, security, and scalability of microservice ecosystems.</a:t>
            </a:r>
          </a:p>
          <a:p>
            <a:r>
              <a:rPr lang="en-US" sz="1400" dirty="0">
                <a:solidFill>
                  <a:srgbClr val="3C5790"/>
                </a:solidFill>
              </a:rPr>
              <a:t>Since </a:t>
            </a:r>
            <a:r>
              <a:rPr lang="en-US" sz="1400" dirty="0" err="1">
                <a:solidFill>
                  <a:srgbClr val="3C5790"/>
                </a:solidFill>
              </a:rPr>
              <a:t>Zuul</a:t>
            </a:r>
            <a:r>
              <a:rPr lang="en-US" sz="1400" dirty="0">
                <a:solidFill>
                  <a:srgbClr val="3C5790"/>
                </a:solidFill>
              </a:rPr>
              <a:t> 1.x is blocking, Spring Cloud now recommends the Spring Cloud Gateway based on reactive programming (Project Reactor) for modern applications.</a:t>
            </a:r>
          </a:p>
        </p:txBody>
      </p:sp>
      <p:graphicFrame>
        <p:nvGraphicFramePr>
          <p:cNvPr id="6" name="Table 2">
            <a:extLst>
              <a:ext uri="{FF2B5EF4-FFF2-40B4-BE49-F238E27FC236}">
                <a16:creationId xmlns:a16="http://schemas.microsoft.com/office/drawing/2014/main" id="{5294AA6C-5CE8-4AB5-AD34-DA0CD79822FB}"/>
              </a:ext>
            </a:extLst>
          </p:cNvPr>
          <p:cNvGraphicFramePr>
            <a:graphicFrameLocks noGrp="1"/>
          </p:cNvGraphicFramePr>
          <p:nvPr>
            <p:extLst>
              <p:ext uri="{D42A27DB-BD31-4B8C-83A1-F6EECF244321}">
                <p14:modId xmlns:p14="http://schemas.microsoft.com/office/powerpoint/2010/main" val="575722304"/>
              </p:ext>
            </p:extLst>
          </p:nvPr>
        </p:nvGraphicFramePr>
        <p:xfrm>
          <a:off x="152400" y="3657600"/>
          <a:ext cx="8839200" cy="148336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589151108"/>
                    </a:ext>
                  </a:extLst>
                </a:gridCol>
                <a:gridCol w="2819400">
                  <a:extLst>
                    <a:ext uri="{9D8B030D-6E8A-4147-A177-3AD203B41FA5}">
                      <a16:colId xmlns:a16="http://schemas.microsoft.com/office/drawing/2014/main" val="4035097610"/>
                    </a:ext>
                  </a:extLst>
                </a:gridCol>
                <a:gridCol w="4343400">
                  <a:extLst>
                    <a:ext uri="{9D8B030D-6E8A-4147-A177-3AD203B41FA5}">
                      <a16:colId xmlns:a16="http://schemas.microsoft.com/office/drawing/2014/main" val="1422174699"/>
                    </a:ext>
                  </a:extLst>
                </a:gridCol>
              </a:tblGrid>
              <a:tr h="370840">
                <a:tc>
                  <a:txBody>
                    <a:bodyPr/>
                    <a:lstStyle/>
                    <a:p>
                      <a:r>
                        <a:rPr lang="en-US" dirty="0" err="1"/>
                        <a:t>Gatway</a:t>
                      </a:r>
                      <a:endParaRPr lang="en-US" dirty="0"/>
                    </a:p>
                  </a:txBody>
                  <a:tcPr/>
                </a:tc>
                <a:tc>
                  <a:txBody>
                    <a:bodyPr/>
                    <a:lstStyle/>
                    <a:p>
                      <a:r>
                        <a:rPr lang="en-US" dirty="0"/>
                        <a:t>Status in 2025</a:t>
                      </a:r>
                    </a:p>
                  </a:txBody>
                  <a:tcPr/>
                </a:tc>
                <a:tc>
                  <a:txBody>
                    <a:bodyPr/>
                    <a:lstStyle/>
                    <a:p>
                      <a:r>
                        <a:rPr lang="en-US" dirty="0"/>
                        <a:t>Notes</a:t>
                      </a:r>
                    </a:p>
                  </a:txBody>
                  <a:tcPr/>
                </a:tc>
                <a:extLst>
                  <a:ext uri="{0D108BD9-81ED-4DB2-BD59-A6C34878D82A}">
                    <a16:rowId xmlns:a16="http://schemas.microsoft.com/office/drawing/2014/main" val="1438961077"/>
                  </a:ext>
                </a:extLst>
              </a:tr>
              <a:tr h="370840">
                <a:tc>
                  <a:txBody>
                    <a:bodyPr/>
                    <a:lstStyle/>
                    <a:p>
                      <a:r>
                        <a:rPr lang="en-US" sz="1200" dirty="0"/>
                        <a:t>Netflix </a:t>
                      </a:r>
                      <a:r>
                        <a:rPr lang="en-US" sz="1200" dirty="0" err="1"/>
                        <a:t>Zuul</a:t>
                      </a:r>
                      <a:r>
                        <a:rPr lang="en-US" sz="1200" dirty="0"/>
                        <a:t> 1.x</a:t>
                      </a:r>
                    </a:p>
                  </a:txBody>
                  <a:tcPr/>
                </a:tc>
                <a:tc>
                  <a:txBody>
                    <a:bodyPr/>
                    <a:lstStyle/>
                    <a:p>
                      <a:pPr fontAlgn="base" latinLnBrk="0"/>
                      <a:r>
                        <a:rPr lang="en-US" sz="1200" dirty="0">
                          <a:effectLst/>
                        </a:rPr>
                        <a:t>Deprecated, not recommended</a:t>
                      </a:r>
                    </a:p>
                  </a:txBody>
                  <a:tcPr marL="76200" marR="76200" anchor="ctr"/>
                </a:tc>
                <a:tc>
                  <a:txBody>
                    <a:bodyPr/>
                    <a:lstStyle/>
                    <a:p>
                      <a:pPr fontAlgn="base" latinLnBrk="0"/>
                      <a:r>
                        <a:rPr lang="en-US" sz="1200" dirty="0">
                          <a:effectLst/>
                        </a:rPr>
                        <a:t>Blocking, servlet-based, legacy</a:t>
                      </a:r>
                    </a:p>
                  </a:txBody>
                  <a:tcPr marL="76200" marR="76200" anchor="ctr"/>
                </a:tc>
                <a:extLst>
                  <a:ext uri="{0D108BD9-81ED-4DB2-BD59-A6C34878D82A}">
                    <a16:rowId xmlns:a16="http://schemas.microsoft.com/office/drawing/2014/main" val="2324881647"/>
                  </a:ext>
                </a:extLst>
              </a:tr>
              <a:tr h="370840">
                <a:tc>
                  <a:txBody>
                    <a:bodyPr/>
                    <a:lstStyle/>
                    <a:p>
                      <a:pPr fontAlgn="base" latinLnBrk="0"/>
                      <a:r>
                        <a:rPr lang="en-US" sz="1200" dirty="0">
                          <a:effectLst/>
                        </a:rPr>
                        <a:t>Netflix </a:t>
                      </a:r>
                      <a:r>
                        <a:rPr lang="en-US" sz="1200" dirty="0" err="1">
                          <a:effectLst/>
                        </a:rPr>
                        <a:t>Zuul</a:t>
                      </a:r>
                      <a:r>
                        <a:rPr lang="en-US" sz="1200" dirty="0">
                          <a:effectLst/>
                        </a:rPr>
                        <a:t> 2.x</a:t>
                      </a:r>
                    </a:p>
                  </a:txBody>
                  <a:tcPr marL="76200" marR="76200" anchor="ctr"/>
                </a:tc>
                <a:tc>
                  <a:txBody>
                    <a:bodyPr/>
                    <a:lstStyle/>
                    <a:p>
                      <a:pPr fontAlgn="base" latinLnBrk="0"/>
                      <a:r>
                        <a:rPr lang="en-US" sz="1200" dirty="0">
                          <a:effectLst/>
                        </a:rPr>
                        <a:t>Not supported in Spring Cloud officially</a:t>
                      </a:r>
                    </a:p>
                  </a:txBody>
                  <a:tcPr marL="76200" marR="76200" anchor="ctr"/>
                </a:tc>
                <a:tc>
                  <a:txBody>
                    <a:bodyPr/>
                    <a:lstStyle/>
                    <a:p>
                      <a:pPr fontAlgn="base" latinLnBrk="0"/>
                      <a:r>
                        <a:rPr lang="en-US" sz="1200" dirty="0">
                          <a:effectLst/>
                        </a:rPr>
                        <a:t>Reactive but no official Spring Cloud module</a:t>
                      </a:r>
                    </a:p>
                  </a:txBody>
                  <a:tcPr marL="76200" marR="76200" anchor="ctr"/>
                </a:tc>
                <a:extLst>
                  <a:ext uri="{0D108BD9-81ED-4DB2-BD59-A6C34878D82A}">
                    <a16:rowId xmlns:a16="http://schemas.microsoft.com/office/drawing/2014/main" val="1568501300"/>
                  </a:ext>
                </a:extLst>
              </a:tr>
              <a:tr h="370840">
                <a:tc>
                  <a:txBody>
                    <a:bodyPr/>
                    <a:lstStyle/>
                    <a:p>
                      <a:pPr fontAlgn="base" latinLnBrk="0"/>
                      <a:r>
                        <a:rPr lang="en-US" sz="1200" dirty="0">
                          <a:effectLst/>
                        </a:rPr>
                        <a:t>Spring Cloud Gateway</a:t>
                      </a:r>
                    </a:p>
                  </a:txBody>
                  <a:tcPr marL="76200" marR="76200" anchor="ctr"/>
                </a:tc>
                <a:tc>
                  <a:txBody>
                    <a:bodyPr/>
                    <a:lstStyle/>
                    <a:p>
                      <a:pPr fontAlgn="base" latinLnBrk="0"/>
                      <a:r>
                        <a:rPr lang="en-US" sz="1200" dirty="0">
                          <a:effectLst/>
                        </a:rPr>
                        <a:t>Modern and recommended</a:t>
                      </a:r>
                    </a:p>
                  </a:txBody>
                  <a:tcPr marL="76200" marR="76200" anchor="ctr"/>
                </a:tc>
                <a:tc>
                  <a:txBody>
                    <a:bodyPr/>
                    <a:lstStyle/>
                    <a:p>
                      <a:pPr fontAlgn="base" latinLnBrk="0"/>
                      <a:r>
                        <a:rPr lang="en-US" sz="1200" dirty="0">
                          <a:effectLst/>
                        </a:rPr>
                        <a:t>Reactive, Kubernetes-friendly, active development</a:t>
                      </a:r>
                    </a:p>
                  </a:txBody>
                  <a:tcPr marL="76200" marR="76200" anchor="ctr"/>
                </a:tc>
                <a:extLst>
                  <a:ext uri="{0D108BD9-81ED-4DB2-BD59-A6C34878D82A}">
                    <a16:rowId xmlns:a16="http://schemas.microsoft.com/office/drawing/2014/main" val="3041417831"/>
                  </a:ext>
                </a:extLst>
              </a:tr>
            </a:tbl>
          </a:graphicData>
        </a:graphic>
      </p:graphicFrame>
    </p:spTree>
    <p:extLst>
      <p:ext uri="{BB962C8B-B14F-4D97-AF65-F5344CB8AC3E}">
        <p14:creationId xmlns:p14="http://schemas.microsoft.com/office/powerpoint/2010/main" val="16294372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Zuul</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4114800"/>
          </a:xfrm>
        </p:spPr>
        <p:txBody>
          <a:bodyPr/>
          <a:lstStyle/>
          <a:p>
            <a:r>
              <a:rPr lang="en-US" sz="1400" u="sng" dirty="0">
                <a:solidFill>
                  <a:srgbClr val="3C5790"/>
                </a:solidFill>
              </a:rPr>
              <a:t>Key Points</a:t>
            </a:r>
          </a:p>
          <a:p>
            <a:pPr lvl="1"/>
            <a:r>
              <a:rPr lang="en-US" sz="1400" b="1" dirty="0">
                <a:solidFill>
                  <a:srgbClr val="3C5790"/>
                </a:solidFill>
              </a:rPr>
              <a:t>API Gateway</a:t>
            </a:r>
            <a:r>
              <a:rPr lang="en-US" sz="1400" dirty="0">
                <a:solidFill>
                  <a:srgbClr val="3C5790"/>
                </a:solidFill>
              </a:rPr>
              <a:t>: </a:t>
            </a:r>
            <a:r>
              <a:rPr lang="en-US" sz="1400" dirty="0" err="1">
                <a:solidFill>
                  <a:srgbClr val="3C5790"/>
                </a:solidFill>
              </a:rPr>
              <a:t>Zuul</a:t>
            </a:r>
            <a:r>
              <a:rPr lang="en-US" sz="1400" dirty="0">
                <a:solidFill>
                  <a:srgbClr val="3C5790"/>
                </a:solidFill>
              </a:rPr>
              <a:t> serves as the single entry point that proxies and routes external client requests to multiple internal microservices in a manageable way.</a:t>
            </a:r>
          </a:p>
          <a:p>
            <a:pPr lvl="1"/>
            <a:r>
              <a:rPr lang="en-US" sz="1400" b="1" dirty="0">
                <a:solidFill>
                  <a:srgbClr val="3C5790"/>
                </a:solidFill>
              </a:rPr>
              <a:t>Routing</a:t>
            </a:r>
            <a:r>
              <a:rPr lang="en-US" sz="1400" dirty="0">
                <a:solidFill>
                  <a:srgbClr val="3C5790"/>
                </a:solidFill>
              </a:rPr>
              <a:t>: It dynamically routes incoming HTTP requests to various backend services based on configurable rules.</a:t>
            </a:r>
          </a:p>
          <a:p>
            <a:pPr lvl="1"/>
            <a:r>
              <a:rPr lang="en-US" sz="1400" b="1" dirty="0">
                <a:solidFill>
                  <a:srgbClr val="3C5790"/>
                </a:solidFill>
              </a:rPr>
              <a:t>Filters</a:t>
            </a:r>
            <a:r>
              <a:rPr lang="en-US" sz="1400" dirty="0">
                <a:solidFill>
                  <a:srgbClr val="3C5790"/>
                </a:solidFill>
              </a:rPr>
              <a:t>: </a:t>
            </a:r>
            <a:r>
              <a:rPr lang="en-US" sz="1400" dirty="0" err="1">
                <a:solidFill>
                  <a:srgbClr val="3C5790"/>
                </a:solidFill>
              </a:rPr>
              <a:t>Zuul’s</a:t>
            </a:r>
            <a:r>
              <a:rPr lang="en-US" sz="1400" dirty="0">
                <a:solidFill>
                  <a:srgbClr val="3C5790"/>
                </a:solidFill>
              </a:rPr>
              <a:t> core consists of a flexible filter mechanism that allows pre-processing, routing, post-processing, and error handling for requests.</a:t>
            </a:r>
          </a:p>
          <a:p>
            <a:pPr lvl="2"/>
            <a:r>
              <a:rPr lang="en-US" sz="1200" dirty="0">
                <a:solidFill>
                  <a:srgbClr val="3C5790"/>
                </a:solidFill>
              </a:rPr>
              <a:t>Pre-filters: Execute before the request is routed (e.g., authentication, logging).</a:t>
            </a:r>
          </a:p>
          <a:p>
            <a:pPr lvl="2"/>
            <a:r>
              <a:rPr lang="en-US" sz="1200" dirty="0">
                <a:solidFill>
                  <a:srgbClr val="3C5790"/>
                </a:solidFill>
              </a:rPr>
              <a:t>Route-filters: Handle forwarding the request to the destination service.</a:t>
            </a:r>
          </a:p>
          <a:p>
            <a:pPr lvl="2"/>
            <a:r>
              <a:rPr lang="en-US" sz="1200" dirty="0">
                <a:solidFill>
                  <a:srgbClr val="3C5790"/>
                </a:solidFill>
              </a:rPr>
              <a:t>Post-filters: Run after the request has been routed (e.g., modifying response headers).</a:t>
            </a:r>
          </a:p>
          <a:p>
            <a:pPr lvl="2"/>
            <a:r>
              <a:rPr lang="en-US" sz="1200" dirty="0">
                <a:solidFill>
                  <a:srgbClr val="3C5790"/>
                </a:solidFill>
              </a:rPr>
              <a:t>Error-filters: Handle errors and exceptions during processing.</a:t>
            </a:r>
          </a:p>
          <a:p>
            <a:pPr lvl="1"/>
            <a:r>
              <a:rPr lang="en-US" sz="1400" b="1" dirty="0">
                <a:solidFill>
                  <a:srgbClr val="3C5790"/>
                </a:solidFill>
              </a:rPr>
              <a:t>Integration with Netflix OSS</a:t>
            </a:r>
            <a:r>
              <a:rPr lang="en-US" sz="1400" dirty="0">
                <a:solidFill>
                  <a:srgbClr val="3C5790"/>
                </a:solidFill>
              </a:rPr>
              <a:t>: Can integrate with Netflix Eureka for service discovery, Ribbon for client-side load balancing, and </a:t>
            </a:r>
            <a:r>
              <a:rPr lang="en-US" sz="1400" dirty="0" err="1">
                <a:solidFill>
                  <a:srgbClr val="3C5790"/>
                </a:solidFill>
              </a:rPr>
              <a:t>Hystrix</a:t>
            </a:r>
            <a:r>
              <a:rPr lang="en-US" sz="1400" dirty="0">
                <a:solidFill>
                  <a:srgbClr val="3C5790"/>
                </a:solidFill>
              </a:rPr>
              <a:t> for fault tolerance.</a:t>
            </a:r>
          </a:p>
          <a:p>
            <a:pPr lvl="1"/>
            <a:r>
              <a:rPr lang="en-US" sz="1400" b="1" dirty="0">
                <a:solidFill>
                  <a:srgbClr val="3C5790"/>
                </a:solidFill>
              </a:rPr>
              <a:t>Blocking IO</a:t>
            </a:r>
            <a:r>
              <a:rPr lang="en-US" sz="1400" dirty="0">
                <a:solidFill>
                  <a:srgbClr val="3C5790"/>
                </a:solidFill>
              </a:rPr>
              <a:t>: </a:t>
            </a:r>
            <a:r>
              <a:rPr lang="en-US" sz="1400" dirty="0" err="1">
                <a:solidFill>
                  <a:srgbClr val="3C5790"/>
                </a:solidFill>
              </a:rPr>
              <a:t>Zuul</a:t>
            </a:r>
            <a:r>
              <a:rPr lang="en-US" sz="1400" dirty="0">
                <a:solidFill>
                  <a:srgbClr val="3C5790"/>
                </a:solidFill>
              </a:rPr>
              <a:t> 1.x is based on Servlet 2/3 and uses a blocking I/O model, hence it may have limitations in handling very high concurrency.</a:t>
            </a:r>
          </a:p>
          <a:p>
            <a:pPr lvl="1"/>
            <a:r>
              <a:rPr lang="en-US" sz="1400" b="1" dirty="0">
                <a:solidFill>
                  <a:srgbClr val="3C5790"/>
                </a:solidFill>
              </a:rPr>
              <a:t>Spring Cloud </a:t>
            </a:r>
            <a:r>
              <a:rPr lang="en-US" sz="1400" b="1" dirty="0" err="1">
                <a:solidFill>
                  <a:srgbClr val="3C5790"/>
                </a:solidFill>
              </a:rPr>
              <a:t>Zuul</a:t>
            </a:r>
            <a:r>
              <a:rPr lang="en-US" sz="1400" b="1" dirty="0">
                <a:solidFill>
                  <a:srgbClr val="3C5790"/>
                </a:solidFill>
              </a:rPr>
              <a:t> Starter</a:t>
            </a:r>
            <a:r>
              <a:rPr lang="en-US" sz="1400" dirty="0">
                <a:solidFill>
                  <a:srgbClr val="3C5790"/>
                </a:solidFill>
              </a:rPr>
              <a:t>: Spring provides auto-configuration and integration to easily set up and use </a:t>
            </a:r>
            <a:r>
              <a:rPr lang="en-US" sz="1400" dirty="0" err="1">
                <a:solidFill>
                  <a:srgbClr val="3C5790"/>
                </a:solidFill>
              </a:rPr>
              <a:t>Zuul</a:t>
            </a:r>
            <a:r>
              <a:rPr lang="en-US" sz="1400" dirty="0">
                <a:solidFill>
                  <a:srgbClr val="3C5790"/>
                </a:solidFill>
              </a:rPr>
              <a:t> in Spring Boot microservices.</a:t>
            </a:r>
          </a:p>
        </p:txBody>
      </p:sp>
    </p:spTree>
    <p:extLst>
      <p:ext uri="{BB962C8B-B14F-4D97-AF65-F5344CB8AC3E}">
        <p14:creationId xmlns:p14="http://schemas.microsoft.com/office/powerpoint/2010/main" val="36623743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err="1">
                <a:solidFill>
                  <a:schemeClr val="bg1"/>
                </a:solidFill>
              </a:rPr>
              <a:t>Zuul</a:t>
            </a:r>
            <a:r>
              <a:rPr lang="fr-CA" dirty="0">
                <a:solidFill>
                  <a:schemeClr val="bg1"/>
                </a:solidFill>
              </a:rPr>
              <a:t>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1981200"/>
            <a:ext cx="8686800" cy="304800"/>
          </a:xfrm>
        </p:spPr>
        <p:txBody>
          <a:bodyPr/>
          <a:lstStyle/>
          <a:p>
            <a:r>
              <a:rPr lang="en-US" sz="1400" dirty="0" err="1">
                <a:solidFill>
                  <a:srgbClr val="3C5790"/>
                </a:solidFill>
              </a:rPr>
              <a:t>Zuul</a:t>
            </a:r>
            <a:r>
              <a:rPr lang="en-US" sz="1400" dirty="0">
                <a:solidFill>
                  <a:srgbClr val="3C5790"/>
                </a:solidFill>
              </a:rPr>
              <a:t> API Gateway architecture</a:t>
            </a:r>
          </a:p>
        </p:txBody>
      </p:sp>
      <p:pic>
        <p:nvPicPr>
          <p:cNvPr id="3" name="Picture 2">
            <a:extLst>
              <a:ext uri="{FF2B5EF4-FFF2-40B4-BE49-F238E27FC236}">
                <a16:creationId xmlns:a16="http://schemas.microsoft.com/office/drawing/2014/main" id="{F0ADF868-2AA2-414A-B4F3-B37790E30CAD}"/>
              </a:ext>
            </a:extLst>
          </p:cNvPr>
          <p:cNvPicPr>
            <a:picLocks noChangeAspect="1"/>
          </p:cNvPicPr>
          <p:nvPr/>
        </p:nvPicPr>
        <p:blipFill>
          <a:blip r:embed="rId3"/>
          <a:stretch>
            <a:fillRect/>
          </a:stretch>
        </p:blipFill>
        <p:spPr>
          <a:xfrm>
            <a:off x="1786559" y="2400301"/>
            <a:ext cx="5570882" cy="4343400"/>
          </a:xfrm>
          <a:prstGeom prst="rect">
            <a:avLst/>
          </a:prstGeom>
        </p:spPr>
      </p:pic>
    </p:spTree>
    <p:extLst>
      <p:ext uri="{BB962C8B-B14F-4D97-AF65-F5344CB8AC3E}">
        <p14:creationId xmlns:p14="http://schemas.microsoft.com/office/powerpoint/2010/main" val="5112507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Hystrix</a:t>
            </a:r>
          </a:p>
        </p:txBody>
      </p:sp>
      <p:sp>
        <p:nvSpPr>
          <p:cNvPr id="4099" name="Espace réservé du contenu 4"/>
          <p:cNvSpPr>
            <a:spLocks noGrp="1"/>
          </p:cNvSpPr>
          <p:nvPr>
            <p:ph idx="1"/>
          </p:nvPr>
        </p:nvSpPr>
        <p:spPr>
          <a:xfrm>
            <a:off x="228600" y="2133600"/>
            <a:ext cx="8686800" cy="1143000"/>
          </a:xfrm>
        </p:spPr>
        <p:txBody>
          <a:bodyPr/>
          <a:lstStyle/>
          <a:p>
            <a:r>
              <a:rPr lang="en-US" sz="1400" dirty="0" err="1">
                <a:solidFill>
                  <a:srgbClr val="3C5790"/>
                </a:solidFill>
              </a:rPr>
              <a:t>Hystrix</a:t>
            </a:r>
            <a:r>
              <a:rPr lang="en-US" sz="1400" dirty="0">
                <a:solidFill>
                  <a:srgbClr val="3C5790"/>
                </a:solidFill>
              </a:rPr>
              <a:t> is a circuit breaker library integrated with Spring Cloud that monitors calls to remote services and automatically stops calls to failing services to prevent cascading failures. </a:t>
            </a:r>
          </a:p>
          <a:p>
            <a:r>
              <a:rPr lang="en-US" sz="1400" dirty="0" err="1">
                <a:solidFill>
                  <a:srgbClr val="3C5790"/>
                </a:solidFill>
              </a:rPr>
              <a:t>Hystrix</a:t>
            </a:r>
            <a:r>
              <a:rPr lang="en-US" sz="1400" dirty="0">
                <a:solidFill>
                  <a:srgbClr val="3C5790"/>
                </a:solidFill>
              </a:rPr>
              <a:t> isolates faults with fallback mechanisms and resource isolation, improving overall resilience and stability in microservice architectures.</a:t>
            </a:r>
          </a:p>
        </p:txBody>
      </p:sp>
    </p:spTree>
    <p:extLst>
      <p:ext uri="{BB962C8B-B14F-4D97-AF65-F5344CB8AC3E}">
        <p14:creationId xmlns:p14="http://schemas.microsoft.com/office/powerpoint/2010/main" val="25595908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Hystrix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3581400"/>
          </a:xfrm>
        </p:spPr>
        <p:txBody>
          <a:bodyPr/>
          <a:lstStyle/>
          <a:p>
            <a:r>
              <a:rPr lang="en-US" sz="1400" u="sng" dirty="0">
                <a:solidFill>
                  <a:srgbClr val="3C5790"/>
                </a:solidFill>
              </a:rPr>
              <a:t>Key Points</a:t>
            </a:r>
          </a:p>
          <a:p>
            <a:pPr lvl="1"/>
            <a:r>
              <a:rPr lang="en-US" sz="1400" b="1" dirty="0">
                <a:solidFill>
                  <a:srgbClr val="3C5790"/>
                </a:solidFill>
              </a:rPr>
              <a:t>Command</a:t>
            </a:r>
            <a:r>
              <a:rPr lang="en-US" sz="1400" dirty="0">
                <a:solidFill>
                  <a:srgbClr val="3C5790"/>
                </a:solidFill>
              </a:rPr>
              <a:t>: Encapsulates a service call or action that may fail or timeout. Each service call is wrapped in a command.</a:t>
            </a:r>
          </a:p>
          <a:p>
            <a:pPr lvl="1"/>
            <a:r>
              <a:rPr lang="en-US" sz="1400" b="1" dirty="0">
                <a:solidFill>
                  <a:srgbClr val="3C5790"/>
                </a:solidFill>
              </a:rPr>
              <a:t>Circuit</a:t>
            </a:r>
            <a:r>
              <a:rPr lang="en-US" sz="1400" dirty="0">
                <a:solidFill>
                  <a:srgbClr val="3C5790"/>
                </a:solidFill>
              </a:rPr>
              <a:t> </a:t>
            </a:r>
            <a:r>
              <a:rPr lang="en-US" sz="1400" b="1" dirty="0">
                <a:solidFill>
                  <a:srgbClr val="3C5790"/>
                </a:solidFill>
              </a:rPr>
              <a:t>Breaker</a:t>
            </a:r>
            <a:r>
              <a:rPr lang="en-US" sz="1400" dirty="0">
                <a:solidFill>
                  <a:srgbClr val="3C5790"/>
                </a:solidFill>
              </a:rPr>
              <a:t>: Monitors the health of commands (success/failure rate). If failure exceeds a threshold in a rolling window, it opens the circuit.</a:t>
            </a:r>
          </a:p>
          <a:p>
            <a:pPr lvl="1"/>
            <a:r>
              <a:rPr lang="en-US" sz="1400" b="1" dirty="0">
                <a:solidFill>
                  <a:srgbClr val="3C5790"/>
                </a:solidFill>
              </a:rPr>
              <a:t>Fallback</a:t>
            </a:r>
            <a:r>
              <a:rPr lang="en-US" sz="1400" dirty="0">
                <a:solidFill>
                  <a:srgbClr val="3C5790"/>
                </a:solidFill>
              </a:rPr>
              <a:t>: Method to be invoked when the primary command fails, times out, or the circuit is open, providing a graceful degradation.</a:t>
            </a:r>
          </a:p>
          <a:p>
            <a:pPr lvl="1"/>
            <a:r>
              <a:rPr lang="en-US" sz="1400" b="1" dirty="0">
                <a:solidFill>
                  <a:srgbClr val="3C5790"/>
                </a:solidFill>
              </a:rPr>
              <a:t>Timeout</a:t>
            </a:r>
            <a:r>
              <a:rPr lang="en-US" sz="1400" dirty="0">
                <a:solidFill>
                  <a:srgbClr val="3C5790"/>
                </a:solidFill>
              </a:rPr>
              <a:t>: Maximum time to wait for a command to complete before considering it failed.</a:t>
            </a:r>
          </a:p>
          <a:p>
            <a:pPr lvl="1"/>
            <a:r>
              <a:rPr lang="en-US" sz="1400" b="1" dirty="0">
                <a:solidFill>
                  <a:srgbClr val="3C5790"/>
                </a:solidFill>
              </a:rPr>
              <a:t>Thread/Resource Isolation</a:t>
            </a:r>
            <a:r>
              <a:rPr lang="en-US" sz="1400" dirty="0">
                <a:solidFill>
                  <a:srgbClr val="3C5790"/>
                </a:solidFill>
              </a:rPr>
              <a:t>: Commands run in separate threads or thread pools allowing failures to be isolated from other parts of the system.</a:t>
            </a:r>
          </a:p>
          <a:p>
            <a:pPr lvl="1"/>
            <a:r>
              <a:rPr lang="en-US" sz="1400" b="1" dirty="0">
                <a:solidFill>
                  <a:srgbClr val="3C5790"/>
                </a:solidFill>
              </a:rPr>
              <a:t>Metrics</a:t>
            </a:r>
            <a:r>
              <a:rPr lang="en-US" sz="1400" dirty="0">
                <a:solidFill>
                  <a:srgbClr val="3C5790"/>
                </a:solidFill>
              </a:rPr>
              <a:t>: </a:t>
            </a:r>
            <a:r>
              <a:rPr lang="en-US" sz="1400" dirty="0" err="1">
                <a:solidFill>
                  <a:srgbClr val="3C5790"/>
                </a:solidFill>
              </a:rPr>
              <a:t>Hystrix</a:t>
            </a:r>
            <a:r>
              <a:rPr lang="en-US" sz="1400" dirty="0">
                <a:solidFill>
                  <a:srgbClr val="3C5790"/>
                </a:solidFill>
              </a:rPr>
              <a:t> collects runtime data like success, failure rates, latencies for monitoring.</a:t>
            </a:r>
          </a:p>
        </p:txBody>
      </p:sp>
    </p:spTree>
    <p:extLst>
      <p:ext uri="{BB962C8B-B14F-4D97-AF65-F5344CB8AC3E}">
        <p14:creationId xmlns:p14="http://schemas.microsoft.com/office/powerpoint/2010/main" val="25367663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Hystrix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524000"/>
          </a:xfrm>
        </p:spPr>
        <p:txBody>
          <a:bodyPr/>
          <a:lstStyle/>
          <a:p>
            <a:r>
              <a:rPr lang="en-US" sz="1400" dirty="0">
                <a:solidFill>
                  <a:srgbClr val="3C5790"/>
                </a:solidFill>
              </a:rPr>
              <a:t>Benefits:</a:t>
            </a:r>
          </a:p>
          <a:p>
            <a:pPr lvl="1"/>
            <a:r>
              <a:rPr lang="en-US" sz="1400" dirty="0">
                <a:solidFill>
                  <a:srgbClr val="3C5790"/>
                </a:solidFill>
              </a:rPr>
              <a:t>Prevents failures in one microservice from cascading and bringing down the overall system.</a:t>
            </a:r>
          </a:p>
          <a:p>
            <a:pPr lvl="1"/>
            <a:r>
              <a:rPr lang="en-US" sz="1400" dirty="0">
                <a:solidFill>
                  <a:srgbClr val="3C5790"/>
                </a:solidFill>
              </a:rPr>
              <a:t>Improves system stability and user experience by providing fallback responses or degraded functionality.</a:t>
            </a:r>
          </a:p>
          <a:p>
            <a:pPr lvl="1"/>
            <a:r>
              <a:rPr lang="en-US" sz="1400" dirty="0">
                <a:solidFill>
                  <a:srgbClr val="3C5790"/>
                </a:solidFill>
              </a:rPr>
              <a:t>Provides detailed metrics and monitoring dashboards for real-time fault detection.</a:t>
            </a:r>
          </a:p>
          <a:p>
            <a:pPr lvl="1"/>
            <a:r>
              <a:rPr lang="en-US" sz="1400" dirty="0">
                <a:solidFill>
                  <a:srgbClr val="3C5790"/>
                </a:solidFill>
              </a:rPr>
              <a:t>Is easily enabled via Spring Boot starters and annotations like @HystrixCommand.</a:t>
            </a:r>
          </a:p>
        </p:txBody>
      </p:sp>
    </p:spTree>
    <p:extLst>
      <p:ext uri="{BB962C8B-B14F-4D97-AF65-F5344CB8AC3E}">
        <p14:creationId xmlns:p14="http://schemas.microsoft.com/office/powerpoint/2010/main" val="30400313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Hystrix (</a:t>
            </a:r>
            <a:r>
              <a:rPr lang="fr-CA" dirty="0" err="1">
                <a:solidFill>
                  <a:schemeClr val="bg1"/>
                </a:solidFill>
              </a:rPr>
              <a:t>cont</a:t>
            </a:r>
            <a:r>
              <a:rPr lang="fr-CA" dirty="0">
                <a:solidFill>
                  <a:schemeClr val="bg1"/>
                </a:solidFill>
              </a:rPr>
              <a:t>.)</a:t>
            </a:r>
          </a:p>
        </p:txBody>
      </p:sp>
      <p:sp>
        <p:nvSpPr>
          <p:cNvPr id="4099" name="Espace réservé du contenu 4"/>
          <p:cNvSpPr>
            <a:spLocks noGrp="1"/>
          </p:cNvSpPr>
          <p:nvPr>
            <p:ph idx="1"/>
          </p:nvPr>
        </p:nvSpPr>
        <p:spPr>
          <a:xfrm>
            <a:off x="228600" y="2133600"/>
            <a:ext cx="8686800" cy="1371600"/>
          </a:xfrm>
        </p:spPr>
        <p:txBody>
          <a:bodyPr/>
          <a:lstStyle/>
          <a:p>
            <a:r>
              <a:rPr lang="en-US" sz="1400" b="1" dirty="0" err="1">
                <a:solidFill>
                  <a:srgbClr val="3C5790"/>
                </a:solidFill>
              </a:rPr>
              <a:t>Hystrix</a:t>
            </a:r>
            <a:r>
              <a:rPr lang="en-US" sz="1400" b="1" dirty="0">
                <a:solidFill>
                  <a:srgbClr val="3C5790"/>
                </a:solidFill>
              </a:rPr>
              <a:t> is not available as an actively maintained component in Spring Cloud 2025.</a:t>
            </a:r>
          </a:p>
          <a:p>
            <a:r>
              <a:rPr lang="en-US" sz="1400" dirty="0">
                <a:solidFill>
                  <a:srgbClr val="3C5790"/>
                </a:solidFill>
              </a:rPr>
              <a:t>The </a:t>
            </a:r>
            <a:r>
              <a:rPr lang="en-US" sz="1400" dirty="0" err="1">
                <a:solidFill>
                  <a:srgbClr val="3C5790"/>
                </a:solidFill>
              </a:rPr>
              <a:t>Hystrix</a:t>
            </a:r>
            <a:r>
              <a:rPr lang="en-US" sz="1400" dirty="0">
                <a:solidFill>
                  <a:srgbClr val="3C5790"/>
                </a:solidFill>
              </a:rPr>
              <a:t> project has been in maintenance mode since late 2018 with no active development or new features.</a:t>
            </a:r>
          </a:p>
          <a:p>
            <a:r>
              <a:rPr lang="en-US" sz="1400" dirty="0">
                <a:solidFill>
                  <a:srgbClr val="3C5790"/>
                </a:solidFill>
              </a:rPr>
              <a:t>Since Spring Cloud 3.1, </a:t>
            </a:r>
            <a:r>
              <a:rPr lang="en-US" sz="1400" dirty="0" err="1">
                <a:solidFill>
                  <a:srgbClr val="3C5790"/>
                </a:solidFill>
              </a:rPr>
              <a:t>Hystrix</a:t>
            </a:r>
            <a:r>
              <a:rPr lang="en-US" sz="1400" dirty="0">
                <a:solidFill>
                  <a:srgbClr val="3C5790"/>
                </a:solidFill>
              </a:rPr>
              <a:t> Dashboard was removed, marking the official end of </a:t>
            </a:r>
            <a:r>
              <a:rPr lang="en-US" sz="1400" dirty="0" err="1">
                <a:solidFill>
                  <a:srgbClr val="3C5790"/>
                </a:solidFill>
              </a:rPr>
              <a:t>Hystrix</a:t>
            </a:r>
            <a:r>
              <a:rPr lang="en-US" sz="1400" dirty="0">
                <a:solidFill>
                  <a:srgbClr val="3C5790"/>
                </a:solidFill>
              </a:rPr>
              <a:t> in Spring Cloud.</a:t>
            </a:r>
          </a:p>
          <a:p>
            <a:r>
              <a:rPr lang="en-US" sz="1400" dirty="0">
                <a:solidFill>
                  <a:srgbClr val="3C5790"/>
                </a:solidFill>
              </a:rPr>
              <a:t>The recommended replacement for </a:t>
            </a:r>
            <a:r>
              <a:rPr lang="en-US" sz="1400" dirty="0" err="1">
                <a:solidFill>
                  <a:srgbClr val="3C5790"/>
                </a:solidFill>
              </a:rPr>
              <a:t>Hystrix</a:t>
            </a:r>
            <a:r>
              <a:rPr lang="en-US" sz="1400" dirty="0">
                <a:solidFill>
                  <a:srgbClr val="3C5790"/>
                </a:solidFill>
              </a:rPr>
              <a:t> in the Spring ecosystem is </a:t>
            </a:r>
            <a:r>
              <a:rPr lang="en-US" sz="1400" b="1" dirty="0">
                <a:solidFill>
                  <a:srgbClr val="3C5790"/>
                </a:solidFill>
              </a:rPr>
              <a:t>Resilience4j</a:t>
            </a:r>
            <a:r>
              <a:rPr lang="en-US" sz="1400" dirty="0">
                <a:solidFill>
                  <a:srgbClr val="3C5790"/>
                </a:solidFill>
              </a:rPr>
              <a:t>, which supports modern circuit breaker, rate limiter, retry, and bulkhead patterns natively.</a:t>
            </a:r>
          </a:p>
        </p:txBody>
      </p:sp>
    </p:spTree>
    <p:extLst>
      <p:ext uri="{BB962C8B-B14F-4D97-AF65-F5344CB8AC3E}">
        <p14:creationId xmlns:p14="http://schemas.microsoft.com/office/powerpoint/2010/main" val="2111366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itre 3"/>
          <p:cNvSpPr>
            <a:spLocks noGrp="1"/>
          </p:cNvSpPr>
          <p:nvPr>
            <p:ph type="title"/>
          </p:nvPr>
        </p:nvSpPr>
        <p:spPr/>
        <p:txBody>
          <a:bodyPr/>
          <a:lstStyle/>
          <a:p>
            <a:r>
              <a:rPr lang="fr-CA" dirty="0">
                <a:solidFill>
                  <a:schemeClr val="bg1"/>
                </a:solidFill>
              </a:rPr>
              <a:t>Conclusion</a:t>
            </a:r>
          </a:p>
        </p:txBody>
      </p:sp>
      <p:sp>
        <p:nvSpPr>
          <p:cNvPr id="4099" name="Espace réservé du contenu 4"/>
          <p:cNvSpPr>
            <a:spLocks noGrp="1"/>
          </p:cNvSpPr>
          <p:nvPr>
            <p:ph idx="1"/>
          </p:nvPr>
        </p:nvSpPr>
        <p:spPr>
          <a:xfrm>
            <a:off x="228600" y="2133600"/>
            <a:ext cx="8686800" cy="3276600"/>
          </a:xfrm>
        </p:spPr>
        <p:txBody>
          <a:bodyPr/>
          <a:lstStyle/>
          <a:p>
            <a:r>
              <a:rPr lang="en-US" sz="1400" b="1" dirty="0">
                <a:solidFill>
                  <a:srgbClr val="3C5790"/>
                </a:solidFill>
              </a:rPr>
              <a:t>Pros</a:t>
            </a:r>
            <a:r>
              <a:rPr lang="en-US" sz="1400" dirty="0">
                <a:solidFill>
                  <a:srgbClr val="3C5790"/>
                </a:solidFill>
              </a:rPr>
              <a:t>:</a:t>
            </a:r>
          </a:p>
          <a:p>
            <a:pPr lvl="1"/>
            <a:r>
              <a:rPr lang="en-US" sz="1200" dirty="0">
                <a:solidFill>
                  <a:srgbClr val="3C5790"/>
                </a:solidFill>
              </a:rPr>
              <a:t>Seamless integration with other Spring frameworks</a:t>
            </a:r>
          </a:p>
          <a:p>
            <a:pPr lvl="1"/>
            <a:r>
              <a:rPr lang="en-US" sz="1200" dirty="0">
                <a:solidFill>
                  <a:srgbClr val="3C5790"/>
                </a:solidFill>
              </a:rPr>
              <a:t>Provides solutions for common microservices patterns like load balancing, </a:t>
            </a:r>
            <a:r>
              <a:rPr lang="en-US" sz="1200">
                <a:solidFill>
                  <a:srgbClr val="3C5790"/>
                </a:solidFill>
              </a:rPr>
              <a:t>circuit breakers, </a:t>
            </a:r>
            <a:r>
              <a:rPr lang="en-US" sz="1200" dirty="0">
                <a:solidFill>
                  <a:srgbClr val="3C5790"/>
                </a:solidFill>
              </a:rPr>
              <a:t>and distributed messaging (integration with RabbitMQ, Kafka).</a:t>
            </a:r>
          </a:p>
          <a:p>
            <a:pPr lvl="1"/>
            <a:r>
              <a:rPr lang="en-US" sz="1200" dirty="0">
                <a:solidFill>
                  <a:srgbClr val="3C5790"/>
                </a:solidFill>
              </a:rPr>
              <a:t>Streamlines cloud application deployment and configuration management.</a:t>
            </a:r>
          </a:p>
          <a:p>
            <a:pPr lvl="1"/>
            <a:r>
              <a:rPr lang="en-US" sz="1200" dirty="0">
                <a:solidFill>
                  <a:srgbClr val="3C5790"/>
                </a:solidFill>
              </a:rPr>
              <a:t>Supported by a large community, extensive documentation, and ecosystem.</a:t>
            </a:r>
          </a:p>
          <a:p>
            <a:r>
              <a:rPr lang="en-US" sz="1400" b="1" dirty="0">
                <a:solidFill>
                  <a:srgbClr val="3C5790"/>
                </a:solidFill>
              </a:rPr>
              <a:t>Cons</a:t>
            </a:r>
            <a:r>
              <a:rPr lang="en-US" sz="1400" dirty="0">
                <a:solidFill>
                  <a:srgbClr val="3C5790"/>
                </a:solidFill>
              </a:rPr>
              <a:t>:</a:t>
            </a:r>
          </a:p>
          <a:p>
            <a:pPr lvl="1"/>
            <a:r>
              <a:rPr lang="en-US" sz="1200" dirty="0">
                <a:solidFill>
                  <a:srgbClr val="3C5790"/>
                </a:solidFill>
              </a:rPr>
              <a:t>High learning curve, especially for beginners or those new to microservices.</a:t>
            </a:r>
          </a:p>
          <a:p>
            <a:pPr lvl="1"/>
            <a:r>
              <a:rPr lang="en-US" sz="1200" dirty="0">
                <a:solidFill>
                  <a:srgbClr val="3C5790"/>
                </a:solidFill>
              </a:rPr>
              <a:t>Can require significant configuration and setup time, increasing complexity.</a:t>
            </a:r>
          </a:p>
          <a:p>
            <a:pPr lvl="1"/>
            <a:r>
              <a:rPr lang="en-US" sz="1200" dirty="0">
                <a:solidFill>
                  <a:srgbClr val="3C5790"/>
                </a:solidFill>
              </a:rPr>
              <a:t>Documentation sometimes outdated or challenging to follow.</a:t>
            </a:r>
          </a:p>
          <a:p>
            <a:pPr lvl="1"/>
            <a:r>
              <a:rPr lang="en-US" sz="1200" dirty="0">
                <a:solidFill>
                  <a:srgbClr val="3C5790"/>
                </a:solidFill>
              </a:rPr>
              <a:t>Limited support for legacy systems.</a:t>
            </a:r>
          </a:p>
          <a:p>
            <a:pPr lvl="1"/>
            <a:r>
              <a:rPr lang="en-US" sz="1200" dirty="0">
                <a:solidFill>
                  <a:srgbClr val="3C5790"/>
                </a:solidFill>
              </a:rPr>
              <a:t>Potential performance bottlenecks in very large-scale systems due to overhead.</a:t>
            </a:r>
          </a:p>
          <a:p>
            <a:pPr lvl="1"/>
            <a:r>
              <a:rPr lang="en-US" sz="1200" dirty="0">
                <a:solidFill>
                  <a:srgbClr val="3C5790"/>
                </a:solidFill>
              </a:rPr>
              <a:t>Configuration and integration complexity can grow as projects become larger.</a:t>
            </a:r>
          </a:p>
        </p:txBody>
      </p:sp>
    </p:spTree>
    <p:extLst>
      <p:ext uri="{BB962C8B-B14F-4D97-AF65-F5344CB8AC3E}">
        <p14:creationId xmlns:p14="http://schemas.microsoft.com/office/powerpoint/2010/main" val="24222689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Titre 3"/>
          <p:cNvSpPr>
            <a:spLocks noGrp="1"/>
          </p:cNvSpPr>
          <p:nvPr>
            <p:ph type="title"/>
          </p:nvPr>
        </p:nvSpPr>
        <p:spPr/>
        <p:txBody>
          <a:bodyPr/>
          <a:lstStyle/>
          <a:p>
            <a:r>
              <a:rPr lang="fr-CA" sz="4000" dirty="0" err="1">
                <a:solidFill>
                  <a:schemeClr val="bg1">
                    <a:lumMod val="95000"/>
                  </a:schemeClr>
                </a:solidFill>
              </a:rPr>
              <a:t>Bibliography</a:t>
            </a:r>
            <a:endParaRPr lang="fr-CA" sz="4000" dirty="0">
              <a:solidFill>
                <a:schemeClr val="bg1">
                  <a:lumMod val="95000"/>
                </a:schemeClr>
              </a:solidFill>
            </a:endParaRPr>
          </a:p>
        </p:txBody>
      </p:sp>
      <p:sp>
        <p:nvSpPr>
          <p:cNvPr id="5123" name="Espace réservé du contenu 4"/>
          <p:cNvSpPr>
            <a:spLocks noGrp="1"/>
          </p:cNvSpPr>
          <p:nvPr>
            <p:ph idx="1"/>
          </p:nvPr>
        </p:nvSpPr>
        <p:spPr>
          <a:xfrm>
            <a:off x="457200" y="1676400"/>
            <a:ext cx="8458200" cy="4876800"/>
          </a:xfrm>
        </p:spPr>
        <p:txBody>
          <a:bodyPr/>
          <a:lstStyle/>
          <a:p>
            <a:r>
              <a:rPr lang="en-US" sz="1600" dirty="0">
                <a:solidFill>
                  <a:schemeClr val="bg1"/>
                </a:solidFill>
              </a:rPr>
              <a:t>https://spring.io/projects/spring-cloud</a:t>
            </a:r>
          </a:p>
          <a:p>
            <a:r>
              <a:rPr lang="en-US" sz="1600" dirty="0">
                <a:solidFill>
                  <a:schemeClr val="bg1"/>
                </a:solidFill>
              </a:rPr>
              <a:t>Udemy - Learn Spring Cloud components and use them for your micro services in easy steps</a:t>
            </a:r>
          </a:p>
          <a:p>
            <a:r>
              <a:rPr lang="en-US" sz="1600" dirty="0">
                <a:solidFill>
                  <a:schemeClr val="bg1"/>
                </a:solidFill>
              </a:rPr>
              <a:t>https://medium.com/@vikas.taank_40391/refreshing-spring-config-with-cloud-bus-ded2a802ef4c</a:t>
            </a:r>
          </a:p>
        </p:txBody>
      </p:sp>
    </p:spTree>
  </p:cSld>
  <p:clrMapOvr>
    <a:masterClrMapping/>
  </p:clrMapOvr>
</p:sld>
</file>

<file path=ppt/theme/theme1.xml><?xml version="1.0" encoding="utf-8"?>
<a:theme xmlns:a="http://schemas.openxmlformats.org/drawingml/2006/main" name="14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143</Template>
  <TotalTime>30605</TotalTime>
  <Words>7137</Words>
  <Application>Microsoft Office PowerPoint</Application>
  <PresentationFormat>On-screen Show (4:3)</PresentationFormat>
  <Paragraphs>729</Paragraphs>
  <Slides>91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91</vt:i4>
      </vt:variant>
    </vt:vector>
  </HeadingPairs>
  <TitlesOfParts>
    <vt:vector size="94" baseType="lpstr">
      <vt:lpstr>Arial</vt:lpstr>
      <vt:lpstr>Calibri</vt:lpstr>
      <vt:lpstr>143</vt:lpstr>
      <vt:lpstr>Spring Cloud</vt:lpstr>
      <vt:lpstr>Contents</vt:lpstr>
      <vt:lpstr>What is Spring Cloud?</vt:lpstr>
      <vt:lpstr>History</vt:lpstr>
      <vt:lpstr>Features</vt:lpstr>
      <vt:lpstr>Features (cont.)</vt:lpstr>
      <vt:lpstr>Goals</vt:lpstr>
      <vt:lpstr>Goals (cont.)</vt:lpstr>
      <vt:lpstr>Architecture</vt:lpstr>
      <vt:lpstr>Core</vt:lpstr>
      <vt:lpstr>Core (cont.)</vt:lpstr>
      <vt:lpstr>Spring Boot Actuator</vt:lpstr>
      <vt:lpstr>Spring Boot Actuator (cont.)</vt:lpstr>
      <vt:lpstr>Spring Boot Actuator (cont.)</vt:lpstr>
      <vt:lpstr>Spring Boot Actuator (cont.)</vt:lpstr>
      <vt:lpstr>Spring Boot Actuator (cont.)</vt:lpstr>
      <vt:lpstr>Spring Boot Actuator (cont.)</vt:lpstr>
      <vt:lpstr>Spring Boot Actuator (cont.)</vt:lpstr>
      <vt:lpstr>Spring Boot Actuator (cont.)</vt:lpstr>
      <vt:lpstr>Spring Boot Actuator (cont.)</vt:lpstr>
      <vt:lpstr>Service Registration &amp; Discovery</vt:lpstr>
      <vt:lpstr>Service Registration &amp; Discovery (cont.)</vt:lpstr>
      <vt:lpstr>Service Registration &amp; Discovery (cont.)</vt:lpstr>
      <vt:lpstr>Service Registration &amp; Discovery (cont.)</vt:lpstr>
      <vt:lpstr>Service Registration &amp; Discovery (cont.)</vt:lpstr>
      <vt:lpstr>Service Registration &amp; Discovery (cont.)</vt:lpstr>
      <vt:lpstr>Service Registration &amp; Discovery (cont.)</vt:lpstr>
      <vt:lpstr>Service Registration &amp; Discovery (cont.)</vt:lpstr>
      <vt:lpstr>Service Registration &amp; Discovery (cont.)</vt:lpstr>
      <vt:lpstr>REST Client Feign</vt:lpstr>
      <vt:lpstr>REST Client Feign (cont.)</vt:lpstr>
      <vt:lpstr>REST Client Feign (cont.)</vt:lpstr>
      <vt:lpstr>REST Client Feign (cont.)</vt:lpstr>
      <vt:lpstr>REST Client Feign (cont.)</vt:lpstr>
      <vt:lpstr>REST Client Feign (cont.)</vt:lpstr>
      <vt:lpstr>REST Client Feign (cont.)</vt:lpstr>
      <vt:lpstr>Load Balancing</vt:lpstr>
      <vt:lpstr>Load Balancing (cont.)</vt:lpstr>
      <vt:lpstr>Load Balancing (cont.)</vt:lpstr>
      <vt:lpstr>Load Balancing (cont.)</vt:lpstr>
      <vt:lpstr>Load Balancing (cont.)</vt:lpstr>
      <vt:lpstr>Gateway (cont.)</vt:lpstr>
      <vt:lpstr>Gateway (cont.)</vt:lpstr>
      <vt:lpstr>Gateway (cont.)</vt:lpstr>
      <vt:lpstr>Gateway (cont.)</vt:lpstr>
      <vt:lpstr>Gateway (cont.)</vt:lpstr>
      <vt:lpstr>Gateway (cont.)</vt:lpstr>
      <vt:lpstr>Resilience4j</vt:lpstr>
      <vt:lpstr>Resilience4j (cont.)</vt:lpstr>
      <vt:lpstr>Resilience4j (cont.)</vt:lpstr>
      <vt:lpstr>Resilience4j (cont.)</vt:lpstr>
      <vt:lpstr>Resilience4j (cont.)</vt:lpstr>
      <vt:lpstr>Sleuth and Zipkin</vt:lpstr>
      <vt:lpstr>Sleuth and Zipkin (cont.)</vt:lpstr>
      <vt:lpstr>Sleuth and Zipkin (cont.)</vt:lpstr>
      <vt:lpstr>Sleuth and Zipkin (cont.)</vt:lpstr>
      <vt:lpstr>Sleuth and Zipkin (cont.)</vt:lpstr>
      <vt:lpstr>Sleuth and Zipkin (cont.)</vt:lpstr>
      <vt:lpstr>Sleuth and Zipkin (cont.)</vt:lpstr>
      <vt:lpstr>Spring Config Server</vt:lpstr>
      <vt:lpstr>Spring Config Server (cont.)</vt:lpstr>
      <vt:lpstr>Spring Config Server (cont.)</vt:lpstr>
      <vt:lpstr>Spring Config Server (cont.)</vt:lpstr>
      <vt:lpstr>Spring Config Server (cont.)</vt:lpstr>
      <vt:lpstr>Spring Config Server (cont.)</vt:lpstr>
      <vt:lpstr>Spring Config Server (cont.)</vt:lpstr>
      <vt:lpstr>Spring Config Server (cont.)</vt:lpstr>
      <vt:lpstr>Spring Config Server (cont.)</vt:lpstr>
      <vt:lpstr>Spring Config Server (cont.)</vt:lpstr>
      <vt:lpstr>Spring Config Server (cont.)</vt:lpstr>
      <vt:lpstr>Spring Cloud Bus</vt:lpstr>
      <vt:lpstr>Spring Cloud Bus (cont.)</vt:lpstr>
      <vt:lpstr>Spring Cloud Bus (cont.)</vt:lpstr>
      <vt:lpstr>Spring Cloud Bus (cont.)</vt:lpstr>
      <vt:lpstr>Spring Cloud Bus (cont.)</vt:lpstr>
      <vt:lpstr>Spring Cloud Bus (cont.)</vt:lpstr>
      <vt:lpstr>Spring Cloud Bus (cont.)</vt:lpstr>
      <vt:lpstr>Spring Cloud Bus (cont.)</vt:lpstr>
      <vt:lpstr>Ribbon</vt:lpstr>
      <vt:lpstr>Ribbon (cont.)</vt:lpstr>
      <vt:lpstr>Ribbon (cont.)</vt:lpstr>
      <vt:lpstr>Ribbon (cont.)</vt:lpstr>
      <vt:lpstr>Zuul</vt:lpstr>
      <vt:lpstr>Zuul (cont.)</vt:lpstr>
      <vt:lpstr>Zuul (cont.)</vt:lpstr>
      <vt:lpstr>Hystrix</vt:lpstr>
      <vt:lpstr>Hystrix (cont.)</vt:lpstr>
      <vt:lpstr>Hystrix (cont.)</vt:lpstr>
      <vt:lpstr>Hystrix (cont.)</vt:lpstr>
      <vt:lpstr>Conclusion</vt:lpstr>
      <vt:lpstr>Bibliography</vt:lpstr>
    </vt:vector>
  </TitlesOfParts>
  <Company>Computaris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NAME</dc:title>
  <dc:creator>Ionut Dima</dc:creator>
  <cp:lastModifiedBy>1 2</cp:lastModifiedBy>
  <cp:revision>1285</cp:revision>
  <dcterms:created xsi:type="dcterms:W3CDTF">2012-04-12T06:19:17Z</dcterms:created>
  <dcterms:modified xsi:type="dcterms:W3CDTF">2025-10-07T09:39:51Z</dcterms:modified>
</cp:coreProperties>
</file>